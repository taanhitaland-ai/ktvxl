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8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184.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91" roundtripDataSignature="AMtx7mjCJoJ1oO5OdStnakalwBApW5J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A541D9-23D5-4180-BFA4-B58C0BD4C685}">
  <a:tblStyle styleId="{A4A541D9-23D5-4180-BFA4-B58C0BD4C68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8AC10082-C988-4917-91FB-A304A12D18EA}"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91" Type="http://customschemas.google.com/relationships/presentationmetadata" Target="metadata"/><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89" Type="http://schemas.openxmlformats.org/officeDocument/2006/relationships/slide" Target="slides/slide183.xml"/><Relationship Id="rId100" Type="http://schemas.openxmlformats.org/officeDocument/2006/relationships/slide" Target="slides/slide94.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 name="Google Shape;114;p1: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115" name="Google Shape;115;p1: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Google Shape;140;p4: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141" name="Google Shape;141;p4: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6: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158" name="Google Shape;158;p6: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Hệ thống VXL là một hệ thống mạch điện tử số hoạt động theo chương trình, các chương trình cung cấp cho vi xử lý hoạt động phải ở dạng 0,1 gọi là chương trình mã máy. Nhưng do ngôn ngữ máy chỉ đơn giản là tổ hợp của các bit 0,1 nên rất khó nhớ, khó kiểm tra đối với người sử dụng. Để khắc phục nhược điểm này người ta đặt cho mỗi lệnh mã máy thực hiện một chức năng dễ nhớ gọi là mã gợi nhớ. Khi lập trình người ta sử dụng các lệnh gợi nhớ này để tạo thành chương trình hợp ngữ Assembly.</a:t>
            </a:r>
            <a:endParaRPr/>
          </a:p>
          <a:p>
            <a:pPr indent="0" lvl="0" marL="0" rtl="0" algn="l">
              <a:spcBef>
                <a:spcPts val="0"/>
              </a:spcBef>
              <a:spcAft>
                <a:spcPts val="0"/>
              </a:spcAft>
              <a:buNone/>
            </a:pPr>
            <a:r>
              <a:t/>
            </a:r>
            <a:endParaRPr/>
          </a:p>
        </p:txBody>
      </p:sp>
      <p:sp>
        <p:nvSpPr>
          <p:cNvPr id="238" name="Google Shape;23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5" name="Google Shape;435;p37: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436" name="Google Shape;436;p37: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Calibri"/>
              <a:buChar char="-"/>
            </a:pPr>
            <a:r>
              <a:rPr lang="en-US"/>
              <a:t>Hình trên mô tả sơ đồ không gian nhớ của vi điêu khiển 8051:</a:t>
            </a:r>
            <a:endParaRPr/>
          </a:p>
          <a:p>
            <a:pPr indent="-171450" lvl="0" marL="171450" rtl="0" algn="l">
              <a:spcBef>
                <a:spcPts val="0"/>
              </a:spcBef>
              <a:spcAft>
                <a:spcPts val="0"/>
              </a:spcAft>
              <a:buClr>
                <a:schemeClr val="dk1"/>
              </a:buClr>
              <a:buSzPts val="1200"/>
              <a:buFont typeface="Calibri"/>
              <a:buChar char="-"/>
            </a:pPr>
            <a:r>
              <a:rPr lang="en-US"/>
              <a:t>ROM 4KB</a:t>
            </a:r>
            <a:endParaRPr/>
          </a:p>
          <a:p>
            <a:pPr indent="0" lvl="0" marL="0" rtl="0" algn="l">
              <a:spcBef>
                <a:spcPts val="0"/>
              </a:spcBef>
              <a:spcAft>
                <a:spcPts val="0"/>
              </a:spcAft>
              <a:buNone/>
            </a:pPr>
            <a:r>
              <a:rPr lang="en-US"/>
              <a:t>Đây là </a:t>
            </a:r>
            <a:r>
              <a:rPr b="1" lang="en-US"/>
              <a:t>bộ nhớ chương trình</a:t>
            </a:r>
            <a:r>
              <a:rPr lang="en-US"/>
              <a:t> (Program Memory) bên trong.</a:t>
            </a:r>
            <a:endParaRPr/>
          </a:p>
          <a:p>
            <a:pPr indent="0" lvl="0" marL="0" rtl="0" algn="l">
              <a:spcBef>
                <a:spcPts val="0"/>
              </a:spcBef>
              <a:spcAft>
                <a:spcPts val="0"/>
              </a:spcAft>
              <a:buNone/>
            </a:pPr>
            <a:r>
              <a:rPr lang="en-US"/>
              <a:t>Dùng để lưu mã lệnh của chương trình.</a:t>
            </a:r>
            <a:endParaRPr/>
          </a:p>
          <a:p>
            <a:pPr indent="0" lvl="0" marL="0" rtl="0" algn="l">
              <a:spcBef>
                <a:spcPts val="0"/>
              </a:spcBef>
              <a:spcAft>
                <a:spcPts val="0"/>
              </a:spcAft>
              <a:buNone/>
            </a:pPr>
            <a:r>
              <a:rPr lang="en-US"/>
              <a:t>CPU truy xuất qua chân </a:t>
            </a:r>
            <a:r>
              <a:rPr b="1" lang="en-US"/>
              <a:t>PSEN</a:t>
            </a:r>
            <a:r>
              <a:rPr lang="en-US"/>
              <a:t> khi chạy chương trình trong ROM nội.</a:t>
            </a:r>
            <a:endParaRPr/>
          </a:p>
          <a:p>
            <a:pPr indent="-171450" lvl="0" marL="171450" rtl="0" algn="l">
              <a:spcBef>
                <a:spcPts val="0"/>
              </a:spcBef>
              <a:spcAft>
                <a:spcPts val="0"/>
              </a:spcAft>
              <a:buClr>
                <a:schemeClr val="dk1"/>
              </a:buClr>
              <a:buSzPts val="1200"/>
              <a:buFont typeface="Calibri"/>
              <a:buChar char="-"/>
            </a:pPr>
            <a:r>
              <a:rPr lang="en-US"/>
              <a:t>RAM 128 byte:</a:t>
            </a:r>
            <a:endParaRPr/>
          </a:p>
          <a:p>
            <a:pPr indent="0" lvl="0" marL="0" rtl="0" algn="l">
              <a:spcBef>
                <a:spcPts val="0"/>
              </a:spcBef>
              <a:spcAft>
                <a:spcPts val="0"/>
              </a:spcAft>
              <a:buNone/>
            </a:pPr>
            <a:r>
              <a:rPr lang="en-US"/>
              <a:t>Đây là </a:t>
            </a:r>
            <a:r>
              <a:rPr b="1" lang="en-US"/>
              <a:t>bộ nhớ dữ liệu</a:t>
            </a:r>
            <a:r>
              <a:rPr lang="en-US"/>
              <a:t> trong chip.</a:t>
            </a:r>
            <a:endParaRPr/>
          </a:p>
          <a:p>
            <a:pPr indent="0" lvl="0" marL="0" rtl="0" algn="l">
              <a:spcBef>
                <a:spcPts val="0"/>
              </a:spcBef>
              <a:spcAft>
                <a:spcPts val="0"/>
              </a:spcAft>
              <a:buNone/>
            </a:pPr>
            <a:r>
              <a:rPr lang="en-US"/>
              <a:t>Bao gồm:</a:t>
            </a:r>
            <a:endParaRPr/>
          </a:p>
          <a:p>
            <a:pPr indent="-76200" lvl="0" marL="0" rtl="0" algn="l">
              <a:spcBef>
                <a:spcPts val="0"/>
              </a:spcBef>
              <a:spcAft>
                <a:spcPts val="0"/>
              </a:spcAft>
              <a:buClr>
                <a:schemeClr val="dk1"/>
              </a:buClr>
              <a:buSzPts val="1200"/>
              <a:buFont typeface="Arial"/>
              <a:buChar char="•"/>
            </a:pPr>
            <a:r>
              <a:rPr lang="en-US"/>
              <a:t>32 byte thanh ghi đa dụng (00h–1Fh)</a:t>
            </a:r>
            <a:endParaRPr/>
          </a:p>
          <a:p>
            <a:pPr indent="-76200" lvl="0" marL="0" rtl="0" algn="l">
              <a:spcBef>
                <a:spcPts val="0"/>
              </a:spcBef>
              <a:spcAft>
                <a:spcPts val="0"/>
              </a:spcAft>
              <a:buClr>
                <a:schemeClr val="dk1"/>
              </a:buClr>
              <a:buSzPts val="1200"/>
              <a:buFont typeface="Arial"/>
              <a:buChar char="•"/>
            </a:pPr>
            <a:r>
              <a:rPr lang="en-US"/>
              <a:t>16 byte bit-addressable (20h–2Fh)</a:t>
            </a:r>
            <a:endParaRPr/>
          </a:p>
          <a:p>
            <a:pPr indent="-76200" lvl="0" marL="0" rtl="0" algn="l">
              <a:spcBef>
                <a:spcPts val="0"/>
              </a:spcBef>
              <a:spcAft>
                <a:spcPts val="0"/>
              </a:spcAft>
              <a:buClr>
                <a:schemeClr val="dk1"/>
              </a:buClr>
              <a:buSzPts val="1200"/>
              <a:buFont typeface="Arial"/>
              <a:buChar char="•"/>
            </a:pPr>
            <a:r>
              <a:rPr lang="en-US"/>
              <a:t>80 byte RAM đa dụng (30h–7Fh)</a:t>
            </a:r>
            <a:endParaRPr/>
          </a:p>
          <a:p>
            <a:pPr indent="-171450" lvl="0" marL="171450" rtl="0" algn="l">
              <a:spcBef>
                <a:spcPts val="0"/>
              </a:spcBef>
              <a:spcAft>
                <a:spcPts val="0"/>
              </a:spcAft>
              <a:buClr>
                <a:schemeClr val="dk1"/>
              </a:buClr>
              <a:buSzPts val="1200"/>
              <a:buFont typeface="Calibri"/>
              <a:buChar char="-"/>
            </a:pPr>
            <a:r>
              <a:rPr lang="en-US"/>
              <a:t>SFR: </a:t>
            </a:r>
            <a:endParaRPr/>
          </a:p>
          <a:p>
            <a:pPr indent="0" lvl="0" marL="0" rtl="0" algn="l">
              <a:spcBef>
                <a:spcPts val="0"/>
              </a:spcBef>
              <a:spcAft>
                <a:spcPts val="0"/>
              </a:spcAft>
              <a:buNone/>
            </a:pPr>
            <a:r>
              <a:rPr lang="en-US"/>
              <a:t>Vùng chứa </a:t>
            </a:r>
            <a:r>
              <a:rPr b="1" lang="en-US"/>
              <a:t>các thanh ghi chức năng đặc biệt</a:t>
            </a:r>
            <a:r>
              <a:rPr lang="en-US"/>
              <a:t>: ACC, B, PSW, P0–P3, Timer, Serial…</a:t>
            </a:r>
            <a:endParaRPr/>
          </a:p>
          <a:p>
            <a:pPr indent="0" lvl="0" marL="0" rtl="0" algn="l">
              <a:spcBef>
                <a:spcPts val="0"/>
              </a:spcBef>
              <a:spcAft>
                <a:spcPts val="0"/>
              </a:spcAft>
              <a:buNone/>
            </a:pPr>
            <a:r>
              <a:rPr lang="en-US"/>
              <a:t>Chỉ truy xuất được bằng địa chỉ trực tiếp.</a:t>
            </a:r>
            <a:endParaRPr/>
          </a:p>
          <a:p>
            <a:pPr indent="-171450" lvl="0" marL="171450" rtl="0" algn="l">
              <a:spcBef>
                <a:spcPts val="0"/>
              </a:spcBef>
              <a:spcAft>
                <a:spcPts val="0"/>
              </a:spcAft>
              <a:buClr>
                <a:schemeClr val="dk1"/>
              </a:buClr>
              <a:buSzPts val="1200"/>
              <a:buFont typeface="Calibri"/>
              <a:buChar char="-"/>
            </a:pPr>
            <a:r>
              <a:rPr lang="en-US"/>
              <a:t>Bộ nhớ ngoài:</a:t>
            </a:r>
            <a:endParaRPr/>
          </a:p>
          <a:p>
            <a:pPr indent="0" lvl="0" marL="0" rtl="0" algn="l">
              <a:spcBef>
                <a:spcPts val="0"/>
              </a:spcBef>
              <a:spcAft>
                <a:spcPts val="0"/>
              </a:spcAft>
              <a:buNone/>
            </a:pPr>
            <a:r>
              <a:rPr b="1" lang="en-US"/>
              <a:t>Bộ nhớ chương trình ngoài 64 KB (0000h – FFFFh)</a:t>
            </a:r>
            <a:endParaRPr/>
          </a:p>
          <a:p>
            <a:pPr indent="-76200" lvl="0" marL="0" rtl="0" algn="l">
              <a:spcBef>
                <a:spcPts val="0"/>
              </a:spcBef>
              <a:spcAft>
                <a:spcPts val="0"/>
              </a:spcAft>
              <a:buClr>
                <a:schemeClr val="dk1"/>
              </a:buClr>
              <a:buSzPts val="1200"/>
              <a:buFont typeface="Arial"/>
              <a:buChar char="•"/>
            </a:pPr>
            <a:r>
              <a:rPr lang="en-US"/>
              <a:t>Dùng khi ROM nội không đủ.</a:t>
            </a:r>
            <a:endParaRPr/>
          </a:p>
          <a:p>
            <a:pPr indent="-76200" lvl="0" marL="0" rtl="0" algn="l">
              <a:spcBef>
                <a:spcPts val="0"/>
              </a:spcBef>
              <a:spcAft>
                <a:spcPts val="0"/>
              </a:spcAft>
              <a:buClr>
                <a:schemeClr val="dk1"/>
              </a:buClr>
              <a:buSzPts val="1200"/>
              <a:buFont typeface="Arial"/>
              <a:buChar char="•"/>
            </a:pPr>
            <a:r>
              <a:rPr lang="en-US"/>
              <a:t>CPU truy xuất qua chân </a:t>
            </a:r>
            <a:r>
              <a:rPr b="1" lang="en-US"/>
              <a:t>PSEN</a:t>
            </a:r>
            <a:r>
              <a:rPr lang="en-US"/>
              <a:t> (Program Store Enable).</a:t>
            </a:r>
            <a:endParaRPr/>
          </a:p>
          <a:p>
            <a:pPr indent="-76200" lvl="0" marL="0" rtl="0" algn="l">
              <a:spcBef>
                <a:spcPts val="0"/>
              </a:spcBef>
              <a:spcAft>
                <a:spcPts val="0"/>
              </a:spcAft>
              <a:buClr>
                <a:schemeClr val="dk1"/>
              </a:buClr>
              <a:buSzPts val="1200"/>
              <a:buFont typeface="Arial"/>
              <a:buChar char="•"/>
            </a:pPr>
            <a:r>
              <a:rPr lang="en-US"/>
              <a:t>Không gian này độc lập với ROM nội.</a:t>
            </a:r>
            <a:endParaRPr/>
          </a:p>
          <a:p>
            <a:pPr indent="0" lvl="0" marL="0" rtl="0" algn="l">
              <a:spcBef>
                <a:spcPts val="0"/>
              </a:spcBef>
              <a:spcAft>
                <a:spcPts val="0"/>
              </a:spcAft>
              <a:buNone/>
            </a:pPr>
            <a:r>
              <a:rPr b="1" lang="en-US"/>
              <a:t>b) Bộ nhớ dữ liệu ngoài 64 KB (0000h – FFFFh)</a:t>
            </a:r>
            <a:endParaRPr/>
          </a:p>
          <a:p>
            <a:pPr indent="-76200" lvl="0" marL="0" rtl="0" algn="l">
              <a:spcBef>
                <a:spcPts val="0"/>
              </a:spcBef>
              <a:spcAft>
                <a:spcPts val="0"/>
              </a:spcAft>
              <a:buClr>
                <a:schemeClr val="dk1"/>
              </a:buClr>
              <a:buSzPts val="1200"/>
              <a:buFont typeface="Arial"/>
              <a:buChar char="•"/>
            </a:pPr>
            <a:r>
              <a:rPr lang="en-US"/>
              <a:t>Tăng thêm RAM cho hệ thống.</a:t>
            </a:r>
            <a:endParaRPr/>
          </a:p>
          <a:p>
            <a:pPr indent="-76200" lvl="0" marL="0" rtl="0" algn="l">
              <a:spcBef>
                <a:spcPts val="0"/>
              </a:spcBef>
              <a:spcAft>
                <a:spcPts val="0"/>
              </a:spcAft>
              <a:buClr>
                <a:schemeClr val="dk1"/>
              </a:buClr>
              <a:buSzPts val="1200"/>
              <a:buFont typeface="Arial"/>
              <a:buChar char="•"/>
            </a:pPr>
            <a:r>
              <a:rPr lang="en-US"/>
              <a:t>Truy xuất bằng tín hiệu </a:t>
            </a:r>
            <a:r>
              <a:rPr b="1" lang="en-US"/>
              <a:t>RD</a:t>
            </a:r>
            <a:r>
              <a:rPr lang="en-US"/>
              <a:t> (Read) và </a:t>
            </a:r>
            <a:r>
              <a:rPr b="1" lang="en-US"/>
              <a:t>WR</a:t>
            </a:r>
            <a:r>
              <a:rPr lang="en-US"/>
              <a:t> (Write).</a:t>
            </a:r>
            <a:endParaRPr/>
          </a:p>
          <a:p>
            <a:pPr indent="-76200" lvl="0" marL="0" rtl="0" algn="l">
              <a:spcBef>
                <a:spcPts val="0"/>
              </a:spcBef>
              <a:spcAft>
                <a:spcPts val="0"/>
              </a:spcAft>
              <a:buClr>
                <a:schemeClr val="dk1"/>
              </a:buClr>
              <a:buSzPts val="1200"/>
              <a:buFont typeface="Arial"/>
              <a:buChar char="•"/>
            </a:pPr>
            <a:r>
              <a:rPr lang="en-US"/>
              <a:t>Đây là kiến trúc </a:t>
            </a:r>
            <a:r>
              <a:rPr b="1" lang="en-US"/>
              <a:t>Harvard</a:t>
            </a:r>
            <a:r>
              <a:rPr lang="en-US"/>
              <a:t>: chương trình và dữ liệu nằm ở hai vùng riêng biệt.</a:t>
            </a:r>
            <a:endParaRPr/>
          </a:p>
          <a:p>
            <a:pPr indent="0" lvl="0" marL="0" rtl="0" algn="l">
              <a:spcBef>
                <a:spcPts val="0"/>
              </a:spcBef>
              <a:spcAft>
                <a:spcPts val="0"/>
              </a:spcAft>
              <a:buClr>
                <a:schemeClr val="dk1"/>
              </a:buClr>
              <a:buSzPts val="1200"/>
              <a:buFont typeface="Calibri"/>
              <a:buNone/>
            </a:pPr>
            <a:r>
              <a:t/>
            </a:r>
            <a:endParaRPr/>
          </a:p>
          <a:p>
            <a:pPr indent="-95250" lvl="0" marL="17145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t/>
            </a:r>
            <a:endParaRPr/>
          </a:p>
        </p:txBody>
      </p:sp>
      <p:sp>
        <p:nvSpPr>
          <p:cNvPr id="523" name="Google Shape;523;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NGăn xếp hoạt động theo nguyên tắc LIFO: Giá trị đẩy vào sau PUSH thì lấy ra trước POP.</a:t>
            </a:r>
            <a:endParaRPr/>
          </a:p>
        </p:txBody>
      </p:sp>
      <p:sp>
        <p:nvSpPr>
          <p:cNvPr id="557" name="Google Shape;557;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Calibri"/>
              <a:buAutoNum type="arabicPeriod"/>
            </a:pPr>
            <a:r>
              <a:rPr lang="en-US"/>
              <a:t>P2 xuất </a:t>
            </a:r>
            <a:r>
              <a:rPr b="1" lang="en-US"/>
              <a:t>địa chỉ cao A8–A15</a:t>
            </a:r>
            <a:r>
              <a:rPr lang="en-US"/>
              <a:t> tới ROM.</a:t>
            </a:r>
            <a:endParaRPr/>
          </a:p>
          <a:p>
            <a:pPr indent="-76200" lvl="0" marL="0" rtl="0" algn="l">
              <a:spcBef>
                <a:spcPts val="0"/>
              </a:spcBef>
              <a:spcAft>
                <a:spcPts val="0"/>
              </a:spcAft>
              <a:buClr>
                <a:schemeClr val="dk1"/>
              </a:buClr>
              <a:buSzPts val="1200"/>
              <a:buFont typeface="Calibri"/>
              <a:buAutoNum type="arabicPeriod"/>
            </a:pPr>
            <a:r>
              <a:rPr lang="en-US"/>
              <a:t>P0 ban đầu xuất </a:t>
            </a:r>
            <a:r>
              <a:rPr b="1" lang="en-US"/>
              <a:t>địa chỉ thấp A0–A7</a:t>
            </a:r>
            <a:r>
              <a:rPr lang="en-US"/>
              <a:t>, ALE kích LATCH giữ địa chỉ này.</a:t>
            </a:r>
            <a:endParaRPr/>
          </a:p>
          <a:p>
            <a:pPr indent="-76200" lvl="0" marL="0" rtl="0" algn="l">
              <a:spcBef>
                <a:spcPts val="0"/>
              </a:spcBef>
              <a:spcAft>
                <a:spcPts val="0"/>
              </a:spcAft>
              <a:buClr>
                <a:schemeClr val="dk1"/>
              </a:buClr>
              <a:buSzPts val="1200"/>
              <a:buFont typeface="Calibri"/>
              <a:buAutoNum type="arabicPeriod"/>
            </a:pPr>
            <a:r>
              <a:rPr lang="en-US"/>
              <a:t>PSEN xuống mức tích cực, ROM ngoài dựa trên địa chỉ A0–A15 xuất </a:t>
            </a:r>
            <a:r>
              <a:rPr b="1" lang="en-US"/>
              <a:t>byte lệnh</a:t>
            </a:r>
            <a:r>
              <a:rPr lang="en-US"/>
              <a:t> lên bus D0–D7 (nối với P0).</a:t>
            </a:r>
            <a:endParaRPr/>
          </a:p>
          <a:p>
            <a:pPr indent="-76200" lvl="0" marL="0" rtl="0" algn="l">
              <a:spcBef>
                <a:spcPts val="0"/>
              </a:spcBef>
              <a:spcAft>
                <a:spcPts val="0"/>
              </a:spcAft>
              <a:buClr>
                <a:schemeClr val="dk1"/>
              </a:buClr>
              <a:buSzPts val="1200"/>
              <a:buFont typeface="Calibri"/>
              <a:buAutoNum type="arabicPeriod"/>
            </a:pPr>
            <a:r>
              <a:rPr lang="en-US"/>
              <a:t>80C51 đọc byte lệnh qua P0 để thực thi.</a:t>
            </a:r>
            <a:endParaRPr/>
          </a:p>
          <a:p>
            <a:pPr indent="0" lvl="0" marL="0" rtl="0" algn="l">
              <a:spcBef>
                <a:spcPts val="0"/>
              </a:spcBef>
              <a:spcAft>
                <a:spcPts val="0"/>
              </a:spcAft>
              <a:buNone/>
            </a:pPr>
            <a:r>
              <a:t/>
            </a:r>
            <a:endParaRPr/>
          </a:p>
        </p:txBody>
      </p:sp>
      <p:sp>
        <p:nvSpPr>
          <p:cNvPr id="577" name="Google Shape;577;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Cho sơ đồ mở rộng của 89C51 với bộ nhớ ROM như hình vẽ. Biết chân p2.7 = 0, P2.6 = 1, P2.5 = 0, P2.4 = 1, P2.3 = 0 cho biết phạm vi không gian địa chỉ bộ nhớ mở rộng là bao nhiêu?</a:t>
            </a:r>
            <a:endParaRPr/>
          </a:p>
        </p:txBody>
      </p:sp>
      <p:sp>
        <p:nvSpPr>
          <p:cNvPr id="683" name="Google Shape;683;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Các thanh ghi chức năng đặc biệt có thể định địa chỉ bit, sẽ có địa chỉ bit bắt đầu và địa chỉ byte trùng nhau.</a:t>
            </a:r>
            <a:endParaRPr/>
          </a:p>
        </p:txBody>
      </p:sp>
      <p:sp>
        <p:nvSpPr>
          <p:cNvPr id="716" name="Google Shape;716;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Calibri"/>
              <a:buChar char="-"/>
            </a:pPr>
            <a:r>
              <a:rPr lang="en-US"/>
              <a:t>CY: được thiết lập mỗi khi có nhớ từ bit D7 và kết quả của lệnh cộng hoặc trừ 8 bit. </a:t>
            </a:r>
            <a:endParaRPr/>
          </a:p>
          <a:p>
            <a:pPr indent="-171450" lvl="0" marL="171450" rtl="0" algn="l">
              <a:spcBef>
                <a:spcPts val="0"/>
              </a:spcBef>
              <a:spcAft>
                <a:spcPts val="0"/>
              </a:spcAft>
              <a:buClr>
                <a:schemeClr val="dk1"/>
              </a:buClr>
              <a:buSzPts val="1200"/>
              <a:buFont typeface="Calibri"/>
              <a:buChar char="-"/>
            </a:pPr>
            <a:r>
              <a:rPr lang="en-US"/>
              <a:t>AC: cờ này báo có nhớ từ bit D3 sang bit D4 ở phép công hặc trừ.</a:t>
            </a:r>
            <a:endParaRPr/>
          </a:p>
          <a:p>
            <a:pPr indent="-171450" lvl="0" marL="171450" rtl="0" algn="l">
              <a:spcBef>
                <a:spcPts val="0"/>
              </a:spcBef>
              <a:spcAft>
                <a:spcPts val="0"/>
              </a:spcAft>
              <a:buClr>
                <a:schemeClr val="dk1"/>
              </a:buClr>
              <a:buSzPts val="1200"/>
              <a:buFont typeface="Calibri"/>
              <a:buChar char="-"/>
            </a:pPr>
            <a:r>
              <a:rPr lang="en-US"/>
              <a:t>P: cờ chẵn lẻ phản ánh số bit 1 trong thanh ghi A là chẵn hay lẻ. Nếu thanh ghi A chứa một số chẵn các bit 1 thì P=0, còn chứa một số lẻ các bit 1 thì P = 1.</a:t>
            </a:r>
            <a:endParaRPr/>
          </a:p>
          <a:p>
            <a:pPr indent="-171450" lvl="0" marL="171450" rtl="0" algn="l">
              <a:spcBef>
                <a:spcPts val="0"/>
              </a:spcBef>
              <a:spcAft>
                <a:spcPts val="0"/>
              </a:spcAft>
              <a:buClr>
                <a:schemeClr val="dk1"/>
              </a:buClr>
              <a:buSzPts val="1200"/>
              <a:buFont typeface="Calibri"/>
              <a:buChar char="-"/>
            </a:pPr>
            <a:r>
              <a:rPr lang="en-US"/>
              <a:t>OV: cờ được thiết lập mỗi khi kết quả của phép tính số có dấu quá lớn làm cho bit cao bị tràn vào bit dấu</a:t>
            </a:r>
            <a:endParaRPr/>
          </a:p>
        </p:txBody>
      </p:sp>
      <p:sp>
        <p:nvSpPr>
          <p:cNvPr id="726" name="Google Shape;726;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Mov A, #1</a:t>
            </a:r>
            <a:endParaRPr/>
          </a:p>
          <a:p>
            <a:pPr indent="0" lvl="0" marL="0" rtl="0" algn="l">
              <a:spcBef>
                <a:spcPts val="0"/>
              </a:spcBef>
              <a:spcAft>
                <a:spcPts val="0"/>
              </a:spcAft>
              <a:buNone/>
            </a:pPr>
            <a:r>
              <a:rPr lang="en-US"/>
              <a:t>MOV 0E0h,#1</a:t>
            </a:r>
            <a:endParaRPr/>
          </a:p>
        </p:txBody>
      </p:sp>
      <p:sp>
        <p:nvSpPr>
          <p:cNvPr id="735" name="Google Shape;735;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 trỏ stack SP nằm tại địa chỉ 81h và không cho phép định địa chỉ bit. SP dùng để chỉ đến đỉnh của stack. Stack là một dạng bộ nhớ lưu trữ dạng LIFO (Last In First Out) thường dùng lưu trữ địa chỉ trả về khi gọi một chương trình con. Ngoài ra, stack còn dùng như bộ nhớ tạm để lưu lại và khôi phục các giá trị cần thiết. Đối với AT89C51, stack được chứa trong RAM nội (128 byte đối với 8031/8051 hay 256 byte đối với 8032/8052). Mặc định khi khởi động, giá trị của SP là 07h, nghĩa là stack bắt đầu từ địa chỉ 08h (do hoạt động lưu giá trị vào stack yêu cầu phải tăng nội dung thanh ghi SP trước khi lưu). Như vậy, nếu không gán giá trị cho thanh ghi SP thì không được sử dụng các bank thanh ghi 1, 2, 3 vì có thể làm sai dữ liệu. Đối với các ứng dụng thông thường không cần dùng nhiều đến stack, có thể không cần khởi động SP mà dùng giá trị mặc định là 07h. Tuy nhiên, nếu cần, ta có thể xác định lại vùng stack cho MCS-51.</a:t>
            </a:r>
            <a:endParaRPr/>
          </a:p>
        </p:txBody>
      </p:sp>
      <p:sp>
        <p:nvSpPr>
          <p:cNvPr id="743" name="Google Shape;743;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0" name="Google Shape;750;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 name="Google Shape;830;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Calibri"/>
              <a:buChar char="-"/>
            </a:pPr>
            <a:r>
              <a:rPr lang="en-US"/>
              <a:t>PUSH: Cất nội dung của biến trong RAM vào đỉnh ngăn xếp </a:t>
            </a:r>
            <a:endParaRPr/>
          </a:p>
          <a:p>
            <a:pPr indent="-171450" lvl="0" marL="171450" rtl="0" algn="l">
              <a:spcBef>
                <a:spcPts val="0"/>
              </a:spcBef>
              <a:spcAft>
                <a:spcPts val="0"/>
              </a:spcAft>
              <a:buClr>
                <a:schemeClr val="dk1"/>
              </a:buClr>
              <a:buSzPts val="1200"/>
              <a:buFont typeface="Calibri"/>
              <a:buChar char="-"/>
            </a:pPr>
            <a:r>
              <a:rPr lang="en-US"/>
              <a:t>POP: Lấy byte ở đỉnh ngăn xếp cho vào biến trong RAM </a:t>
            </a:r>
            <a:endParaRPr/>
          </a:p>
        </p:txBody>
      </p:sp>
      <p:sp>
        <p:nvSpPr>
          <p:cNvPr id="852" name="Google Shape;852;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8" name="Google Shape;878;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Cộng giá trị tại địa chỉ 40h trong RAM của vi điều khiển với 5 và lưu kết quả vào A</a:t>
            </a:r>
            <a:endParaRPr/>
          </a:p>
        </p:txBody>
      </p:sp>
      <p:sp>
        <p:nvSpPr>
          <p:cNvPr id="879" name="Google Shape;879;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 name="Google Shape;88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 name="Google Shape;90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 name="Google Shape;921;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 name="Google Shape;959;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6" name="Google Shape;966;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3" name="Google Shape;993;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4" name="Google Shape;994;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5" name="Google Shape;995;p99: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996" name="Google Shape;996;p99: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6" name="Google Shape;1016;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Flip-Flop là một phần tử nhớ cơ bản của mạch số dùng để lưu trữ 1 bit thông tin. Là thành phần côt lõi trong thanh ghi, bộ đếm, bộ nhớ, và các mạch đồng bộ trong vđk.</a:t>
            </a:r>
            <a:endParaRPr/>
          </a:p>
        </p:txBody>
      </p:sp>
      <p:sp>
        <p:nvSpPr>
          <p:cNvPr id="1017" name="Google Shape;1017;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Các thanh ghi dùng cho bộ định thời và bộ đếm gồm: thanh ghi chứa giá trị đếm, thanh ghi TMOD, thanh ghi TCON</a:t>
            </a:r>
            <a:endParaRPr/>
          </a:p>
        </p:txBody>
      </p:sp>
      <p:sp>
        <p:nvSpPr>
          <p:cNvPr id="1027" name="Google Shape;1027;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5" name="Google Shape;1075;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2" name="Google Shape;1122;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9" name="Google Shape;1129;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6" name="Google Shape;1156;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9" name="Google Shape;1189;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7" name="Google Shape;1207;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4" name="Google Shape;1214;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1" name="Google Shape;1221;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Arial"/>
              <a:buChar char="•"/>
            </a:pPr>
            <a:r>
              <a:rPr lang="en-US"/>
              <a:t>Số </a:t>
            </a:r>
            <a:r>
              <a:rPr b="1" lang="en-US"/>
              <a:t>32</a:t>
            </a:r>
            <a:r>
              <a:rPr lang="en-US"/>
              <a:t> là </a:t>
            </a:r>
            <a:r>
              <a:rPr b="1" lang="en-US"/>
              <a:t>bộ chia baud cố định của phần cứng UART 8051</a:t>
            </a:r>
            <a:endParaRPr/>
          </a:p>
          <a:p>
            <a:pPr indent="-76200" lvl="0" marL="0" rtl="0" algn="l">
              <a:spcBef>
                <a:spcPts val="0"/>
              </a:spcBef>
              <a:spcAft>
                <a:spcPts val="0"/>
              </a:spcAft>
              <a:buClr>
                <a:schemeClr val="dk1"/>
              </a:buClr>
              <a:buSzPts val="1200"/>
              <a:buFont typeface="Arial"/>
              <a:buChar char="•"/>
            </a:pPr>
            <a:r>
              <a:rPr lang="en-US"/>
              <a:t>Không phải do Timer, cũng không phải do thạch anh</a:t>
            </a:r>
            <a:endParaRPr/>
          </a:p>
          <a:p>
            <a:pPr indent="-76200" lvl="0" marL="0" rtl="0" algn="l">
              <a:spcBef>
                <a:spcPts val="0"/>
              </a:spcBef>
              <a:spcAft>
                <a:spcPts val="0"/>
              </a:spcAft>
              <a:buClr>
                <a:schemeClr val="dk1"/>
              </a:buClr>
              <a:buSzPts val="1200"/>
              <a:buFont typeface="Arial"/>
              <a:buChar char="•"/>
            </a:pPr>
            <a:r>
              <a:rPr lang="en-US"/>
              <a:t>Nó nằm trong </a:t>
            </a:r>
            <a:r>
              <a:rPr b="1" lang="en-US"/>
              <a:t>thiết kế nội tại của mạch nối tiếp (serial port)</a:t>
            </a:r>
            <a:endParaRPr/>
          </a:p>
          <a:p>
            <a:pPr indent="0" lvl="0" marL="0" rtl="0" algn="l">
              <a:spcBef>
                <a:spcPts val="0"/>
              </a:spcBef>
              <a:spcAft>
                <a:spcPts val="0"/>
              </a:spcAft>
              <a:buNone/>
            </a:pPr>
            <a:r>
              <a:rPr lang="en-US"/>
              <a:t>Nếu bạn muốn, tôi có thể:</a:t>
            </a:r>
            <a:endParaRPr/>
          </a:p>
          <a:p>
            <a:pPr indent="-76200" lvl="0" marL="0" rtl="0" algn="l">
              <a:spcBef>
                <a:spcPts val="0"/>
              </a:spcBef>
              <a:spcAft>
                <a:spcPts val="0"/>
              </a:spcAft>
              <a:buClr>
                <a:schemeClr val="dk1"/>
              </a:buClr>
              <a:buSzPts val="1200"/>
              <a:buFont typeface="Arial"/>
              <a:buChar char="•"/>
            </a:pPr>
            <a:r>
              <a:rPr lang="en-US"/>
              <a:t>Minh họa bằng sơ đồ khối UART 8051</a:t>
            </a:r>
            <a:endParaRPr/>
          </a:p>
          <a:p>
            <a:pPr indent="-76200" lvl="0" marL="0" rtl="0" algn="l">
              <a:spcBef>
                <a:spcPts val="0"/>
              </a:spcBef>
              <a:spcAft>
                <a:spcPts val="0"/>
              </a:spcAft>
              <a:buClr>
                <a:schemeClr val="dk1"/>
              </a:buClr>
              <a:buSzPts val="1200"/>
              <a:buFont typeface="Arial"/>
              <a:buChar char="•"/>
            </a:pPr>
            <a:r>
              <a:rPr lang="en-US"/>
              <a:t>Hoặc tính TH1 cụ thể cho XTAL = 11.0592 MHz / 9600 bps để bạn đối chiếu thực tế</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t/>
            </a:r>
            <a:endParaRPr/>
          </a:p>
        </p:txBody>
      </p:sp>
      <p:sp>
        <p:nvSpPr>
          <p:cNvPr id="1222" name="Google Shape;1222;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9" name="Google Shape;1229;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0" name="Google Shape;1240;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8" name="Google Shape;1248;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6" name="Google Shape;1256;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4" name="Google Shape;1264;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3" name="Google Shape;1273;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2" name="Google Shape;1282;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1" name="Google Shape;1291;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p1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9" name="Google Shape;1299;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6" name="Google Shape;1306;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3" name="Google Shape;1313;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1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0" name="Google Shape;1320;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1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3" name="Google Shape;1333;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3" name="Google Shape;1353;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54" name="Google Shape;1354;p139: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1355" name="Google Shape;1355;p139: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1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0" name="Google Shape;1360;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1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8" name="Google Shape;136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1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5" name="Google Shape;1375;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2" name="Google Shape;1382;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3" name="Google Shape;1383;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1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8" name="Google Shape;1408;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p1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6" name="Google Shape;1416;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1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9" name="Google Shape;1439;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0" name="Google Shape;1440;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8" name="Google Shape;1448;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9" name="Google Shape;1449;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8" name="Google Shape;1458;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 name="Google Shape;1459;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7" name="Google Shape;1487;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8" name="Google Shape;1488;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0" name="Google Shape;1500;p1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Calibri"/>
              <a:buChar char="-"/>
            </a:pPr>
            <a:r>
              <a:rPr lang="en-US"/>
              <a:t>trong chương trình này, </a:t>
            </a:r>
            <a:r>
              <a:rPr b="1" lang="en-US"/>
              <a:t>TH0 được gán bằng 5</a:t>
            </a:r>
            <a:r>
              <a:rPr lang="en-US"/>
              <a:t> là do </a:t>
            </a:r>
            <a:r>
              <a:rPr b="1" lang="en-US"/>
              <a:t>Timer 0 đang làm việc ở chế độ 2 (8-bit tự nạp lại)</a:t>
            </a:r>
            <a:r>
              <a:rPr lang="en-US"/>
              <a:t> và giá trị đó quyết định </a:t>
            </a:r>
            <a:r>
              <a:rPr b="1" lang="en-US"/>
              <a:t>chu kỳ tràn của timer</a:t>
            </a:r>
            <a:r>
              <a:rPr lang="en-US"/>
              <a:t>, từ đó quyết định </a:t>
            </a:r>
            <a:r>
              <a:rPr b="1" lang="en-US"/>
              <a:t>tần số sóng vuông tại P2.0</a:t>
            </a:r>
            <a:r>
              <a:rPr lang="en-US"/>
              <a:t>.</a:t>
            </a:r>
            <a:endParaRPr/>
          </a:p>
          <a:p>
            <a:pPr indent="-95250" lvl="0" marL="171450" rtl="0" algn="l">
              <a:spcBef>
                <a:spcPts val="0"/>
              </a:spcBef>
              <a:spcAft>
                <a:spcPts val="0"/>
              </a:spcAft>
              <a:buClr>
                <a:schemeClr val="dk1"/>
              </a:buClr>
              <a:buSzPts val="1200"/>
              <a:buFont typeface="Calibri"/>
              <a:buNone/>
            </a:pPr>
            <a:r>
              <a:t/>
            </a:r>
            <a:endParaRPr/>
          </a:p>
        </p:txBody>
      </p:sp>
      <p:sp>
        <p:nvSpPr>
          <p:cNvPr id="1501" name="Google Shape;1501;p1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1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3" name="Google Shape;1513;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1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5" name="Google Shape;1525;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2" name="Google Shape;1532;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3" name="Google Shape;1533;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4" name="Google Shape;1544;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5" name="Google Shape;1545;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4" name="Google Shape;1554;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5" name="Google Shape;1555;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2" name="Google Shape;1562;p1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3" name="Google Shape;1563;p1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5" name="Google Shape;1575;p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6" name="Google Shape;1576;p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4" name="Google Shape;1584;p1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5" name="Google Shape;1585;p1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7" name="Google Shape;1597;p1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8" name="Google Shape;1598;p1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5" name="Google Shape;1605;p1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6" name="Google Shape;1606;p1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4" name="Google Shape;1614;p1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5" name="Google Shape;1615;p1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3" name="Google Shape;1623;p1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4" name="Google Shape;1624;p1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2" name="Google Shape;1632;p1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3" name="Google Shape;1633;p1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0" name="Google Shape;1640;p1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1" name="Google Shape;1641;p1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42" name="Google Shape;1642;p167: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2026/4/2</a:t>
            </a:r>
            <a:endParaRPr/>
          </a:p>
        </p:txBody>
      </p:sp>
      <p:sp>
        <p:nvSpPr>
          <p:cNvPr id="1643" name="Google Shape;1643;p167: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p1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8" name="Google Shape;1648;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p1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7" name="Google Shape;1657;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p1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4" name="Google Shape;1664;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3" name="Google Shape;1673;p1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Instruction Decoder</a:t>
            </a:r>
            <a:r>
              <a:rPr lang="en-US"/>
              <a:t>: Giải mã lệnh và tạo tín hiệu điều khiển cho toàn bộ datapath.</a:t>
            </a:r>
            <a:endParaRPr/>
          </a:p>
          <a:p>
            <a:pPr indent="0" lvl="0" marL="0" rtl="0" algn="l">
              <a:spcBef>
                <a:spcPts val="0"/>
              </a:spcBef>
              <a:spcAft>
                <a:spcPts val="0"/>
              </a:spcAft>
              <a:buNone/>
            </a:pPr>
            <a:r>
              <a:rPr b="1" lang="en-US"/>
              <a:t>Register File (r0–r15)</a:t>
            </a:r>
            <a:r>
              <a:rPr lang="en-US"/>
              <a:t>: Tập 16 thanh ghi 32-bit, lưu toán hạng và kết quả; r15 là PC.</a:t>
            </a:r>
            <a:endParaRPr/>
          </a:p>
          <a:p>
            <a:pPr indent="0" lvl="0" marL="0" rtl="0" algn="l">
              <a:spcBef>
                <a:spcPts val="0"/>
              </a:spcBef>
              <a:spcAft>
                <a:spcPts val="0"/>
              </a:spcAft>
              <a:buNone/>
            </a:pPr>
            <a:r>
              <a:rPr b="1" lang="en-US"/>
              <a:t>Sign Extend</a:t>
            </a:r>
            <a:r>
              <a:rPr lang="en-US"/>
              <a:t>: Mở rộng dấu dữ liệu tức thời/offset lên 32 bit.</a:t>
            </a:r>
            <a:endParaRPr/>
          </a:p>
          <a:p>
            <a:pPr indent="0" lvl="0" marL="0" rtl="0" algn="l">
              <a:spcBef>
                <a:spcPts val="0"/>
              </a:spcBef>
              <a:spcAft>
                <a:spcPts val="0"/>
              </a:spcAft>
              <a:buNone/>
            </a:pPr>
            <a:r>
              <a:rPr b="1" lang="en-US"/>
              <a:t>Barrel Shifter</a:t>
            </a:r>
            <a:r>
              <a:rPr lang="en-US"/>
              <a:t>: Dịch/xoay bit toán hạng trước khi đưa vào ALU (thực hiện trong 1 chu kỳ).</a:t>
            </a:r>
            <a:endParaRPr/>
          </a:p>
          <a:p>
            <a:pPr indent="0" lvl="0" marL="0" rtl="0" algn="l">
              <a:spcBef>
                <a:spcPts val="0"/>
              </a:spcBef>
              <a:spcAft>
                <a:spcPts val="0"/>
              </a:spcAft>
              <a:buNone/>
            </a:pPr>
            <a:r>
              <a:rPr b="1" lang="en-US"/>
              <a:t>ALU</a:t>
            </a:r>
            <a:r>
              <a:rPr lang="en-US"/>
              <a:t>: Thực hiện các phép toán số học và logic, đồng thời tính địa chỉ.</a:t>
            </a:r>
            <a:endParaRPr/>
          </a:p>
          <a:p>
            <a:pPr indent="0" lvl="0" marL="0" rtl="0" algn="l">
              <a:spcBef>
                <a:spcPts val="0"/>
              </a:spcBef>
              <a:spcAft>
                <a:spcPts val="0"/>
              </a:spcAft>
              <a:buNone/>
            </a:pPr>
            <a:r>
              <a:rPr b="1" lang="en-US"/>
              <a:t>MAC (Multiply–Accumulate)</a:t>
            </a:r>
            <a:r>
              <a:rPr lang="en-US"/>
              <a:t>: Thực hiện phép nhân và nhân–cộng tích lũy.</a:t>
            </a:r>
            <a:endParaRPr/>
          </a:p>
          <a:p>
            <a:pPr indent="0" lvl="0" marL="0" rtl="0" algn="l">
              <a:spcBef>
                <a:spcPts val="0"/>
              </a:spcBef>
              <a:spcAft>
                <a:spcPts val="0"/>
              </a:spcAft>
              <a:buNone/>
            </a:pPr>
            <a:r>
              <a:rPr b="1" lang="en-US"/>
              <a:t>Address Register</a:t>
            </a:r>
            <a:r>
              <a:rPr lang="en-US"/>
              <a:t>: Lưu địa chỉ truy cập bộ nhớ cho lệnh load/store.</a:t>
            </a:r>
            <a:endParaRPr/>
          </a:p>
          <a:p>
            <a:pPr indent="0" lvl="0" marL="0" rtl="0" algn="l">
              <a:spcBef>
                <a:spcPts val="0"/>
              </a:spcBef>
              <a:spcAft>
                <a:spcPts val="0"/>
              </a:spcAft>
              <a:buNone/>
            </a:pPr>
            <a:r>
              <a:rPr b="1" lang="en-US"/>
              <a:t>Incrementer</a:t>
            </a:r>
            <a:r>
              <a:rPr lang="en-US"/>
              <a:t>: Tăng PC (PC + 4), hỗ trợ pipeline.</a:t>
            </a:r>
            <a:endParaRPr/>
          </a:p>
          <a:p>
            <a:pPr indent="0" lvl="0" marL="0" rtl="0" algn="l">
              <a:spcBef>
                <a:spcPts val="0"/>
              </a:spcBef>
              <a:spcAft>
                <a:spcPts val="0"/>
              </a:spcAft>
              <a:buNone/>
            </a:pPr>
            <a:r>
              <a:rPr b="1" lang="en-US"/>
              <a:t>Data / Result Bus</a:t>
            </a:r>
            <a:r>
              <a:rPr lang="en-US"/>
              <a:t>: Đường dữ liệu đọc/ghi giữa thanh ghi, ALU/MAC và bộ nhớ.</a:t>
            </a:r>
            <a:endParaRPr/>
          </a:p>
          <a:p>
            <a:pPr indent="0" lvl="0" marL="0" rtl="0" algn="l">
              <a:spcBef>
                <a:spcPts val="0"/>
              </a:spcBef>
              <a:spcAft>
                <a:spcPts val="0"/>
              </a:spcAft>
              <a:buNone/>
            </a:pPr>
            <a:r>
              <a:t/>
            </a:r>
            <a:endParaRPr/>
          </a:p>
        </p:txBody>
      </p:sp>
      <p:sp>
        <p:nvSpPr>
          <p:cNvPr id="1674" name="Google Shape;1674;p1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p1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3" name="Google Shape;1683;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1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0" name="Google Shape;1690;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5" name="Shape 1695"/>
        <p:cNvGrpSpPr/>
        <p:nvPr/>
      </p:nvGrpSpPr>
      <p:grpSpPr>
        <a:xfrm>
          <a:off x="0" y="0"/>
          <a:ext cx="0" cy="0"/>
          <a:chOff x="0" y="0"/>
          <a:chExt cx="0" cy="0"/>
        </a:xfrm>
      </p:grpSpPr>
      <p:sp>
        <p:nvSpPr>
          <p:cNvPr id="1696" name="Google Shape;1696;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7" name="Google Shape;1697;p1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ARM có 37 thanh ghi, trong đó 31 thanh ghi đa dụng. Tuy nhiên tại một thời điểm chỉ có 16 thanh ghi đa dụng và 2 thanh ghi trạng thái hiển thị. Các thanh ghi khác ở dạng ẩn, chỉ hiện thị ở một số chế độ hoạt động riêng.</a:t>
            </a:r>
            <a:endParaRPr/>
          </a:p>
          <a:p>
            <a:pPr indent="-342900" lvl="0" marL="342900" rtl="0" algn="just">
              <a:spcBef>
                <a:spcPts val="1200"/>
              </a:spcBef>
              <a:spcAft>
                <a:spcPts val="0"/>
              </a:spcAft>
              <a:buClr>
                <a:schemeClr val="dk1"/>
              </a:buClr>
              <a:buSzPts val="2400"/>
              <a:buFont typeface="Arial"/>
              <a:buChar char="•"/>
            </a:pPr>
            <a:r>
              <a:rPr lang="en-US" sz="2400">
                <a:latin typeface="Times New Roman"/>
                <a:ea typeface="Times New Roman"/>
                <a:cs typeface="Times New Roman"/>
                <a:sym typeface="Times New Roman"/>
              </a:rPr>
              <a:t>Các thanh ghi đa dụng có thể dùng để lưu dữ liệu hoặc địa chỉ. Các thanh ghi này được đánh dấu bằng ký hiểu r. Tất cả các thanh ghi đề 32 bit.  Trong các thanh ghi đa dụng có 3 thanh ghi được dùng cho các chức năng hoặc nhiệm vụ đặt biệt : r13, r14, r15</a:t>
            </a:r>
            <a:endParaRPr/>
          </a:p>
          <a:p>
            <a:pPr indent="-342900" lvl="1" marL="800100" rtl="0" algn="just">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R13 được dùng làm stack pointer (SP)</a:t>
            </a:r>
            <a:endParaRPr/>
          </a:p>
          <a:p>
            <a:pPr indent="-342900" lvl="1" marL="800100" rtl="0" algn="just">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R14 là thanh ghi kết nối (LR) chứa địa chỉ quay lại của chương trình khi  chương trình chạy một hàm con</a:t>
            </a:r>
            <a:endParaRPr/>
          </a:p>
          <a:p>
            <a:pPr indent="-342900" lvl="1" marL="800100" rtl="0" algn="just">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R15 là bộ đếm chương trình (PC) và chứa địa chỉ của lệnh tiếp theo</a:t>
            </a:r>
            <a:endParaRPr sz="2400">
              <a:latin typeface="Times New Roman"/>
              <a:ea typeface="Times New Roman"/>
              <a:cs typeface="Times New Roman"/>
              <a:sym typeface="Times New Roman"/>
            </a:endParaRPr>
          </a:p>
          <a:p>
            <a:pPr indent="-342900" lvl="0" marL="342900" rtl="0" algn="just">
              <a:spcBef>
                <a:spcPts val="1200"/>
              </a:spcBef>
              <a:spcAft>
                <a:spcPts val="0"/>
              </a:spcAft>
              <a:buClr>
                <a:schemeClr val="dk1"/>
              </a:buClr>
              <a:buSzPts val="2400"/>
              <a:buFont typeface="Arial"/>
              <a:buChar char="•"/>
            </a:pPr>
            <a:r>
              <a:rPr lang="en-US" sz="2400">
                <a:latin typeface="Times New Roman"/>
                <a:ea typeface="Times New Roman"/>
                <a:cs typeface="Times New Roman"/>
                <a:sym typeface="Times New Roman"/>
              </a:rPr>
              <a:t>Hai thanh ghi trạng thái: thanh ghi TT chương trình hiện tại (CPSR) để giám sát các trạng thái hoạt động hiện tại; thanh ghi TT chương trình lưu (SPSR) để lưu trữ giá trị của CPSR khi có một ngoại lệ xẩy ra.</a:t>
            </a:r>
            <a:endParaRPr/>
          </a:p>
          <a:p>
            <a:pPr indent="0" lvl="0" marL="0" rtl="0" algn="l">
              <a:spcBef>
                <a:spcPts val="600"/>
              </a:spcBef>
              <a:spcAft>
                <a:spcPts val="0"/>
              </a:spcAft>
              <a:buNone/>
            </a:pPr>
            <a:r>
              <a:t/>
            </a:r>
            <a:endParaRPr/>
          </a:p>
        </p:txBody>
      </p:sp>
      <p:sp>
        <p:nvSpPr>
          <p:cNvPr id="1698" name="Google Shape;1698;p1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p1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8" name="Google Shape;1708;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p1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5" name="Google Shape;1715;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p1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4" name="Google Shape;1724;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1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3" name="Google Shape;1733;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0" name="Google Shape;1740;p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lang="en-US" sz="1200">
                <a:solidFill>
                  <a:srgbClr val="000000"/>
                </a:solidFill>
                <a:latin typeface="Times New Roman"/>
                <a:ea typeface="Times New Roman"/>
                <a:cs typeface="Times New Roman"/>
                <a:sym typeface="Times New Roman"/>
              </a:rPr>
              <a:t>Các khối chức năng trong vi điều khiển ARM bao gồm:</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Bộ xử lý ARM; </a:t>
            </a:r>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Bộ điều khiển ngắt; </a:t>
            </a:r>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Bộ phân xử bus truyền hiệu suất cao (AHB-Advanced High-performance Bus);</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Bộ điều khiển bộ nhớ;</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SRAM;</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EPROM hoặc Flash;</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DRAM;</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Cầu nối AHB – APB (Advanced Peripheral Bus: Bus truyền ngoại vi tối ưu) - Cầu nối ngoài AHB;</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 Bộ đếm/định thời;</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Khối SPI (Serial Peripheral Interface): Khối giao tiếp các thiết bị ngoại vi nối tiếp;</a:t>
            </a:r>
            <a:endParaRPr sz="1200">
              <a:solidFill>
                <a:srgbClr val="000000"/>
              </a:solidFill>
              <a:latin typeface="Times New Roman"/>
              <a:ea typeface="Times New Roman"/>
              <a:cs typeface="Times New Roman"/>
              <a:sym typeface="Times New Roman"/>
            </a:endParaRPr>
          </a:p>
          <a:p>
            <a:pPr indent="-342900" lvl="0" marL="342900" rtl="0" algn="just">
              <a:spcBef>
                <a:spcPts val="0"/>
              </a:spcBef>
              <a:spcAft>
                <a:spcPts val="0"/>
              </a:spcAft>
              <a:buClr>
                <a:srgbClr val="000000"/>
              </a:buClr>
              <a:buSzPts val="1200"/>
              <a:buFont typeface="Arial"/>
              <a:buChar char="•"/>
            </a:pPr>
            <a:r>
              <a:rPr lang="en-US" sz="1200">
                <a:solidFill>
                  <a:srgbClr val="000000"/>
                </a:solidFill>
                <a:latin typeface="Times New Roman"/>
                <a:ea typeface="Times New Roman"/>
                <a:cs typeface="Times New Roman"/>
                <a:sym typeface="Times New Roman"/>
              </a:rPr>
              <a:t>Khối Serial UART (Serial Universal Asynchronous Receiver/Transmitter): Khối giao tiếp nối tiếp truyền/thu không đồng bộ đa năng.</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741" name="Google Shape;1741;p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p1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0" name="Google Shape;1750;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p1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7" name="Google Shape;1757;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p1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4" name="Google Shape;1764;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p1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9" name="Google Shape;1769;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1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5" name="Google Shape;1775;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showMasterSp="0">
  <p:cSld name="Slide 1">
    <p:spTree>
      <p:nvGrpSpPr>
        <p:cNvPr id="15" name="Shape 15"/>
        <p:cNvGrpSpPr/>
        <p:nvPr/>
      </p:nvGrpSpPr>
      <p:grpSpPr>
        <a:xfrm>
          <a:off x="0" y="0"/>
          <a:ext cx="0" cy="0"/>
          <a:chOff x="0" y="0"/>
          <a:chExt cx="0" cy="0"/>
        </a:xfrm>
      </p:grpSpPr>
      <p:pic>
        <p:nvPicPr>
          <p:cNvPr id="16" name="Google Shape;16;p186"/>
          <p:cNvPicPr preferRelativeResize="0"/>
          <p:nvPr/>
        </p:nvPicPr>
        <p:blipFill rotWithShape="1">
          <a:blip r:embed="rId2">
            <a:alphaModFix/>
          </a:blip>
          <a:srcRect b="15749" l="0" r="0" t="0"/>
          <a:stretch/>
        </p:blipFill>
        <p:spPr>
          <a:xfrm>
            <a:off x="4419600" y="940460"/>
            <a:ext cx="7772400" cy="5917540"/>
          </a:xfrm>
          <a:prstGeom prst="rect">
            <a:avLst/>
          </a:prstGeom>
          <a:noFill/>
          <a:ln>
            <a:noFill/>
          </a:ln>
        </p:spPr>
      </p:pic>
      <p:grpSp>
        <p:nvGrpSpPr>
          <p:cNvPr id="17" name="Google Shape;17;p186"/>
          <p:cNvGrpSpPr/>
          <p:nvPr/>
        </p:nvGrpSpPr>
        <p:grpSpPr>
          <a:xfrm>
            <a:off x="8265776" y="42394"/>
            <a:ext cx="3883832" cy="965199"/>
            <a:chOff x="8308168" y="0"/>
            <a:chExt cx="3883832" cy="965199"/>
          </a:xfrm>
        </p:grpSpPr>
        <p:pic>
          <p:nvPicPr>
            <p:cNvPr id="18" name="Google Shape;18;p186"/>
            <p:cNvPicPr preferRelativeResize="0"/>
            <p:nvPr/>
          </p:nvPicPr>
          <p:blipFill rotWithShape="1">
            <a:blip r:embed="rId3">
              <a:alphaModFix/>
            </a:blip>
            <a:srcRect b="0" l="0" r="0" t="0"/>
            <a:stretch/>
          </p:blipFill>
          <p:spPr>
            <a:xfrm>
              <a:off x="11185328" y="0"/>
              <a:ext cx="1006672" cy="965199"/>
            </a:xfrm>
            <a:prstGeom prst="rect">
              <a:avLst/>
            </a:prstGeom>
            <a:noFill/>
            <a:ln>
              <a:noFill/>
            </a:ln>
          </p:spPr>
        </p:pic>
        <p:pic>
          <p:nvPicPr>
            <p:cNvPr id="19" name="Google Shape;19;p186"/>
            <p:cNvPicPr preferRelativeResize="0"/>
            <p:nvPr/>
          </p:nvPicPr>
          <p:blipFill rotWithShape="1">
            <a:blip r:embed="rId4">
              <a:alphaModFix/>
            </a:blip>
            <a:srcRect b="0" l="0" r="0" t="0"/>
            <a:stretch/>
          </p:blipFill>
          <p:spPr>
            <a:xfrm>
              <a:off x="8308168" y="265786"/>
              <a:ext cx="2877160" cy="433625"/>
            </a:xfrm>
            <a:prstGeom prst="rect">
              <a:avLst/>
            </a:prstGeom>
            <a:noFill/>
            <a:ln>
              <a:noFill/>
            </a:ln>
          </p:spPr>
        </p:pic>
      </p:grpSp>
      <p:sp>
        <p:nvSpPr>
          <p:cNvPr id="20" name="Google Shape;20;p186"/>
          <p:cNvSpPr txBox="1"/>
          <p:nvPr/>
        </p:nvSpPr>
        <p:spPr>
          <a:xfrm>
            <a:off x="0" y="6530111"/>
            <a:ext cx="490817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C00000"/>
                </a:solidFill>
                <a:latin typeface="Calibri"/>
                <a:ea typeface="Calibri"/>
                <a:cs typeface="Calibri"/>
                <a:sym typeface="Calibri"/>
              </a:rPr>
              <a:t>Bộ môn Điện tử máy tính – Khoa Điện tử viễn thông</a:t>
            </a:r>
            <a:endParaRPr b="0" i="1" sz="1200">
              <a:solidFill>
                <a:srgbClr val="C00000"/>
              </a:solidFill>
              <a:latin typeface="Calibri"/>
              <a:ea typeface="Calibri"/>
              <a:cs typeface="Calibri"/>
              <a:sym typeface="Calibri"/>
            </a:endParaRPr>
          </a:p>
        </p:txBody>
      </p:sp>
      <p:sp>
        <p:nvSpPr>
          <p:cNvPr id="21" name="Google Shape;21;p186"/>
          <p:cNvSpPr txBox="1"/>
          <p:nvPr/>
        </p:nvSpPr>
        <p:spPr>
          <a:xfrm>
            <a:off x="6979023" y="6483798"/>
            <a:ext cx="5065059"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b="1" i="0" lang="en-US" sz="1600" u="none">
                <a:solidFill>
                  <a:schemeClr val="lt1"/>
                </a:solidFill>
                <a:latin typeface="Calibri"/>
                <a:ea typeface="Calibri"/>
                <a:cs typeface="Calibri"/>
                <a:sym typeface="Calibri"/>
              </a:rPr>
              <a:t>‹#›</a:t>
            </a:fld>
            <a:endParaRPr b="1" i="0" sz="1600" u="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8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8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8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400">
                <a:solidFill>
                  <a:srgbClr val="FF0000"/>
                </a:solidFill>
                <a:latin typeface="Calibri"/>
                <a:ea typeface="Calibri"/>
                <a:cs typeface="Calibri"/>
                <a:sym typeface="Calibri"/>
              </a:defRPr>
            </a:lvl1pPr>
            <a:lvl2pPr indent="0" lvl="1" marL="0" algn="r">
              <a:spcBef>
                <a:spcPts val="0"/>
              </a:spcBef>
              <a:buNone/>
              <a:defRPr b="1" sz="1400">
                <a:solidFill>
                  <a:srgbClr val="FF0000"/>
                </a:solidFill>
                <a:latin typeface="Calibri"/>
                <a:ea typeface="Calibri"/>
                <a:cs typeface="Calibri"/>
                <a:sym typeface="Calibri"/>
              </a:defRPr>
            </a:lvl2pPr>
            <a:lvl3pPr indent="0" lvl="2" marL="0" algn="r">
              <a:spcBef>
                <a:spcPts val="0"/>
              </a:spcBef>
              <a:buNone/>
              <a:defRPr b="1" sz="1400">
                <a:solidFill>
                  <a:srgbClr val="FF0000"/>
                </a:solidFill>
                <a:latin typeface="Calibri"/>
                <a:ea typeface="Calibri"/>
                <a:cs typeface="Calibri"/>
                <a:sym typeface="Calibri"/>
              </a:defRPr>
            </a:lvl3pPr>
            <a:lvl4pPr indent="0" lvl="3" marL="0" algn="r">
              <a:spcBef>
                <a:spcPts val="0"/>
              </a:spcBef>
              <a:buNone/>
              <a:defRPr b="1" sz="1400">
                <a:solidFill>
                  <a:srgbClr val="FF0000"/>
                </a:solidFill>
                <a:latin typeface="Calibri"/>
                <a:ea typeface="Calibri"/>
                <a:cs typeface="Calibri"/>
                <a:sym typeface="Calibri"/>
              </a:defRPr>
            </a:lvl4pPr>
            <a:lvl5pPr indent="0" lvl="4" marL="0" algn="r">
              <a:spcBef>
                <a:spcPts val="0"/>
              </a:spcBef>
              <a:buNone/>
              <a:defRPr b="1" sz="1400">
                <a:solidFill>
                  <a:srgbClr val="FF0000"/>
                </a:solidFill>
                <a:latin typeface="Calibri"/>
                <a:ea typeface="Calibri"/>
                <a:cs typeface="Calibri"/>
                <a:sym typeface="Calibri"/>
              </a:defRPr>
            </a:lvl5pPr>
            <a:lvl6pPr indent="0" lvl="5" marL="0" algn="r">
              <a:spcBef>
                <a:spcPts val="0"/>
              </a:spcBef>
              <a:buNone/>
              <a:defRPr b="1" sz="1400">
                <a:solidFill>
                  <a:srgbClr val="FF0000"/>
                </a:solidFill>
                <a:latin typeface="Calibri"/>
                <a:ea typeface="Calibri"/>
                <a:cs typeface="Calibri"/>
                <a:sym typeface="Calibri"/>
              </a:defRPr>
            </a:lvl6pPr>
            <a:lvl7pPr indent="0" lvl="6" marL="0" algn="r">
              <a:spcBef>
                <a:spcPts val="0"/>
              </a:spcBef>
              <a:buNone/>
              <a:defRPr b="1" sz="1400">
                <a:solidFill>
                  <a:srgbClr val="FF0000"/>
                </a:solidFill>
                <a:latin typeface="Calibri"/>
                <a:ea typeface="Calibri"/>
                <a:cs typeface="Calibri"/>
                <a:sym typeface="Calibri"/>
              </a:defRPr>
            </a:lvl7pPr>
            <a:lvl8pPr indent="0" lvl="7" marL="0" algn="r">
              <a:spcBef>
                <a:spcPts val="0"/>
              </a:spcBef>
              <a:buNone/>
              <a:defRPr b="1" sz="1400">
                <a:solidFill>
                  <a:srgbClr val="FF0000"/>
                </a:solidFill>
                <a:latin typeface="Calibri"/>
                <a:ea typeface="Calibri"/>
                <a:cs typeface="Calibri"/>
                <a:sym typeface="Calibri"/>
              </a:defRPr>
            </a:lvl8pPr>
            <a:lvl9pPr indent="0" lvl="8" marL="0" algn="r">
              <a:spcBef>
                <a:spcPts val="0"/>
              </a:spcBef>
              <a:buNone/>
              <a:defRPr b="1" sz="1400">
                <a:solidFill>
                  <a:srgbClr val="FF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showMasterSp="0">
  <p:cSld name="Slide 2">
    <p:spTree>
      <p:nvGrpSpPr>
        <p:cNvPr id="28" name="Shape 28"/>
        <p:cNvGrpSpPr/>
        <p:nvPr/>
      </p:nvGrpSpPr>
      <p:grpSpPr>
        <a:xfrm>
          <a:off x="0" y="0"/>
          <a:ext cx="0" cy="0"/>
          <a:chOff x="0" y="0"/>
          <a:chExt cx="0" cy="0"/>
        </a:xfrm>
      </p:grpSpPr>
      <p:pic>
        <p:nvPicPr>
          <p:cNvPr id="29" name="Google Shape;29;p188"/>
          <p:cNvPicPr preferRelativeResize="0"/>
          <p:nvPr/>
        </p:nvPicPr>
        <p:blipFill rotWithShape="1">
          <a:blip r:embed="rId2">
            <a:alphaModFix/>
          </a:blip>
          <a:srcRect b="0" l="0" r="0" t="0"/>
          <a:stretch/>
        </p:blipFill>
        <p:spPr>
          <a:xfrm flipH="1">
            <a:off x="1" y="188415"/>
            <a:ext cx="4463844" cy="6669586"/>
          </a:xfrm>
          <a:prstGeom prst="rect">
            <a:avLst/>
          </a:prstGeom>
          <a:noFill/>
          <a:ln>
            <a:noFill/>
          </a:ln>
        </p:spPr>
      </p:pic>
      <p:grpSp>
        <p:nvGrpSpPr>
          <p:cNvPr id="30" name="Google Shape;30;p188"/>
          <p:cNvGrpSpPr/>
          <p:nvPr/>
        </p:nvGrpSpPr>
        <p:grpSpPr>
          <a:xfrm>
            <a:off x="8265776" y="42394"/>
            <a:ext cx="3883832" cy="965199"/>
            <a:chOff x="8308168" y="0"/>
            <a:chExt cx="3883832" cy="965199"/>
          </a:xfrm>
        </p:grpSpPr>
        <p:pic>
          <p:nvPicPr>
            <p:cNvPr id="31" name="Google Shape;31;p188"/>
            <p:cNvPicPr preferRelativeResize="0"/>
            <p:nvPr/>
          </p:nvPicPr>
          <p:blipFill rotWithShape="1">
            <a:blip r:embed="rId3">
              <a:alphaModFix/>
            </a:blip>
            <a:srcRect b="0" l="0" r="0" t="0"/>
            <a:stretch/>
          </p:blipFill>
          <p:spPr>
            <a:xfrm>
              <a:off x="11185328" y="0"/>
              <a:ext cx="1006672" cy="965199"/>
            </a:xfrm>
            <a:prstGeom prst="rect">
              <a:avLst/>
            </a:prstGeom>
            <a:noFill/>
            <a:ln>
              <a:noFill/>
            </a:ln>
          </p:spPr>
        </p:pic>
        <p:pic>
          <p:nvPicPr>
            <p:cNvPr id="32" name="Google Shape;32;p188"/>
            <p:cNvPicPr preferRelativeResize="0"/>
            <p:nvPr/>
          </p:nvPicPr>
          <p:blipFill rotWithShape="1">
            <a:blip r:embed="rId4">
              <a:alphaModFix/>
            </a:blip>
            <a:srcRect b="0" l="0" r="0" t="0"/>
            <a:stretch/>
          </p:blipFill>
          <p:spPr>
            <a:xfrm>
              <a:off x="8308168" y="265786"/>
              <a:ext cx="2877160" cy="433625"/>
            </a:xfrm>
            <a:prstGeom prst="rect">
              <a:avLst/>
            </a:prstGeom>
            <a:noFill/>
            <a:ln>
              <a:noFill/>
            </a:ln>
          </p:spPr>
        </p:pic>
      </p:grpSp>
      <p:sp>
        <p:nvSpPr>
          <p:cNvPr id="33" name="Google Shape;33;p188"/>
          <p:cNvSpPr txBox="1"/>
          <p:nvPr/>
        </p:nvSpPr>
        <p:spPr>
          <a:xfrm>
            <a:off x="6239435" y="6530112"/>
            <a:ext cx="5952565"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200">
                <a:solidFill>
                  <a:srgbClr val="C00000"/>
                </a:solidFill>
                <a:latin typeface="Calibri"/>
                <a:ea typeface="Calibri"/>
                <a:cs typeface="Calibri"/>
                <a:sym typeface="Calibri"/>
              </a:rPr>
              <a:t>Bộ</a:t>
            </a:r>
            <a:r>
              <a:rPr b="0" i="1" lang="en-US" sz="1200">
                <a:solidFill>
                  <a:srgbClr val="C00000"/>
                </a:solidFill>
                <a:latin typeface="Calibri"/>
                <a:ea typeface="Calibri"/>
                <a:cs typeface="Calibri"/>
                <a:sym typeface="Calibri"/>
              </a:rPr>
              <a:t> môn Điện tử máy tính –Khoa Điện tử viễn thông</a:t>
            </a:r>
            <a:endParaRPr b="0" i="1" sz="1200">
              <a:solidFill>
                <a:srgbClr val="C00000"/>
              </a:solidFill>
              <a:latin typeface="Calibri"/>
              <a:ea typeface="Calibri"/>
              <a:cs typeface="Calibri"/>
              <a:sym typeface="Calibri"/>
            </a:endParaRPr>
          </a:p>
        </p:txBody>
      </p:sp>
      <p:sp>
        <p:nvSpPr>
          <p:cNvPr id="34" name="Google Shape;34;p188"/>
          <p:cNvSpPr txBox="1"/>
          <p:nvPr/>
        </p:nvSpPr>
        <p:spPr>
          <a:xfrm>
            <a:off x="0" y="6509996"/>
            <a:ext cx="32159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a:solidFill>
                  <a:schemeClr val="lt1"/>
                </a:solidFill>
                <a:latin typeface="Calibri"/>
                <a:ea typeface="Calibri"/>
                <a:cs typeface="Calibri"/>
                <a:sym typeface="Calibri"/>
              </a:rPr>
              <a:t>Page </a:t>
            </a:r>
            <a:fld id="{00000000-1234-1234-1234-123412341234}" type="slidenum">
              <a:rPr b="1" i="0" lang="en-US" sz="1400">
                <a:solidFill>
                  <a:schemeClr val="lt1"/>
                </a:solidFill>
                <a:latin typeface="Calibri"/>
                <a:ea typeface="Calibri"/>
                <a:cs typeface="Calibri"/>
                <a:sym typeface="Calibri"/>
              </a:rPr>
              <a:t>‹#›</a:t>
            </a:fld>
            <a:endParaRPr b="1" i="0" sz="14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showMasterSp="0">
  <p:cSld name="Slide 3">
    <p:spTree>
      <p:nvGrpSpPr>
        <p:cNvPr id="35" name="Shape 35"/>
        <p:cNvGrpSpPr/>
        <p:nvPr/>
      </p:nvGrpSpPr>
      <p:grpSpPr>
        <a:xfrm>
          <a:off x="0" y="0"/>
          <a:ext cx="0" cy="0"/>
          <a:chOff x="0" y="0"/>
          <a:chExt cx="0" cy="0"/>
        </a:xfrm>
      </p:grpSpPr>
      <p:pic>
        <p:nvPicPr>
          <p:cNvPr id="36" name="Google Shape;36;p189"/>
          <p:cNvPicPr preferRelativeResize="0"/>
          <p:nvPr/>
        </p:nvPicPr>
        <p:blipFill rotWithShape="1">
          <a:blip r:embed="rId2">
            <a:alphaModFix/>
          </a:blip>
          <a:srcRect b="0" l="0" r="0" t="0"/>
          <a:stretch/>
        </p:blipFill>
        <p:spPr>
          <a:xfrm>
            <a:off x="6096000" y="757925"/>
            <a:ext cx="6096000" cy="5550800"/>
          </a:xfrm>
          <a:prstGeom prst="rect">
            <a:avLst/>
          </a:prstGeom>
          <a:noFill/>
          <a:ln>
            <a:noFill/>
          </a:ln>
        </p:spPr>
      </p:pic>
      <p:grpSp>
        <p:nvGrpSpPr>
          <p:cNvPr id="37" name="Google Shape;37;p189"/>
          <p:cNvGrpSpPr/>
          <p:nvPr/>
        </p:nvGrpSpPr>
        <p:grpSpPr>
          <a:xfrm>
            <a:off x="8265776" y="42394"/>
            <a:ext cx="3883832" cy="965199"/>
            <a:chOff x="8308168" y="0"/>
            <a:chExt cx="3883832" cy="965199"/>
          </a:xfrm>
        </p:grpSpPr>
        <p:pic>
          <p:nvPicPr>
            <p:cNvPr id="38" name="Google Shape;38;p189"/>
            <p:cNvPicPr preferRelativeResize="0"/>
            <p:nvPr/>
          </p:nvPicPr>
          <p:blipFill rotWithShape="1">
            <a:blip r:embed="rId3">
              <a:alphaModFix/>
            </a:blip>
            <a:srcRect b="0" l="0" r="0" t="0"/>
            <a:stretch/>
          </p:blipFill>
          <p:spPr>
            <a:xfrm>
              <a:off x="11185328" y="0"/>
              <a:ext cx="1006672" cy="965199"/>
            </a:xfrm>
            <a:prstGeom prst="rect">
              <a:avLst/>
            </a:prstGeom>
            <a:noFill/>
            <a:ln>
              <a:noFill/>
            </a:ln>
          </p:spPr>
        </p:pic>
        <p:pic>
          <p:nvPicPr>
            <p:cNvPr id="39" name="Google Shape;39;p189"/>
            <p:cNvPicPr preferRelativeResize="0"/>
            <p:nvPr/>
          </p:nvPicPr>
          <p:blipFill rotWithShape="1">
            <a:blip r:embed="rId4">
              <a:alphaModFix/>
            </a:blip>
            <a:srcRect b="0" l="0" r="0" t="0"/>
            <a:stretch/>
          </p:blipFill>
          <p:spPr>
            <a:xfrm>
              <a:off x="8308168" y="265786"/>
              <a:ext cx="2877160" cy="433625"/>
            </a:xfrm>
            <a:prstGeom prst="rect">
              <a:avLst/>
            </a:prstGeom>
            <a:noFill/>
            <a:ln>
              <a:noFill/>
            </a:ln>
          </p:spPr>
        </p:pic>
      </p:grpSp>
      <p:sp>
        <p:nvSpPr>
          <p:cNvPr id="40" name="Google Shape;40;p189"/>
          <p:cNvSpPr txBox="1"/>
          <p:nvPr/>
        </p:nvSpPr>
        <p:spPr>
          <a:xfrm>
            <a:off x="6938682" y="6550225"/>
            <a:ext cx="5210927" cy="30777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400">
                <a:solidFill>
                  <a:srgbClr val="C00000"/>
                </a:solidFill>
                <a:latin typeface="Calibri"/>
                <a:ea typeface="Calibri"/>
                <a:cs typeface="Calibri"/>
                <a:sym typeface="Calibri"/>
              </a:rPr>
              <a:t> Page </a:t>
            </a:r>
            <a:fld id="{00000000-1234-1234-1234-123412341234}" type="slidenum">
              <a:rPr b="1" i="0" lang="en-US" sz="1400">
                <a:solidFill>
                  <a:srgbClr val="C00000"/>
                </a:solidFill>
                <a:latin typeface="Calibri"/>
                <a:ea typeface="Calibri"/>
                <a:cs typeface="Calibri"/>
                <a:sym typeface="Calibri"/>
              </a:rPr>
              <a:t>‹#›</a:t>
            </a:fld>
            <a:endParaRPr b="1" i="0" sz="1400">
              <a:solidFill>
                <a:srgbClr val="C00000"/>
              </a:solidFill>
              <a:latin typeface="Calibri"/>
              <a:ea typeface="Calibri"/>
              <a:cs typeface="Calibri"/>
              <a:sym typeface="Calibri"/>
            </a:endParaRPr>
          </a:p>
        </p:txBody>
      </p:sp>
      <p:sp>
        <p:nvSpPr>
          <p:cNvPr id="41" name="Google Shape;41;p189"/>
          <p:cNvSpPr txBox="1"/>
          <p:nvPr/>
        </p:nvSpPr>
        <p:spPr>
          <a:xfrm>
            <a:off x="2" y="6550225"/>
            <a:ext cx="49485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a:solidFill>
                  <a:srgbClr val="C00000"/>
                </a:solidFill>
                <a:latin typeface="Calibri"/>
                <a:ea typeface="Calibri"/>
                <a:cs typeface="Calibri"/>
                <a:sym typeface="Calibri"/>
              </a:rPr>
              <a:t>Bộ</a:t>
            </a:r>
            <a:r>
              <a:rPr b="0" i="1" lang="en-US" sz="1200">
                <a:solidFill>
                  <a:srgbClr val="C00000"/>
                </a:solidFill>
                <a:latin typeface="Calibri"/>
                <a:ea typeface="Calibri"/>
                <a:cs typeface="Calibri"/>
                <a:sym typeface="Calibri"/>
              </a:rPr>
              <a:t> môn Điện tử máy tính –Khoa Điện tử viễn thông</a:t>
            </a:r>
            <a:endParaRPr b="0" i="1" sz="1200">
              <a:solidFill>
                <a:srgbClr val="C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2" name="Shape 42"/>
        <p:cNvGrpSpPr/>
        <p:nvPr/>
      </p:nvGrpSpPr>
      <p:grpSpPr>
        <a:xfrm>
          <a:off x="0" y="0"/>
          <a:ext cx="0" cy="0"/>
          <a:chOff x="0" y="0"/>
          <a:chExt cx="0" cy="0"/>
        </a:xfrm>
      </p:grpSpPr>
      <p:sp>
        <p:nvSpPr>
          <p:cNvPr id="43" name="Google Shape;43;p190"/>
          <p:cNvSpPr txBox="1"/>
          <p:nvPr>
            <p:ph type="title"/>
          </p:nvPr>
        </p:nvSpPr>
        <p:spPr>
          <a:xfrm>
            <a:off x="1583267" y="0"/>
            <a:ext cx="10608733" cy="1066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90"/>
          <p:cNvSpPr txBox="1"/>
          <p:nvPr>
            <p:ph idx="1" type="body"/>
          </p:nvPr>
        </p:nvSpPr>
        <p:spPr>
          <a:xfrm>
            <a:off x="0" y="1066800"/>
            <a:ext cx="5994400" cy="5791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190"/>
          <p:cNvSpPr txBox="1"/>
          <p:nvPr>
            <p:ph idx="2" type="body"/>
          </p:nvPr>
        </p:nvSpPr>
        <p:spPr>
          <a:xfrm>
            <a:off x="6197600" y="1066800"/>
            <a:ext cx="5994400" cy="5791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190"/>
          <p:cNvSpPr txBox="1"/>
          <p:nvPr>
            <p:ph idx="12" type="sldNum"/>
          </p:nvPr>
        </p:nvSpPr>
        <p:spPr>
          <a:xfrm>
            <a:off x="10515600" y="6477000"/>
            <a:ext cx="1583267" cy="2286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400">
                <a:solidFill>
                  <a:srgbClr val="FF0000"/>
                </a:solidFill>
                <a:latin typeface="Calibri"/>
                <a:ea typeface="Calibri"/>
                <a:cs typeface="Calibri"/>
                <a:sym typeface="Calibri"/>
              </a:defRPr>
            </a:lvl1pPr>
            <a:lvl2pPr indent="0" lvl="1" marL="0" algn="r">
              <a:spcBef>
                <a:spcPts val="0"/>
              </a:spcBef>
              <a:buNone/>
              <a:defRPr b="1" sz="1400">
                <a:solidFill>
                  <a:srgbClr val="FF0000"/>
                </a:solidFill>
                <a:latin typeface="Calibri"/>
                <a:ea typeface="Calibri"/>
                <a:cs typeface="Calibri"/>
                <a:sym typeface="Calibri"/>
              </a:defRPr>
            </a:lvl2pPr>
            <a:lvl3pPr indent="0" lvl="2" marL="0" algn="r">
              <a:spcBef>
                <a:spcPts val="0"/>
              </a:spcBef>
              <a:buNone/>
              <a:defRPr b="1" sz="1400">
                <a:solidFill>
                  <a:srgbClr val="FF0000"/>
                </a:solidFill>
                <a:latin typeface="Calibri"/>
                <a:ea typeface="Calibri"/>
                <a:cs typeface="Calibri"/>
                <a:sym typeface="Calibri"/>
              </a:defRPr>
            </a:lvl3pPr>
            <a:lvl4pPr indent="0" lvl="3" marL="0" algn="r">
              <a:spcBef>
                <a:spcPts val="0"/>
              </a:spcBef>
              <a:buNone/>
              <a:defRPr b="1" sz="1400">
                <a:solidFill>
                  <a:srgbClr val="FF0000"/>
                </a:solidFill>
                <a:latin typeface="Calibri"/>
                <a:ea typeface="Calibri"/>
                <a:cs typeface="Calibri"/>
                <a:sym typeface="Calibri"/>
              </a:defRPr>
            </a:lvl4pPr>
            <a:lvl5pPr indent="0" lvl="4" marL="0" algn="r">
              <a:spcBef>
                <a:spcPts val="0"/>
              </a:spcBef>
              <a:buNone/>
              <a:defRPr b="1" sz="1400">
                <a:solidFill>
                  <a:srgbClr val="FF0000"/>
                </a:solidFill>
                <a:latin typeface="Calibri"/>
                <a:ea typeface="Calibri"/>
                <a:cs typeface="Calibri"/>
                <a:sym typeface="Calibri"/>
              </a:defRPr>
            </a:lvl5pPr>
            <a:lvl6pPr indent="0" lvl="5" marL="0" algn="r">
              <a:spcBef>
                <a:spcPts val="0"/>
              </a:spcBef>
              <a:buNone/>
              <a:defRPr b="1" sz="1400">
                <a:solidFill>
                  <a:srgbClr val="FF0000"/>
                </a:solidFill>
                <a:latin typeface="Calibri"/>
                <a:ea typeface="Calibri"/>
                <a:cs typeface="Calibri"/>
                <a:sym typeface="Calibri"/>
              </a:defRPr>
            </a:lvl6pPr>
            <a:lvl7pPr indent="0" lvl="6" marL="0" algn="r">
              <a:spcBef>
                <a:spcPts val="0"/>
              </a:spcBef>
              <a:buNone/>
              <a:defRPr b="1" sz="1400">
                <a:solidFill>
                  <a:srgbClr val="FF0000"/>
                </a:solidFill>
                <a:latin typeface="Calibri"/>
                <a:ea typeface="Calibri"/>
                <a:cs typeface="Calibri"/>
                <a:sym typeface="Calibri"/>
              </a:defRPr>
            </a:lvl7pPr>
            <a:lvl8pPr indent="0" lvl="7" marL="0" algn="r">
              <a:spcBef>
                <a:spcPts val="0"/>
              </a:spcBef>
              <a:buNone/>
              <a:defRPr b="1" sz="1400">
                <a:solidFill>
                  <a:srgbClr val="FF0000"/>
                </a:solidFill>
                <a:latin typeface="Calibri"/>
                <a:ea typeface="Calibri"/>
                <a:cs typeface="Calibri"/>
                <a:sym typeface="Calibri"/>
              </a:defRPr>
            </a:lvl8pPr>
            <a:lvl9pPr indent="0" lvl="8" marL="0" algn="r">
              <a:spcBef>
                <a:spcPts val="0"/>
              </a:spcBef>
              <a:buNone/>
              <a:defRPr b="1" sz="1400">
                <a:solidFill>
                  <a:srgbClr val="FF000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6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7" name="Shape 47"/>
        <p:cNvGrpSpPr/>
        <p:nvPr/>
      </p:nvGrpSpPr>
      <p:grpSpPr>
        <a:xfrm>
          <a:off x="0" y="0"/>
          <a:ext cx="0" cy="0"/>
          <a:chOff x="0" y="0"/>
          <a:chExt cx="0" cy="0"/>
        </a:xfrm>
      </p:grpSpPr>
      <p:sp>
        <p:nvSpPr>
          <p:cNvPr id="48" name="Google Shape;48;p191"/>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91"/>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0" name="Google Shape;50;p19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9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192"/>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92"/>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6" name="Google Shape;56;p19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19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93"/>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2" name="Google Shape;62;p193"/>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3" name="Google Shape;63;p19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9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19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94"/>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9" name="Google Shape;69;p194"/>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0" name="Google Shape;70;p194"/>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1" name="Google Shape;71;p194"/>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2" name="Google Shape;72;p19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9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9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9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9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4" name="Shape 84"/>
        <p:cNvGrpSpPr/>
        <p:nvPr/>
      </p:nvGrpSpPr>
      <p:grpSpPr>
        <a:xfrm>
          <a:off x="0" y="0"/>
          <a:ext cx="0" cy="0"/>
          <a:chOff x="0" y="0"/>
          <a:chExt cx="0" cy="0"/>
        </a:xfrm>
      </p:grpSpPr>
      <p:sp>
        <p:nvSpPr>
          <p:cNvPr id="85" name="Google Shape;85;p197"/>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97"/>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7" name="Google Shape;87;p197"/>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8" name="Google Shape;88;p19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9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1" name="Shape 91"/>
        <p:cNvGrpSpPr/>
        <p:nvPr/>
      </p:nvGrpSpPr>
      <p:grpSpPr>
        <a:xfrm>
          <a:off x="0" y="0"/>
          <a:ext cx="0" cy="0"/>
          <a:chOff x="0" y="0"/>
          <a:chExt cx="0" cy="0"/>
        </a:xfrm>
      </p:grpSpPr>
      <p:sp>
        <p:nvSpPr>
          <p:cNvPr id="92" name="Google Shape;92;p198"/>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98"/>
          <p:cNvSpPr/>
          <p:nvPr>
            <p:ph idx="2" type="pic"/>
          </p:nvPr>
        </p:nvSpPr>
        <p:spPr>
          <a:xfrm>
            <a:off x="2389717" y="612775"/>
            <a:ext cx="7315200" cy="4114800"/>
          </a:xfrm>
          <a:prstGeom prst="rect">
            <a:avLst/>
          </a:prstGeom>
          <a:noFill/>
          <a:ln>
            <a:noFill/>
          </a:ln>
        </p:spPr>
      </p:sp>
      <p:sp>
        <p:nvSpPr>
          <p:cNvPr id="94" name="Google Shape;94;p198"/>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95" name="Google Shape;95;p19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9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9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19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99"/>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19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9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9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200"/>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0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7" name="Google Shape;107;p20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0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0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8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8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14.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3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39.png"/><Relationship Id="rId4" Type="http://schemas.openxmlformats.org/officeDocument/2006/relationships/image" Target="../media/image33.png"/><Relationship Id="rId5" Type="http://schemas.openxmlformats.org/officeDocument/2006/relationships/image" Target="../media/image41.png"/><Relationship Id="rId6" Type="http://schemas.openxmlformats.org/officeDocument/2006/relationships/image" Target="../media/image37.png"/><Relationship Id="rId7" Type="http://schemas.openxmlformats.org/officeDocument/2006/relationships/image" Target="../media/image3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hyperlink" Target="http://../cac%20bai%20tap%20vi%20du/VI%20DU%202.25/PHAN%20MEM/xulybit.uvproj" TargetMode="External"/><Relationship Id="rId4" Type="http://schemas.openxmlformats.org/officeDocument/2006/relationships/hyperlink" Target="http://../cac%20bai%20tap%20vi%20du/VI%20DU%202.25/PHAN%20CUNG/xulybit.pdsprj"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hyperlink" Target="http://../cac%20bai%20tap%20vi%20du/VI%20DU%202.26_LED/file.pdsprj" TargetMode="External"/><Relationship Id="rId4" Type="http://schemas.openxmlformats.org/officeDocument/2006/relationships/hyperlink" Target="http://../cac%20bai%20tap%20vi%20du/VI%20DU%202.27_LED%207%20DOAN/sodo.pdsprj" TargetMode="External"/><Relationship Id="rId5" Type="http://schemas.openxmlformats.org/officeDocument/2006/relationships/hyperlink" Target="http://../cac%20bai%20tap%20vi%20du/VI%20DU%202.28_LED%207%20DOAN/sodo.pdsprj" TargetMode="External"/><Relationship Id="rId6" Type="http://schemas.openxmlformats.org/officeDocument/2006/relationships/hyperlink" Target="http://../cac%20bai%20tap%20vi%20du/VI%20DU%202.26_LED/software/led.uvproj" TargetMode="External"/><Relationship Id="rId7" Type="http://schemas.openxmlformats.org/officeDocument/2006/relationships/hyperlink" Target="http://../cac%20bai%20tap%20vi%20du/VI%20DU%202.27_LED%207%20DOAN/software/seg_7.uvproj" TargetMode="External"/><Relationship Id="rId8" Type="http://schemas.openxmlformats.org/officeDocument/2006/relationships/hyperlink" Target="http://../cac%20bai%20tap%20vi%20du/VI%20DU%202.28_LED%207%20DOAN/software/seg_7.uvproj"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4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3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3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34.png"/><Relationship Id="rId4" Type="http://schemas.openxmlformats.org/officeDocument/2006/relationships/image" Target="../media/image3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3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4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4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5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43.png"/><Relationship Id="rId4" Type="http://schemas.openxmlformats.org/officeDocument/2006/relationships/hyperlink" Target="http://../cac%20bai%20tap%20vi%20du/VI%20DU%203.4_TIMER_MODE1/software/timer.uvproj" TargetMode="External"/><Relationship Id="rId5" Type="http://schemas.openxmlformats.org/officeDocument/2006/relationships/hyperlink" Target="http://../cac%20bai%20tap%20vi%20du/VI%20DU%203.4_TIMER_MODE1/sodo.pdsprj"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4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hyperlink" Target="about:blank" TargetMode="External"/><Relationship Id="rId4" Type="http://schemas.openxmlformats.org/officeDocument/2006/relationships/hyperlink" Target="about:blank" TargetMode="External"/><Relationship Id="rId5" Type="http://schemas.openxmlformats.org/officeDocument/2006/relationships/hyperlink" Target="about:blank" TargetMode="External"/><Relationship Id="rId6" Type="http://schemas.openxmlformats.org/officeDocument/2006/relationships/hyperlink" Target="about:blank"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4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46.png"/><Relationship Id="rId4" Type="http://schemas.openxmlformats.org/officeDocument/2006/relationships/image" Target="../media/image4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52.png"/><Relationship Id="rId4" Type="http://schemas.openxmlformats.org/officeDocument/2006/relationships/image" Target="../media/image5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53.png"/><Relationship Id="rId4" Type="http://schemas.openxmlformats.org/officeDocument/2006/relationships/image" Target="../media/image5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4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6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hyperlink" Target="about:blank" TargetMode="External"/><Relationship Id="rId4" Type="http://schemas.openxmlformats.org/officeDocument/2006/relationships/hyperlink" Target="about:blank" TargetMode="External"/><Relationship Id="rId5" Type="http://schemas.openxmlformats.org/officeDocument/2006/relationships/hyperlink" Target="about:blank" TargetMode="External"/><Relationship Id="rId6" Type="http://schemas.openxmlformats.org/officeDocument/2006/relationships/hyperlink" Target="about:blank" TargetMode="External"/><Relationship Id="rId7" Type="http://schemas.openxmlformats.org/officeDocument/2006/relationships/hyperlink" Target="about:blank" TargetMode="External"/><Relationship Id="rId8" Type="http://schemas.openxmlformats.org/officeDocument/2006/relationships/hyperlink" Target="about:blank"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5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60.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55.png"/><Relationship Id="rId4" Type="http://schemas.openxmlformats.org/officeDocument/2006/relationships/image" Target="../media/image6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image" Target="../media/image40.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image" Target="../media/image5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 Id="rId3" Type="http://schemas.openxmlformats.org/officeDocument/2006/relationships/image" Target="../media/image63.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 Id="rId3" Type="http://schemas.openxmlformats.org/officeDocument/2006/relationships/image" Target="../media/image6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6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57.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 Id="rId3" Type="http://schemas.openxmlformats.org/officeDocument/2006/relationships/image" Target="../media/image59.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
          <p:cNvSpPr txBox="1"/>
          <p:nvPr/>
        </p:nvSpPr>
        <p:spPr>
          <a:xfrm>
            <a:off x="1981200" y="2026385"/>
            <a:ext cx="51816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7365D"/>
                </a:solidFill>
                <a:latin typeface="Times New Roman"/>
                <a:ea typeface="Times New Roman"/>
                <a:cs typeface="Times New Roman"/>
                <a:sym typeface="Times New Roman"/>
              </a:rPr>
              <a:t>KỸ THUẬT VI XỬ LÝ</a:t>
            </a:r>
            <a:endParaRPr/>
          </a:p>
        </p:txBody>
      </p:sp>
      <p:sp>
        <p:nvSpPr>
          <p:cNvPr id="118" name="Google Shape;118;p1"/>
          <p:cNvSpPr txBox="1"/>
          <p:nvPr/>
        </p:nvSpPr>
        <p:spPr>
          <a:xfrm>
            <a:off x="2438401" y="2672715"/>
            <a:ext cx="366474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Chủ biên:          </a:t>
            </a:r>
            <a:r>
              <a:rPr b="1" lang="en-US" sz="2000">
                <a:solidFill>
                  <a:schemeClr val="dk1"/>
                </a:solidFill>
                <a:latin typeface="Times New Roman"/>
                <a:ea typeface="Times New Roman"/>
                <a:cs typeface="Times New Roman"/>
                <a:sym typeface="Times New Roman"/>
              </a:rPr>
              <a:t>Đặng Hùng Việt</a:t>
            </a:r>
            <a:endParaRPr b="1" sz="2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3766457" y="990936"/>
            <a:ext cx="4963886" cy="53340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700"/>
              <a:buFont typeface="Times New Roman"/>
              <a:buNone/>
            </a:pPr>
            <a:r>
              <a:rPr b="1" lang="en-US" sz="2700">
                <a:latin typeface="Times New Roman"/>
                <a:ea typeface="Times New Roman"/>
                <a:cs typeface="Times New Roman"/>
                <a:sym typeface="Times New Roman"/>
              </a:rPr>
              <a:t>GIỚI THIỆU HỌC PHẦN</a:t>
            </a:r>
            <a:endParaRPr/>
          </a:p>
        </p:txBody>
      </p:sp>
      <p:sp>
        <p:nvSpPr>
          <p:cNvPr id="124" name="Google Shape;124;p2"/>
          <p:cNvSpPr txBox="1"/>
          <p:nvPr/>
        </p:nvSpPr>
        <p:spPr>
          <a:xfrm>
            <a:off x="3417600" y="2015927"/>
            <a:ext cx="5615594" cy="830997"/>
          </a:xfrm>
          <a:prstGeom prst="rect">
            <a:avLst/>
          </a:prstGeom>
          <a:solidFill>
            <a:srgbClr val="FFFF00"/>
          </a:solidFill>
          <a:ln>
            <a:noFill/>
          </a:ln>
        </p:spPr>
        <p:txBody>
          <a:bodyPr anchorCtr="0" anchor="t" bIns="0" lIns="0" spcFirstLastPara="1" rIns="0" wrap="square" tIns="0">
            <a:spAutoFit/>
          </a:bodyPr>
          <a:lstStyle/>
          <a:p>
            <a:pPr indent="-214313" lvl="0" marL="214313"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Thời lượng: 35 tiết</a:t>
            </a:r>
            <a:endParaRPr sz="1800">
              <a:solidFill>
                <a:schemeClr val="dk1"/>
              </a:solidFill>
              <a:latin typeface="Times New Roman"/>
              <a:ea typeface="Times New Roman"/>
              <a:cs typeface="Times New Roman"/>
              <a:sym typeface="Times New Roman"/>
            </a:endParaRPr>
          </a:p>
          <a:p>
            <a:pPr indent="-214313" lvl="0" marL="214313"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Lý thuyết: 25 tiết</a:t>
            </a:r>
            <a:endParaRPr sz="1800">
              <a:solidFill>
                <a:schemeClr val="dk1"/>
              </a:solidFill>
              <a:latin typeface="Times New Roman"/>
              <a:ea typeface="Times New Roman"/>
              <a:cs typeface="Times New Roman"/>
              <a:sym typeface="Times New Roman"/>
            </a:endParaRPr>
          </a:p>
          <a:p>
            <a:pPr indent="-214313" lvl="0" marL="214313"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Thực hành/thí nghiệm: 10 tiết</a:t>
            </a:r>
            <a:endParaRPr sz="1800">
              <a:solidFill>
                <a:schemeClr val="dk1"/>
              </a:solidFill>
              <a:latin typeface="Times New Roman"/>
              <a:ea typeface="Times New Roman"/>
              <a:cs typeface="Times New Roman"/>
              <a:sym typeface="Times New Roman"/>
            </a:endParaRPr>
          </a:p>
        </p:txBody>
      </p:sp>
      <p:sp>
        <p:nvSpPr>
          <p:cNvPr id="125" name="Google Shape;125;p2"/>
          <p:cNvSpPr txBox="1"/>
          <p:nvPr/>
        </p:nvSpPr>
        <p:spPr>
          <a:xfrm>
            <a:off x="3417601" y="3934949"/>
            <a:ext cx="5698208" cy="1938992"/>
          </a:xfrm>
          <a:prstGeom prst="rect">
            <a:avLst/>
          </a:prstGeom>
          <a:solidFill>
            <a:srgbClr val="FFFF00"/>
          </a:solidFill>
          <a:ln>
            <a:noFill/>
          </a:ln>
        </p:spPr>
        <p:txBody>
          <a:bodyPr anchorCtr="0" anchor="t" bIns="0" lIns="0" spcFirstLastPara="1" rIns="0" wrap="square" tIns="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Điểm chuyên cần:</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Đi học đầy đủ, đúng giờ</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Tham gia xây dựng bài</a:t>
            </a:r>
            <a:endParaRPr b="0" i="0" sz="1800" u="none" cap="none" strike="noStrike">
              <a:solidFill>
                <a:schemeClr val="dk1"/>
              </a:solidFill>
              <a:latin typeface="Times New Roman"/>
              <a:ea typeface="Times New Roman"/>
              <a:cs typeface="Times New Roman"/>
              <a:sym typeface="Times New Roman"/>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Ý thức khi tham gia học tập</a:t>
            </a:r>
            <a:endParaRPr b="0" i="0" sz="1800" u="none" cap="none" strike="noStrike">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Hình thức kiểm tra giữa kỳ: Thi viết</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Hình thức thi kết thúc học phần: Trắc nghiệm</a:t>
            </a:r>
            <a:endParaRPr sz="1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rgbClr val="C00000"/>
              </a:buClr>
              <a:buSzPts val="1800"/>
              <a:buFont typeface="Noto Sans Symbols"/>
              <a:buChar char="▪"/>
            </a:pPr>
            <a:r>
              <a:rPr lang="en-US" sz="1800">
                <a:solidFill>
                  <a:srgbClr val="C00000"/>
                </a:solidFill>
                <a:latin typeface="Times New Roman"/>
                <a:ea typeface="Times New Roman"/>
                <a:cs typeface="Times New Roman"/>
                <a:sym typeface="Times New Roman"/>
              </a:rPr>
              <a:t>Hoàn thành tối thiểu 3/5 bài thực hành mới được thi</a:t>
            </a:r>
            <a:endParaRPr sz="1800">
              <a:solidFill>
                <a:srgbClr val="C00000"/>
              </a:solidFill>
              <a:latin typeface="Times New Roman"/>
              <a:ea typeface="Times New Roman"/>
              <a:cs typeface="Times New Roman"/>
              <a:sym typeface="Times New Roman"/>
            </a:endParaRPr>
          </a:p>
        </p:txBody>
      </p:sp>
      <p:sp>
        <p:nvSpPr>
          <p:cNvPr id="126" name="Google Shape;126;p2"/>
          <p:cNvSpPr txBox="1"/>
          <p:nvPr/>
        </p:nvSpPr>
        <p:spPr>
          <a:xfrm>
            <a:off x="4245429" y="3390938"/>
            <a:ext cx="3996886" cy="276999"/>
          </a:xfrm>
          <a:prstGeom prst="rect">
            <a:avLst/>
          </a:prstGeom>
          <a:solidFill>
            <a:srgbClr val="FFFF00"/>
          </a:solidFill>
          <a:ln>
            <a:noFill/>
          </a:ln>
        </p:spPr>
        <p:txBody>
          <a:bodyPr anchorCtr="0" anchor="t" bIns="0" lIns="0" spcFirstLastPara="1" rIns="0" wrap="square" tIns="0">
            <a:spAutoFit/>
          </a:bodyPr>
          <a:lstStyle/>
          <a:p>
            <a:pPr indent="-342900" lvl="0" marL="342900" marR="0" rtl="0" algn="l">
              <a:spcBef>
                <a:spcPts val="0"/>
              </a:spcBef>
              <a:spcAft>
                <a:spcPts val="0"/>
              </a:spcAft>
              <a:buClr>
                <a:srgbClr val="C00000"/>
              </a:buClr>
              <a:buSzPts val="1800"/>
              <a:buFont typeface="Noto Sans Symbols"/>
              <a:buChar char="❖"/>
            </a:pPr>
            <a:r>
              <a:rPr b="1" lang="en-US" sz="1800">
                <a:solidFill>
                  <a:srgbClr val="C00000"/>
                </a:solidFill>
                <a:latin typeface="Times New Roman"/>
                <a:ea typeface="Times New Roman"/>
                <a:cs typeface="Times New Roman"/>
                <a:sym typeface="Times New Roman"/>
              </a:rPr>
              <a:t>ĐÁNH GIÁ KẾT QUẢ HỌC TẬP:</a:t>
            </a:r>
            <a:endParaRPr/>
          </a:p>
        </p:txBody>
      </p:sp>
      <p:sp>
        <p:nvSpPr>
          <p:cNvPr id="127" name="Google Shape;127;p2"/>
          <p:cNvSpPr txBox="1"/>
          <p:nvPr/>
        </p:nvSpPr>
        <p:spPr>
          <a:xfrm>
            <a:off x="4245429" y="1615871"/>
            <a:ext cx="3996886" cy="276999"/>
          </a:xfrm>
          <a:prstGeom prst="rect">
            <a:avLst/>
          </a:prstGeom>
          <a:solidFill>
            <a:srgbClr val="FFFF00"/>
          </a:solidFill>
          <a:ln>
            <a:noFill/>
          </a:ln>
        </p:spPr>
        <p:txBody>
          <a:bodyPr anchorCtr="0" anchor="t" bIns="0" lIns="0" spcFirstLastPara="1" rIns="0" wrap="square" tIns="0">
            <a:spAutoFit/>
          </a:bodyPr>
          <a:lstStyle/>
          <a:p>
            <a:pPr indent="-257175" lvl="0" marL="257175" marR="0" rtl="0" algn="l">
              <a:spcBef>
                <a:spcPts val="0"/>
              </a:spcBef>
              <a:spcAft>
                <a:spcPts val="0"/>
              </a:spcAft>
              <a:buClr>
                <a:srgbClr val="C00000"/>
              </a:buClr>
              <a:buSzPts val="1800"/>
              <a:buFont typeface="Noto Sans Symbols"/>
              <a:buChar char="❖"/>
            </a:pPr>
            <a:r>
              <a:rPr b="1" lang="en-US" sz="1800">
                <a:solidFill>
                  <a:srgbClr val="C00000"/>
                </a:solidFill>
                <a:latin typeface="Times New Roman"/>
                <a:ea typeface="Times New Roman"/>
                <a:cs typeface="Times New Roman"/>
                <a:sym typeface="Times New Roman"/>
              </a:rPr>
              <a:t>TỔNG THỜI LƯỢNG: 03 TÍN CHỈ</a:t>
            </a:r>
            <a:endParaRPr/>
          </a:p>
        </p:txBody>
      </p:sp>
      <p:sp>
        <p:nvSpPr>
          <p:cNvPr id="128" name="Google Shape;128;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ph type="title"/>
          </p:nvPr>
        </p:nvSpPr>
        <p:spPr>
          <a:xfrm>
            <a:off x="3255501" y="1032406"/>
            <a:ext cx="6158530" cy="533404"/>
          </a:xfrm>
          <a:prstGeom prst="rect">
            <a:avLst/>
          </a:prstGeom>
          <a:solidFill>
            <a:srgbClr val="FFFF00"/>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700"/>
              <a:buFont typeface="Times New Roman"/>
              <a:buNone/>
            </a:pPr>
            <a:r>
              <a:rPr b="1" lang="en-US" sz="2700">
                <a:latin typeface="Times New Roman"/>
                <a:ea typeface="Times New Roman"/>
                <a:cs typeface="Times New Roman"/>
                <a:sym typeface="Times New Roman"/>
              </a:rPr>
              <a:t>TÀI LIỆU THAM KHẢO</a:t>
            </a:r>
            <a:endParaRPr/>
          </a:p>
        </p:txBody>
      </p:sp>
      <p:sp>
        <p:nvSpPr>
          <p:cNvPr id="134" name="Google Shape;134;p3"/>
          <p:cNvSpPr txBox="1"/>
          <p:nvPr/>
        </p:nvSpPr>
        <p:spPr>
          <a:xfrm>
            <a:off x="1926772" y="2057400"/>
            <a:ext cx="8436428" cy="3962400"/>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[1] </a:t>
            </a:r>
            <a:r>
              <a:rPr b="1" lang="en-US" sz="2400">
                <a:solidFill>
                  <a:schemeClr val="dk1"/>
                </a:solidFill>
                <a:latin typeface="Times New Roman"/>
                <a:ea typeface="Times New Roman"/>
                <a:cs typeface="Times New Roman"/>
                <a:sym typeface="Times New Roman"/>
              </a:rPr>
              <a:t>Cấu trúc và lập trình họ vi điều khiển 8051</a:t>
            </a:r>
            <a:r>
              <a:rPr lang="en-US" sz="2400">
                <a:solidFill>
                  <a:schemeClr val="dk1"/>
                </a:solidFill>
                <a:latin typeface="Times New Roman"/>
                <a:ea typeface="Times New Roman"/>
                <a:cs typeface="Times New Roman"/>
                <a:sym typeface="Times New Roman"/>
              </a:rPr>
              <a:t>- Nguyễn Tăng Cường – NXB Khoa học &amp; Kỹ thuật.</a:t>
            </a:r>
            <a:endParaRPr/>
          </a:p>
          <a:p>
            <a:pPr indent="0" lvl="0" marL="0" marR="0" rtl="0" algn="just">
              <a:lnSpc>
                <a:spcPct val="90000"/>
              </a:lnSpc>
              <a:spcBef>
                <a:spcPts val="12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[2] </a:t>
            </a:r>
            <a:r>
              <a:rPr b="1" lang="en-US" sz="2400">
                <a:solidFill>
                  <a:schemeClr val="dk1"/>
                </a:solidFill>
                <a:latin typeface="Times New Roman"/>
                <a:ea typeface="Times New Roman"/>
                <a:cs typeface="Times New Roman"/>
                <a:sym typeface="Times New Roman"/>
              </a:rPr>
              <a:t>Vi điều khiển</a:t>
            </a:r>
            <a:r>
              <a:rPr lang="en-US" sz="2400">
                <a:solidFill>
                  <a:schemeClr val="dk1"/>
                </a:solidFill>
                <a:latin typeface="Times New Roman"/>
                <a:ea typeface="Times New Roman"/>
                <a:cs typeface="Times New Roman"/>
                <a:sym typeface="Times New Roman"/>
              </a:rPr>
              <a:t> – Trần Viết Thắng, Phạm Hùng Kim Khánh – Trường đại học kỹ thuật công nghệ</a:t>
            </a:r>
            <a:endParaRPr sz="2400">
              <a:solidFill>
                <a:schemeClr val="dk1"/>
              </a:solidFill>
              <a:latin typeface="Times New Roman"/>
              <a:ea typeface="Times New Roman"/>
              <a:cs typeface="Times New Roman"/>
              <a:sym typeface="Times New Roman"/>
            </a:endParaRPr>
          </a:p>
          <a:p>
            <a:pPr indent="0" lvl="0" marL="0" marR="0" rtl="0" algn="just">
              <a:lnSpc>
                <a:spcPct val="90000"/>
              </a:lnSpc>
              <a:spcBef>
                <a:spcPts val="12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[3] </a:t>
            </a:r>
            <a:r>
              <a:rPr b="1" lang="en-US" sz="2400">
                <a:solidFill>
                  <a:schemeClr val="dk1"/>
                </a:solidFill>
                <a:latin typeface="Times New Roman"/>
                <a:ea typeface="Times New Roman"/>
                <a:cs typeface="Times New Roman"/>
                <a:sym typeface="Times New Roman"/>
              </a:rPr>
              <a:t>Vi xử lý</a:t>
            </a:r>
            <a:r>
              <a:rPr lang="en-US" sz="2400">
                <a:solidFill>
                  <a:schemeClr val="dk1"/>
                </a:solidFill>
                <a:latin typeface="Times New Roman"/>
                <a:ea typeface="Times New Roman"/>
                <a:cs typeface="Times New Roman"/>
                <a:sym typeface="Times New Roman"/>
              </a:rPr>
              <a:t> - Hồ Trung Mỹ - NXB ĐHQG, 2003 (TLTK chính).</a:t>
            </a:r>
            <a:endParaRPr/>
          </a:p>
          <a:p>
            <a:pPr indent="0" lvl="0" marL="0" marR="0" rtl="0" algn="just">
              <a:lnSpc>
                <a:spcPct val="90000"/>
              </a:lnSpc>
              <a:spcBef>
                <a:spcPts val="12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[4] </a:t>
            </a:r>
            <a:r>
              <a:rPr b="1" lang="en-US" sz="2400">
                <a:solidFill>
                  <a:schemeClr val="dk1"/>
                </a:solidFill>
                <a:latin typeface="Times New Roman"/>
                <a:ea typeface="Times New Roman"/>
                <a:cs typeface="Times New Roman"/>
                <a:sym typeface="Times New Roman"/>
              </a:rPr>
              <a:t>Họ vi điều khiển 8051</a:t>
            </a:r>
            <a:r>
              <a:rPr lang="en-US" sz="2400">
                <a:solidFill>
                  <a:schemeClr val="dk1"/>
                </a:solidFill>
                <a:latin typeface="Times New Roman"/>
                <a:ea typeface="Times New Roman"/>
                <a:cs typeface="Times New Roman"/>
                <a:sym typeface="Times New Roman"/>
              </a:rPr>
              <a:t> - Tống Văn On, Hoàng Đức Hải - NXB LĐXH, 2001.</a:t>
            </a:r>
            <a:endParaRPr/>
          </a:p>
          <a:p>
            <a:pPr indent="0" lvl="0" marL="0" marR="0" rtl="0" algn="just">
              <a:lnSpc>
                <a:spcPct val="90000"/>
              </a:lnSpc>
              <a:spcBef>
                <a:spcPts val="12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[5] </a:t>
            </a:r>
            <a:r>
              <a:rPr b="1" lang="en-US" sz="2400">
                <a:solidFill>
                  <a:schemeClr val="dk1"/>
                </a:solidFill>
                <a:latin typeface="Times New Roman"/>
                <a:ea typeface="Times New Roman"/>
                <a:cs typeface="Times New Roman"/>
                <a:sym typeface="Times New Roman"/>
              </a:rPr>
              <a:t>Vi Xử Lý trong Đo Lường và Điều Khiển</a:t>
            </a:r>
            <a:r>
              <a:rPr lang="en-US" sz="2400">
                <a:solidFill>
                  <a:schemeClr val="dk1"/>
                </a:solidFill>
                <a:latin typeface="Times New Roman"/>
                <a:ea typeface="Times New Roman"/>
                <a:cs typeface="Times New Roman"/>
                <a:sym typeface="Times New Roman"/>
              </a:rPr>
              <a:t> - Ngô Diên Tập - NXB Khoa Học &amp; Kỹ Thuật, 2000.</a:t>
            </a:r>
            <a:endParaRPr/>
          </a:p>
        </p:txBody>
      </p:sp>
      <p:sp>
        <p:nvSpPr>
          <p:cNvPr id="135" name="Google Shape;135;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nvSpPr>
        <p:spPr>
          <a:xfrm>
            <a:off x="1524000" y="1240633"/>
            <a:ext cx="1785938"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494429"/>
                </a:solidFill>
                <a:latin typeface="Times New Roman"/>
                <a:ea typeface="Times New Roman"/>
                <a:cs typeface="Times New Roman"/>
                <a:sym typeface="Times New Roman"/>
              </a:rPr>
              <a:t>NỘI DUNG MÔN HỌC</a:t>
            </a:r>
            <a:endParaRPr/>
          </a:p>
        </p:txBody>
      </p:sp>
      <p:sp>
        <p:nvSpPr>
          <p:cNvPr id="144" name="Google Shape;144;p4"/>
          <p:cNvSpPr txBox="1"/>
          <p:nvPr/>
        </p:nvSpPr>
        <p:spPr>
          <a:xfrm>
            <a:off x="3900190" y="4448012"/>
            <a:ext cx="6604344" cy="6924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100">
                <a:solidFill>
                  <a:srgbClr val="494429"/>
                </a:solidFill>
                <a:latin typeface="Calibri"/>
                <a:ea typeface="Calibri"/>
                <a:cs typeface="Calibri"/>
                <a:sym typeface="Calibri"/>
              </a:rPr>
              <a:t>Thực hành: </a:t>
            </a:r>
            <a:r>
              <a:rPr b="1" lang="en-US" sz="2100">
                <a:solidFill>
                  <a:srgbClr val="494429"/>
                </a:solidFill>
                <a:latin typeface="Calibri"/>
                <a:ea typeface="Calibri"/>
                <a:cs typeface="Calibri"/>
                <a:sym typeface="Calibri"/>
              </a:rPr>
              <a:t> </a:t>
            </a:r>
            <a:r>
              <a:rPr b="1" lang="en-US" sz="1800">
                <a:solidFill>
                  <a:srgbClr val="494429"/>
                </a:solidFill>
                <a:latin typeface="Calibri"/>
                <a:ea typeface="Calibri"/>
                <a:cs typeface="Calibri"/>
                <a:sym typeface="Calibri"/>
              </a:rPr>
              <a:t>- Mô phỏng mạch điện tử số bằng phần mềm Proteus</a:t>
            </a:r>
            <a:endParaRPr/>
          </a:p>
          <a:p>
            <a:pPr indent="0" lvl="0" marL="0" marR="0" rtl="0" algn="l">
              <a:spcBef>
                <a:spcPts val="0"/>
              </a:spcBef>
              <a:spcAft>
                <a:spcPts val="0"/>
              </a:spcAft>
              <a:buNone/>
            </a:pPr>
            <a:r>
              <a:rPr b="1" lang="en-US" sz="1800">
                <a:solidFill>
                  <a:srgbClr val="494429"/>
                </a:solidFill>
                <a:latin typeface="Calibri"/>
                <a:ea typeface="Calibri"/>
                <a:cs typeface="Calibri"/>
                <a:sym typeface="Calibri"/>
              </a:rPr>
              <a:t>                           - Thực hiện tại phòng máy</a:t>
            </a:r>
            <a:endParaRPr b="1" sz="1800">
              <a:solidFill>
                <a:srgbClr val="494429"/>
              </a:solidFill>
              <a:latin typeface="Calibri"/>
              <a:ea typeface="Calibri"/>
              <a:cs typeface="Calibri"/>
              <a:sym typeface="Calibri"/>
            </a:endParaRPr>
          </a:p>
        </p:txBody>
      </p:sp>
      <p:sp>
        <p:nvSpPr>
          <p:cNvPr id="145" name="Google Shape;145;p4"/>
          <p:cNvSpPr txBox="1"/>
          <p:nvPr/>
        </p:nvSpPr>
        <p:spPr>
          <a:xfrm>
            <a:off x="3429000" y="1240634"/>
            <a:ext cx="7075534" cy="295036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7365D"/>
              </a:buClr>
              <a:buSzPts val="2400"/>
              <a:buFont typeface="Arial"/>
              <a:buNone/>
            </a:pPr>
            <a:r>
              <a:rPr b="1" lang="en-US" sz="2400">
                <a:solidFill>
                  <a:srgbClr val="17365D"/>
                </a:solidFill>
                <a:latin typeface="Times New Roman"/>
                <a:ea typeface="Times New Roman"/>
                <a:cs typeface="Times New Roman"/>
                <a:sym typeface="Times New Roman"/>
              </a:rPr>
              <a:t>Chương 1:Tổng quan về bộ vi xử lý và hệ vi xử lý.</a:t>
            </a:r>
            <a:endParaRPr/>
          </a:p>
          <a:p>
            <a:pPr indent="0" lvl="0" marL="0" marR="0" rtl="0" algn="l">
              <a:spcBef>
                <a:spcPts val="1200"/>
              </a:spcBef>
              <a:spcAft>
                <a:spcPts val="0"/>
              </a:spcAft>
              <a:buClr>
                <a:srgbClr val="17365D"/>
              </a:buClr>
              <a:buSzPts val="2400"/>
              <a:buFont typeface="Arial"/>
              <a:buNone/>
            </a:pPr>
            <a:r>
              <a:rPr b="1" lang="en-US" sz="2400">
                <a:solidFill>
                  <a:srgbClr val="17365D"/>
                </a:solidFill>
                <a:latin typeface="Times New Roman"/>
                <a:ea typeface="Times New Roman"/>
                <a:cs typeface="Times New Roman"/>
                <a:sym typeface="Times New Roman"/>
              </a:rPr>
              <a:t>Chương 2: Vi điều khiển 8051</a:t>
            </a:r>
            <a:endParaRPr/>
          </a:p>
          <a:p>
            <a:pPr indent="0" lvl="0" marL="0" marR="0" rtl="0" algn="l">
              <a:spcBef>
                <a:spcPts val="1200"/>
              </a:spcBef>
              <a:spcAft>
                <a:spcPts val="0"/>
              </a:spcAft>
              <a:buClr>
                <a:srgbClr val="17365D"/>
              </a:buClr>
              <a:buSzPts val="2400"/>
              <a:buFont typeface="Arial"/>
              <a:buNone/>
            </a:pPr>
            <a:r>
              <a:rPr b="1" lang="en-US" sz="2400">
                <a:solidFill>
                  <a:srgbClr val="17365D"/>
                </a:solidFill>
                <a:latin typeface="Times New Roman"/>
                <a:ea typeface="Times New Roman"/>
                <a:cs typeface="Times New Roman"/>
                <a:sym typeface="Times New Roman"/>
              </a:rPr>
              <a:t>Chương 3:  Bộ đếm/ định thời và truyền thông nối tiếp trong 8051</a:t>
            </a:r>
            <a:endParaRPr/>
          </a:p>
          <a:p>
            <a:pPr indent="0" lvl="0" marL="0" marR="0" rtl="0" algn="l">
              <a:spcBef>
                <a:spcPts val="1200"/>
              </a:spcBef>
              <a:spcAft>
                <a:spcPts val="0"/>
              </a:spcAft>
              <a:buClr>
                <a:srgbClr val="17365D"/>
              </a:buClr>
              <a:buSzPts val="2400"/>
              <a:buFont typeface="Arial"/>
              <a:buNone/>
            </a:pPr>
            <a:r>
              <a:rPr b="1" lang="en-US" sz="2400">
                <a:solidFill>
                  <a:srgbClr val="17365D"/>
                </a:solidFill>
                <a:latin typeface="Times New Roman"/>
                <a:ea typeface="Times New Roman"/>
                <a:cs typeface="Times New Roman"/>
                <a:sym typeface="Times New Roman"/>
              </a:rPr>
              <a:t>Chương 4: Lập trình ngắt trong 8051</a:t>
            </a:r>
            <a:endParaRPr/>
          </a:p>
          <a:p>
            <a:pPr indent="0" lvl="0" marL="0" marR="0" rtl="0" algn="l">
              <a:spcBef>
                <a:spcPts val="1200"/>
              </a:spcBef>
              <a:spcAft>
                <a:spcPts val="0"/>
              </a:spcAft>
              <a:buClr>
                <a:srgbClr val="17365D"/>
              </a:buClr>
              <a:buSzPts val="2400"/>
              <a:buFont typeface="Arial"/>
              <a:buNone/>
            </a:pPr>
            <a:r>
              <a:rPr b="1" lang="en-US" sz="2400">
                <a:solidFill>
                  <a:srgbClr val="17365D"/>
                </a:solidFill>
                <a:latin typeface="Times New Roman"/>
                <a:ea typeface="Times New Roman"/>
                <a:cs typeface="Times New Roman"/>
                <a:sym typeface="Times New Roman"/>
              </a:rPr>
              <a:t>Chương 5: Bộ vi xử lý ARM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75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5"/>
          <p:cNvPicPr preferRelativeResize="0"/>
          <p:nvPr/>
        </p:nvPicPr>
        <p:blipFill rotWithShape="1">
          <a:blip r:embed="rId3">
            <a:alphaModFix/>
          </a:blip>
          <a:srcRect b="0" l="0" r="0" t="0"/>
          <a:stretch/>
        </p:blipFill>
        <p:spPr>
          <a:xfrm>
            <a:off x="2438400" y="1638433"/>
            <a:ext cx="2667000" cy="2476367"/>
          </a:xfrm>
          <a:prstGeom prst="rect">
            <a:avLst/>
          </a:prstGeom>
          <a:noFill/>
          <a:ln>
            <a:noFill/>
          </a:ln>
        </p:spPr>
      </p:pic>
      <p:pic>
        <p:nvPicPr>
          <p:cNvPr id="151" name="Google Shape;151;p5"/>
          <p:cNvPicPr preferRelativeResize="0"/>
          <p:nvPr/>
        </p:nvPicPr>
        <p:blipFill rotWithShape="1">
          <a:blip r:embed="rId4">
            <a:alphaModFix/>
          </a:blip>
          <a:srcRect b="0" l="0" r="0" t="0"/>
          <a:stretch/>
        </p:blipFill>
        <p:spPr>
          <a:xfrm>
            <a:off x="6019800" y="1638433"/>
            <a:ext cx="4229690" cy="2476366"/>
          </a:xfrm>
          <a:prstGeom prst="rect">
            <a:avLst/>
          </a:prstGeom>
          <a:noFill/>
          <a:ln>
            <a:noFill/>
          </a:ln>
        </p:spPr>
      </p:pic>
      <p:sp>
        <p:nvSpPr>
          <p:cNvPr id="152" name="Google Shape;152;p5"/>
          <p:cNvSpPr txBox="1"/>
          <p:nvPr/>
        </p:nvSpPr>
        <p:spPr>
          <a:xfrm>
            <a:off x="1662710" y="4343400"/>
            <a:ext cx="43570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mềm KeilC: cài đặt phiên bản cho 8051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6"/>
          <p:cNvSpPr txBox="1"/>
          <p:nvPr/>
        </p:nvSpPr>
        <p:spPr>
          <a:xfrm>
            <a:off x="1905000" y="2438400"/>
            <a:ext cx="5638800" cy="16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Chương 1. </a:t>
            </a:r>
            <a:br>
              <a:rPr b="1" lang="en-US" sz="3200">
                <a:solidFill>
                  <a:srgbClr val="17365D"/>
                </a:solidFill>
                <a:latin typeface="Times New Roman"/>
                <a:ea typeface="Times New Roman"/>
                <a:cs typeface="Times New Roman"/>
                <a:sym typeface="Times New Roman"/>
              </a:rPr>
            </a:br>
            <a:r>
              <a:rPr b="1" lang="en-US" sz="3200">
                <a:solidFill>
                  <a:srgbClr val="17365D"/>
                </a:solidFill>
                <a:latin typeface="Times New Roman"/>
                <a:ea typeface="Times New Roman"/>
                <a:cs typeface="Times New Roman"/>
                <a:sym typeface="Times New Roman"/>
              </a:rPr>
              <a:t>TỔNG QUAN VỀ  BỘ VXL  VÀ HỆ VXL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aphicFrame>
        <p:nvGraphicFramePr>
          <p:cNvPr id="165" name="Google Shape;165;p7"/>
          <p:cNvGraphicFramePr/>
          <p:nvPr/>
        </p:nvGraphicFramePr>
        <p:xfrm>
          <a:off x="304800" y="1752601"/>
          <a:ext cx="3000000" cy="3000000"/>
        </p:xfrm>
        <a:graphic>
          <a:graphicData uri="http://schemas.openxmlformats.org/drawingml/2006/table">
            <a:tbl>
              <a:tblPr>
                <a:noFill/>
                <a:tableStyleId>{A4A541D9-23D5-4180-BFA4-B58C0BD4C685}</a:tableStyleId>
              </a:tblPr>
              <a:tblGrid>
                <a:gridCol w="11201400"/>
              </a:tblGrid>
              <a:tr h="462025">
                <a:tc>
                  <a:txBody>
                    <a:bodyPr/>
                    <a:lstStyle/>
                    <a:p>
                      <a:pPr indent="-457200" lvl="1" marL="914400" marR="0" rtl="0" algn="l">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cấu trúc và nguyên lý hoạt động của Hệ vi xử lý</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r h="223775">
                <a:tc>
                  <a:txBody>
                    <a:bodyPr/>
                    <a:lstStyle/>
                    <a:p>
                      <a:pPr indent="0" lvl="1" marL="457200" marR="0" rtl="0" algn="l">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
        <p:nvSpPr>
          <p:cNvPr id="166" name="Google Shape;166;p7"/>
          <p:cNvSpPr txBox="1"/>
          <p:nvPr>
            <p:ph type="title"/>
          </p:nvPr>
        </p:nvSpPr>
        <p:spPr>
          <a:xfrm>
            <a:off x="304800" y="228600"/>
            <a:ext cx="8458200" cy="5334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MỤC TIÊU</a:t>
            </a:r>
            <a:endParaRPr/>
          </a:p>
        </p:txBody>
      </p:sp>
      <p:sp>
        <p:nvSpPr>
          <p:cNvPr id="167" name="Google Shape;167;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graphicFrame>
        <p:nvGraphicFramePr>
          <p:cNvPr id="168" name="Google Shape;168;p7"/>
          <p:cNvGraphicFramePr/>
          <p:nvPr/>
        </p:nvGraphicFramePr>
        <p:xfrm>
          <a:off x="304800" y="2641344"/>
          <a:ext cx="3000000" cy="3000000"/>
        </p:xfrm>
        <a:graphic>
          <a:graphicData uri="http://schemas.openxmlformats.org/drawingml/2006/table">
            <a:tbl>
              <a:tblPr>
                <a:noFill/>
                <a:tableStyleId>{A4A541D9-23D5-4180-BFA4-B58C0BD4C685}</a:tableStyleId>
              </a:tblPr>
              <a:tblGrid>
                <a:gridCol w="11201400"/>
              </a:tblGrid>
              <a:tr h="564700">
                <a:tc>
                  <a:txBody>
                    <a:bodyPr/>
                    <a:lstStyle/>
                    <a:p>
                      <a:pPr indent="-457200" lvl="1" marL="914400" marR="0" rtl="0" algn="l">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cấu trúc và nguyên lý hoạt động của Bộ vi xử lý</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r h="273500">
                <a:tc>
                  <a:txBody>
                    <a:bodyPr/>
                    <a:lstStyle/>
                    <a:p>
                      <a:pPr indent="0" lvl="1" marL="457200" marR="0" rtl="0" algn="l">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aphicFrame>
        <p:nvGraphicFramePr>
          <p:cNvPr id="173" name="Google Shape;173;p8"/>
          <p:cNvGraphicFramePr/>
          <p:nvPr/>
        </p:nvGraphicFramePr>
        <p:xfrm>
          <a:off x="384412" y="1510771"/>
          <a:ext cx="3000000" cy="3000000"/>
        </p:xfrm>
        <a:graphic>
          <a:graphicData uri="http://schemas.openxmlformats.org/drawingml/2006/table">
            <a:tbl>
              <a:tblPr>
                <a:noFill/>
                <a:tableStyleId>{A4A541D9-23D5-4180-BFA4-B58C0BD4C685}</a:tableStyleId>
              </a:tblPr>
              <a:tblGrid>
                <a:gridCol w="11201400"/>
              </a:tblGrid>
              <a:tr h="535025">
                <a:tc>
                  <a:txBody>
                    <a:bodyPr/>
                    <a:lstStyle/>
                    <a:p>
                      <a:pPr indent="0" lvl="1" marL="457200" marR="0" rtl="0" algn="l">
                        <a:lnSpc>
                          <a:spcPct val="100000"/>
                        </a:lnSpc>
                        <a:spcBef>
                          <a:spcPts val="0"/>
                        </a:spcBef>
                        <a:spcAft>
                          <a:spcPts val="0"/>
                        </a:spcAft>
                        <a:buClr>
                          <a:srgbClr val="366092"/>
                        </a:buClr>
                        <a:buSzPts val="2800"/>
                        <a:buFont typeface="Noto Sans Symbols"/>
                        <a:buNone/>
                      </a:pPr>
                      <a:r>
                        <a:rPr b="1" lang="en-US" sz="2800" u="none" cap="none" strike="noStrike">
                          <a:solidFill>
                            <a:srgbClr val="366092"/>
                          </a:solidFill>
                          <a:latin typeface="Times New Roman"/>
                          <a:ea typeface="Times New Roman"/>
                          <a:cs typeface="Times New Roman"/>
                          <a:sym typeface="Times New Roman"/>
                        </a:rPr>
                        <a:t>1.1. Hệ vi xử lý</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r h="226975">
                <a:tc>
                  <a:txBody>
                    <a:bodyPr/>
                    <a:lstStyle/>
                    <a:p>
                      <a:pPr indent="0" lvl="1" marL="457200" marR="0" rtl="0" algn="l">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
        <p:nvSpPr>
          <p:cNvPr id="174" name="Google Shape;174;p8"/>
          <p:cNvSpPr txBox="1"/>
          <p:nvPr>
            <p:ph type="title"/>
          </p:nvPr>
        </p:nvSpPr>
        <p:spPr>
          <a:xfrm>
            <a:off x="838200" y="304800"/>
            <a:ext cx="8458200" cy="4873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NỘI DUNG</a:t>
            </a:r>
            <a:endParaRPr/>
          </a:p>
        </p:txBody>
      </p:sp>
      <p:sp>
        <p:nvSpPr>
          <p:cNvPr id="175" name="Google Shape;175;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graphicFrame>
        <p:nvGraphicFramePr>
          <p:cNvPr id="176" name="Google Shape;176;p8"/>
          <p:cNvGraphicFramePr/>
          <p:nvPr/>
        </p:nvGraphicFramePr>
        <p:xfrm>
          <a:off x="381000" y="3276600"/>
          <a:ext cx="3000000" cy="3000000"/>
        </p:xfrm>
        <a:graphic>
          <a:graphicData uri="http://schemas.openxmlformats.org/drawingml/2006/table">
            <a:tbl>
              <a:tblPr>
                <a:noFill/>
                <a:tableStyleId>{A4A541D9-23D5-4180-BFA4-B58C0BD4C685}</a:tableStyleId>
              </a:tblPr>
              <a:tblGrid>
                <a:gridCol w="11201400"/>
              </a:tblGrid>
              <a:tr h="476850">
                <a:tc>
                  <a:txBody>
                    <a:bodyPr/>
                    <a:lstStyle/>
                    <a:p>
                      <a:pPr indent="0" lvl="1" marL="457200" marR="0" rtl="0" algn="l">
                        <a:lnSpc>
                          <a:spcPct val="100000"/>
                        </a:lnSpc>
                        <a:spcBef>
                          <a:spcPts val="0"/>
                        </a:spcBef>
                        <a:spcAft>
                          <a:spcPts val="0"/>
                        </a:spcAft>
                        <a:buClr>
                          <a:srgbClr val="366092"/>
                        </a:buClr>
                        <a:buSzPts val="2800"/>
                        <a:buFont typeface="Noto Sans Symbols"/>
                        <a:buNone/>
                      </a:pPr>
                      <a:r>
                        <a:rPr b="1" lang="en-US" sz="2800" u="none" cap="none" strike="noStrike">
                          <a:solidFill>
                            <a:srgbClr val="366092"/>
                          </a:solidFill>
                          <a:latin typeface="Times New Roman"/>
                          <a:ea typeface="Times New Roman"/>
                          <a:cs typeface="Times New Roman"/>
                          <a:sym typeface="Times New Roman"/>
                        </a:rPr>
                        <a:t>1.3. Các bước thiết kế hệ vi xử lý</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r h="230950">
                <a:tc>
                  <a:txBody>
                    <a:bodyPr/>
                    <a:lstStyle/>
                    <a:p>
                      <a:pPr indent="0" lvl="1" marL="457200" marR="0" rtl="0" algn="l">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graphicFrame>
        <p:nvGraphicFramePr>
          <p:cNvPr id="177" name="Google Shape;177;p8"/>
          <p:cNvGraphicFramePr/>
          <p:nvPr/>
        </p:nvGraphicFramePr>
        <p:xfrm>
          <a:off x="381000" y="2412068"/>
          <a:ext cx="3000000" cy="3000000"/>
        </p:xfrm>
        <a:graphic>
          <a:graphicData uri="http://schemas.openxmlformats.org/drawingml/2006/table">
            <a:tbl>
              <a:tblPr>
                <a:noFill/>
                <a:tableStyleId>{A4A541D9-23D5-4180-BFA4-B58C0BD4C685}</a:tableStyleId>
              </a:tblPr>
              <a:tblGrid>
                <a:gridCol w="11201400"/>
              </a:tblGrid>
              <a:tr h="437800">
                <a:tc>
                  <a:txBody>
                    <a:bodyPr/>
                    <a:lstStyle/>
                    <a:p>
                      <a:pPr indent="0" lvl="1" marL="457200" marR="0" rtl="0" algn="l">
                        <a:lnSpc>
                          <a:spcPct val="100000"/>
                        </a:lnSpc>
                        <a:spcBef>
                          <a:spcPts val="0"/>
                        </a:spcBef>
                        <a:spcAft>
                          <a:spcPts val="0"/>
                        </a:spcAft>
                        <a:buClr>
                          <a:srgbClr val="366092"/>
                        </a:buClr>
                        <a:buSzPts val="2800"/>
                        <a:buFont typeface="Noto Sans Symbols"/>
                        <a:buNone/>
                      </a:pPr>
                      <a:r>
                        <a:rPr b="1" lang="en-US" sz="2800" u="none" cap="none" strike="noStrike">
                          <a:solidFill>
                            <a:srgbClr val="366092"/>
                          </a:solidFill>
                          <a:latin typeface="Times New Roman"/>
                          <a:ea typeface="Times New Roman"/>
                          <a:cs typeface="Times New Roman"/>
                          <a:sym typeface="Times New Roman"/>
                        </a:rPr>
                        <a:t>1.2. Bộ vi xử lý</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r h="212050">
                <a:tc>
                  <a:txBody>
                    <a:bodyPr/>
                    <a:lstStyle/>
                    <a:p>
                      <a:pPr indent="0" lvl="1" marL="457200" marR="0" rtl="0" algn="l">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87695" y="147384"/>
            <a:ext cx="8229600" cy="720736"/>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1.1. Hệ vi xử lý (1)</a:t>
            </a:r>
            <a:endParaRPr/>
          </a:p>
        </p:txBody>
      </p:sp>
      <p:sp>
        <p:nvSpPr>
          <p:cNvPr id="183" name="Google Shape;183;p9"/>
          <p:cNvSpPr txBox="1"/>
          <p:nvPr>
            <p:ph idx="1" type="body"/>
          </p:nvPr>
        </p:nvSpPr>
        <p:spPr>
          <a:xfrm>
            <a:off x="98563" y="955515"/>
            <a:ext cx="5153815" cy="533400"/>
          </a:xfrm>
          <a:prstGeom prst="rect">
            <a:avLst/>
          </a:prstGeom>
          <a:noFill/>
          <a:ln>
            <a:noFill/>
          </a:ln>
        </p:spPr>
        <p:txBody>
          <a:bodyPr anchorCtr="0" anchor="t" bIns="45700" lIns="91425" spcFirstLastPara="1" rIns="91425" wrap="square" tIns="45700">
            <a:normAutofit/>
          </a:bodyPr>
          <a:lstStyle/>
          <a:p>
            <a:pPr indent="-342900" lvl="2" marL="342900" rtl="0" algn="l">
              <a:spcBef>
                <a:spcPts val="0"/>
              </a:spcBef>
              <a:spcAft>
                <a:spcPts val="0"/>
              </a:spcAft>
              <a:buClr>
                <a:srgbClr val="C00000"/>
              </a:buClr>
              <a:buSzPts val="2800"/>
              <a:buNone/>
            </a:pPr>
            <a:r>
              <a:rPr b="1" lang="en-US" sz="2800">
                <a:solidFill>
                  <a:srgbClr val="C00000"/>
                </a:solidFill>
                <a:latin typeface="Times New Roman"/>
                <a:ea typeface="Times New Roman"/>
                <a:cs typeface="Times New Roman"/>
                <a:sym typeface="Times New Roman"/>
              </a:rPr>
              <a:t>1.1.1. Cấu trúc phần cứng</a:t>
            </a:r>
            <a:endParaRPr b="1" sz="2800">
              <a:solidFill>
                <a:srgbClr val="C00000"/>
              </a:solidFill>
              <a:latin typeface="Times New Roman"/>
              <a:ea typeface="Times New Roman"/>
              <a:cs typeface="Times New Roman"/>
              <a:sym typeface="Times New Roman"/>
            </a:endParaRPr>
          </a:p>
        </p:txBody>
      </p:sp>
      <p:grpSp>
        <p:nvGrpSpPr>
          <p:cNvPr id="184" name="Google Shape;184;p9"/>
          <p:cNvGrpSpPr/>
          <p:nvPr/>
        </p:nvGrpSpPr>
        <p:grpSpPr>
          <a:xfrm>
            <a:off x="1676400" y="2286000"/>
            <a:ext cx="8444824" cy="3124200"/>
            <a:chOff x="1899" y="2179"/>
            <a:chExt cx="8547" cy="3476"/>
          </a:xfrm>
        </p:grpSpPr>
        <p:grpSp>
          <p:nvGrpSpPr>
            <p:cNvPr id="185" name="Google Shape;185;p9"/>
            <p:cNvGrpSpPr/>
            <p:nvPr/>
          </p:nvGrpSpPr>
          <p:grpSpPr>
            <a:xfrm>
              <a:off x="2009" y="2179"/>
              <a:ext cx="8338" cy="2789"/>
              <a:chOff x="1954" y="1497"/>
              <a:chExt cx="8338" cy="2789"/>
            </a:xfrm>
          </p:grpSpPr>
          <p:sp>
            <p:nvSpPr>
              <p:cNvPr id="186" name="Google Shape;186;p9"/>
              <p:cNvSpPr txBox="1"/>
              <p:nvPr/>
            </p:nvSpPr>
            <p:spPr>
              <a:xfrm>
                <a:off x="3373" y="2146"/>
                <a:ext cx="1089" cy="2140"/>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ctr">
                  <a:spcBef>
                    <a:spcPts val="1200"/>
                  </a:spcBef>
                  <a:spcAft>
                    <a:spcPts val="0"/>
                  </a:spcAft>
                  <a:buNone/>
                </a:pPr>
                <a:r>
                  <a:rPr lang="en-US" sz="1800">
                    <a:solidFill>
                      <a:schemeClr val="dk1"/>
                    </a:solidFill>
                    <a:latin typeface="Times New Roman"/>
                    <a:ea typeface="Times New Roman"/>
                    <a:cs typeface="Times New Roman"/>
                    <a:sym typeface="Times New Roman"/>
                  </a:rPr>
                  <a:t>CPU</a:t>
                </a:r>
                <a:endParaRPr sz="3200">
                  <a:solidFill>
                    <a:schemeClr val="dk1"/>
                  </a:solidFill>
                  <a:latin typeface="Times New Roman"/>
                  <a:ea typeface="Times New Roman"/>
                  <a:cs typeface="Times New Roman"/>
                  <a:sym typeface="Times New Roman"/>
                </a:endParaRPr>
              </a:p>
            </p:txBody>
          </p:sp>
          <p:sp>
            <p:nvSpPr>
              <p:cNvPr id="187" name="Google Shape;187;p9"/>
              <p:cNvSpPr txBox="1"/>
              <p:nvPr/>
            </p:nvSpPr>
            <p:spPr>
              <a:xfrm>
                <a:off x="5122" y="2933"/>
                <a:ext cx="968" cy="84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ROM</a:t>
                </a:r>
                <a:endParaRPr sz="3200">
                  <a:solidFill>
                    <a:schemeClr val="dk1"/>
                  </a:solidFill>
                  <a:latin typeface="Times New Roman"/>
                  <a:ea typeface="Times New Roman"/>
                  <a:cs typeface="Times New Roman"/>
                  <a:sym typeface="Times New Roman"/>
                </a:endParaRPr>
              </a:p>
            </p:txBody>
          </p:sp>
          <p:sp>
            <p:nvSpPr>
              <p:cNvPr id="188" name="Google Shape;188;p9"/>
              <p:cNvSpPr txBox="1"/>
              <p:nvPr/>
            </p:nvSpPr>
            <p:spPr>
              <a:xfrm>
                <a:off x="6475" y="2933"/>
                <a:ext cx="968" cy="84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RAM</a:t>
                </a:r>
                <a:endParaRPr sz="3200">
                  <a:solidFill>
                    <a:schemeClr val="dk1"/>
                  </a:solidFill>
                  <a:latin typeface="Times New Roman"/>
                  <a:ea typeface="Times New Roman"/>
                  <a:cs typeface="Times New Roman"/>
                  <a:sym typeface="Times New Roman"/>
                </a:endParaRPr>
              </a:p>
            </p:txBody>
          </p:sp>
          <p:sp>
            <p:nvSpPr>
              <p:cNvPr id="189" name="Google Shape;189;p9"/>
              <p:cNvSpPr txBox="1"/>
              <p:nvPr/>
            </p:nvSpPr>
            <p:spPr>
              <a:xfrm>
                <a:off x="7861" y="2927"/>
                <a:ext cx="968" cy="84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I/O</a:t>
                </a:r>
                <a:endParaRPr sz="3200">
                  <a:solidFill>
                    <a:schemeClr val="dk1"/>
                  </a:solidFill>
                  <a:latin typeface="Times New Roman"/>
                  <a:ea typeface="Times New Roman"/>
                  <a:cs typeface="Times New Roman"/>
                  <a:sym typeface="Times New Roman"/>
                </a:endParaRPr>
              </a:p>
            </p:txBody>
          </p:sp>
          <p:sp>
            <p:nvSpPr>
              <p:cNvPr id="190" name="Google Shape;190;p9"/>
              <p:cNvSpPr txBox="1"/>
              <p:nvPr/>
            </p:nvSpPr>
            <p:spPr>
              <a:xfrm>
                <a:off x="9236" y="2916"/>
                <a:ext cx="1056" cy="84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TBNV</a:t>
                </a:r>
                <a:endParaRPr sz="3200">
                  <a:solidFill>
                    <a:schemeClr val="dk1"/>
                  </a:solidFill>
                  <a:latin typeface="Times New Roman"/>
                  <a:ea typeface="Times New Roman"/>
                  <a:cs typeface="Times New Roman"/>
                  <a:sym typeface="Times New Roman"/>
                </a:endParaRPr>
              </a:p>
            </p:txBody>
          </p:sp>
          <p:sp>
            <p:nvSpPr>
              <p:cNvPr id="191" name="Google Shape;191;p9"/>
              <p:cNvSpPr txBox="1"/>
              <p:nvPr/>
            </p:nvSpPr>
            <p:spPr>
              <a:xfrm>
                <a:off x="1954" y="2603"/>
                <a:ext cx="913" cy="550"/>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CLK</a:t>
                </a:r>
                <a:endParaRPr sz="3200">
                  <a:solidFill>
                    <a:schemeClr val="dk1"/>
                  </a:solidFill>
                  <a:latin typeface="Times New Roman"/>
                  <a:ea typeface="Times New Roman"/>
                  <a:cs typeface="Times New Roman"/>
                  <a:sym typeface="Times New Roman"/>
                </a:endParaRPr>
              </a:p>
            </p:txBody>
          </p:sp>
          <p:cxnSp>
            <p:nvCxnSpPr>
              <p:cNvPr id="192" name="Google Shape;192;p9"/>
              <p:cNvCxnSpPr/>
              <p:nvPr/>
            </p:nvCxnSpPr>
            <p:spPr>
              <a:xfrm>
                <a:off x="2878" y="2894"/>
                <a:ext cx="495" cy="0"/>
              </a:xfrm>
              <a:prstGeom prst="straightConnector1">
                <a:avLst/>
              </a:prstGeom>
              <a:noFill/>
              <a:ln cap="flat" cmpd="sng" w="9525">
                <a:solidFill>
                  <a:srgbClr val="000000"/>
                </a:solidFill>
                <a:prstDash val="solid"/>
                <a:round/>
                <a:headEnd len="med" w="med" type="none"/>
                <a:tailEnd len="med" w="med" type="triangle"/>
              </a:ln>
            </p:spPr>
          </p:cxnSp>
          <p:cxnSp>
            <p:nvCxnSpPr>
              <p:cNvPr id="193" name="Google Shape;193;p9"/>
              <p:cNvCxnSpPr/>
              <p:nvPr/>
            </p:nvCxnSpPr>
            <p:spPr>
              <a:xfrm>
                <a:off x="4462" y="2245"/>
                <a:ext cx="4147" cy="0"/>
              </a:xfrm>
              <a:prstGeom prst="straightConnector1">
                <a:avLst/>
              </a:prstGeom>
              <a:noFill/>
              <a:ln cap="flat" cmpd="sng" w="9525">
                <a:solidFill>
                  <a:srgbClr val="000000"/>
                </a:solidFill>
                <a:prstDash val="solid"/>
                <a:round/>
                <a:headEnd len="med" w="med" type="none"/>
                <a:tailEnd len="med" w="med" type="none"/>
              </a:ln>
            </p:spPr>
          </p:cxnSp>
          <p:cxnSp>
            <p:nvCxnSpPr>
              <p:cNvPr id="194" name="Google Shape;194;p9"/>
              <p:cNvCxnSpPr/>
              <p:nvPr/>
            </p:nvCxnSpPr>
            <p:spPr>
              <a:xfrm>
                <a:off x="5793" y="2245"/>
                <a:ext cx="0" cy="693"/>
              </a:xfrm>
              <a:prstGeom prst="straightConnector1">
                <a:avLst/>
              </a:prstGeom>
              <a:noFill/>
              <a:ln cap="flat" cmpd="sng" w="9525">
                <a:solidFill>
                  <a:srgbClr val="000000"/>
                </a:solidFill>
                <a:prstDash val="solid"/>
                <a:round/>
                <a:headEnd len="med" w="med" type="triangle"/>
                <a:tailEnd len="med" w="med" type="triangle"/>
              </a:ln>
            </p:spPr>
          </p:cxnSp>
          <p:cxnSp>
            <p:nvCxnSpPr>
              <p:cNvPr id="195" name="Google Shape;195;p9"/>
              <p:cNvCxnSpPr/>
              <p:nvPr/>
            </p:nvCxnSpPr>
            <p:spPr>
              <a:xfrm>
                <a:off x="7135" y="2245"/>
                <a:ext cx="0" cy="693"/>
              </a:xfrm>
              <a:prstGeom prst="straightConnector1">
                <a:avLst/>
              </a:prstGeom>
              <a:noFill/>
              <a:ln cap="flat" cmpd="sng" w="9525">
                <a:solidFill>
                  <a:srgbClr val="000000"/>
                </a:solidFill>
                <a:prstDash val="solid"/>
                <a:round/>
                <a:headEnd len="med" w="med" type="triangle"/>
                <a:tailEnd len="med" w="med" type="triangle"/>
              </a:ln>
            </p:spPr>
          </p:cxnSp>
          <p:cxnSp>
            <p:nvCxnSpPr>
              <p:cNvPr id="196" name="Google Shape;196;p9"/>
              <p:cNvCxnSpPr/>
              <p:nvPr/>
            </p:nvCxnSpPr>
            <p:spPr>
              <a:xfrm>
                <a:off x="8598" y="2245"/>
                <a:ext cx="0" cy="693"/>
              </a:xfrm>
              <a:prstGeom prst="straightConnector1">
                <a:avLst/>
              </a:prstGeom>
              <a:noFill/>
              <a:ln cap="flat" cmpd="sng" w="9525">
                <a:solidFill>
                  <a:srgbClr val="000000"/>
                </a:solidFill>
                <a:prstDash val="solid"/>
                <a:round/>
                <a:headEnd len="med" w="med" type="triangle"/>
                <a:tailEnd len="med" w="med" type="triangle"/>
              </a:ln>
            </p:spPr>
          </p:cxnSp>
          <p:cxnSp>
            <p:nvCxnSpPr>
              <p:cNvPr id="197" name="Google Shape;197;p9"/>
              <p:cNvCxnSpPr/>
              <p:nvPr/>
            </p:nvCxnSpPr>
            <p:spPr>
              <a:xfrm>
                <a:off x="4473" y="4148"/>
                <a:ext cx="3938" cy="0"/>
              </a:xfrm>
              <a:prstGeom prst="straightConnector1">
                <a:avLst/>
              </a:prstGeom>
              <a:noFill/>
              <a:ln cap="flat" cmpd="sng" w="9525">
                <a:solidFill>
                  <a:srgbClr val="000000"/>
                </a:solidFill>
                <a:prstDash val="solid"/>
                <a:round/>
                <a:headEnd len="med" w="med" type="none"/>
                <a:tailEnd len="med" w="med" type="none"/>
              </a:ln>
            </p:spPr>
          </p:cxnSp>
          <p:cxnSp>
            <p:nvCxnSpPr>
              <p:cNvPr id="198" name="Google Shape;198;p9"/>
              <p:cNvCxnSpPr/>
              <p:nvPr/>
            </p:nvCxnSpPr>
            <p:spPr>
              <a:xfrm rot="10800000">
                <a:off x="5584" y="3763"/>
                <a:ext cx="0" cy="385"/>
              </a:xfrm>
              <a:prstGeom prst="straightConnector1">
                <a:avLst/>
              </a:prstGeom>
              <a:noFill/>
              <a:ln cap="flat" cmpd="sng" w="9525">
                <a:solidFill>
                  <a:srgbClr val="000000"/>
                </a:solidFill>
                <a:prstDash val="solid"/>
                <a:round/>
                <a:headEnd len="med" w="med" type="none"/>
                <a:tailEnd len="med" w="med" type="triangle"/>
              </a:ln>
            </p:spPr>
          </p:cxnSp>
          <p:cxnSp>
            <p:nvCxnSpPr>
              <p:cNvPr id="199" name="Google Shape;199;p9"/>
              <p:cNvCxnSpPr/>
              <p:nvPr/>
            </p:nvCxnSpPr>
            <p:spPr>
              <a:xfrm rot="10800000">
                <a:off x="7003" y="3752"/>
                <a:ext cx="0" cy="385"/>
              </a:xfrm>
              <a:prstGeom prst="straightConnector1">
                <a:avLst/>
              </a:prstGeom>
              <a:noFill/>
              <a:ln cap="flat" cmpd="sng" w="9525">
                <a:solidFill>
                  <a:srgbClr val="000000"/>
                </a:solidFill>
                <a:prstDash val="solid"/>
                <a:round/>
                <a:headEnd len="med" w="med" type="none"/>
                <a:tailEnd len="med" w="med" type="triangle"/>
              </a:ln>
            </p:spPr>
          </p:cxnSp>
          <p:cxnSp>
            <p:nvCxnSpPr>
              <p:cNvPr id="200" name="Google Shape;200;p9"/>
              <p:cNvCxnSpPr/>
              <p:nvPr/>
            </p:nvCxnSpPr>
            <p:spPr>
              <a:xfrm rot="10800000">
                <a:off x="8422" y="3752"/>
                <a:ext cx="0" cy="385"/>
              </a:xfrm>
              <a:prstGeom prst="straightConnector1">
                <a:avLst/>
              </a:prstGeom>
              <a:noFill/>
              <a:ln cap="flat" cmpd="sng" w="9525">
                <a:solidFill>
                  <a:srgbClr val="000000"/>
                </a:solidFill>
                <a:prstDash val="solid"/>
                <a:round/>
                <a:headEnd len="med" w="med" type="none"/>
                <a:tailEnd len="med" w="med" type="triangle"/>
              </a:ln>
            </p:spPr>
          </p:cxnSp>
          <p:cxnSp>
            <p:nvCxnSpPr>
              <p:cNvPr id="201" name="Google Shape;201;p9"/>
              <p:cNvCxnSpPr/>
              <p:nvPr/>
            </p:nvCxnSpPr>
            <p:spPr>
              <a:xfrm>
                <a:off x="3934" y="1893"/>
                <a:ext cx="4301" cy="0"/>
              </a:xfrm>
              <a:prstGeom prst="straightConnector1">
                <a:avLst/>
              </a:prstGeom>
              <a:noFill/>
              <a:ln cap="flat" cmpd="sng" w="9525">
                <a:solidFill>
                  <a:srgbClr val="000000"/>
                </a:solidFill>
                <a:prstDash val="solid"/>
                <a:round/>
                <a:headEnd len="med" w="med" type="none"/>
                <a:tailEnd len="med" w="med" type="none"/>
              </a:ln>
            </p:spPr>
          </p:cxnSp>
          <p:cxnSp>
            <p:nvCxnSpPr>
              <p:cNvPr id="202" name="Google Shape;202;p9"/>
              <p:cNvCxnSpPr/>
              <p:nvPr/>
            </p:nvCxnSpPr>
            <p:spPr>
              <a:xfrm rot="10800000">
                <a:off x="5309" y="1882"/>
                <a:ext cx="0" cy="1056"/>
              </a:xfrm>
              <a:prstGeom prst="straightConnector1">
                <a:avLst/>
              </a:prstGeom>
              <a:noFill/>
              <a:ln cap="flat" cmpd="sng" w="9525">
                <a:solidFill>
                  <a:srgbClr val="000000"/>
                </a:solidFill>
                <a:prstDash val="solid"/>
                <a:round/>
                <a:headEnd len="med" w="med" type="none"/>
                <a:tailEnd len="med" w="med" type="triangle"/>
              </a:ln>
            </p:spPr>
          </p:cxnSp>
          <p:cxnSp>
            <p:nvCxnSpPr>
              <p:cNvPr id="203" name="Google Shape;203;p9"/>
              <p:cNvCxnSpPr/>
              <p:nvPr/>
            </p:nvCxnSpPr>
            <p:spPr>
              <a:xfrm>
                <a:off x="6882" y="1882"/>
                <a:ext cx="0" cy="1056"/>
              </a:xfrm>
              <a:prstGeom prst="straightConnector1">
                <a:avLst/>
              </a:prstGeom>
              <a:noFill/>
              <a:ln cap="flat" cmpd="sng" w="9525">
                <a:solidFill>
                  <a:srgbClr val="000000"/>
                </a:solidFill>
                <a:prstDash val="solid"/>
                <a:round/>
                <a:headEnd len="med" w="med" type="triangle"/>
                <a:tailEnd len="med" w="med" type="triangle"/>
              </a:ln>
            </p:spPr>
          </p:cxnSp>
          <p:cxnSp>
            <p:nvCxnSpPr>
              <p:cNvPr id="204" name="Google Shape;204;p9"/>
              <p:cNvCxnSpPr/>
              <p:nvPr/>
            </p:nvCxnSpPr>
            <p:spPr>
              <a:xfrm>
                <a:off x="8235" y="1882"/>
                <a:ext cx="0" cy="1056"/>
              </a:xfrm>
              <a:prstGeom prst="straightConnector1">
                <a:avLst/>
              </a:prstGeom>
              <a:noFill/>
              <a:ln cap="flat" cmpd="sng" w="9525">
                <a:solidFill>
                  <a:srgbClr val="000000"/>
                </a:solidFill>
                <a:prstDash val="solid"/>
                <a:round/>
                <a:headEnd len="med" w="med" type="triangle"/>
                <a:tailEnd len="med" w="med" type="triangle"/>
              </a:ln>
            </p:spPr>
          </p:cxnSp>
          <p:cxnSp>
            <p:nvCxnSpPr>
              <p:cNvPr id="205" name="Google Shape;205;p9"/>
              <p:cNvCxnSpPr/>
              <p:nvPr/>
            </p:nvCxnSpPr>
            <p:spPr>
              <a:xfrm>
                <a:off x="3934" y="1893"/>
                <a:ext cx="0" cy="253"/>
              </a:xfrm>
              <a:prstGeom prst="straightConnector1">
                <a:avLst/>
              </a:prstGeom>
              <a:noFill/>
              <a:ln cap="flat" cmpd="sng" w="9525">
                <a:solidFill>
                  <a:srgbClr val="000000"/>
                </a:solidFill>
                <a:prstDash val="solid"/>
                <a:round/>
                <a:headEnd len="med" w="med" type="none"/>
                <a:tailEnd len="med" w="med" type="none"/>
              </a:ln>
            </p:spPr>
          </p:cxnSp>
          <p:cxnSp>
            <p:nvCxnSpPr>
              <p:cNvPr id="206" name="Google Shape;206;p9"/>
              <p:cNvCxnSpPr/>
              <p:nvPr/>
            </p:nvCxnSpPr>
            <p:spPr>
              <a:xfrm>
                <a:off x="8851" y="3356"/>
                <a:ext cx="374" cy="0"/>
              </a:xfrm>
              <a:prstGeom prst="straightConnector1">
                <a:avLst/>
              </a:prstGeom>
              <a:noFill/>
              <a:ln cap="flat" cmpd="sng" w="9525">
                <a:solidFill>
                  <a:srgbClr val="000000"/>
                </a:solidFill>
                <a:prstDash val="solid"/>
                <a:round/>
                <a:headEnd len="med" w="med" type="triangle"/>
                <a:tailEnd len="med" w="med" type="triangle"/>
              </a:ln>
            </p:spPr>
          </p:cxnSp>
          <p:sp>
            <p:nvSpPr>
              <p:cNvPr id="207" name="Google Shape;207;p9"/>
              <p:cNvSpPr txBox="1"/>
              <p:nvPr/>
            </p:nvSpPr>
            <p:spPr>
              <a:xfrm>
                <a:off x="3989" y="1497"/>
                <a:ext cx="1397" cy="38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Bus dữ liệu</a:t>
                </a:r>
                <a:endParaRPr sz="3200">
                  <a:solidFill>
                    <a:schemeClr val="dk1"/>
                  </a:solidFill>
                  <a:latin typeface="Times New Roman"/>
                  <a:ea typeface="Times New Roman"/>
                  <a:cs typeface="Times New Roman"/>
                  <a:sym typeface="Times New Roman"/>
                </a:endParaRPr>
              </a:p>
            </p:txBody>
          </p:sp>
          <p:sp>
            <p:nvSpPr>
              <p:cNvPr id="208" name="Google Shape;208;p9"/>
              <p:cNvSpPr txBox="1"/>
              <p:nvPr/>
            </p:nvSpPr>
            <p:spPr>
              <a:xfrm>
                <a:off x="5342" y="1926"/>
                <a:ext cx="1661" cy="38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Bus điều khiển</a:t>
                </a:r>
                <a:endParaRPr sz="3200">
                  <a:solidFill>
                    <a:schemeClr val="dk1"/>
                  </a:solidFill>
                  <a:latin typeface="Times New Roman"/>
                  <a:ea typeface="Times New Roman"/>
                  <a:cs typeface="Times New Roman"/>
                  <a:sym typeface="Times New Roman"/>
                </a:endParaRPr>
              </a:p>
            </p:txBody>
          </p:sp>
          <p:sp>
            <p:nvSpPr>
              <p:cNvPr id="209" name="Google Shape;209;p9"/>
              <p:cNvSpPr txBox="1"/>
              <p:nvPr/>
            </p:nvSpPr>
            <p:spPr>
              <a:xfrm>
                <a:off x="5617" y="3785"/>
                <a:ext cx="1661" cy="38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Bus địa chỉ</a:t>
                </a:r>
                <a:endParaRPr sz="3200">
                  <a:solidFill>
                    <a:schemeClr val="dk1"/>
                  </a:solidFill>
                  <a:latin typeface="Times New Roman"/>
                  <a:ea typeface="Times New Roman"/>
                  <a:cs typeface="Times New Roman"/>
                  <a:sym typeface="Times New Roman"/>
                </a:endParaRPr>
              </a:p>
            </p:txBody>
          </p:sp>
        </p:grpSp>
        <p:sp>
          <p:nvSpPr>
            <p:cNvPr id="210" name="Google Shape;210;p9"/>
            <p:cNvSpPr txBox="1"/>
            <p:nvPr/>
          </p:nvSpPr>
          <p:spPr>
            <a:xfrm>
              <a:off x="1899" y="5138"/>
              <a:ext cx="8547" cy="5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Hình 1.1 . Sơ đồ khối của hệ vi xử lý</a:t>
              </a:r>
              <a:endParaRPr sz="3200">
                <a:solidFill>
                  <a:schemeClr val="dk1"/>
                </a:solidFill>
                <a:latin typeface="Times New Roman"/>
                <a:ea typeface="Times New Roman"/>
                <a:cs typeface="Times New Roman"/>
                <a:sym typeface="Times New Roman"/>
              </a:endParaRPr>
            </a:p>
          </p:txBody>
        </p:sp>
      </p:grpSp>
      <p:sp>
        <p:nvSpPr>
          <p:cNvPr id="211" name="Google Shape;211;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Bộ VXL hay còn gọi là khối xử lý trung tâm: có vai trò thực hiện tất cả các lệnh mà chương trình yêu cầu, quyết định sự hoạt động của các linh kiện trong mạch.</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Khối bộ nhớ: Được thực hiện bằng các chip nhớ bán dẫn ROM hoặc RAM, lưu trữ chương trình cung cấp cho VXL thực hiện. Ngoài ra nó còn sử dụng lưu trữ các biến trung gian cũng như cuối cùng trong các quá trình tính toán.</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Các cổng I/O được thực hiện bằng các chip MSI hoặc LSI, là phần mạch giao tiếp giữa vi xử lý với các thiết bị I/O. Bộ vi xử lý cũng phân biệt các cổng I/O theo địa chỉ của chúng.</a:t>
            </a:r>
            <a:endParaRPr>
              <a:latin typeface="Times New Roman"/>
              <a:ea typeface="Times New Roman"/>
              <a:cs typeface="Times New Roman"/>
              <a:sym typeface="Times New Roman"/>
            </a:endParaRPr>
          </a:p>
        </p:txBody>
      </p:sp>
      <p:sp>
        <p:nvSpPr>
          <p:cNvPr id="217" name="Google Shape;217;p10"/>
          <p:cNvSpPr/>
          <p:nvPr/>
        </p:nvSpPr>
        <p:spPr>
          <a:xfrm>
            <a:off x="2279576" y="404664"/>
            <a:ext cx="7992888" cy="864096"/>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CÁC THÀNH PHẦN CƠ BẢN PHẦN CỨNG</a:t>
            </a:r>
            <a:endParaRPr/>
          </a:p>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 HỆ THỐNG VXL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5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5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500"/>
                                        <p:tgtEl>
                                          <p:spTgt spid="21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ph idx="1" type="body"/>
          </p:nvPr>
        </p:nvSpPr>
        <p:spPr>
          <a:xfrm>
            <a:off x="1981200" y="1196753"/>
            <a:ext cx="8229600" cy="4525963"/>
          </a:xfrm>
          <a:prstGeom prst="rect">
            <a:avLst/>
          </a:prstGeom>
          <a:noFill/>
          <a:ln>
            <a:noFill/>
          </a:ln>
        </p:spPr>
        <p:txBody>
          <a:bodyPr anchorCtr="0" anchor="t" bIns="45700" lIns="91425" spcFirstLastPara="1" rIns="91425" wrap="square" tIns="45700">
            <a:normAutofit/>
          </a:bodyPr>
          <a:lstStyle/>
          <a:p>
            <a:pPr indent="-165100" lvl="0" marL="342900" rtl="0" algn="just">
              <a:spcBef>
                <a:spcPts val="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Chức năng: chứa các chương trình và dữ liệu mà bộ vi xử lý có khả năng trao đổi trực tiếp.</a:t>
            </a:r>
            <a:endParaRPr/>
          </a:p>
          <a:p>
            <a:pPr indent="0" lvl="0" marL="109728"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Được tổ chức thành các ngăn nhớ (thường theo Byte)</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Mỗi ngăn nhớ có một địa chỉ xác định.</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Bộ vi xử lý muốn trao đổi thông tin với ngăn nhớ nào thì phải biết địa chỉ của ngăn nhớ đó.</a:t>
            </a:r>
            <a:endParaRPr/>
          </a:p>
        </p:txBody>
      </p:sp>
      <p:sp>
        <p:nvSpPr>
          <p:cNvPr id="223" name="Google Shape;223;p11"/>
          <p:cNvSpPr/>
          <p:nvPr/>
        </p:nvSpPr>
        <p:spPr>
          <a:xfrm>
            <a:off x="4295800" y="620688"/>
            <a:ext cx="3384376"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BỘ NHỚ CHÍNH</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idx="1" type="body"/>
          </p:nvPr>
        </p:nvSpPr>
        <p:spPr>
          <a:xfrm>
            <a:off x="1981200" y="692697"/>
            <a:ext cx="8229600" cy="5314595"/>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Bộ nhớ chính được thiết kế trên cơ sở gồm:</a:t>
            </a:r>
            <a:endParaRPr/>
          </a:p>
          <a:p>
            <a:pPr indent="-285750" lvl="1" marL="742950" rtl="0" algn="just">
              <a:spcBef>
                <a:spcPts val="640"/>
              </a:spcBef>
              <a:spcAft>
                <a:spcPts val="0"/>
              </a:spcAft>
              <a:buClr>
                <a:schemeClr val="dk1"/>
              </a:buClr>
              <a:buSzPts val="3200"/>
              <a:buChar char="–"/>
            </a:pPr>
            <a:r>
              <a:rPr lang="en-US" sz="3200">
                <a:latin typeface="Times New Roman"/>
                <a:ea typeface="Times New Roman"/>
                <a:cs typeface="Times New Roman"/>
                <a:sym typeface="Times New Roman"/>
              </a:rPr>
              <a:t>ROM (Read Only Memory):</a:t>
            </a:r>
            <a:endParaRPr/>
          </a:p>
          <a:p>
            <a:pPr indent="-228600" lvl="2" marL="1143000" rtl="0" algn="just">
              <a:spcBef>
                <a:spcPts val="640"/>
              </a:spcBef>
              <a:spcAft>
                <a:spcPts val="0"/>
              </a:spcAft>
              <a:buClr>
                <a:schemeClr val="dk1"/>
              </a:buClr>
              <a:buSzPts val="3200"/>
              <a:buChar char="•"/>
            </a:pPr>
            <a:r>
              <a:rPr lang="en-US" sz="3200">
                <a:latin typeface="Times New Roman"/>
                <a:ea typeface="Times New Roman"/>
                <a:cs typeface="Times New Roman"/>
                <a:sym typeface="Times New Roman"/>
              </a:rPr>
              <a:t>Bộ nhớ không khả biến.</a:t>
            </a:r>
            <a:endParaRPr/>
          </a:p>
          <a:p>
            <a:pPr indent="-228600" lvl="2" marL="1143000" rtl="0" algn="just">
              <a:spcBef>
                <a:spcPts val="640"/>
              </a:spcBef>
              <a:spcAft>
                <a:spcPts val="0"/>
              </a:spcAft>
              <a:buClr>
                <a:schemeClr val="dk1"/>
              </a:buClr>
              <a:buSzPts val="3200"/>
              <a:buChar char="•"/>
            </a:pPr>
            <a:r>
              <a:rPr lang="en-US" sz="3200">
                <a:latin typeface="Times New Roman"/>
                <a:ea typeface="Times New Roman"/>
                <a:cs typeface="Times New Roman"/>
                <a:sym typeface="Times New Roman"/>
              </a:rPr>
              <a:t>Chứa các chương trình và dữ liệu cố định với hệ thống.</a:t>
            </a:r>
            <a:endParaRPr/>
          </a:p>
          <a:p>
            <a:pPr indent="-285750" lvl="1" marL="742950" rtl="0" algn="just">
              <a:spcBef>
                <a:spcPts val="640"/>
              </a:spcBef>
              <a:spcAft>
                <a:spcPts val="0"/>
              </a:spcAft>
              <a:buClr>
                <a:schemeClr val="dk1"/>
              </a:buClr>
              <a:buSzPts val="3200"/>
              <a:buChar char="–"/>
            </a:pPr>
            <a:r>
              <a:rPr lang="en-US" sz="3200">
                <a:latin typeface="Times New Roman"/>
                <a:ea typeface="Times New Roman"/>
                <a:cs typeface="Times New Roman"/>
                <a:sym typeface="Times New Roman"/>
              </a:rPr>
              <a:t>RAM (Random Access Memory):</a:t>
            </a:r>
            <a:endParaRPr/>
          </a:p>
          <a:p>
            <a:pPr indent="-228600" lvl="2" marL="1143000" rtl="0" algn="just">
              <a:spcBef>
                <a:spcPts val="640"/>
              </a:spcBef>
              <a:spcAft>
                <a:spcPts val="0"/>
              </a:spcAft>
              <a:buClr>
                <a:schemeClr val="dk1"/>
              </a:buClr>
              <a:buSzPts val="3200"/>
              <a:buChar char="•"/>
            </a:pPr>
            <a:r>
              <a:rPr lang="en-US" sz="3200">
                <a:latin typeface="Times New Roman"/>
                <a:ea typeface="Times New Roman"/>
                <a:cs typeface="Times New Roman"/>
                <a:sym typeface="Times New Roman"/>
              </a:rPr>
              <a:t>Bộ nhớ khả biến.</a:t>
            </a:r>
            <a:endParaRPr/>
          </a:p>
          <a:p>
            <a:pPr indent="-228600" lvl="2" marL="1143000" rtl="0" algn="just">
              <a:spcBef>
                <a:spcPts val="640"/>
              </a:spcBef>
              <a:spcAft>
                <a:spcPts val="0"/>
              </a:spcAft>
              <a:buClr>
                <a:schemeClr val="dk1"/>
              </a:buClr>
              <a:buSzPts val="3200"/>
              <a:buChar char="•"/>
            </a:pPr>
            <a:r>
              <a:rPr lang="en-US" sz="3200">
                <a:latin typeface="Times New Roman"/>
                <a:ea typeface="Times New Roman"/>
                <a:cs typeface="Times New Roman"/>
                <a:sym typeface="Times New Roman"/>
              </a:rPr>
              <a:t>Chứa các thông tin tạm thời</a:t>
            </a:r>
            <a:r>
              <a:rPr lang="en-US" sz="3200"/>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Chức năng: Trao đổi thông tin giữa hệ vi xử lý với thế giới bên ngoài.</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Các thành phần chính:</a:t>
            </a:r>
            <a:endParaRPr/>
          </a:p>
          <a:p>
            <a:pPr indent="-285750" lvl="1" marL="74295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Các thiết bị ngoại vi:</a:t>
            </a:r>
            <a:endParaRPr/>
          </a:p>
          <a:p>
            <a:pPr indent="-228600" lvl="2" marL="11430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Chuyển đổi dữ liệu giữa bên trong và bên ngoài hệ vi xử lý.</a:t>
            </a:r>
            <a:endParaRPr/>
          </a:p>
          <a:p>
            <a:pPr indent="-285750" lvl="1" marL="74295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Các mạch nối ghép vào-ra:</a:t>
            </a:r>
            <a:endParaRPr/>
          </a:p>
          <a:p>
            <a:pPr indent="-228600" lvl="2" marL="11430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Nối ghép giữa thiết bị ngoại vi với hệ vi xử lý.</a:t>
            </a:r>
            <a:endParaRPr/>
          </a:p>
          <a:p>
            <a:pPr indent="-228600" lvl="2" marL="11430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Trên mạch nối ghép vào-ra có các cổng vào-ra (I/O Port).</a:t>
            </a:r>
            <a:endParaRPr/>
          </a:p>
          <a:p>
            <a:pPr indent="-228600" lvl="2" marL="11430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Mỗi cổng vào-ra cũng được đánh một địa chỉ xác định.</a:t>
            </a:r>
            <a:endParaRPr/>
          </a:p>
          <a:p>
            <a:pPr indent="-228600" lvl="2" marL="11430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Thiết bị ngoại vi được kết nối và trao đổi dữ liệu với hệ vi xử lý thông qua các cổng vào-ra.</a:t>
            </a:r>
            <a:endParaRPr/>
          </a:p>
        </p:txBody>
      </p:sp>
      <p:sp>
        <p:nvSpPr>
          <p:cNvPr id="234" name="Google Shape;234;p13"/>
          <p:cNvSpPr/>
          <p:nvPr/>
        </p:nvSpPr>
        <p:spPr>
          <a:xfrm>
            <a:off x="4295800" y="620688"/>
            <a:ext cx="4032448"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HỆ THỐNG VÀO RA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14"/>
          <p:cNvPicPr preferRelativeResize="0"/>
          <p:nvPr/>
        </p:nvPicPr>
        <p:blipFill rotWithShape="1">
          <a:blip r:embed="rId3">
            <a:alphaModFix/>
          </a:blip>
          <a:srcRect b="0" l="0" r="0" t="0"/>
          <a:stretch/>
        </p:blipFill>
        <p:spPr>
          <a:xfrm>
            <a:off x="3733800" y="1295400"/>
            <a:ext cx="5530552" cy="4869904"/>
          </a:xfrm>
          <a:prstGeom prst="rect">
            <a:avLst/>
          </a:prstGeom>
          <a:noFill/>
          <a:ln>
            <a:noFill/>
          </a:ln>
        </p:spPr>
      </p:pic>
      <p:sp>
        <p:nvSpPr>
          <p:cNvPr id="241" name="Google Shape;241;p14"/>
          <p:cNvSpPr/>
          <p:nvPr/>
        </p:nvSpPr>
        <p:spPr>
          <a:xfrm>
            <a:off x="4223792" y="476672"/>
            <a:ext cx="4680520"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KIẾN TRÚC PHẦN MỀM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Mỗi bộ vi xử lý có khả năng thực hiện được một tập hữu hạn các thao tác xác định.</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Mỗi thao tác được mã hóa bằng một lệnh máy (instruction – còn gọi là </a:t>
            </a:r>
            <a:r>
              <a:rPr i="1" lang="en-US">
                <a:latin typeface="Times New Roman"/>
                <a:ea typeface="Times New Roman"/>
                <a:cs typeface="Times New Roman"/>
                <a:sym typeface="Times New Roman"/>
              </a:rPr>
              <a:t>chỉ thị</a:t>
            </a:r>
            <a:r>
              <a:rPr lang="en-US">
                <a:latin typeface="Times New Roman"/>
                <a:ea typeface="Times New Roman"/>
                <a:cs typeface="Times New Roman"/>
                <a:sym typeface="Times New Roman"/>
              </a:rPr>
              <a:t>).</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Mỗi lệnh máy được mã hóa bằng một chuỗi số nhị phân.</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Ngôn ngữ chương trình duy nhất mà máy tính hiểu được </a:t>
            </a:r>
            <a:r>
              <a:rPr i="1" lang="en-US">
                <a:latin typeface="Times New Roman"/>
                <a:ea typeface="Times New Roman"/>
                <a:cs typeface="Times New Roman"/>
                <a:sym typeface="Times New Roman"/>
              </a:rPr>
              <a:t>ngôn ngữ máy</a:t>
            </a:r>
            <a:r>
              <a:rPr lang="en-US">
                <a:latin typeface="Times New Roman"/>
                <a:ea typeface="Times New Roman"/>
                <a:cs typeface="Times New Roman"/>
                <a:sym typeface="Times New Roman"/>
              </a:rPr>
              <a:t>.</a:t>
            </a:r>
            <a:endParaRPr/>
          </a:p>
          <a:p>
            <a:pPr indent="-342900" lvl="0" marL="342900" rtl="0" algn="just">
              <a:spcBef>
                <a:spcPts val="640"/>
              </a:spcBef>
              <a:spcAft>
                <a:spcPts val="0"/>
              </a:spcAft>
              <a:buClr>
                <a:schemeClr val="dk1"/>
              </a:buClr>
              <a:buSzPts val="3200"/>
              <a:buFont typeface="Noto Sans Symbols"/>
              <a:buNone/>
            </a:pPr>
            <a:r>
              <a:rPr lang="en-US">
                <a:latin typeface="Times New Roman"/>
                <a:ea typeface="Times New Roman"/>
                <a:cs typeface="Times New Roman"/>
                <a:sym typeface="Times New Roman"/>
              </a:rPr>
              <a:t>	→ Lập trình trực tiếp bằng ngôn ngữ máy rất vất vả và dễ xảy ra sai sót.</a:t>
            </a:r>
            <a:endParaRPr/>
          </a:p>
        </p:txBody>
      </p:sp>
      <p:sp>
        <p:nvSpPr>
          <p:cNvPr id="247" name="Google Shape;247;p15"/>
          <p:cNvSpPr/>
          <p:nvPr/>
        </p:nvSpPr>
        <p:spPr>
          <a:xfrm>
            <a:off x="2207568" y="476672"/>
            <a:ext cx="4032448"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NGÔN NGỮ MÁY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0" st="0"/>
                                            </p:txEl>
                                          </p:spTgt>
                                        </p:tgtEl>
                                        <p:attrNameLst>
                                          <p:attrName>style.visibility</p:attrName>
                                        </p:attrNameLst>
                                      </p:cBhvr>
                                      <p:to>
                                        <p:strVal val="visible"/>
                                      </p:to>
                                    </p:set>
                                    <p:animEffect filter="fade" transition="in">
                                      <p:cBhvr>
                                        <p:cTn dur="500"/>
                                        <p:tgtEl>
                                          <p:spTgt spid="2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1" st="1"/>
                                            </p:txEl>
                                          </p:spTgt>
                                        </p:tgtEl>
                                        <p:attrNameLst>
                                          <p:attrName>style.visibility</p:attrName>
                                        </p:attrNameLst>
                                      </p:cBhvr>
                                      <p:to>
                                        <p:strVal val="visible"/>
                                      </p:to>
                                    </p:set>
                                    <p:animEffect filter="fade" transition="in">
                                      <p:cBhvr>
                                        <p:cTn dur="500"/>
                                        <p:tgtEl>
                                          <p:spTgt spid="2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2" st="2"/>
                                            </p:txEl>
                                          </p:spTgt>
                                        </p:tgtEl>
                                        <p:attrNameLst>
                                          <p:attrName>style.visibility</p:attrName>
                                        </p:attrNameLst>
                                      </p:cBhvr>
                                      <p:to>
                                        <p:strVal val="visible"/>
                                      </p:to>
                                    </p:set>
                                    <p:animEffect filter="fade" transition="in">
                                      <p:cBhvr>
                                        <p:cTn dur="500"/>
                                        <p:tgtEl>
                                          <p:spTgt spid="2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3" st="3"/>
                                            </p:txEl>
                                          </p:spTgt>
                                        </p:tgtEl>
                                        <p:attrNameLst>
                                          <p:attrName>style.visibility</p:attrName>
                                        </p:attrNameLst>
                                      </p:cBhvr>
                                      <p:to>
                                        <p:strVal val="visible"/>
                                      </p:to>
                                    </p:set>
                                    <p:animEffect filter="fade" transition="in">
                                      <p:cBhvr>
                                        <p:cTn dur="500"/>
                                        <p:tgtEl>
                                          <p:spTgt spid="2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xEl>
                                              <p:pRg end="4" st="4"/>
                                            </p:txEl>
                                          </p:spTgt>
                                        </p:tgtEl>
                                        <p:attrNameLst>
                                          <p:attrName>style.visibility</p:attrName>
                                        </p:attrNameLst>
                                      </p:cBhvr>
                                      <p:to>
                                        <p:strVal val="visible"/>
                                      </p:to>
                                    </p:set>
                                    <p:animEffect filter="fade" transition="in">
                                      <p:cBhvr>
                                        <p:cTn dur="500"/>
                                        <p:tgtEl>
                                          <p:spTgt spid="24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Là ngôn ngữ lập trình gần với ngôn ngữ máy nhất.</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Sử dụng các kí hiệu gợi nhớ để biểu diễn các lệnh máy.</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Chương trình dịch hợp ngữ sang ngôn ngữ máy gọi là </a:t>
            </a:r>
            <a:r>
              <a:rPr i="1" lang="en-US">
                <a:latin typeface="Times New Roman"/>
                <a:ea typeface="Times New Roman"/>
                <a:cs typeface="Times New Roman"/>
                <a:sym typeface="Times New Roman"/>
              </a:rPr>
              <a:t>hợp dịch</a:t>
            </a:r>
            <a:r>
              <a:rPr lang="en-US">
                <a:latin typeface="Times New Roman"/>
                <a:ea typeface="Times New Roman"/>
                <a:cs typeface="Times New Roman"/>
                <a:sym typeface="Times New Roman"/>
              </a:rPr>
              <a:t> (Assembler).</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VD:</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Ngôn ngữ máy (của bộ vi xử lý Intel 8088):</a:t>
            </a:r>
            <a:endParaRPr/>
          </a:p>
          <a:p>
            <a:pPr indent="-285750" lvl="1" marL="742950" rtl="0" algn="just">
              <a:spcBef>
                <a:spcPts val="560"/>
              </a:spcBef>
              <a:spcAft>
                <a:spcPts val="0"/>
              </a:spcAft>
              <a:buClr>
                <a:schemeClr val="dk1"/>
              </a:buClr>
              <a:buSzPts val="2800"/>
              <a:buFont typeface="Noto Sans Symbols"/>
              <a:buNone/>
            </a:pPr>
            <a:r>
              <a:rPr lang="en-US">
                <a:latin typeface="Times New Roman"/>
                <a:ea typeface="Times New Roman"/>
                <a:cs typeface="Times New Roman"/>
                <a:sym typeface="Times New Roman"/>
              </a:rPr>
              <a:t>	00000101  00000100  00000000	; cộng 4 vào AX</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Hợp ngữ:</a:t>
            </a:r>
            <a:endParaRPr/>
          </a:p>
          <a:p>
            <a:pPr indent="-285750" lvl="1" marL="742950" rtl="0" algn="just">
              <a:spcBef>
                <a:spcPts val="560"/>
              </a:spcBef>
              <a:spcAft>
                <a:spcPts val="0"/>
              </a:spcAft>
              <a:buClr>
                <a:schemeClr val="dk1"/>
              </a:buClr>
              <a:buSzPts val="2800"/>
              <a:buFont typeface="Noto Sans Symbols"/>
              <a:buNone/>
            </a:pPr>
            <a:r>
              <a:rPr lang="en-US">
                <a:latin typeface="Times New Roman"/>
                <a:ea typeface="Times New Roman"/>
                <a:cs typeface="Times New Roman"/>
                <a:sym typeface="Times New Roman"/>
              </a:rPr>
              <a:t>	ADD	AX, 4				; cộng 4 vào AX</a:t>
            </a:r>
            <a:endParaRPr/>
          </a:p>
        </p:txBody>
      </p:sp>
      <p:sp>
        <p:nvSpPr>
          <p:cNvPr id="253" name="Google Shape;253;p16"/>
          <p:cNvSpPr/>
          <p:nvPr/>
        </p:nvSpPr>
        <p:spPr>
          <a:xfrm>
            <a:off x="2207568" y="512096"/>
            <a:ext cx="6048672"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HỢP NGỮ (ASSEMBLY LANGUAGE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Effect filter="fade" transition="in">
                                      <p:cBhvr>
                                        <p:cTn dur="500"/>
                                        <p:tgtEl>
                                          <p:spTgt spid="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Effect filter="fade" transition="in">
                                      <p:cBhvr>
                                        <p:cTn dur="500"/>
                                        <p:tgtEl>
                                          <p:spTgt spid="2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Effect filter="fade" transition="in">
                                      <p:cBhvr>
                                        <p:cTn dur="500"/>
                                        <p:tgtEl>
                                          <p:spTgt spid="2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animEffect filter="fade" transition="in">
                                      <p:cBhvr>
                                        <p:cTn dur="500"/>
                                        <p:tgtEl>
                                          <p:spTgt spid="2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animEffect filter="fade" transition="in">
                                      <p:cBhvr>
                                        <p:cTn dur="500"/>
                                        <p:tgtEl>
                                          <p:spTgt spid="2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5" st="5"/>
                                            </p:txEl>
                                          </p:spTgt>
                                        </p:tgtEl>
                                        <p:attrNameLst>
                                          <p:attrName>style.visibility</p:attrName>
                                        </p:attrNameLst>
                                      </p:cBhvr>
                                      <p:to>
                                        <p:strVal val="visible"/>
                                      </p:to>
                                    </p:set>
                                    <p:animEffect filter="fade" transition="in">
                                      <p:cBhvr>
                                        <p:cTn dur="500"/>
                                        <p:tgtEl>
                                          <p:spTgt spid="2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6" st="6"/>
                                            </p:txEl>
                                          </p:spTgt>
                                        </p:tgtEl>
                                        <p:attrNameLst>
                                          <p:attrName>style.visibility</p:attrName>
                                        </p:attrNameLst>
                                      </p:cBhvr>
                                      <p:to>
                                        <p:strVal val="visible"/>
                                      </p:to>
                                    </p:set>
                                    <p:animEffect filter="fade" transition="in">
                                      <p:cBhvr>
                                        <p:cTn dur="500"/>
                                        <p:tgtEl>
                                          <p:spTgt spid="25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7" st="7"/>
                                            </p:txEl>
                                          </p:spTgt>
                                        </p:tgtEl>
                                        <p:attrNameLst>
                                          <p:attrName>style.visibility</p:attrName>
                                        </p:attrNameLst>
                                      </p:cBhvr>
                                      <p:to>
                                        <p:strVal val="visible"/>
                                      </p:to>
                                    </p:set>
                                    <p:animEffect filter="fade" transition="in">
                                      <p:cBhvr>
                                        <p:cTn dur="500"/>
                                        <p:tgtEl>
                                          <p:spTgt spid="25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7"/>
          <p:cNvSpPr txBox="1"/>
          <p:nvPr>
            <p:ph idx="1" type="body"/>
          </p:nvPr>
        </p:nvSpPr>
        <p:spPr>
          <a:xfrm>
            <a:off x="1981200" y="1268761"/>
            <a:ext cx="8229600" cy="4857403"/>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Cho phép người lập trình viết các chương trình gần với ngôn ngữ tự nhiên hơn so với hợp ngữ.</a:t>
            </a:r>
            <a:endParaRPr/>
          </a:p>
          <a:p>
            <a:pPr indent="-342900" lvl="0" marL="3429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Chương trình viết bằng NNLT bậc cao gọi là </a:t>
            </a:r>
            <a:r>
              <a:rPr i="1" lang="en-US" sz="2000">
                <a:latin typeface="Times New Roman"/>
                <a:ea typeface="Times New Roman"/>
                <a:cs typeface="Times New Roman"/>
                <a:sym typeface="Times New Roman"/>
              </a:rPr>
              <a:t>chương trình nguồn</a:t>
            </a:r>
            <a:r>
              <a:rPr lang="en-US" sz="2000">
                <a:latin typeface="Times New Roman"/>
                <a:ea typeface="Times New Roman"/>
                <a:cs typeface="Times New Roman"/>
                <a:sym typeface="Times New Roman"/>
              </a:rPr>
              <a:t> (source code).</a:t>
            </a:r>
            <a:endParaRPr/>
          </a:p>
          <a:p>
            <a:pPr indent="-342900" lvl="0" marL="3429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Chương trình chuyển từ chương trình nguồn sang ngôn ngữ máy gọi là </a:t>
            </a:r>
            <a:r>
              <a:rPr i="1" lang="en-US" sz="2000">
                <a:latin typeface="Times New Roman"/>
                <a:ea typeface="Times New Roman"/>
                <a:cs typeface="Times New Roman"/>
                <a:sym typeface="Times New Roman"/>
              </a:rPr>
              <a:t>chương trình dịch</a:t>
            </a:r>
            <a:r>
              <a:rPr lang="en-US" sz="2000">
                <a:latin typeface="Times New Roman"/>
                <a:ea typeface="Times New Roman"/>
                <a:cs typeface="Times New Roman"/>
                <a:sym typeface="Times New Roman"/>
              </a:rPr>
              <a:t>.</a:t>
            </a:r>
            <a:endParaRPr/>
          </a:p>
          <a:p>
            <a:pPr indent="-285750" lvl="1" marL="74295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Chương trình </a:t>
            </a:r>
            <a:r>
              <a:rPr i="1" lang="en-US" sz="2000">
                <a:latin typeface="Times New Roman"/>
                <a:ea typeface="Times New Roman"/>
                <a:cs typeface="Times New Roman"/>
                <a:sym typeface="Times New Roman"/>
              </a:rPr>
              <a:t>biên dịch</a:t>
            </a:r>
            <a:r>
              <a:rPr lang="en-US" sz="2000">
                <a:latin typeface="Times New Roman"/>
                <a:ea typeface="Times New Roman"/>
                <a:cs typeface="Times New Roman"/>
                <a:sym typeface="Times New Roman"/>
              </a:rPr>
              <a:t> (compiler):</a:t>
            </a:r>
            <a:endParaRPr/>
          </a:p>
          <a:p>
            <a:pPr indent="-228600" lvl="2" marL="11430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Dịch toàn bộ chương trình nguồn sang mã máy.</a:t>
            </a:r>
            <a:endParaRPr/>
          </a:p>
          <a:p>
            <a:pPr indent="-228600" lvl="2" marL="11430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Nếu chương trình nguồn có lỗi thì sẽ ngừng việc biên dịch.</a:t>
            </a:r>
            <a:endParaRPr/>
          </a:p>
          <a:p>
            <a:pPr indent="-285750" lvl="1" marL="74295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Chương trình </a:t>
            </a:r>
            <a:r>
              <a:rPr i="1" lang="en-US" sz="2000">
                <a:latin typeface="Times New Roman"/>
                <a:ea typeface="Times New Roman"/>
                <a:cs typeface="Times New Roman"/>
                <a:sym typeface="Times New Roman"/>
              </a:rPr>
              <a:t>thông dịch</a:t>
            </a:r>
            <a:r>
              <a:rPr lang="en-US" sz="2000">
                <a:latin typeface="Times New Roman"/>
                <a:ea typeface="Times New Roman"/>
                <a:cs typeface="Times New Roman"/>
                <a:sym typeface="Times New Roman"/>
              </a:rPr>
              <a:t> (interpreter):</a:t>
            </a:r>
            <a:endParaRPr/>
          </a:p>
          <a:p>
            <a:pPr indent="-228600" lvl="2" marL="11430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Dịch từng lệnh của chương trình nguồn (và thực hiện)</a:t>
            </a:r>
            <a:endParaRPr/>
          </a:p>
          <a:p>
            <a:pPr indent="-228600" lvl="2" marL="11430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Nếu chương trình nguồn có lỗi thì vẫn thực hiện CT cho đến khi gặp lỗi.</a:t>
            </a:r>
            <a:endParaRPr/>
          </a:p>
          <a:p>
            <a:pPr indent="-342900" lvl="0" marL="342900" rtl="0" algn="just">
              <a:lnSpc>
                <a:spcPct val="80000"/>
              </a:lnSpc>
              <a:spcBef>
                <a:spcPts val="400"/>
              </a:spcBef>
              <a:spcAft>
                <a:spcPts val="0"/>
              </a:spcAft>
              <a:buClr>
                <a:schemeClr val="dk1"/>
              </a:buClr>
              <a:buSzPts val="2000"/>
              <a:buChar char="•"/>
            </a:pPr>
            <a:r>
              <a:rPr lang="en-US" sz="2000">
                <a:latin typeface="Times New Roman"/>
                <a:ea typeface="Times New Roman"/>
                <a:cs typeface="Times New Roman"/>
                <a:sym typeface="Times New Roman"/>
              </a:rPr>
              <a:t>Ngôn ngữ lập trình trực quan (visual programming language): giúp việc xây dựng chương trình nhanh chóng và trực quan hơn.</a:t>
            </a:r>
            <a:endParaRPr/>
          </a:p>
        </p:txBody>
      </p:sp>
      <p:sp>
        <p:nvSpPr>
          <p:cNvPr id="259" name="Google Shape;259;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(c) 1/2007 by DTB</a:t>
            </a:r>
            <a:endParaRPr/>
          </a:p>
        </p:txBody>
      </p:sp>
      <p:sp>
        <p:nvSpPr>
          <p:cNvPr id="260" name="Google Shape;260;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1" name="Google Shape;261;p17"/>
          <p:cNvSpPr/>
          <p:nvPr/>
        </p:nvSpPr>
        <p:spPr>
          <a:xfrm>
            <a:off x="2207568" y="332656"/>
            <a:ext cx="6048672"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NGÔN NGỮ LẬP TRÌNH BẬC CAO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5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5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5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animEffect filter="fade" transition="in">
                                      <p:cBhvr>
                                        <p:cTn dur="500"/>
                                        <p:tgtEl>
                                          <p:spTgt spid="2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animEffect filter="fade" transition="in">
                                      <p:cBhvr>
                                        <p:cTn dur="500"/>
                                        <p:tgtEl>
                                          <p:spTgt spid="2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animEffect filter="fade" transition="in">
                                      <p:cBhvr>
                                        <p:cTn dur="500"/>
                                        <p:tgtEl>
                                          <p:spTgt spid="2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6" st="6"/>
                                            </p:txEl>
                                          </p:spTgt>
                                        </p:tgtEl>
                                        <p:attrNameLst>
                                          <p:attrName>style.visibility</p:attrName>
                                        </p:attrNameLst>
                                      </p:cBhvr>
                                      <p:to>
                                        <p:strVal val="visible"/>
                                      </p:to>
                                    </p:set>
                                    <p:animEffect filter="fade" transition="in">
                                      <p:cBhvr>
                                        <p:cTn dur="500"/>
                                        <p:tgtEl>
                                          <p:spTgt spid="2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7" st="7"/>
                                            </p:txEl>
                                          </p:spTgt>
                                        </p:tgtEl>
                                        <p:attrNameLst>
                                          <p:attrName>style.visibility</p:attrName>
                                        </p:attrNameLst>
                                      </p:cBhvr>
                                      <p:to>
                                        <p:strVal val="visible"/>
                                      </p:to>
                                    </p:set>
                                    <p:animEffect filter="fade" transition="in">
                                      <p:cBhvr>
                                        <p:cTn dur="500"/>
                                        <p:tgtEl>
                                          <p:spTgt spid="2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8" st="8"/>
                                            </p:txEl>
                                          </p:spTgt>
                                        </p:tgtEl>
                                        <p:attrNameLst>
                                          <p:attrName>style.visibility</p:attrName>
                                        </p:attrNameLst>
                                      </p:cBhvr>
                                      <p:to>
                                        <p:strVal val="visible"/>
                                      </p:to>
                                    </p:set>
                                    <p:animEffect filter="fade" transition="in">
                                      <p:cBhvr>
                                        <p:cTn dur="500"/>
                                        <p:tgtEl>
                                          <p:spTgt spid="2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9" st="9"/>
                                            </p:txEl>
                                          </p:spTgt>
                                        </p:tgtEl>
                                        <p:attrNameLst>
                                          <p:attrName>style.visibility</p:attrName>
                                        </p:attrNameLst>
                                      </p:cBhvr>
                                      <p:to>
                                        <p:strVal val="visible"/>
                                      </p:to>
                                    </p:set>
                                    <p:animEffect filter="fade" transition="in">
                                      <p:cBhvr>
                                        <p:cTn dur="500"/>
                                        <p:tgtEl>
                                          <p:spTgt spid="25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Là các chương trình điều khiển chung của hệ thống, bao gồm:</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Các chương trình điều khiển được cài đặt sẵn trong bộ nhớ ROM của hệ vi xử lý.</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Hệ điều hành: tập hợp các chương trình, đảm bảo:</a:t>
            </a:r>
            <a:endParaRPr/>
          </a:p>
          <a:p>
            <a:pPr indent="-228600" lvl="2" marL="1143000" rtl="0" algn="just">
              <a:spcBef>
                <a:spcPts val="480"/>
              </a:spcBef>
              <a:spcAft>
                <a:spcPts val="0"/>
              </a:spcAft>
              <a:buClr>
                <a:schemeClr val="dk1"/>
              </a:buClr>
              <a:buSzPts val="2400"/>
              <a:buChar char="•"/>
            </a:pPr>
            <a:r>
              <a:rPr lang="en-US">
                <a:latin typeface="Times New Roman"/>
                <a:ea typeface="Times New Roman"/>
                <a:cs typeface="Times New Roman"/>
                <a:sym typeface="Times New Roman"/>
              </a:rPr>
              <a:t>Điều khiển việc thực thi các chương trình khác.</a:t>
            </a:r>
            <a:endParaRPr/>
          </a:p>
          <a:p>
            <a:pPr indent="-228600" lvl="2" marL="1143000" rtl="0" algn="just">
              <a:spcBef>
                <a:spcPts val="480"/>
              </a:spcBef>
              <a:spcAft>
                <a:spcPts val="0"/>
              </a:spcAft>
              <a:buClr>
                <a:schemeClr val="dk1"/>
              </a:buClr>
              <a:buSzPts val="2400"/>
              <a:buChar char="•"/>
            </a:pPr>
            <a:r>
              <a:rPr lang="en-US">
                <a:latin typeface="Times New Roman"/>
                <a:ea typeface="Times New Roman"/>
                <a:cs typeface="Times New Roman"/>
                <a:sym typeface="Times New Roman"/>
              </a:rPr>
              <a:t>Quản lý, phân phối tài nguyên của hệ thống.</a:t>
            </a:r>
            <a:endParaRPr/>
          </a:p>
          <a:p>
            <a:pPr indent="-228600" lvl="2" marL="1143000" rtl="0" algn="just">
              <a:spcBef>
                <a:spcPts val="480"/>
              </a:spcBef>
              <a:spcAft>
                <a:spcPts val="0"/>
              </a:spcAft>
              <a:buClr>
                <a:schemeClr val="dk1"/>
              </a:buClr>
              <a:buSzPts val="2400"/>
              <a:buChar char="•"/>
            </a:pPr>
            <a:r>
              <a:rPr lang="en-US">
                <a:latin typeface="Times New Roman"/>
                <a:ea typeface="Times New Roman"/>
                <a:cs typeface="Times New Roman"/>
                <a:sym typeface="Times New Roman"/>
              </a:rPr>
              <a:t>Điều khiển các thiết bị và quá trình vào-ra.</a:t>
            </a:r>
            <a:endParaRPr/>
          </a:p>
          <a:p>
            <a:pPr indent="-228600" lvl="2" marL="1143000" rtl="0" algn="just">
              <a:spcBef>
                <a:spcPts val="480"/>
              </a:spcBef>
              <a:spcAft>
                <a:spcPts val="0"/>
              </a:spcAft>
              <a:buClr>
                <a:schemeClr val="dk1"/>
              </a:buClr>
              <a:buSzPts val="2400"/>
              <a:buChar char="•"/>
            </a:pPr>
            <a:r>
              <a:rPr lang="en-US">
                <a:latin typeface="Times New Roman"/>
                <a:ea typeface="Times New Roman"/>
                <a:cs typeface="Times New Roman"/>
                <a:sym typeface="Times New Roman"/>
              </a:rPr>
              <a:t>Cung cấp giao diện người dùng.</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Các chương trình tiện ích: hỗ trợ thêm cho hệ điều hành.</a:t>
            </a:r>
            <a:endParaRPr/>
          </a:p>
          <a:p>
            <a:pPr indent="-139700" lvl="0" marL="342900" rtl="0" algn="l">
              <a:spcBef>
                <a:spcPts val="640"/>
              </a:spcBef>
              <a:spcAft>
                <a:spcPts val="0"/>
              </a:spcAft>
              <a:buClr>
                <a:schemeClr val="dk1"/>
              </a:buClr>
              <a:buSzPts val="3200"/>
              <a:buNone/>
            </a:pPr>
            <a:r>
              <a:t/>
            </a:r>
            <a:endParaRPr/>
          </a:p>
        </p:txBody>
      </p:sp>
      <p:sp>
        <p:nvSpPr>
          <p:cNvPr id="267" name="Google Shape;267;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(c) 1/2007 by DTB</a:t>
            </a:r>
            <a:endParaRPr/>
          </a:p>
        </p:txBody>
      </p:sp>
      <p:sp>
        <p:nvSpPr>
          <p:cNvPr id="268" name="Google Shape;268;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9" name="Google Shape;269;p18"/>
          <p:cNvSpPr/>
          <p:nvPr/>
        </p:nvSpPr>
        <p:spPr>
          <a:xfrm>
            <a:off x="2207568" y="332656"/>
            <a:ext cx="5184576"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PHẦN MỀM HỆ THỐNG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5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500"/>
                                        <p:tgtEl>
                                          <p:spTgt spid="2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animEffect filter="fade" transition="in">
                                      <p:cBhvr>
                                        <p:cTn dur="500"/>
                                        <p:tgtEl>
                                          <p:spTgt spid="2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animEffect filter="fade" transition="in">
                                      <p:cBhvr>
                                        <p:cTn dur="500"/>
                                        <p:tgtEl>
                                          <p:spTgt spid="2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animEffect filter="fade" transition="in">
                                      <p:cBhvr>
                                        <p:cTn dur="500"/>
                                        <p:tgtEl>
                                          <p:spTgt spid="2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animEffect filter="fade" transition="in">
                                      <p:cBhvr>
                                        <p:cTn dur="500"/>
                                        <p:tgtEl>
                                          <p:spTgt spid="2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6" st="6"/>
                                            </p:txEl>
                                          </p:spTgt>
                                        </p:tgtEl>
                                        <p:attrNameLst>
                                          <p:attrName>style.visibility</p:attrName>
                                        </p:attrNameLst>
                                      </p:cBhvr>
                                      <p:to>
                                        <p:strVal val="visible"/>
                                      </p:to>
                                    </p:set>
                                    <p:animEffect filter="fade" transition="in">
                                      <p:cBhvr>
                                        <p:cTn dur="500"/>
                                        <p:tgtEl>
                                          <p:spTgt spid="2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7" st="7"/>
                                            </p:txEl>
                                          </p:spTgt>
                                        </p:tgtEl>
                                        <p:attrNameLst>
                                          <p:attrName>style.visibility</p:attrName>
                                        </p:attrNameLst>
                                      </p:cBhvr>
                                      <p:to>
                                        <p:strVal val="visible"/>
                                      </p:to>
                                    </p:set>
                                    <p:animEffect filter="fade" transition="in">
                                      <p:cBhvr>
                                        <p:cTn dur="500"/>
                                        <p:tgtEl>
                                          <p:spTgt spid="26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8" st="8"/>
                                            </p:txEl>
                                          </p:spTgt>
                                        </p:tgtEl>
                                        <p:attrNameLst>
                                          <p:attrName>style.visibility</p:attrName>
                                        </p:attrNameLst>
                                      </p:cBhvr>
                                      <p:to>
                                        <p:strVal val="visible"/>
                                      </p:to>
                                    </p:set>
                                    <p:animEffect filter="fade" transition="in">
                                      <p:cBhvr>
                                        <p:cTn dur="500"/>
                                        <p:tgtEl>
                                          <p:spTgt spid="26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latin typeface="Times New Roman"/>
                <a:ea typeface="Times New Roman"/>
                <a:cs typeface="Times New Roman"/>
                <a:sym typeface="Times New Roman"/>
              </a:rPr>
              <a:t>Là các chương trình chạy trên một hệ điều hành cụ thể, phục vụ cho các ứng dụng cụ thể.</a:t>
            </a:r>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l">
              <a:spcBef>
                <a:spcPts val="640"/>
              </a:spcBef>
              <a:spcAft>
                <a:spcPts val="0"/>
              </a:spcAft>
              <a:buClr>
                <a:schemeClr val="dk1"/>
              </a:buClr>
              <a:buSzPts val="3200"/>
              <a:buChar char="•"/>
            </a:pPr>
            <a:r>
              <a:rPr lang="en-US">
                <a:latin typeface="Times New Roman"/>
                <a:ea typeface="Times New Roman"/>
                <a:cs typeface="Times New Roman"/>
                <a:sym typeface="Times New Roman"/>
              </a:rPr>
              <a:t>Ví dụ: một số phần mềm ứng dụng chạy trên hệ điều hành Microsoft Windows:</a:t>
            </a:r>
            <a:endParaRPr/>
          </a:p>
          <a:p>
            <a:pPr indent="-285750" lvl="1" marL="742950" rtl="0" algn="l">
              <a:spcBef>
                <a:spcPts val="560"/>
              </a:spcBef>
              <a:spcAft>
                <a:spcPts val="0"/>
              </a:spcAft>
              <a:buClr>
                <a:schemeClr val="dk1"/>
              </a:buClr>
              <a:buSzPts val="2800"/>
              <a:buChar char="–"/>
            </a:pPr>
            <a:r>
              <a:rPr lang="en-US">
                <a:latin typeface="Times New Roman"/>
                <a:ea typeface="Times New Roman"/>
                <a:cs typeface="Times New Roman"/>
                <a:sym typeface="Times New Roman"/>
              </a:rPr>
              <a:t>Ứng dụng văn phòng: Microsoft Word, Excel, …</a:t>
            </a:r>
            <a:endParaRPr/>
          </a:p>
          <a:p>
            <a:pPr indent="-285750" lvl="1" marL="742950" rtl="0" algn="l">
              <a:spcBef>
                <a:spcPts val="560"/>
              </a:spcBef>
              <a:spcAft>
                <a:spcPts val="0"/>
              </a:spcAft>
              <a:buClr>
                <a:schemeClr val="dk1"/>
              </a:buClr>
              <a:buSzPts val="2800"/>
              <a:buChar char="–"/>
            </a:pPr>
            <a:r>
              <a:rPr lang="en-US">
                <a:latin typeface="Times New Roman"/>
                <a:ea typeface="Times New Roman"/>
                <a:cs typeface="Times New Roman"/>
                <a:sym typeface="Times New Roman"/>
              </a:rPr>
              <a:t>Ứng dụng Internet: Internet Explorer, Outlook Express, Opera, …</a:t>
            </a:r>
            <a:endParaRPr/>
          </a:p>
          <a:p>
            <a:pPr indent="-285750" lvl="1" marL="742950" rtl="0" algn="l">
              <a:spcBef>
                <a:spcPts val="560"/>
              </a:spcBef>
              <a:spcAft>
                <a:spcPts val="0"/>
              </a:spcAft>
              <a:buClr>
                <a:schemeClr val="dk1"/>
              </a:buClr>
              <a:buSzPts val="2800"/>
              <a:buChar char="–"/>
            </a:pPr>
            <a:r>
              <a:rPr lang="en-US">
                <a:latin typeface="Times New Roman"/>
                <a:ea typeface="Times New Roman"/>
                <a:cs typeface="Times New Roman"/>
                <a:sym typeface="Times New Roman"/>
              </a:rPr>
              <a:t>Ứng dụng xử lý ảnh: Photoshop, Corel Draw, …</a:t>
            </a:r>
            <a:endParaRPr/>
          </a:p>
        </p:txBody>
      </p:sp>
      <p:sp>
        <p:nvSpPr>
          <p:cNvPr id="275" name="Google Shape;275;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(c) 1/2007 by DTB</a:t>
            </a:r>
            <a:endParaRPr/>
          </a:p>
        </p:txBody>
      </p:sp>
      <p:sp>
        <p:nvSpPr>
          <p:cNvPr id="276" name="Google Shape;276;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7" name="Google Shape;277;p19"/>
          <p:cNvSpPr/>
          <p:nvPr/>
        </p:nvSpPr>
        <p:spPr>
          <a:xfrm>
            <a:off x="2207568" y="512096"/>
            <a:ext cx="4752528"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PHẦN MỀM ỨNG DỤNG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Effect filter="fade" transition="in">
                                      <p:cBhvr>
                                        <p:cTn dur="500"/>
                                        <p:tgtEl>
                                          <p:spTgt spid="2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animEffect filter="fade" transition="in">
                                      <p:cBhvr>
                                        <p:cTn dur="500"/>
                                        <p:tgtEl>
                                          <p:spTgt spid="2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animEffect filter="fade" transition="in">
                                      <p:cBhvr>
                                        <p:cTn dur="500"/>
                                        <p:tgtEl>
                                          <p:spTgt spid="2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animEffect filter="fade" transition="in">
                                      <p:cBhvr>
                                        <p:cTn dur="500"/>
                                        <p:tgtEl>
                                          <p:spTgt spid="2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animEffect filter="fade" transition="in">
                                      <p:cBhvr>
                                        <p:cTn dur="500"/>
                                        <p:tgtEl>
                                          <p:spTgt spid="2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animEffect filter="fade" transition="in">
                                      <p:cBhvr>
                                        <p:cTn dur="500"/>
                                        <p:tgtEl>
                                          <p:spTgt spid="27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0"/>
          <p:cNvSpPr txBox="1"/>
          <p:nvPr>
            <p:ph idx="1" type="body"/>
          </p:nvPr>
        </p:nvSpPr>
        <p:spPr>
          <a:xfrm>
            <a:off x="304800" y="1890804"/>
            <a:ext cx="11734800" cy="4662396"/>
          </a:xfrm>
          <a:prstGeom prst="rect">
            <a:avLst/>
          </a:prstGeom>
          <a:noFill/>
          <a:ln>
            <a:noFill/>
          </a:ln>
        </p:spPr>
        <p:txBody>
          <a:bodyPr anchorCtr="0" anchor="t" bIns="45700" lIns="91425" spcFirstLastPara="1" rIns="91425" wrap="square" tIns="45700">
            <a:noAutofit/>
          </a:bodyPr>
          <a:lstStyle/>
          <a:p>
            <a:pPr indent="-457200" lvl="0" marL="457200" rtl="0" algn="just">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Phần mềm là chương trình do người lập trình tạo ra để giải quyết nhiệm vụ bài toán đặt ra khi thiết kế hệ thống. Các chương trình này được đặt trong bộ nhớ ROM và RAM khi hệ thống hoạt động.</a:t>
            </a:r>
            <a:endParaRPr/>
          </a:p>
          <a:p>
            <a:pPr indent="-342900" lvl="0" marL="342900" rtl="0" algn="just">
              <a:spcBef>
                <a:spcPts val="12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Trong máy tính, phần mềm được phân lớp.</a:t>
            </a:r>
            <a:endParaRPr/>
          </a:p>
          <a:p>
            <a:pPr indent="-285750" lvl="1" marL="742950" rtl="0" algn="just">
              <a:spcBef>
                <a:spcPts val="12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 Các lớp trong là các chương trình quản lý, điều khiển, các dữ liệu cố định... làm nhiệm vụ trung gian giữ người  và máy được gọi là hệ điều hành (HĐH). Các chương trình của HĐH thường khá lớn và được nạp một phần trong ROM, phần còn lại được chứa trong bộ nhớ ngoài và được nạp vào RAM mỗi khi khởi động máy. </a:t>
            </a:r>
            <a:endParaRPr/>
          </a:p>
          <a:p>
            <a:pPr indent="-285750" lvl="1" marL="742950" rtl="0" algn="just">
              <a:spcBef>
                <a:spcPts val="12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Các chương trình do người lập trình viết ở lớp ngoài để giải quyết một bài toán nào đó, khi  thực hiện sẽ được HĐH nạp vào trong RAM ở vị trí theo sự phân bố của HĐH. Khi phần cứng thực hiện xong chương trình đó thì bài toán được giải.</a:t>
            </a:r>
            <a:endParaRPr/>
          </a:p>
        </p:txBody>
      </p:sp>
      <p:sp>
        <p:nvSpPr>
          <p:cNvPr id="283" name="Google Shape;283;p20"/>
          <p:cNvSpPr txBox="1"/>
          <p:nvPr>
            <p:ph type="title"/>
          </p:nvPr>
        </p:nvSpPr>
        <p:spPr>
          <a:xfrm>
            <a:off x="87695" y="147384"/>
            <a:ext cx="8229600" cy="720736"/>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1.1. Hệ vi xử lý (2)</a:t>
            </a:r>
            <a:endParaRPr/>
          </a:p>
        </p:txBody>
      </p:sp>
      <p:sp>
        <p:nvSpPr>
          <p:cNvPr id="284" name="Google Shape;284;p20"/>
          <p:cNvSpPr/>
          <p:nvPr/>
        </p:nvSpPr>
        <p:spPr>
          <a:xfrm>
            <a:off x="59621" y="1000780"/>
            <a:ext cx="2730235"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C00000"/>
              </a:buClr>
              <a:buSzPts val="2800"/>
              <a:buFont typeface="Times New Roman"/>
              <a:buNone/>
            </a:pPr>
            <a:r>
              <a:rPr b="1" lang="en-US" sz="2800">
                <a:solidFill>
                  <a:srgbClr val="C00000"/>
                </a:solidFill>
                <a:latin typeface="Times New Roman"/>
                <a:ea typeface="Times New Roman"/>
                <a:cs typeface="Times New Roman"/>
                <a:sym typeface="Times New Roman"/>
              </a:rPr>
              <a:t>1.1.2. Phần mềm</a:t>
            </a:r>
            <a:endParaRPr sz="2800">
              <a:solidFill>
                <a:srgbClr val="C00000"/>
              </a:solidFill>
              <a:latin typeface="Times New Roman"/>
              <a:ea typeface="Times New Roman"/>
              <a:cs typeface="Times New Roman"/>
              <a:sym typeface="Times New Roman"/>
            </a:endParaRPr>
          </a:p>
        </p:txBody>
      </p:sp>
      <p:sp>
        <p:nvSpPr>
          <p:cNvPr id="285" name="Google Shape;285;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1000"/>
                                        <p:tgtEl>
                                          <p:spTgt spid="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1000"/>
                                        <p:tgtEl>
                                          <p:spTgt spid="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1000"/>
                                        <p:tgtEl>
                                          <p:spTgt spid="2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animEffect filter="fade" transition="in">
                                      <p:cBhvr>
                                        <p:cTn dur="1000"/>
                                        <p:tgtEl>
                                          <p:spTgt spid="28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1"/>
          <p:cNvSpPr txBox="1"/>
          <p:nvPr>
            <p:ph idx="1" type="body"/>
          </p:nvPr>
        </p:nvSpPr>
        <p:spPr>
          <a:xfrm>
            <a:off x="87695" y="1243956"/>
            <a:ext cx="12104305" cy="5614044"/>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200"/>
              <a:buFont typeface="Noto Sans Symbols"/>
              <a:buChar char="❖"/>
            </a:pPr>
            <a:r>
              <a:rPr b="1" i="1" lang="en-US" sz="2200">
                <a:latin typeface="Times New Roman"/>
                <a:ea typeface="Times New Roman"/>
                <a:cs typeface="Times New Roman"/>
                <a:sym typeface="Times New Roman"/>
              </a:rPr>
              <a:t>Quá trình nhận lệnh</a:t>
            </a:r>
            <a:r>
              <a:rPr b="1" lang="en-US" sz="2200">
                <a:latin typeface="Times New Roman"/>
                <a:ea typeface="Times New Roman"/>
                <a:cs typeface="Times New Roman"/>
                <a:sym typeface="Times New Roman"/>
              </a:rPr>
              <a:t>:</a:t>
            </a:r>
            <a:r>
              <a:rPr lang="en-US" sz="2200">
                <a:latin typeface="Times New Roman"/>
                <a:ea typeface="Times New Roman"/>
                <a:cs typeface="Times New Roman"/>
                <a:sym typeface="Times New Roman"/>
              </a:rPr>
              <a:t> CPU nhận lệnh từ bộ nhớ trung tâm. Để nhận 1 byte lệnh, từ giá trị của thanh ghi địa chỉ lệnh, CPU tạo ra các bit địa chỉ đưa ra Bus địa chỉ xác định byte lệnh cần lấy vào. Sau đó CPU đưa các tín hiệu điều khiển đọc byte lệnh về CPU. Khi đó nội dung của các thanh ghi địa chỉ lệnh tự động tăng 1 đơn vị để chuẩn bị cho việc nhận byte lệnh tiếp theo.</a:t>
            </a:r>
            <a:endParaRPr sz="2200">
              <a:latin typeface="Times New Roman"/>
              <a:ea typeface="Times New Roman"/>
              <a:cs typeface="Times New Roman"/>
              <a:sym typeface="Times New Roman"/>
            </a:endParaRPr>
          </a:p>
          <a:p>
            <a:pPr indent="-342900" lvl="0" marL="342900" rtl="0" algn="just">
              <a:spcBef>
                <a:spcPts val="1200"/>
              </a:spcBef>
              <a:spcAft>
                <a:spcPts val="0"/>
              </a:spcAft>
              <a:buClr>
                <a:schemeClr val="dk1"/>
              </a:buClr>
              <a:buSzPts val="2200"/>
              <a:buFont typeface="Noto Sans Symbols"/>
              <a:buChar char="❖"/>
            </a:pPr>
            <a:r>
              <a:rPr b="1" i="1" lang="en-US" sz="2200">
                <a:latin typeface="Times New Roman"/>
                <a:ea typeface="Times New Roman"/>
                <a:cs typeface="Times New Roman"/>
                <a:sym typeface="Times New Roman"/>
              </a:rPr>
              <a:t>Quá trình giải mã lệnh: </a:t>
            </a:r>
            <a:r>
              <a:rPr lang="en-US" sz="2200">
                <a:latin typeface="Times New Roman"/>
                <a:ea typeface="Times New Roman"/>
                <a:cs typeface="Times New Roman"/>
                <a:sym typeface="Times New Roman"/>
              </a:rPr>
              <a:t>Byte đầu tiên của lệnh là byte mã lệnh. CPU giải mã byte mã lệnh này để xác định chức năng của lệnh. Nếu lệnh không cần toán hạng chuyển sang chu kỳ thực hiện lệnh. Nếu lệnh cần toán hạng, CPU xác định toán hạng cho lệnh.</a:t>
            </a:r>
            <a:endParaRPr/>
          </a:p>
          <a:p>
            <a:pPr indent="-342900" lvl="0" marL="342900" rtl="0" algn="just">
              <a:spcBef>
                <a:spcPts val="1200"/>
              </a:spcBef>
              <a:spcAft>
                <a:spcPts val="0"/>
              </a:spcAft>
              <a:buClr>
                <a:schemeClr val="dk1"/>
              </a:buClr>
              <a:buSzPts val="2200"/>
              <a:buFont typeface="Noto Sans Symbols"/>
              <a:buChar char="❖"/>
            </a:pPr>
            <a:r>
              <a:rPr b="1" i="1" lang="en-US" sz="2200">
                <a:latin typeface="Times New Roman"/>
                <a:ea typeface="Times New Roman"/>
                <a:cs typeface="Times New Roman"/>
                <a:sym typeface="Times New Roman"/>
              </a:rPr>
              <a:t> Quá trình thực hiện lệnh.</a:t>
            </a:r>
            <a:endParaRPr sz="2200">
              <a:latin typeface="Times New Roman"/>
              <a:ea typeface="Times New Roman"/>
              <a:cs typeface="Times New Roman"/>
              <a:sym typeface="Times New Roman"/>
            </a:endParaRPr>
          </a:p>
          <a:p>
            <a:pPr indent="-285750" lvl="1" marL="623888" rtl="0" algn="just">
              <a:spcBef>
                <a:spcPts val="1200"/>
              </a:spcBef>
              <a:spcAft>
                <a:spcPts val="0"/>
              </a:spcAft>
              <a:buClr>
                <a:schemeClr val="dk1"/>
              </a:buClr>
              <a:buSzPts val="2200"/>
              <a:buChar char="–"/>
            </a:pPr>
            <a:r>
              <a:rPr lang="en-US" sz="2200">
                <a:latin typeface="Times New Roman"/>
                <a:ea typeface="Times New Roman"/>
                <a:cs typeface="Times New Roman"/>
                <a:sym typeface="Times New Roman"/>
              </a:rPr>
              <a:t>Nếu là lệnh dừng, thì CPU dừng quá trình làm việc cho tới khi Reset</a:t>
            </a:r>
            <a:endParaRPr/>
          </a:p>
          <a:p>
            <a:pPr indent="-285750" lvl="1" marL="623888" rtl="0" algn="just">
              <a:spcBef>
                <a:spcPts val="1200"/>
              </a:spcBef>
              <a:spcAft>
                <a:spcPts val="0"/>
              </a:spcAft>
              <a:buClr>
                <a:schemeClr val="dk1"/>
              </a:buClr>
              <a:buSzPts val="2200"/>
              <a:buChar char="–"/>
            </a:pPr>
            <a:r>
              <a:rPr lang="en-US" sz="2200">
                <a:latin typeface="Times New Roman"/>
                <a:ea typeface="Times New Roman"/>
                <a:cs typeface="Times New Roman"/>
                <a:sym typeface="Times New Roman"/>
              </a:rPr>
              <a:t>Nếu không phải thì CPU thực hiện lệnh và gửi kết quả. Trong quá trình thực hiện lệnh, nếu là lệnh thao tác ngay trong bộ VXL thì CPU sẽ thực hiện lệnh, còn nếu là lệnh cần thao tác với bên ngoài thì CPU gửi tín hiệu địa chỉ và điều khiển để thực hiện.</a:t>
            </a:r>
            <a:endParaRPr/>
          </a:p>
          <a:p>
            <a:pPr indent="-285750" lvl="1" marL="623888" rtl="0" algn="just">
              <a:spcBef>
                <a:spcPts val="1200"/>
              </a:spcBef>
              <a:spcAft>
                <a:spcPts val="0"/>
              </a:spcAft>
              <a:buClr>
                <a:schemeClr val="dk1"/>
              </a:buClr>
              <a:buSzPts val="2200"/>
              <a:buChar char="–"/>
            </a:pPr>
            <a:r>
              <a:rPr lang="en-US" sz="2200">
                <a:latin typeface="Times New Roman"/>
                <a:ea typeface="Times New Roman"/>
                <a:cs typeface="Times New Roman"/>
                <a:sym typeface="Times New Roman"/>
              </a:rPr>
              <a:t>Sau đó quá trình lại quay lại lệnh tiếp theo. Các quá trình nhận lệnh, giải mã lệnh và thực hiện lệnh có thể tiến hành tuần tự hay song song tuỳ theo cấu trúc  từng bộ VXL</a:t>
            </a:r>
            <a:endParaRPr/>
          </a:p>
          <a:p>
            <a:pPr indent="-203200" lvl="0" marL="342900" rtl="0" algn="just">
              <a:spcBef>
                <a:spcPts val="1200"/>
              </a:spcBef>
              <a:spcAft>
                <a:spcPts val="0"/>
              </a:spcAft>
              <a:buClr>
                <a:schemeClr val="dk1"/>
              </a:buClr>
              <a:buSzPts val="2200"/>
              <a:buNone/>
            </a:pPr>
            <a:r>
              <a:t/>
            </a:r>
            <a:endParaRPr sz="2200">
              <a:latin typeface="Times New Roman"/>
              <a:ea typeface="Times New Roman"/>
              <a:cs typeface="Times New Roman"/>
              <a:sym typeface="Times New Roman"/>
            </a:endParaRPr>
          </a:p>
        </p:txBody>
      </p:sp>
      <p:sp>
        <p:nvSpPr>
          <p:cNvPr id="291" name="Google Shape;291;p21"/>
          <p:cNvSpPr txBox="1"/>
          <p:nvPr>
            <p:ph type="title"/>
          </p:nvPr>
        </p:nvSpPr>
        <p:spPr>
          <a:xfrm>
            <a:off x="32084" y="0"/>
            <a:ext cx="8229600" cy="720736"/>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1.2. Hệ vi xử lý (3)</a:t>
            </a:r>
            <a:endParaRPr/>
          </a:p>
        </p:txBody>
      </p:sp>
      <p:sp>
        <p:nvSpPr>
          <p:cNvPr id="292" name="Google Shape;292;p21"/>
          <p:cNvSpPr/>
          <p:nvPr/>
        </p:nvSpPr>
        <p:spPr>
          <a:xfrm>
            <a:off x="87695" y="720736"/>
            <a:ext cx="4988866"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C00000"/>
              </a:buClr>
              <a:buSzPts val="2800"/>
              <a:buFont typeface="Times New Roman"/>
              <a:buNone/>
            </a:pPr>
            <a:r>
              <a:rPr b="1" lang="en-US" sz="2800">
                <a:solidFill>
                  <a:srgbClr val="C00000"/>
                </a:solidFill>
                <a:latin typeface="Times New Roman"/>
                <a:ea typeface="Times New Roman"/>
                <a:cs typeface="Times New Roman"/>
                <a:sym typeface="Times New Roman"/>
              </a:rPr>
              <a:t>1.1.3. Hoạt động của hệ vi xử lý</a:t>
            </a:r>
            <a:endParaRPr sz="2800">
              <a:solidFill>
                <a:srgbClr val="C00000"/>
              </a:solidFill>
              <a:latin typeface="Times New Roman"/>
              <a:ea typeface="Times New Roman"/>
              <a:cs typeface="Times New Roman"/>
              <a:sym typeface="Times New Roman"/>
            </a:endParaRPr>
          </a:p>
        </p:txBody>
      </p:sp>
      <p:sp>
        <p:nvSpPr>
          <p:cNvPr id="293" name="Google Shape;293;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1000"/>
                                        <p:tgtEl>
                                          <p:spTgt spid="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animEffect filter="fade" transition="in">
                                      <p:cBhvr>
                                        <p:cTn dur="1000"/>
                                        <p:tgtEl>
                                          <p:spTgt spid="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animEffect filter="fade" transition="in">
                                      <p:cBhvr>
                                        <p:cTn dur="1000"/>
                                        <p:tgtEl>
                                          <p:spTgt spid="2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animEffect filter="fade" transition="in">
                                      <p:cBhvr>
                                        <p:cTn dur="1000"/>
                                        <p:tgtEl>
                                          <p:spTgt spid="2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4" st="4"/>
                                            </p:txEl>
                                          </p:spTgt>
                                        </p:tgtEl>
                                        <p:attrNameLst>
                                          <p:attrName>style.visibility</p:attrName>
                                        </p:attrNameLst>
                                      </p:cBhvr>
                                      <p:to>
                                        <p:strVal val="visible"/>
                                      </p:to>
                                    </p:set>
                                    <p:animEffect filter="fade" transition="in">
                                      <p:cBhvr>
                                        <p:cTn dur="1000"/>
                                        <p:tgtEl>
                                          <p:spTgt spid="2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5" st="5"/>
                                            </p:txEl>
                                          </p:spTgt>
                                        </p:tgtEl>
                                        <p:attrNameLst>
                                          <p:attrName>style.visibility</p:attrName>
                                        </p:attrNameLst>
                                      </p:cBhvr>
                                      <p:to>
                                        <p:strVal val="visible"/>
                                      </p:to>
                                    </p:set>
                                    <p:animEffect filter="fade" transition="in">
                                      <p:cBhvr>
                                        <p:cTn dur="1000"/>
                                        <p:tgtEl>
                                          <p:spTgt spid="2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6" st="6"/>
                                            </p:txEl>
                                          </p:spTgt>
                                        </p:tgtEl>
                                        <p:attrNameLst>
                                          <p:attrName>style.visibility</p:attrName>
                                        </p:attrNameLst>
                                      </p:cBhvr>
                                      <p:to>
                                        <p:strVal val="visible"/>
                                      </p:to>
                                    </p:set>
                                    <p:animEffect filter="fade" transition="in">
                                      <p:cBhvr>
                                        <p:cTn dur="1000"/>
                                        <p:tgtEl>
                                          <p:spTgt spid="29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ph idx="1" type="body"/>
          </p:nvPr>
        </p:nvSpPr>
        <p:spPr>
          <a:xfrm>
            <a:off x="533400" y="1981200"/>
            <a:ext cx="10744200" cy="3657600"/>
          </a:xfrm>
          <a:prstGeom prst="rect">
            <a:avLst/>
          </a:prstGeom>
          <a:noFill/>
          <a:ln>
            <a:noFill/>
          </a:ln>
        </p:spPr>
        <p:txBody>
          <a:bodyPr anchorCtr="0" anchor="t" bIns="45700" lIns="91425" spcFirstLastPara="1" rIns="91425" wrap="square" tIns="45700">
            <a:noAutofit/>
          </a:bodyPr>
          <a:lstStyle/>
          <a:p>
            <a:pPr indent="-342900" lvl="1" marL="342900" rtl="0" algn="just">
              <a:spcBef>
                <a:spcPts val="0"/>
              </a:spcBef>
              <a:spcAft>
                <a:spcPts val="0"/>
              </a:spcAft>
              <a:buClr>
                <a:schemeClr val="dk1"/>
              </a:buClr>
              <a:buSzPts val="2400"/>
              <a:buFont typeface="Arial"/>
              <a:buChar char="•"/>
            </a:pPr>
            <a:r>
              <a:rPr lang="en-US" sz="2400">
                <a:latin typeface="Times New Roman"/>
                <a:ea typeface="Times New Roman"/>
                <a:cs typeface="Times New Roman"/>
                <a:sym typeface="Times New Roman"/>
              </a:rPr>
              <a:t>Là một vi mạch logic chế tạo theo công nghệ LSI (Large scale integrated) cho đến VLSI (very large scale integrated)</a:t>
            </a:r>
            <a:endParaRPr/>
          </a:p>
          <a:p>
            <a:pPr indent="-342900" lvl="1" marL="342900" rtl="0" algn="just">
              <a:spcBef>
                <a:spcPts val="1200"/>
              </a:spcBef>
              <a:spcAft>
                <a:spcPts val="0"/>
              </a:spcAft>
              <a:buClr>
                <a:schemeClr val="dk1"/>
              </a:buClr>
              <a:buSzPts val="2400"/>
              <a:buFont typeface="Arial"/>
              <a:buChar char="•"/>
            </a:pPr>
            <a:r>
              <a:rPr lang="en-US" sz="2400">
                <a:latin typeface="Times New Roman"/>
                <a:ea typeface="Times New Roman"/>
                <a:cs typeface="Times New Roman"/>
                <a:sym typeface="Times New Roman"/>
              </a:rPr>
              <a:t> Hoạt động dưới sự điều khiển của chương trình đặt trong bộ nhớ. </a:t>
            </a:r>
            <a:endParaRPr/>
          </a:p>
          <a:p>
            <a:pPr indent="-342900" lvl="1" marL="342900" rtl="0" algn="just">
              <a:spcBef>
                <a:spcPts val="1200"/>
              </a:spcBef>
              <a:spcAft>
                <a:spcPts val="0"/>
              </a:spcAft>
              <a:buClr>
                <a:schemeClr val="dk1"/>
              </a:buClr>
              <a:buSzPts val="2400"/>
              <a:buFont typeface="Arial"/>
              <a:buChar char="•"/>
            </a:pPr>
            <a:r>
              <a:rPr lang="en-US" sz="2400">
                <a:latin typeface="Times New Roman"/>
                <a:ea typeface="Times New Roman"/>
                <a:cs typeface="Times New Roman"/>
                <a:sym typeface="Times New Roman"/>
              </a:rPr>
              <a:t> Bộ VXL là hạt nhân của hệ VXL, nắm quyền kiểm soát toàn bộ các thành phần có trong hệ thống.</a:t>
            </a:r>
            <a:endParaRPr/>
          </a:p>
          <a:p>
            <a:pPr indent="-342900" lvl="1" marL="342900" rtl="0" algn="just">
              <a:spcBef>
                <a:spcPts val="1200"/>
              </a:spcBef>
              <a:spcAft>
                <a:spcPts val="0"/>
              </a:spcAft>
              <a:buClr>
                <a:schemeClr val="dk1"/>
              </a:buClr>
              <a:buSzPts val="2400"/>
              <a:buFont typeface="Arial"/>
              <a:buChar char="•"/>
            </a:pPr>
            <a:r>
              <a:rPr lang="en-US" sz="2400">
                <a:latin typeface="Times New Roman"/>
                <a:ea typeface="Times New Roman"/>
                <a:cs typeface="Times New Roman"/>
                <a:sym typeface="Times New Roman"/>
              </a:rPr>
              <a:t> Thực hiện các phép toán số học, logic, đưa ra các quyết định và thông tin với thế giới bên ngoài qua các cổng vào/ra dưới sự điều khiển của chương trình cài đặt trong bộ nhớ. </a:t>
            </a:r>
            <a:endParaRPr/>
          </a:p>
        </p:txBody>
      </p:sp>
      <p:sp>
        <p:nvSpPr>
          <p:cNvPr id="299" name="Google Shape;299;p22"/>
          <p:cNvSpPr txBox="1"/>
          <p:nvPr>
            <p:ph type="title"/>
          </p:nvPr>
        </p:nvSpPr>
        <p:spPr>
          <a:xfrm>
            <a:off x="152400" y="152400"/>
            <a:ext cx="48768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366092"/>
              </a:buClr>
              <a:buSzPct val="100000"/>
              <a:buFont typeface="Times New Roman"/>
              <a:buNone/>
            </a:pPr>
            <a:r>
              <a:rPr b="1" lang="en-US" sz="3600">
                <a:solidFill>
                  <a:srgbClr val="366092"/>
                </a:solidFill>
                <a:latin typeface="Times New Roman"/>
                <a:ea typeface="Times New Roman"/>
                <a:cs typeface="Times New Roman"/>
                <a:sym typeface="Times New Roman"/>
              </a:rPr>
              <a:t>1.2. Bộ vi xử lý  (1)</a:t>
            </a:r>
            <a:endParaRPr sz="4000">
              <a:solidFill>
                <a:srgbClr val="366092"/>
              </a:solidFill>
              <a:latin typeface="Times New Roman"/>
              <a:ea typeface="Times New Roman"/>
              <a:cs typeface="Times New Roman"/>
              <a:sym typeface="Times New Roman"/>
            </a:endParaRPr>
          </a:p>
        </p:txBody>
      </p:sp>
      <p:sp>
        <p:nvSpPr>
          <p:cNvPr id="300" name="Google Shape;300;p22"/>
          <p:cNvSpPr/>
          <p:nvPr/>
        </p:nvSpPr>
        <p:spPr>
          <a:xfrm>
            <a:off x="152400" y="848380"/>
            <a:ext cx="8610600" cy="523220"/>
          </a:xfrm>
          <a:prstGeom prst="rect">
            <a:avLst/>
          </a:prstGeom>
          <a:noFill/>
          <a:ln>
            <a:noFill/>
          </a:ln>
        </p:spPr>
        <p:txBody>
          <a:bodyPr anchorCtr="0" anchor="t" bIns="45700" lIns="91425" spcFirstLastPara="1" rIns="91425" wrap="square" tIns="45700">
            <a:spAutoFit/>
          </a:bodyPr>
          <a:lstStyle/>
          <a:p>
            <a:pPr indent="-342900" lvl="2" marL="342900" marR="0" rtl="0" algn="l">
              <a:spcBef>
                <a:spcPts val="0"/>
              </a:spcBef>
              <a:spcAft>
                <a:spcPts val="0"/>
              </a:spcAft>
              <a:buClr>
                <a:srgbClr val="C00000"/>
              </a:buClr>
              <a:buSzPts val="2800"/>
              <a:buFont typeface="Times New Roman"/>
              <a:buNone/>
            </a:pPr>
            <a:r>
              <a:rPr b="1" i="0" lang="en-US" sz="2800" u="none" cap="none" strike="noStrike">
                <a:solidFill>
                  <a:srgbClr val="C00000"/>
                </a:solidFill>
                <a:latin typeface="Times New Roman"/>
                <a:ea typeface="Times New Roman"/>
                <a:cs typeface="Times New Roman"/>
                <a:sym typeface="Times New Roman"/>
              </a:rPr>
              <a:t>1.2.1. Khái niệm bộ VXL</a:t>
            </a:r>
            <a:endParaRPr/>
          </a:p>
        </p:txBody>
      </p:sp>
      <p:sp>
        <p:nvSpPr>
          <p:cNvPr id="301" name="Google Shape;301;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animEffect filter="fade" transition="in">
                                      <p:cBhvr>
                                        <p:cTn dur="1000"/>
                                        <p:tgtEl>
                                          <p:spTgt spid="2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1" st="1"/>
                                            </p:txEl>
                                          </p:spTgt>
                                        </p:tgtEl>
                                        <p:attrNameLst>
                                          <p:attrName>style.visibility</p:attrName>
                                        </p:attrNameLst>
                                      </p:cBhvr>
                                      <p:to>
                                        <p:strVal val="visible"/>
                                      </p:to>
                                    </p:set>
                                    <p:animEffect filter="fade" transition="in">
                                      <p:cBhvr>
                                        <p:cTn dur="1000"/>
                                        <p:tgtEl>
                                          <p:spTgt spid="2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2" st="2"/>
                                            </p:txEl>
                                          </p:spTgt>
                                        </p:tgtEl>
                                        <p:attrNameLst>
                                          <p:attrName>style.visibility</p:attrName>
                                        </p:attrNameLst>
                                      </p:cBhvr>
                                      <p:to>
                                        <p:strVal val="visible"/>
                                      </p:to>
                                    </p:set>
                                    <p:animEffect filter="fade" transition="in">
                                      <p:cBhvr>
                                        <p:cTn dur="1000"/>
                                        <p:tgtEl>
                                          <p:spTgt spid="2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3" st="3"/>
                                            </p:txEl>
                                          </p:spTgt>
                                        </p:tgtEl>
                                        <p:attrNameLst>
                                          <p:attrName>style.visibility</p:attrName>
                                        </p:attrNameLst>
                                      </p:cBhvr>
                                      <p:to>
                                        <p:strVal val="visible"/>
                                      </p:to>
                                    </p:set>
                                    <p:animEffect filter="fade" transition="in">
                                      <p:cBhvr>
                                        <p:cTn dur="1000"/>
                                        <p:tgtEl>
                                          <p:spTgt spid="29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3"/>
          <p:cNvSpPr txBox="1"/>
          <p:nvPr>
            <p:ph idx="1" type="body"/>
          </p:nvPr>
        </p:nvSpPr>
        <p:spPr>
          <a:xfrm>
            <a:off x="152400" y="867878"/>
            <a:ext cx="11353800" cy="2060448"/>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None/>
            </a:pPr>
            <a:r>
              <a:rPr b="1" lang="en-US" sz="2800">
                <a:solidFill>
                  <a:srgbClr val="C00000"/>
                </a:solidFill>
                <a:latin typeface="Times New Roman"/>
                <a:ea typeface="Times New Roman"/>
                <a:cs typeface="Times New Roman"/>
                <a:sym typeface="Times New Roman"/>
              </a:rPr>
              <a:t>1.1.2. Phân loại bộ vi xử lý</a:t>
            </a:r>
            <a:endParaRPr b="1" sz="2800">
              <a:solidFill>
                <a:srgbClr val="C00000"/>
              </a:solidFill>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400"/>
              <a:buChar char="–"/>
            </a:pPr>
            <a:r>
              <a:rPr i="1" lang="en-US" sz="2400">
                <a:latin typeface="Times New Roman"/>
                <a:ea typeface="Times New Roman"/>
                <a:cs typeface="Times New Roman"/>
                <a:sym typeface="Times New Roman"/>
              </a:rPr>
              <a:t>VXL đa năng</a:t>
            </a:r>
            <a:r>
              <a:rPr lang="en-US" sz="2400">
                <a:latin typeface="Times New Roman"/>
                <a:ea typeface="Times New Roman"/>
                <a:cs typeface="Times New Roman"/>
                <a:sym typeface="Times New Roman"/>
              </a:rPr>
              <a:t>: bao gồm tất cả các phần tử tính toán trên một chip (trừ bộ nhớ và các cổng vào ra – 8086/8088, 6800)</a:t>
            </a:r>
            <a:endParaRPr/>
          </a:p>
          <a:p>
            <a:pPr indent="-285750" lvl="1" marL="742950" rtl="0" algn="just">
              <a:spcBef>
                <a:spcPts val="1200"/>
              </a:spcBef>
              <a:spcAft>
                <a:spcPts val="0"/>
              </a:spcAft>
              <a:buClr>
                <a:schemeClr val="dk1"/>
              </a:buClr>
              <a:buSzPts val="2400"/>
              <a:buChar char="–"/>
            </a:pPr>
            <a:r>
              <a:rPr i="1" lang="en-US" sz="2400">
                <a:latin typeface="Times New Roman"/>
                <a:ea typeface="Times New Roman"/>
                <a:cs typeface="Times New Roman"/>
                <a:sym typeface="Times New Roman"/>
              </a:rPr>
              <a:t>Vi điều khiển: </a:t>
            </a:r>
            <a:r>
              <a:rPr lang="en-US" sz="2400">
                <a:latin typeface="Times New Roman"/>
                <a:ea typeface="Times New Roman"/>
                <a:cs typeface="Times New Roman"/>
                <a:sym typeface="Times New Roman"/>
              </a:rPr>
              <a:t>bao gồm cả bộ nhớ và các cổng vào ra</a:t>
            </a:r>
            <a:endParaRPr/>
          </a:p>
          <a:p>
            <a:pPr indent="-228600" lvl="0" marL="342900" rtl="0" algn="just">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p:txBody>
      </p:sp>
      <p:pic>
        <p:nvPicPr>
          <p:cNvPr id="307" name="Google Shape;307;p23"/>
          <p:cNvPicPr preferRelativeResize="0"/>
          <p:nvPr/>
        </p:nvPicPr>
        <p:blipFill rotWithShape="1">
          <a:blip r:embed="rId3">
            <a:alphaModFix/>
          </a:blip>
          <a:srcRect b="0" l="0" r="0" t="0"/>
          <a:stretch/>
        </p:blipFill>
        <p:spPr>
          <a:xfrm>
            <a:off x="1931521" y="3200400"/>
            <a:ext cx="7795557" cy="3159252"/>
          </a:xfrm>
          <a:prstGeom prst="rect">
            <a:avLst/>
          </a:prstGeom>
          <a:noFill/>
          <a:ln>
            <a:noFill/>
          </a:ln>
        </p:spPr>
      </p:pic>
      <p:sp>
        <p:nvSpPr>
          <p:cNvPr id="308" name="Google Shape;308;p23"/>
          <p:cNvSpPr txBox="1"/>
          <p:nvPr>
            <p:ph type="title"/>
          </p:nvPr>
        </p:nvSpPr>
        <p:spPr>
          <a:xfrm>
            <a:off x="152400" y="152400"/>
            <a:ext cx="48768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366092"/>
              </a:buClr>
              <a:buSzPct val="100000"/>
              <a:buFont typeface="Times New Roman"/>
              <a:buNone/>
            </a:pPr>
            <a:r>
              <a:rPr b="1" lang="en-US" sz="3600">
                <a:solidFill>
                  <a:srgbClr val="366092"/>
                </a:solidFill>
                <a:latin typeface="Times New Roman"/>
                <a:ea typeface="Times New Roman"/>
                <a:cs typeface="Times New Roman"/>
                <a:sym typeface="Times New Roman"/>
              </a:rPr>
              <a:t>1.1. Bộ vi xử lý  (2)</a:t>
            </a:r>
            <a:endParaRPr sz="4000">
              <a:solidFill>
                <a:srgbClr val="366092"/>
              </a:solidFill>
              <a:latin typeface="Times New Roman"/>
              <a:ea typeface="Times New Roman"/>
              <a:cs typeface="Times New Roman"/>
              <a:sym typeface="Times New Roman"/>
            </a:endParaRPr>
          </a:p>
        </p:txBody>
      </p:sp>
      <p:sp>
        <p:nvSpPr>
          <p:cNvPr id="309" name="Google Shape;309;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75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4"/>
          <p:cNvSpPr txBox="1"/>
          <p:nvPr>
            <p:ph idx="1" type="body"/>
          </p:nvPr>
        </p:nvSpPr>
        <p:spPr>
          <a:xfrm>
            <a:off x="162452" y="836871"/>
            <a:ext cx="8229600" cy="609600"/>
          </a:xfrm>
          <a:prstGeom prst="rect">
            <a:avLst/>
          </a:prstGeom>
          <a:noFill/>
          <a:ln>
            <a:noFill/>
          </a:ln>
        </p:spPr>
        <p:txBody>
          <a:bodyPr anchorCtr="0" anchor="t" bIns="45700" lIns="91425" spcFirstLastPara="1" rIns="91425" wrap="square" tIns="45700">
            <a:normAutofit/>
          </a:bodyPr>
          <a:lstStyle/>
          <a:p>
            <a:pPr indent="-342900" lvl="2" marL="342900" rtl="0" algn="l">
              <a:spcBef>
                <a:spcPts val="0"/>
              </a:spcBef>
              <a:spcAft>
                <a:spcPts val="0"/>
              </a:spcAft>
              <a:buClr>
                <a:srgbClr val="C00000"/>
              </a:buClr>
              <a:buSzPts val="2800"/>
              <a:buNone/>
            </a:pPr>
            <a:r>
              <a:rPr b="1" lang="en-US" sz="2800">
                <a:solidFill>
                  <a:srgbClr val="C00000"/>
                </a:solidFill>
                <a:latin typeface="Times New Roman"/>
                <a:ea typeface="Times New Roman"/>
                <a:cs typeface="Times New Roman"/>
                <a:sym typeface="Times New Roman"/>
              </a:rPr>
              <a:t>1.1.3. Cấu trúc chung của bộ vi xử lý</a:t>
            </a:r>
            <a:endParaRPr sz="2800">
              <a:solidFill>
                <a:srgbClr val="C00000"/>
              </a:solidFill>
              <a:latin typeface="Times New Roman"/>
              <a:ea typeface="Times New Roman"/>
              <a:cs typeface="Times New Roman"/>
              <a:sym typeface="Times New Roman"/>
            </a:endParaRPr>
          </a:p>
        </p:txBody>
      </p:sp>
      <p:grpSp>
        <p:nvGrpSpPr>
          <p:cNvPr id="315" name="Google Shape;315;p24"/>
          <p:cNvGrpSpPr/>
          <p:nvPr/>
        </p:nvGrpSpPr>
        <p:grpSpPr>
          <a:xfrm>
            <a:off x="2286000" y="1828800"/>
            <a:ext cx="7543800" cy="4742696"/>
            <a:chOff x="2427" y="3452"/>
            <a:chExt cx="8404" cy="5731"/>
          </a:xfrm>
        </p:grpSpPr>
        <p:grpSp>
          <p:nvGrpSpPr>
            <p:cNvPr id="316" name="Google Shape;316;p24"/>
            <p:cNvGrpSpPr/>
            <p:nvPr/>
          </p:nvGrpSpPr>
          <p:grpSpPr>
            <a:xfrm>
              <a:off x="2581" y="3452"/>
              <a:ext cx="7546" cy="5324"/>
              <a:chOff x="2581" y="3452"/>
              <a:chExt cx="7546" cy="5324"/>
            </a:xfrm>
          </p:grpSpPr>
          <p:sp>
            <p:nvSpPr>
              <p:cNvPr id="317" name="Google Shape;317;p24"/>
              <p:cNvSpPr txBox="1"/>
              <p:nvPr/>
            </p:nvSpPr>
            <p:spPr>
              <a:xfrm>
                <a:off x="2955" y="4409"/>
                <a:ext cx="1540" cy="803"/>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ALU</a:t>
                </a:r>
                <a:endParaRPr b="1" sz="2800">
                  <a:solidFill>
                    <a:schemeClr val="dk1"/>
                  </a:solidFill>
                  <a:latin typeface="Arial"/>
                  <a:ea typeface="Arial"/>
                  <a:cs typeface="Arial"/>
                  <a:sym typeface="Arial"/>
                </a:endParaRPr>
              </a:p>
            </p:txBody>
          </p:sp>
          <p:sp>
            <p:nvSpPr>
              <p:cNvPr id="318" name="Google Shape;318;p24"/>
              <p:cNvSpPr txBox="1"/>
              <p:nvPr/>
            </p:nvSpPr>
            <p:spPr>
              <a:xfrm>
                <a:off x="5188" y="4090"/>
                <a:ext cx="1617" cy="396"/>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Khối đệm lệnh</a:t>
                </a:r>
                <a:endParaRPr b="1" sz="2800">
                  <a:solidFill>
                    <a:schemeClr val="dk1"/>
                  </a:solidFill>
                  <a:latin typeface="Arial"/>
                  <a:ea typeface="Arial"/>
                  <a:cs typeface="Arial"/>
                  <a:sym typeface="Arial"/>
                </a:endParaRPr>
              </a:p>
            </p:txBody>
          </p:sp>
          <p:sp>
            <p:nvSpPr>
              <p:cNvPr id="319" name="Google Shape;319;p24"/>
              <p:cNvSpPr txBox="1"/>
              <p:nvPr/>
            </p:nvSpPr>
            <p:spPr>
              <a:xfrm>
                <a:off x="5254" y="4915"/>
                <a:ext cx="1562" cy="396"/>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Giaỉ mã lệnh</a:t>
                </a:r>
                <a:endParaRPr b="1" sz="2800">
                  <a:solidFill>
                    <a:schemeClr val="dk1"/>
                  </a:solidFill>
                  <a:latin typeface="Arial"/>
                  <a:ea typeface="Arial"/>
                  <a:cs typeface="Arial"/>
                  <a:sym typeface="Arial"/>
                </a:endParaRPr>
              </a:p>
            </p:txBody>
          </p:sp>
          <p:sp>
            <p:nvSpPr>
              <p:cNvPr id="320" name="Google Shape;320;p24"/>
              <p:cNvSpPr txBox="1"/>
              <p:nvPr/>
            </p:nvSpPr>
            <p:spPr>
              <a:xfrm>
                <a:off x="7597" y="3881"/>
                <a:ext cx="1133" cy="161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1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Khối các thanh ghi</a:t>
                </a:r>
                <a:endParaRPr b="1" sz="2800">
                  <a:solidFill>
                    <a:schemeClr val="dk1"/>
                  </a:solidFill>
                  <a:latin typeface="Arial"/>
                  <a:ea typeface="Arial"/>
                  <a:cs typeface="Arial"/>
                  <a:sym typeface="Arial"/>
                </a:endParaRPr>
              </a:p>
            </p:txBody>
          </p:sp>
          <p:sp>
            <p:nvSpPr>
              <p:cNvPr id="321" name="Google Shape;321;p24"/>
              <p:cNvSpPr txBox="1"/>
              <p:nvPr/>
            </p:nvSpPr>
            <p:spPr>
              <a:xfrm>
                <a:off x="7300" y="5993"/>
                <a:ext cx="1848" cy="671"/>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Quản lý bộ nhớ và tạo địa chỉ</a:t>
                </a:r>
                <a:endParaRPr b="1" sz="2800">
                  <a:solidFill>
                    <a:schemeClr val="dk1"/>
                  </a:solidFill>
                  <a:latin typeface="Arial"/>
                  <a:ea typeface="Arial"/>
                  <a:cs typeface="Arial"/>
                  <a:sym typeface="Arial"/>
                </a:endParaRPr>
              </a:p>
            </p:txBody>
          </p:sp>
          <p:sp>
            <p:nvSpPr>
              <p:cNvPr id="322" name="Google Shape;322;p24"/>
              <p:cNvSpPr txBox="1"/>
              <p:nvPr/>
            </p:nvSpPr>
            <p:spPr>
              <a:xfrm>
                <a:off x="2581" y="5949"/>
                <a:ext cx="4191" cy="737"/>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Khối điều khiển</a:t>
                </a:r>
                <a:endParaRPr b="1" sz="2800">
                  <a:solidFill>
                    <a:schemeClr val="dk1"/>
                  </a:solidFill>
                  <a:latin typeface="Arial"/>
                  <a:ea typeface="Arial"/>
                  <a:cs typeface="Arial"/>
                  <a:sym typeface="Arial"/>
                </a:endParaRPr>
              </a:p>
            </p:txBody>
          </p:sp>
          <p:sp>
            <p:nvSpPr>
              <p:cNvPr id="323" name="Google Shape;323;p24"/>
              <p:cNvSpPr txBox="1"/>
              <p:nvPr/>
            </p:nvSpPr>
            <p:spPr>
              <a:xfrm>
                <a:off x="3043" y="7115"/>
                <a:ext cx="6732" cy="682"/>
              </a:xfrm>
              <a:prstGeom prst="rect">
                <a:avLst/>
              </a:prstGeom>
              <a:solidFill>
                <a:srgbClr val="FFFFFF"/>
              </a:solidFill>
              <a:ln cap="flat" cmpd="sng" w="9525">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Mạch phối với Bus</a:t>
                </a:r>
                <a:endParaRPr b="1" sz="2800">
                  <a:solidFill>
                    <a:schemeClr val="dk1"/>
                  </a:solidFill>
                  <a:latin typeface="Arial"/>
                  <a:ea typeface="Arial"/>
                  <a:cs typeface="Arial"/>
                  <a:sym typeface="Arial"/>
                </a:endParaRPr>
              </a:p>
            </p:txBody>
          </p:sp>
          <p:cxnSp>
            <p:nvCxnSpPr>
              <p:cNvPr id="324" name="Google Shape;324;p24"/>
              <p:cNvCxnSpPr/>
              <p:nvPr/>
            </p:nvCxnSpPr>
            <p:spPr>
              <a:xfrm>
                <a:off x="2823" y="3452"/>
                <a:ext cx="6699" cy="0"/>
              </a:xfrm>
              <a:prstGeom prst="straightConnector1">
                <a:avLst/>
              </a:prstGeom>
              <a:noFill/>
              <a:ln cap="flat" cmpd="sng" w="38100">
                <a:solidFill>
                  <a:srgbClr val="000000"/>
                </a:solidFill>
                <a:prstDash val="solid"/>
                <a:round/>
                <a:headEnd len="sm" w="sm" type="none"/>
                <a:tailEnd len="sm" w="sm" type="none"/>
              </a:ln>
            </p:spPr>
          </p:cxnSp>
          <p:cxnSp>
            <p:nvCxnSpPr>
              <p:cNvPr id="325" name="Google Shape;325;p24"/>
              <p:cNvCxnSpPr/>
              <p:nvPr/>
            </p:nvCxnSpPr>
            <p:spPr>
              <a:xfrm>
                <a:off x="9522" y="3452"/>
                <a:ext cx="0" cy="3663"/>
              </a:xfrm>
              <a:prstGeom prst="straightConnector1">
                <a:avLst/>
              </a:prstGeom>
              <a:noFill/>
              <a:ln cap="flat" cmpd="sng" w="38100">
                <a:solidFill>
                  <a:srgbClr val="000000"/>
                </a:solidFill>
                <a:prstDash val="solid"/>
                <a:round/>
                <a:headEnd len="sm" w="sm" type="none"/>
                <a:tailEnd len="sm" w="sm" type="none"/>
              </a:ln>
            </p:spPr>
          </p:cxnSp>
          <p:cxnSp>
            <p:nvCxnSpPr>
              <p:cNvPr id="326" name="Google Shape;326;p24"/>
              <p:cNvCxnSpPr/>
              <p:nvPr/>
            </p:nvCxnSpPr>
            <p:spPr>
              <a:xfrm rot="10800000">
                <a:off x="9159" y="6301"/>
                <a:ext cx="363" cy="0"/>
              </a:xfrm>
              <a:prstGeom prst="straightConnector1">
                <a:avLst/>
              </a:prstGeom>
              <a:noFill/>
              <a:ln cap="flat" cmpd="sng" w="38100">
                <a:solidFill>
                  <a:srgbClr val="000000"/>
                </a:solidFill>
                <a:prstDash val="solid"/>
                <a:round/>
                <a:headEnd len="sm" w="sm" type="none"/>
                <a:tailEnd len="sm" w="sm" type="triangle"/>
              </a:ln>
            </p:spPr>
          </p:cxnSp>
          <p:cxnSp>
            <p:nvCxnSpPr>
              <p:cNvPr id="327" name="Google Shape;327;p24"/>
              <p:cNvCxnSpPr/>
              <p:nvPr/>
            </p:nvCxnSpPr>
            <p:spPr>
              <a:xfrm>
                <a:off x="8202" y="5487"/>
                <a:ext cx="0" cy="506"/>
              </a:xfrm>
              <a:prstGeom prst="straightConnector1">
                <a:avLst/>
              </a:prstGeom>
              <a:noFill/>
              <a:ln cap="flat" cmpd="sng" w="38100">
                <a:solidFill>
                  <a:srgbClr val="000000"/>
                </a:solidFill>
                <a:prstDash val="solid"/>
                <a:round/>
                <a:headEnd len="sm" w="sm" type="none"/>
                <a:tailEnd len="sm" w="sm" type="triangle"/>
              </a:ln>
            </p:spPr>
          </p:cxnSp>
          <p:cxnSp>
            <p:nvCxnSpPr>
              <p:cNvPr id="328" name="Google Shape;328;p24"/>
              <p:cNvCxnSpPr/>
              <p:nvPr/>
            </p:nvCxnSpPr>
            <p:spPr>
              <a:xfrm>
                <a:off x="8268" y="6664"/>
                <a:ext cx="0" cy="451"/>
              </a:xfrm>
              <a:prstGeom prst="straightConnector1">
                <a:avLst/>
              </a:prstGeom>
              <a:noFill/>
              <a:ln cap="flat" cmpd="sng" w="38100">
                <a:solidFill>
                  <a:srgbClr val="000000"/>
                </a:solidFill>
                <a:prstDash val="solid"/>
                <a:round/>
                <a:headEnd len="sm" w="sm" type="none"/>
                <a:tailEnd len="sm" w="sm" type="triangle"/>
              </a:ln>
            </p:spPr>
          </p:cxnSp>
          <p:cxnSp>
            <p:nvCxnSpPr>
              <p:cNvPr id="329" name="Google Shape;329;p24"/>
              <p:cNvCxnSpPr/>
              <p:nvPr/>
            </p:nvCxnSpPr>
            <p:spPr>
              <a:xfrm>
                <a:off x="8147" y="3452"/>
                <a:ext cx="0" cy="429"/>
              </a:xfrm>
              <a:prstGeom prst="straightConnector1">
                <a:avLst/>
              </a:prstGeom>
              <a:noFill/>
              <a:ln cap="flat" cmpd="sng" w="38100">
                <a:solidFill>
                  <a:srgbClr val="000000"/>
                </a:solidFill>
                <a:prstDash val="solid"/>
                <a:round/>
                <a:headEnd len="sm" w="sm" type="triangle"/>
                <a:tailEnd len="sm" w="sm" type="triangle"/>
              </a:ln>
            </p:spPr>
          </p:cxnSp>
          <p:cxnSp>
            <p:nvCxnSpPr>
              <p:cNvPr id="330" name="Google Shape;330;p24"/>
              <p:cNvCxnSpPr/>
              <p:nvPr/>
            </p:nvCxnSpPr>
            <p:spPr>
              <a:xfrm>
                <a:off x="6002" y="3452"/>
                <a:ext cx="0" cy="638"/>
              </a:xfrm>
              <a:prstGeom prst="straightConnector1">
                <a:avLst/>
              </a:prstGeom>
              <a:noFill/>
              <a:ln cap="flat" cmpd="sng" w="38100">
                <a:solidFill>
                  <a:srgbClr val="000000"/>
                </a:solidFill>
                <a:prstDash val="solid"/>
                <a:round/>
                <a:headEnd len="sm" w="sm" type="none"/>
                <a:tailEnd len="sm" w="sm" type="triangle"/>
              </a:ln>
            </p:spPr>
          </p:cxnSp>
          <p:cxnSp>
            <p:nvCxnSpPr>
              <p:cNvPr id="331" name="Google Shape;331;p24"/>
              <p:cNvCxnSpPr/>
              <p:nvPr/>
            </p:nvCxnSpPr>
            <p:spPr>
              <a:xfrm>
                <a:off x="6046" y="4486"/>
                <a:ext cx="0" cy="440"/>
              </a:xfrm>
              <a:prstGeom prst="straightConnector1">
                <a:avLst/>
              </a:prstGeom>
              <a:noFill/>
              <a:ln cap="flat" cmpd="sng" w="38100">
                <a:solidFill>
                  <a:srgbClr val="000000"/>
                </a:solidFill>
                <a:prstDash val="solid"/>
                <a:round/>
                <a:headEnd len="sm" w="sm" type="none"/>
                <a:tailEnd len="sm" w="sm" type="triangle"/>
              </a:ln>
            </p:spPr>
          </p:cxnSp>
          <p:cxnSp>
            <p:nvCxnSpPr>
              <p:cNvPr id="332" name="Google Shape;332;p24"/>
              <p:cNvCxnSpPr/>
              <p:nvPr/>
            </p:nvCxnSpPr>
            <p:spPr>
              <a:xfrm rot="10800000">
                <a:off x="4814" y="4618"/>
                <a:ext cx="1232" cy="0"/>
              </a:xfrm>
              <a:prstGeom prst="straightConnector1">
                <a:avLst/>
              </a:prstGeom>
              <a:noFill/>
              <a:ln cap="flat" cmpd="sng" w="38100">
                <a:solidFill>
                  <a:srgbClr val="000000"/>
                </a:solidFill>
                <a:prstDash val="solid"/>
                <a:round/>
                <a:headEnd len="sm" w="sm" type="none"/>
                <a:tailEnd len="sm" w="sm" type="none"/>
              </a:ln>
            </p:spPr>
          </p:cxnSp>
          <p:cxnSp>
            <p:nvCxnSpPr>
              <p:cNvPr id="333" name="Google Shape;333;p24"/>
              <p:cNvCxnSpPr/>
              <p:nvPr/>
            </p:nvCxnSpPr>
            <p:spPr>
              <a:xfrm rot="10800000">
                <a:off x="4847" y="3452"/>
                <a:ext cx="0" cy="1166"/>
              </a:xfrm>
              <a:prstGeom prst="straightConnector1">
                <a:avLst/>
              </a:prstGeom>
              <a:noFill/>
              <a:ln cap="flat" cmpd="sng" w="38100">
                <a:solidFill>
                  <a:srgbClr val="000000"/>
                </a:solidFill>
                <a:prstDash val="solid"/>
                <a:round/>
                <a:headEnd len="sm" w="sm" type="none"/>
                <a:tailEnd len="sm" w="sm" type="triangle"/>
              </a:ln>
            </p:spPr>
          </p:cxnSp>
          <p:cxnSp>
            <p:nvCxnSpPr>
              <p:cNvPr id="334" name="Google Shape;334;p24"/>
              <p:cNvCxnSpPr/>
              <p:nvPr/>
            </p:nvCxnSpPr>
            <p:spPr>
              <a:xfrm>
                <a:off x="3692" y="3452"/>
                <a:ext cx="0" cy="957"/>
              </a:xfrm>
              <a:prstGeom prst="straightConnector1">
                <a:avLst/>
              </a:prstGeom>
              <a:noFill/>
              <a:ln cap="flat" cmpd="sng" w="38100">
                <a:solidFill>
                  <a:srgbClr val="000000"/>
                </a:solidFill>
                <a:prstDash val="solid"/>
                <a:round/>
                <a:headEnd len="sm" w="sm" type="triangle"/>
                <a:tailEnd len="sm" w="sm" type="triangle"/>
              </a:ln>
            </p:spPr>
          </p:cxnSp>
          <p:cxnSp>
            <p:nvCxnSpPr>
              <p:cNvPr id="335" name="Google Shape;335;p24"/>
              <p:cNvCxnSpPr/>
              <p:nvPr/>
            </p:nvCxnSpPr>
            <p:spPr>
              <a:xfrm rot="10800000">
                <a:off x="4165" y="5212"/>
                <a:ext cx="0" cy="737"/>
              </a:xfrm>
              <a:prstGeom prst="straightConnector1">
                <a:avLst/>
              </a:prstGeom>
              <a:noFill/>
              <a:ln cap="flat" cmpd="sng" w="9525">
                <a:solidFill>
                  <a:srgbClr val="000000"/>
                </a:solidFill>
                <a:prstDash val="solid"/>
                <a:round/>
                <a:headEnd len="sm" w="sm" type="none"/>
                <a:tailEnd len="sm" w="sm" type="triangle"/>
              </a:ln>
            </p:spPr>
          </p:cxnSp>
          <p:cxnSp>
            <p:nvCxnSpPr>
              <p:cNvPr id="336" name="Google Shape;336;p24"/>
              <p:cNvCxnSpPr/>
              <p:nvPr/>
            </p:nvCxnSpPr>
            <p:spPr>
              <a:xfrm>
                <a:off x="3362" y="5212"/>
                <a:ext cx="0" cy="737"/>
              </a:xfrm>
              <a:prstGeom prst="straightConnector1">
                <a:avLst/>
              </a:prstGeom>
              <a:noFill/>
              <a:ln cap="flat" cmpd="sng" w="9525">
                <a:solidFill>
                  <a:srgbClr val="000000"/>
                </a:solidFill>
                <a:prstDash val="solid"/>
                <a:round/>
                <a:headEnd len="sm" w="sm" type="none"/>
                <a:tailEnd len="sm" w="sm" type="triangle"/>
              </a:ln>
            </p:spPr>
          </p:cxnSp>
          <p:cxnSp>
            <p:nvCxnSpPr>
              <p:cNvPr id="337" name="Google Shape;337;p24"/>
              <p:cNvCxnSpPr/>
              <p:nvPr/>
            </p:nvCxnSpPr>
            <p:spPr>
              <a:xfrm>
                <a:off x="5738" y="5311"/>
                <a:ext cx="0" cy="638"/>
              </a:xfrm>
              <a:prstGeom prst="straightConnector1">
                <a:avLst/>
              </a:prstGeom>
              <a:noFill/>
              <a:ln cap="flat" cmpd="sng" w="9525">
                <a:solidFill>
                  <a:srgbClr val="000000"/>
                </a:solidFill>
                <a:prstDash val="solid"/>
                <a:round/>
                <a:headEnd len="sm" w="sm" type="none"/>
                <a:tailEnd len="sm" w="sm" type="triangle"/>
              </a:ln>
            </p:spPr>
          </p:cxnSp>
          <p:cxnSp>
            <p:nvCxnSpPr>
              <p:cNvPr id="338" name="Google Shape;338;p24"/>
              <p:cNvCxnSpPr/>
              <p:nvPr/>
            </p:nvCxnSpPr>
            <p:spPr>
              <a:xfrm rot="10800000">
                <a:off x="6343" y="5311"/>
                <a:ext cx="0" cy="638"/>
              </a:xfrm>
              <a:prstGeom prst="straightConnector1">
                <a:avLst/>
              </a:prstGeom>
              <a:noFill/>
              <a:ln cap="flat" cmpd="sng" w="9525">
                <a:solidFill>
                  <a:srgbClr val="000000"/>
                </a:solidFill>
                <a:prstDash val="solid"/>
                <a:round/>
                <a:headEnd len="sm" w="sm" type="none"/>
                <a:tailEnd len="sm" w="sm" type="triangle"/>
              </a:ln>
            </p:spPr>
          </p:cxnSp>
          <p:cxnSp>
            <p:nvCxnSpPr>
              <p:cNvPr id="339" name="Google Shape;339;p24"/>
              <p:cNvCxnSpPr/>
              <p:nvPr/>
            </p:nvCxnSpPr>
            <p:spPr>
              <a:xfrm>
                <a:off x="6794" y="6114"/>
                <a:ext cx="253" cy="0"/>
              </a:xfrm>
              <a:prstGeom prst="straightConnector1">
                <a:avLst/>
              </a:prstGeom>
              <a:noFill/>
              <a:ln cap="flat" cmpd="sng" w="9525">
                <a:solidFill>
                  <a:srgbClr val="000000"/>
                </a:solidFill>
                <a:prstDash val="solid"/>
                <a:round/>
                <a:headEnd len="sm" w="sm" type="triangle"/>
                <a:tailEnd len="sm" w="sm" type="none"/>
              </a:ln>
            </p:spPr>
          </p:cxnSp>
          <p:cxnSp>
            <p:nvCxnSpPr>
              <p:cNvPr id="340" name="Google Shape;340;p24"/>
              <p:cNvCxnSpPr/>
              <p:nvPr/>
            </p:nvCxnSpPr>
            <p:spPr>
              <a:xfrm rot="10800000">
                <a:off x="7058" y="5135"/>
                <a:ext cx="0" cy="979"/>
              </a:xfrm>
              <a:prstGeom prst="straightConnector1">
                <a:avLst/>
              </a:prstGeom>
              <a:noFill/>
              <a:ln cap="flat" cmpd="sng" w="9525">
                <a:solidFill>
                  <a:srgbClr val="000000"/>
                </a:solidFill>
                <a:prstDash val="solid"/>
                <a:round/>
                <a:headEnd len="med" w="med" type="none"/>
                <a:tailEnd len="med" w="med" type="none"/>
              </a:ln>
            </p:spPr>
          </p:cxnSp>
          <p:cxnSp>
            <p:nvCxnSpPr>
              <p:cNvPr id="341" name="Google Shape;341;p24"/>
              <p:cNvCxnSpPr/>
              <p:nvPr/>
            </p:nvCxnSpPr>
            <p:spPr>
              <a:xfrm>
                <a:off x="7058" y="5109"/>
                <a:ext cx="539" cy="0"/>
              </a:xfrm>
              <a:prstGeom prst="straightConnector1">
                <a:avLst/>
              </a:prstGeom>
              <a:noFill/>
              <a:ln cap="flat" cmpd="sng" w="9525">
                <a:solidFill>
                  <a:srgbClr val="000000"/>
                </a:solidFill>
                <a:prstDash val="solid"/>
                <a:round/>
                <a:headEnd len="sm" w="sm" type="none"/>
                <a:tailEnd len="sm" w="sm" type="triangle"/>
              </a:ln>
            </p:spPr>
          </p:cxnSp>
          <p:cxnSp>
            <p:nvCxnSpPr>
              <p:cNvPr id="342" name="Google Shape;342;p24"/>
              <p:cNvCxnSpPr/>
              <p:nvPr/>
            </p:nvCxnSpPr>
            <p:spPr>
              <a:xfrm>
                <a:off x="6772" y="6444"/>
                <a:ext cx="528" cy="0"/>
              </a:xfrm>
              <a:prstGeom prst="straightConnector1">
                <a:avLst/>
              </a:prstGeom>
              <a:noFill/>
              <a:ln cap="flat" cmpd="sng" w="9525">
                <a:solidFill>
                  <a:srgbClr val="000000"/>
                </a:solidFill>
                <a:prstDash val="solid"/>
                <a:round/>
                <a:headEnd len="sm" w="sm" type="triangle"/>
                <a:tailEnd len="sm" w="sm" type="triangle"/>
              </a:ln>
            </p:spPr>
          </p:cxnSp>
          <p:cxnSp>
            <p:nvCxnSpPr>
              <p:cNvPr id="343" name="Google Shape;343;p24"/>
              <p:cNvCxnSpPr/>
              <p:nvPr/>
            </p:nvCxnSpPr>
            <p:spPr>
              <a:xfrm>
                <a:off x="6475" y="7808"/>
                <a:ext cx="0" cy="462"/>
              </a:xfrm>
              <a:prstGeom prst="straightConnector1">
                <a:avLst/>
              </a:prstGeom>
              <a:noFill/>
              <a:ln cap="flat" cmpd="sng" w="38100">
                <a:solidFill>
                  <a:srgbClr val="000000"/>
                </a:solidFill>
                <a:prstDash val="solid"/>
                <a:round/>
                <a:headEnd len="sm" w="sm" type="none"/>
                <a:tailEnd len="sm" w="sm" type="triangle"/>
              </a:ln>
            </p:spPr>
          </p:cxnSp>
          <p:cxnSp>
            <p:nvCxnSpPr>
              <p:cNvPr id="344" name="Google Shape;344;p24"/>
              <p:cNvCxnSpPr/>
              <p:nvPr/>
            </p:nvCxnSpPr>
            <p:spPr>
              <a:xfrm>
                <a:off x="3901" y="7808"/>
                <a:ext cx="0" cy="462"/>
              </a:xfrm>
              <a:prstGeom prst="straightConnector1">
                <a:avLst/>
              </a:prstGeom>
              <a:noFill/>
              <a:ln cap="flat" cmpd="sng" w="38100">
                <a:solidFill>
                  <a:srgbClr val="000000"/>
                </a:solidFill>
                <a:prstDash val="solid"/>
                <a:round/>
                <a:headEnd len="sm" w="sm" type="none"/>
                <a:tailEnd len="sm" w="sm" type="triangle"/>
              </a:ln>
            </p:spPr>
          </p:cxnSp>
          <p:cxnSp>
            <p:nvCxnSpPr>
              <p:cNvPr id="345" name="Google Shape;345;p24"/>
              <p:cNvCxnSpPr/>
              <p:nvPr/>
            </p:nvCxnSpPr>
            <p:spPr>
              <a:xfrm>
                <a:off x="8983" y="7808"/>
                <a:ext cx="0" cy="462"/>
              </a:xfrm>
              <a:prstGeom prst="straightConnector1">
                <a:avLst/>
              </a:prstGeom>
              <a:noFill/>
              <a:ln cap="flat" cmpd="sng" w="38100">
                <a:solidFill>
                  <a:srgbClr val="000000"/>
                </a:solidFill>
                <a:prstDash val="solid"/>
                <a:round/>
                <a:headEnd len="sm" w="sm" type="triangle"/>
                <a:tailEnd len="sm" w="sm" type="triangle"/>
              </a:ln>
            </p:spPr>
          </p:cxnSp>
          <p:cxnSp>
            <p:nvCxnSpPr>
              <p:cNvPr id="346" name="Google Shape;346;p24"/>
              <p:cNvCxnSpPr/>
              <p:nvPr/>
            </p:nvCxnSpPr>
            <p:spPr>
              <a:xfrm>
                <a:off x="3945" y="6686"/>
                <a:ext cx="0" cy="429"/>
              </a:xfrm>
              <a:prstGeom prst="straightConnector1">
                <a:avLst/>
              </a:prstGeom>
              <a:noFill/>
              <a:ln cap="flat" cmpd="sng" w="9525">
                <a:solidFill>
                  <a:srgbClr val="000000"/>
                </a:solidFill>
                <a:prstDash val="solid"/>
                <a:round/>
                <a:headEnd len="sm" w="sm" type="none"/>
                <a:tailEnd len="sm" w="sm" type="triangle"/>
              </a:ln>
            </p:spPr>
          </p:cxnSp>
          <p:cxnSp>
            <p:nvCxnSpPr>
              <p:cNvPr id="347" name="Google Shape;347;p24"/>
              <p:cNvCxnSpPr/>
              <p:nvPr/>
            </p:nvCxnSpPr>
            <p:spPr>
              <a:xfrm rot="10800000">
                <a:off x="5169" y="6686"/>
                <a:ext cx="0" cy="429"/>
              </a:xfrm>
              <a:prstGeom prst="straightConnector1">
                <a:avLst/>
              </a:prstGeom>
              <a:noFill/>
              <a:ln cap="flat" cmpd="sng" w="9525">
                <a:solidFill>
                  <a:srgbClr val="000000"/>
                </a:solidFill>
                <a:prstDash val="solid"/>
                <a:round/>
                <a:headEnd len="med" w="med" type="none"/>
                <a:tailEnd len="sm" w="sm" type="triangle"/>
              </a:ln>
            </p:spPr>
          </p:cxnSp>
          <p:sp>
            <p:nvSpPr>
              <p:cNvPr id="348" name="Google Shape;348;p24"/>
              <p:cNvSpPr txBox="1"/>
              <p:nvPr/>
            </p:nvSpPr>
            <p:spPr>
              <a:xfrm>
                <a:off x="2867" y="8259"/>
                <a:ext cx="2288" cy="5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Bus điều khiển</a:t>
                </a:r>
                <a:endParaRPr b="1" sz="2800">
                  <a:solidFill>
                    <a:schemeClr val="dk1"/>
                  </a:solidFill>
                  <a:latin typeface="Arial"/>
                  <a:ea typeface="Arial"/>
                  <a:cs typeface="Arial"/>
                  <a:sym typeface="Arial"/>
                </a:endParaRPr>
              </a:p>
            </p:txBody>
          </p:sp>
          <p:sp>
            <p:nvSpPr>
              <p:cNvPr id="349" name="Google Shape;349;p24"/>
              <p:cNvSpPr txBox="1"/>
              <p:nvPr/>
            </p:nvSpPr>
            <p:spPr>
              <a:xfrm>
                <a:off x="5232" y="8259"/>
                <a:ext cx="2288" cy="5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Bus địa chỉ</a:t>
                </a:r>
                <a:endParaRPr b="1" sz="2800">
                  <a:solidFill>
                    <a:schemeClr val="dk1"/>
                  </a:solidFill>
                  <a:latin typeface="Arial"/>
                  <a:ea typeface="Arial"/>
                  <a:cs typeface="Arial"/>
                  <a:sym typeface="Arial"/>
                </a:endParaRPr>
              </a:p>
            </p:txBody>
          </p:sp>
          <p:sp>
            <p:nvSpPr>
              <p:cNvPr id="350" name="Google Shape;350;p24"/>
              <p:cNvSpPr txBox="1"/>
              <p:nvPr/>
            </p:nvSpPr>
            <p:spPr>
              <a:xfrm>
                <a:off x="7839" y="8204"/>
                <a:ext cx="2288" cy="5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alibri"/>
                    <a:ea typeface="Calibri"/>
                    <a:cs typeface="Calibri"/>
                    <a:sym typeface="Calibri"/>
                  </a:rPr>
                  <a:t>Bus dữ liệu</a:t>
                </a:r>
                <a:endParaRPr b="1" sz="2800">
                  <a:solidFill>
                    <a:schemeClr val="dk1"/>
                  </a:solidFill>
                  <a:latin typeface="Arial"/>
                  <a:ea typeface="Arial"/>
                  <a:cs typeface="Arial"/>
                  <a:sym typeface="Arial"/>
                </a:endParaRPr>
              </a:p>
            </p:txBody>
          </p:sp>
        </p:grpSp>
        <p:sp>
          <p:nvSpPr>
            <p:cNvPr id="351" name="Google Shape;351;p24"/>
            <p:cNvSpPr txBox="1"/>
            <p:nvPr/>
          </p:nvSpPr>
          <p:spPr>
            <a:xfrm>
              <a:off x="2427" y="8688"/>
              <a:ext cx="8404" cy="49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US" sz="1600">
                  <a:solidFill>
                    <a:schemeClr val="dk1"/>
                  </a:solidFill>
                  <a:latin typeface="Calibri"/>
                  <a:ea typeface="Calibri"/>
                  <a:cs typeface="Calibri"/>
                  <a:sym typeface="Calibri"/>
                </a:rPr>
                <a:t>Hình 1.2. Cấu trúc chung của bộ VXL</a:t>
              </a:r>
              <a:endParaRPr b="1" sz="2800">
                <a:solidFill>
                  <a:schemeClr val="dk1"/>
                </a:solidFill>
                <a:latin typeface="Arial"/>
                <a:ea typeface="Arial"/>
                <a:cs typeface="Arial"/>
                <a:sym typeface="Arial"/>
              </a:endParaRPr>
            </a:p>
          </p:txBody>
        </p:sp>
      </p:grpSp>
      <p:sp>
        <p:nvSpPr>
          <p:cNvPr id="352" name="Google Shape;352;p24"/>
          <p:cNvSpPr txBox="1"/>
          <p:nvPr>
            <p:ph type="title"/>
          </p:nvPr>
        </p:nvSpPr>
        <p:spPr>
          <a:xfrm>
            <a:off x="152400" y="152400"/>
            <a:ext cx="48768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366092"/>
              </a:buClr>
              <a:buSzPct val="100000"/>
              <a:buFont typeface="Times New Roman"/>
              <a:buNone/>
            </a:pPr>
            <a:r>
              <a:rPr b="1" lang="en-US" sz="3600">
                <a:solidFill>
                  <a:srgbClr val="366092"/>
                </a:solidFill>
                <a:latin typeface="Times New Roman"/>
                <a:ea typeface="Times New Roman"/>
                <a:cs typeface="Times New Roman"/>
                <a:sym typeface="Times New Roman"/>
              </a:rPr>
              <a:t>1.1. Bộ vi xử lý  (3)</a:t>
            </a:r>
            <a:endParaRPr sz="4000">
              <a:solidFill>
                <a:srgbClr val="366092"/>
              </a:solidFill>
              <a:latin typeface="Times New Roman"/>
              <a:ea typeface="Times New Roman"/>
              <a:cs typeface="Times New Roman"/>
              <a:sym typeface="Times New Roman"/>
            </a:endParaRPr>
          </a:p>
        </p:txBody>
      </p:sp>
      <p:sp>
        <p:nvSpPr>
          <p:cNvPr id="353" name="Google Shape;353;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p:nvPr/>
        </p:nvSpPr>
        <p:spPr>
          <a:xfrm>
            <a:off x="1775520" y="584104"/>
            <a:ext cx="5616624"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KHỐI ĐỆM VÀ GIẢI MÃ LỆNH</a:t>
            </a:r>
            <a:endParaRPr/>
          </a:p>
        </p:txBody>
      </p:sp>
      <p:sp>
        <p:nvSpPr>
          <p:cNvPr id="359" name="Google Shape;359;p25"/>
          <p:cNvSpPr/>
          <p:nvPr/>
        </p:nvSpPr>
        <p:spPr>
          <a:xfrm>
            <a:off x="1775520" y="1916832"/>
            <a:ext cx="8496944" cy="40324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just">
              <a:spcBef>
                <a:spcPts val="0"/>
              </a:spcBef>
              <a:spcAft>
                <a:spcPts val="0"/>
              </a:spcAft>
              <a:buClr>
                <a:schemeClr val="lt1"/>
              </a:buClr>
              <a:buSzPts val="2400"/>
              <a:buFont typeface="Arial"/>
              <a:buChar char="•"/>
            </a:pPr>
            <a:r>
              <a:rPr lang="en-US" sz="2400">
                <a:solidFill>
                  <a:schemeClr val="lt1"/>
                </a:solidFill>
                <a:latin typeface="Times New Roman"/>
                <a:ea typeface="Times New Roman"/>
                <a:cs typeface="Times New Roman"/>
                <a:sym typeface="Times New Roman"/>
              </a:rPr>
              <a:t>Khối đệm lệnh: gồm 1 hay vài thanh ghi tùy theo từng loại bộ vi xử lý để chứa tạm thời các byte lệnh trước khi đưa vào giải mã lệnh.</a:t>
            </a:r>
            <a:endParaRPr/>
          </a:p>
          <a:p>
            <a:pPr indent="0" lvl="0" marL="0" marR="0" rtl="0" algn="just">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lt1"/>
              </a:buClr>
              <a:buSzPts val="2400"/>
              <a:buFont typeface="Arial"/>
              <a:buChar char="•"/>
            </a:pPr>
            <a:r>
              <a:rPr lang="en-US" sz="2400">
                <a:solidFill>
                  <a:schemeClr val="lt1"/>
                </a:solidFill>
                <a:latin typeface="Times New Roman"/>
                <a:ea typeface="Times New Roman"/>
                <a:cs typeface="Times New Roman"/>
                <a:sym typeface="Times New Roman"/>
              </a:rPr>
              <a:t>Khối giải mã lệnh: chức năng giải mã byte mã lệnh, xác định thao tác  của lệnh để đưa thông tin đến khối điều khiển. Các thông tin này là các vi lệnh hay vi chương trình.</a:t>
            </a:r>
            <a:endParaRPr sz="2400">
              <a:solidFill>
                <a:schemeClr val="lt1"/>
              </a:solidFill>
              <a:latin typeface="Times New Roman"/>
              <a:ea typeface="Times New Roman"/>
              <a:cs typeface="Times New Roman"/>
              <a:sym typeface="Times New Roman"/>
            </a:endParaRPr>
          </a:p>
          <a:p>
            <a:pPr indent="-304800" lvl="1" marL="914400" marR="0" rtl="0" algn="just">
              <a:lnSpc>
                <a:spcPct val="90000"/>
              </a:lnSpc>
              <a:spcBef>
                <a:spcPts val="0"/>
              </a:spcBef>
              <a:spcAft>
                <a:spcPts val="0"/>
              </a:spcAft>
              <a:buClr>
                <a:schemeClr val="dk1"/>
              </a:buClr>
              <a:buSzPts val="2400"/>
              <a:buFont typeface="Arial"/>
              <a:buNone/>
            </a:pPr>
            <a:r>
              <a:t/>
            </a:r>
            <a:endParaRPr b="0" i="0" sz="24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Điều khiển và đồng bộ toàn bộ hoạt động của hệ thống, nhiệm vụ của khối là:</a:t>
            </a:r>
            <a:endParaRPr/>
          </a:p>
          <a:p>
            <a:pPr indent="0" lvl="0" marL="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Nhận tín hiệu xung đồng bộ từ bên ngoài  để đồng bộ hoạt động của CPU.</a:t>
            </a:r>
            <a:endParaRPr/>
          </a:p>
          <a:p>
            <a:pPr indent="0" lvl="0" marL="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Điều khiển hệ thống thực hiện lệnh khi chạy một chương trình.</a:t>
            </a:r>
            <a:endParaRPr/>
          </a:p>
          <a:p>
            <a:pPr indent="0" lvl="0" marL="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Nhận tín hiệu yêu cầu điều khiển từ bên ngoài, tạo ra tín hiệu điều khiển đáp ứng yêu cầu đó.</a:t>
            </a:r>
            <a:endParaRPr>
              <a:latin typeface="Times New Roman"/>
              <a:ea typeface="Times New Roman"/>
              <a:cs typeface="Times New Roman"/>
              <a:sym typeface="Times New Roman"/>
            </a:endParaRPr>
          </a:p>
        </p:txBody>
      </p:sp>
      <p:sp>
        <p:nvSpPr>
          <p:cNvPr id="365" name="Google Shape;365;p26"/>
          <p:cNvSpPr/>
          <p:nvPr/>
        </p:nvSpPr>
        <p:spPr>
          <a:xfrm>
            <a:off x="2783632" y="332656"/>
            <a:ext cx="6696744"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KHỐI ĐIỀN KHIỂN (CU – Control Unit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500"/>
                                        <p:tgtEl>
                                          <p:spTgt spid="3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Effect filter="fade" transition="in">
                                      <p:cBhvr>
                                        <p:cTn dur="500"/>
                                        <p:tgtEl>
                                          <p:spTgt spid="3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Effect filter="fade" transition="in">
                                      <p:cBhvr>
                                        <p:cTn dur="500"/>
                                        <p:tgtEl>
                                          <p:spTgt spid="3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Effect filter="fade" transition="in">
                                      <p:cBhvr>
                                        <p:cTn dur="500"/>
                                        <p:tgtEl>
                                          <p:spTgt spid="3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animEffect filter="fade" transition="in">
                                      <p:cBhvr>
                                        <p:cTn dur="500"/>
                                        <p:tgtEl>
                                          <p:spTgt spid="3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animEffect filter="fade" transition="in">
                                      <p:cBhvr>
                                        <p:cTn dur="500"/>
                                        <p:tgtEl>
                                          <p:spTgt spid="3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6" st="6"/>
                                            </p:txEl>
                                          </p:spTgt>
                                        </p:tgtEl>
                                        <p:attrNameLst>
                                          <p:attrName>style.visibility</p:attrName>
                                        </p:attrNameLst>
                                      </p:cBhvr>
                                      <p:to>
                                        <p:strVal val="visible"/>
                                      </p:to>
                                    </p:set>
                                    <p:animEffect filter="fade" transition="in">
                                      <p:cBhvr>
                                        <p:cTn dur="500"/>
                                        <p:tgtEl>
                                          <p:spTgt spid="36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Thanh ghi là nơi mà bộ vi xử lý có thể lưu trữ được một số nhị phân (Kích cỡ của thanh ghi tính bằng bit).</a:t>
            </a:r>
            <a:endParaRPr/>
          </a:p>
          <a:p>
            <a:pPr indent="0" lvl="0" marL="0" rtl="0" algn="just">
              <a:lnSpc>
                <a:spcPct val="90000"/>
              </a:lnSpc>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lnSpc>
                <a:spcPct val="90000"/>
              </a:lnSpc>
              <a:spcBef>
                <a:spcPts val="592"/>
              </a:spcBef>
              <a:spcAft>
                <a:spcPts val="0"/>
              </a:spcAft>
              <a:buClr>
                <a:schemeClr val="dk1"/>
              </a:buClr>
              <a:buSzPct val="100000"/>
              <a:buChar char="•"/>
            </a:pPr>
            <a:r>
              <a:rPr lang="en-US">
                <a:latin typeface="Times New Roman"/>
                <a:ea typeface="Times New Roman"/>
                <a:cs typeface="Times New Roman"/>
                <a:sym typeface="Times New Roman"/>
              </a:rPr>
              <a:t>Bộ vi xử lý dùng các thanh ghi để lưu trữ dữ liệu tạm thời trong quá trình thực hiện chương trình.</a:t>
            </a:r>
            <a:endParaRPr/>
          </a:p>
          <a:p>
            <a:pPr indent="0" lvl="0" marL="0" rtl="0" algn="just">
              <a:lnSpc>
                <a:spcPct val="90000"/>
              </a:lnSpc>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lnSpc>
                <a:spcPct val="90000"/>
              </a:lnSpc>
              <a:spcBef>
                <a:spcPts val="592"/>
              </a:spcBef>
              <a:spcAft>
                <a:spcPts val="0"/>
              </a:spcAft>
              <a:buClr>
                <a:schemeClr val="dk1"/>
              </a:buClr>
              <a:buSzPct val="100000"/>
              <a:buChar char="•"/>
            </a:pPr>
            <a:r>
              <a:rPr lang="en-US">
                <a:latin typeface="Times New Roman"/>
                <a:ea typeface="Times New Roman"/>
                <a:cs typeface="Times New Roman"/>
                <a:sym typeface="Times New Roman"/>
              </a:rPr>
              <a:t>Các thanh ghi có thể được truy cập bằng các câu lệnh ngôn ngữ máy.</a:t>
            </a:r>
            <a:endParaRPr/>
          </a:p>
          <a:p>
            <a:pPr indent="0" lvl="0" marL="0" rtl="0" algn="just">
              <a:lnSpc>
                <a:spcPct val="90000"/>
              </a:lnSpc>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lnSpc>
                <a:spcPct val="90000"/>
              </a:lnSpc>
              <a:spcBef>
                <a:spcPts val="592"/>
              </a:spcBef>
              <a:spcAft>
                <a:spcPts val="0"/>
              </a:spcAft>
              <a:buClr>
                <a:schemeClr val="dk1"/>
              </a:buClr>
              <a:buSzPct val="100000"/>
              <a:buChar char="•"/>
            </a:pPr>
            <a:r>
              <a:rPr lang="en-US">
                <a:latin typeface="Times New Roman"/>
                <a:ea typeface="Times New Roman"/>
                <a:cs typeface="Times New Roman"/>
                <a:sym typeface="Times New Roman"/>
              </a:rPr>
              <a:t>Các thanh ghi điều khiển và các thanh ghi trạng thái được CU dùng để điều khiển việc thực hiện chương trình.</a:t>
            </a:r>
            <a:endParaRPr>
              <a:solidFill>
                <a:srgbClr val="FF0000"/>
              </a:solidFill>
              <a:latin typeface="Times New Roman"/>
              <a:ea typeface="Times New Roman"/>
              <a:cs typeface="Times New Roman"/>
              <a:sym typeface="Times New Roman"/>
            </a:endParaRPr>
          </a:p>
        </p:txBody>
      </p:sp>
      <p:sp>
        <p:nvSpPr>
          <p:cNvPr id="371" name="Google Shape;371;p27"/>
          <p:cNvSpPr/>
          <p:nvPr/>
        </p:nvSpPr>
        <p:spPr>
          <a:xfrm>
            <a:off x="3359696" y="584104"/>
            <a:ext cx="5544616"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CÁC THANH GHI (REGISTERS)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animEffect filter="fade" transition="in">
                                      <p:cBhvr>
                                        <p:cTn dur="500"/>
                                        <p:tgtEl>
                                          <p:spTgt spid="3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animEffect filter="fade" transition="in">
                                      <p:cBhvr>
                                        <p:cTn dur="500"/>
                                        <p:tgtEl>
                                          <p:spTgt spid="3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animEffect filter="fade" transition="in">
                                      <p:cBhvr>
                                        <p:cTn dur="500"/>
                                        <p:tgtEl>
                                          <p:spTgt spid="3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animEffect filter="fade" transition="in">
                                      <p:cBhvr>
                                        <p:cTn dur="500"/>
                                        <p:tgtEl>
                                          <p:spTgt spid="3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animEffect filter="fade" transition="in">
                                      <p:cBhvr>
                                        <p:cTn dur="500"/>
                                        <p:tgtEl>
                                          <p:spTgt spid="3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5" st="5"/>
                                            </p:txEl>
                                          </p:spTgt>
                                        </p:tgtEl>
                                        <p:attrNameLst>
                                          <p:attrName>style.visibility</p:attrName>
                                        </p:attrNameLst>
                                      </p:cBhvr>
                                      <p:to>
                                        <p:strVal val="visible"/>
                                      </p:to>
                                    </p:set>
                                    <p:animEffect filter="fade" transition="in">
                                      <p:cBhvr>
                                        <p:cTn dur="500"/>
                                        <p:tgtEl>
                                          <p:spTgt spid="3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xEl>
                                              <p:pRg end="6" st="6"/>
                                            </p:txEl>
                                          </p:spTgt>
                                        </p:tgtEl>
                                        <p:attrNameLst>
                                          <p:attrName>style.visibility</p:attrName>
                                        </p:attrNameLst>
                                      </p:cBhvr>
                                      <p:to>
                                        <p:strVal val="visible"/>
                                      </p:to>
                                    </p:set>
                                    <p:animEffect filter="fade" transition="in">
                                      <p:cBhvr>
                                        <p:cTn dur="500"/>
                                        <p:tgtEl>
                                          <p:spTgt spid="37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rgbClr val="FF0000"/>
              </a:buClr>
              <a:buSzPct val="100000"/>
              <a:buChar char="•"/>
            </a:pPr>
            <a:r>
              <a:rPr lang="en-US">
                <a:solidFill>
                  <a:srgbClr val="FF0000"/>
                </a:solidFill>
                <a:latin typeface="Times New Roman"/>
                <a:ea typeface="Times New Roman"/>
                <a:cs typeface="Times New Roman"/>
                <a:sym typeface="Times New Roman"/>
              </a:rPr>
              <a:t>Thanh ghi lệnh: </a:t>
            </a:r>
            <a:r>
              <a:rPr lang="en-US">
                <a:latin typeface="Times New Roman"/>
                <a:ea typeface="Times New Roman"/>
                <a:cs typeface="Times New Roman"/>
                <a:sym typeface="Times New Roman"/>
              </a:rPr>
              <a:t>chức năng lưu mã lệnh đang thực hiện. Mã lệnh được nạp vào bộ vi xử lý và lưu vào thanh ghi lệnh. Kích cỡ của VXL quyết định kích cỡ của thanh ghi này. </a:t>
            </a:r>
            <a:endParaRPr/>
          </a:p>
          <a:p>
            <a:pPr indent="0" lvl="0" marL="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spcBef>
                <a:spcPts val="592"/>
              </a:spcBef>
              <a:spcAft>
                <a:spcPts val="0"/>
              </a:spcAft>
              <a:buClr>
                <a:srgbClr val="FF0000"/>
              </a:buClr>
              <a:buSzPct val="100000"/>
              <a:buChar char="•"/>
            </a:pPr>
            <a:r>
              <a:rPr lang="en-US">
                <a:solidFill>
                  <a:srgbClr val="FF0000"/>
                </a:solidFill>
                <a:latin typeface="Times New Roman"/>
                <a:ea typeface="Times New Roman"/>
                <a:cs typeface="Times New Roman"/>
                <a:sym typeface="Times New Roman"/>
              </a:rPr>
              <a:t>Thanh ghi điều chỉnh bộ nhớ:</a:t>
            </a:r>
            <a:r>
              <a:rPr lang="en-US">
                <a:latin typeface="Times New Roman"/>
                <a:ea typeface="Times New Roman"/>
                <a:cs typeface="Times New Roman"/>
                <a:sym typeface="Times New Roman"/>
              </a:rPr>
              <a:t> Chứa địa chỉ dữ liệu VXL, sử dụng địa chỉ này như là các con trỏ trực tiếp tới bộ nhớ. Nội dung của ô nhớ có địa chỉ này chính là dữ liệu được trao đổi và xử lý.</a:t>
            </a:r>
            <a:endParaRPr/>
          </a:p>
          <a:p>
            <a:pPr indent="0" lvl="0" marL="0" rtl="0" algn="just">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spcBef>
                <a:spcPts val="592"/>
              </a:spcBef>
              <a:spcAft>
                <a:spcPts val="0"/>
              </a:spcAft>
              <a:buClr>
                <a:srgbClr val="FF0000"/>
              </a:buClr>
              <a:buSzPct val="100000"/>
              <a:buChar char="•"/>
            </a:pPr>
            <a:r>
              <a:rPr lang="en-US">
                <a:solidFill>
                  <a:srgbClr val="FF0000"/>
                </a:solidFill>
                <a:latin typeface="Times New Roman"/>
                <a:ea typeface="Times New Roman"/>
                <a:cs typeface="Times New Roman"/>
                <a:sym typeface="Times New Roman"/>
              </a:rPr>
              <a:t>Thanh ghi tích lũy: </a:t>
            </a:r>
            <a:r>
              <a:rPr lang="en-US">
                <a:latin typeface="Times New Roman"/>
                <a:ea typeface="Times New Roman"/>
                <a:cs typeface="Times New Roman"/>
                <a:sym typeface="Times New Roman"/>
              </a:rPr>
              <a:t> kích thước 8,16,32,64 bit thường dùng để lưu kết quả tính toán của đơn vị xử lý số học và logic ALU, dùng để trao đổi dữ liệu với các thiết bị vào ra.</a:t>
            </a:r>
            <a:endParaRPr>
              <a:latin typeface="Times New Roman"/>
              <a:ea typeface="Times New Roman"/>
              <a:cs typeface="Times New Roman"/>
              <a:sym typeface="Times New Roman"/>
            </a:endParaRPr>
          </a:p>
        </p:txBody>
      </p:sp>
      <p:sp>
        <p:nvSpPr>
          <p:cNvPr id="377" name="Google Shape;377;p28"/>
          <p:cNvSpPr/>
          <p:nvPr/>
        </p:nvSpPr>
        <p:spPr>
          <a:xfrm>
            <a:off x="3539716" y="476672"/>
            <a:ext cx="4932548"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CÁC THANH GHI CƠ BẢN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xEl>
                                              <p:pRg end="0" st="0"/>
                                            </p:txEl>
                                          </p:spTgt>
                                        </p:tgtEl>
                                        <p:attrNameLst>
                                          <p:attrName>style.visibility</p:attrName>
                                        </p:attrNameLst>
                                      </p:cBhvr>
                                      <p:to>
                                        <p:strVal val="visible"/>
                                      </p:to>
                                    </p:set>
                                    <p:animEffect filter="fade" transition="in">
                                      <p:cBhvr>
                                        <p:cTn dur="500"/>
                                        <p:tgtEl>
                                          <p:spTgt spid="3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xEl>
                                              <p:pRg end="1" st="1"/>
                                            </p:txEl>
                                          </p:spTgt>
                                        </p:tgtEl>
                                        <p:attrNameLst>
                                          <p:attrName>style.visibility</p:attrName>
                                        </p:attrNameLst>
                                      </p:cBhvr>
                                      <p:to>
                                        <p:strVal val="visible"/>
                                      </p:to>
                                    </p:set>
                                    <p:animEffect filter="fade" transition="in">
                                      <p:cBhvr>
                                        <p:cTn dur="500"/>
                                        <p:tgtEl>
                                          <p:spTgt spid="3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xEl>
                                              <p:pRg end="2" st="2"/>
                                            </p:txEl>
                                          </p:spTgt>
                                        </p:tgtEl>
                                        <p:attrNameLst>
                                          <p:attrName>style.visibility</p:attrName>
                                        </p:attrNameLst>
                                      </p:cBhvr>
                                      <p:to>
                                        <p:strVal val="visible"/>
                                      </p:to>
                                    </p:set>
                                    <p:animEffect filter="fade" transition="in">
                                      <p:cBhvr>
                                        <p:cTn dur="500"/>
                                        <p:tgtEl>
                                          <p:spTgt spid="3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xEl>
                                              <p:pRg end="3" st="3"/>
                                            </p:txEl>
                                          </p:spTgt>
                                        </p:tgtEl>
                                        <p:attrNameLst>
                                          <p:attrName>style.visibility</p:attrName>
                                        </p:attrNameLst>
                                      </p:cBhvr>
                                      <p:to>
                                        <p:strVal val="visible"/>
                                      </p:to>
                                    </p:set>
                                    <p:animEffect filter="fade" transition="in">
                                      <p:cBhvr>
                                        <p:cTn dur="500"/>
                                        <p:tgtEl>
                                          <p:spTgt spid="3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xEl>
                                              <p:pRg end="4" st="4"/>
                                            </p:txEl>
                                          </p:spTgt>
                                        </p:tgtEl>
                                        <p:attrNameLst>
                                          <p:attrName>style.visibility</p:attrName>
                                        </p:attrNameLst>
                                      </p:cBhvr>
                                      <p:to>
                                        <p:strVal val="visible"/>
                                      </p:to>
                                    </p:set>
                                    <p:animEffect filter="fade" transition="in">
                                      <p:cBhvr>
                                        <p:cTn dur="500"/>
                                        <p:tgtEl>
                                          <p:spTgt spid="37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ALU(Arithmetic and logic unit):</a:t>
            </a:r>
            <a:endParaRPr/>
          </a:p>
          <a:p>
            <a:pPr indent="0" lvl="1" marL="393192"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Kích cỡ ALU tương ứng với kích cỡ của VXL.</a:t>
            </a:r>
            <a:endParaRPr/>
          </a:p>
          <a:p>
            <a:pPr indent="0" lvl="1" marL="393192"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Chức năng:</a:t>
            </a:r>
            <a:endParaRPr/>
          </a:p>
          <a:p>
            <a:pPr indent="-228600" lvl="2" marL="1143000" rtl="0" algn="just">
              <a:spcBef>
                <a:spcPts val="48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Thực hiện các phép toán số học và các phép toán logic (AND, OR, NOT, XOR)</a:t>
            </a:r>
            <a:endParaRPr/>
          </a:p>
          <a:p>
            <a:pPr indent="-228600" lvl="2" marL="1143000" rtl="0" algn="just">
              <a:spcBef>
                <a:spcPts val="48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Tính số bù của một dữ liệu.</a:t>
            </a:r>
            <a:endParaRPr/>
          </a:p>
          <a:p>
            <a:pPr indent="-228600" lvl="2" marL="1143000" rtl="0" algn="just">
              <a:spcBef>
                <a:spcPts val="48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Dịch hoặc quay trái các thanh ghi dùng chung.</a:t>
            </a:r>
            <a:endParaRPr/>
          </a:p>
        </p:txBody>
      </p:sp>
      <p:sp>
        <p:nvSpPr>
          <p:cNvPr id="383" name="Google Shape;383;p29"/>
          <p:cNvSpPr/>
          <p:nvPr/>
        </p:nvSpPr>
        <p:spPr>
          <a:xfrm>
            <a:off x="3215680" y="404664"/>
            <a:ext cx="5544616"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KHỐI SỐ HỌC VÀ LOGIC (ALU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xEl>
                                              <p:pRg end="0" st="0"/>
                                            </p:txEl>
                                          </p:spTgt>
                                        </p:tgtEl>
                                        <p:attrNameLst>
                                          <p:attrName>style.visibility</p:attrName>
                                        </p:attrNameLst>
                                      </p:cBhvr>
                                      <p:to>
                                        <p:strVal val="visible"/>
                                      </p:to>
                                    </p:set>
                                    <p:animEffect filter="fade" transition="in">
                                      <p:cBhvr>
                                        <p:cTn dur="500"/>
                                        <p:tgtEl>
                                          <p:spTgt spid="3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xEl>
                                              <p:pRg end="1" st="1"/>
                                            </p:txEl>
                                          </p:spTgt>
                                        </p:tgtEl>
                                        <p:attrNameLst>
                                          <p:attrName>style.visibility</p:attrName>
                                        </p:attrNameLst>
                                      </p:cBhvr>
                                      <p:to>
                                        <p:strVal val="visible"/>
                                      </p:to>
                                    </p:set>
                                    <p:animEffect filter="fade" transition="in">
                                      <p:cBhvr>
                                        <p:cTn dur="500"/>
                                        <p:tgtEl>
                                          <p:spTgt spid="3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xEl>
                                              <p:pRg end="2" st="2"/>
                                            </p:txEl>
                                          </p:spTgt>
                                        </p:tgtEl>
                                        <p:attrNameLst>
                                          <p:attrName>style.visibility</p:attrName>
                                        </p:attrNameLst>
                                      </p:cBhvr>
                                      <p:to>
                                        <p:strVal val="visible"/>
                                      </p:to>
                                    </p:set>
                                    <p:animEffect filter="fade" transition="in">
                                      <p:cBhvr>
                                        <p:cTn dur="500"/>
                                        <p:tgtEl>
                                          <p:spTgt spid="3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xEl>
                                              <p:pRg end="3" st="3"/>
                                            </p:txEl>
                                          </p:spTgt>
                                        </p:tgtEl>
                                        <p:attrNameLst>
                                          <p:attrName>style.visibility</p:attrName>
                                        </p:attrNameLst>
                                      </p:cBhvr>
                                      <p:to>
                                        <p:strVal val="visible"/>
                                      </p:to>
                                    </p:set>
                                    <p:animEffect filter="fade" transition="in">
                                      <p:cBhvr>
                                        <p:cTn dur="500"/>
                                        <p:tgtEl>
                                          <p:spTgt spid="3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xEl>
                                              <p:pRg end="4" st="4"/>
                                            </p:txEl>
                                          </p:spTgt>
                                        </p:tgtEl>
                                        <p:attrNameLst>
                                          <p:attrName>style.visibility</p:attrName>
                                        </p:attrNameLst>
                                      </p:cBhvr>
                                      <p:to>
                                        <p:strVal val="visible"/>
                                      </p:to>
                                    </p:set>
                                    <p:animEffect filter="fade" transition="in">
                                      <p:cBhvr>
                                        <p:cTn dur="500"/>
                                        <p:tgtEl>
                                          <p:spTgt spid="3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xEl>
                                              <p:pRg end="5" st="5"/>
                                            </p:txEl>
                                          </p:spTgt>
                                        </p:tgtEl>
                                        <p:attrNameLst>
                                          <p:attrName>style.visibility</p:attrName>
                                        </p:attrNameLst>
                                      </p:cBhvr>
                                      <p:to>
                                        <p:strVal val="visible"/>
                                      </p:to>
                                    </p:set>
                                    <p:animEffect filter="fade" transition="in">
                                      <p:cBhvr>
                                        <p:cTn dur="500"/>
                                        <p:tgtEl>
                                          <p:spTgt spid="38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0"/>
          <p:cNvSpPr txBox="1"/>
          <p:nvPr>
            <p:ph idx="1" type="body"/>
          </p:nvPr>
        </p:nvSpPr>
        <p:spPr>
          <a:xfrm>
            <a:off x="1981200" y="1124745"/>
            <a:ext cx="8229600" cy="4525963"/>
          </a:xfrm>
          <a:prstGeom prst="rect">
            <a:avLst/>
          </a:prstGeom>
          <a:noFill/>
          <a:ln>
            <a:noFill/>
          </a:ln>
        </p:spPr>
        <p:txBody>
          <a:bodyPr anchorCtr="0" anchor="t" bIns="45700" lIns="91425" spcFirstLastPara="1" rIns="91425" wrap="square" tIns="45700">
            <a:normAutofit lnSpcReduction="10000"/>
          </a:bodyPr>
          <a:lstStyle/>
          <a:p>
            <a:pPr indent="-139700" lvl="0" marL="342900" rtl="0" algn="just">
              <a:spcBef>
                <a:spcPts val="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Bus: tập hợp các đường kết nối dùng để vận chuyển thông tin giữa các thành phần. </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Độ rộng bus: là số đường dây của bus có thể truyền thông tin đồng thời. Tính bằng bit.</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Phân loại bus theo chức năng:</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Bus địa chỉ (Address Bus)</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Bus dữ liệu (Data Bus)</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Bus điều khiển (Control Bus)</a:t>
            </a:r>
            <a:endParaRPr/>
          </a:p>
          <a:p>
            <a:pPr indent="-139700" lvl="0" marL="342900" rtl="0" algn="just">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
        <p:nvSpPr>
          <p:cNvPr id="389" name="Google Shape;389;p30"/>
          <p:cNvSpPr/>
          <p:nvPr/>
        </p:nvSpPr>
        <p:spPr>
          <a:xfrm>
            <a:off x="3575720" y="620688"/>
            <a:ext cx="4608512"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BUS TRUYỀN THÔNG TIN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Chức năng: vận chuyển địa chỉ từ bên trong bộ vi xử lý đến bộ nhớ chính hay mạch nối ghép vào-ra để xác định ngăn nhớ hay cổng vào-ra cần trao đổi thông tin.</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Độ rộng bus địa chỉ: xác định dung lượng bộ nhớ cực đại của hệ thống. </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Nếu độ rộng bus địa chỉ là N bit (gồm N đường dây A</a:t>
            </a:r>
            <a:r>
              <a:rPr baseline="-25000" lang="en-US">
                <a:latin typeface="Times New Roman"/>
                <a:ea typeface="Times New Roman"/>
                <a:cs typeface="Times New Roman"/>
                <a:sym typeface="Times New Roman"/>
              </a:rPr>
              <a:t>N-1</a:t>
            </a:r>
            <a:r>
              <a:rPr lang="en-US">
                <a:latin typeface="Times New Roman"/>
                <a:ea typeface="Times New Roman"/>
                <a:cs typeface="Times New Roman"/>
                <a:sym typeface="Times New Roman"/>
              </a:rPr>
              <a:t>, A</a:t>
            </a:r>
            <a:r>
              <a:rPr baseline="-25000" lang="en-US">
                <a:latin typeface="Times New Roman"/>
                <a:ea typeface="Times New Roman"/>
                <a:cs typeface="Times New Roman"/>
                <a:sym typeface="Times New Roman"/>
              </a:rPr>
              <a:t>N-2</a:t>
            </a:r>
            <a:r>
              <a:rPr lang="en-US">
                <a:latin typeface="Times New Roman"/>
                <a:ea typeface="Times New Roman"/>
                <a:cs typeface="Times New Roman"/>
                <a:sym typeface="Times New Roman"/>
              </a:rPr>
              <a:t>, ... , A</a:t>
            </a:r>
            <a:r>
              <a:rPr baseline="-25000" lang="en-US">
                <a:latin typeface="Times New Roman"/>
                <a:ea typeface="Times New Roman"/>
                <a:cs typeface="Times New Roman"/>
                <a:sym typeface="Times New Roman"/>
              </a:rPr>
              <a:t>2</a:t>
            </a:r>
            <a:r>
              <a:rPr lang="en-US">
                <a:latin typeface="Times New Roman"/>
                <a:ea typeface="Times New Roman"/>
                <a:cs typeface="Times New Roman"/>
                <a:sym typeface="Times New Roman"/>
              </a:rPr>
              <a:t>, A</a:t>
            </a:r>
            <a:r>
              <a:rPr baseline="-25000" lang="en-US">
                <a:latin typeface="Times New Roman"/>
                <a:ea typeface="Times New Roman"/>
                <a:cs typeface="Times New Roman"/>
                <a:sym typeface="Times New Roman"/>
              </a:rPr>
              <a:t>1</a:t>
            </a:r>
            <a:r>
              <a:rPr lang="en-US">
                <a:latin typeface="Times New Roman"/>
                <a:ea typeface="Times New Roman"/>
                <a:cs typeface="Times New Roman"/>
                <a:sym typeface="Times New Roman"/>
              </a:rPr>
              <a:t>, A</a:t>
            </a:r>
            <a:r>
              <a:rPr baseline="-25000" lang="en-US">
                <a:latin typeface="Times New Roman"/>
                <a:ea typeface="Times New Roman"/>
                <a:cs typeface="Times New Roman"/>
                <a:sym typeface="Times New Roman"/>
              </a:rPr>
              <a:t>0</a:t>
            </a:r>
            <a:r>
              <a:rPr lang="en-US">
                <a:latin typeface="Times New Roman"/>
                <a:ea typeface="Times New Roman"/>
                <a:cs typeface="Times New Roman"/>
                <a:sym typeface="Times New Roman"/>
              </a:rPr>
              <a:t>) thì:</a:t>
            </a:r>
            <a:endParaRPr/>
          </a:p>
          <a:p>
            <a:pPr indent="-285750" lvl="1" marL="742950" rtl="0" algn="just">
              <a:spcBef>
                <a:spcPts val="518"/>
              </a:spcBef>
              <a:spcAft>
                <a:spcPts val="0"/>
              </a:spcAft>
              <a:buClr>
                <a:schemeClr val="dk1"/>
              </a:buClr>
              <a:buSzPct val="100000"/>
              <a:buFont typeface="Noto Sans Symbols"/>
              <a:buNone/>
            </a:pPr>
            <a:r>
              <a:rPr lang="en-US">
                <a:latin typeface="Times New Roman"/>
                <a:ea typeface="Times New Roman"/>
                <a:cs typeface="Times New Roman"/>
                <a:sym typeface="Times New Roman"/>
              </a:rPr>
              <a:t>	→ có khả năng vận chuyển được N bit địa chỉ đồng thời</a:t>
            </a:r>
            <a:endParaRPr/>
          </a:p>
          <a:p>
            <a:pPr indent="-285750" lvl="1" marL="742950" rtl="0" algn="just">
              <a:spcBef>
                <a:spcPts val="518"/>
              </a:spcBef>
              <a:spcAft>
                <a:spcPts val="0"/>
              </a:spcAft>
              <a:buClr>
                <a:schemeClr val="dk1"/>
              </a:buClr>
              <a:buSzPct val="100000"/>
              <a:buFont typeface="Noto Sans Symbols"/>
              <a:buNone/>
            </a:pPr>
            <a:r>
              <a:rPr lang="en-US">
                <a:latin typeface="Times New Roman"/>
                <a:ea typeface="Times New Roman"/>
                <a:cs typeface="Times New Roman"/>
                <a:sym typeface="Times New Roman"/>
              </a:rPr>
              <a:t>	→ có khả năng đánh địa chỉ tối đa được 2</a:t>
            </a:r>
            <a:r>
              <a:rPr baseline="30000" lang="en-US">
                <a:latin typeface="Times New Roman"/>
                <a:ea typeface="Times New Roman"/>
                <a:cs typeface="Times New Roman"/>
                <a:sym typeface="Times New Roman"/>
              </a:rPr>
              <a:t>N </a:t>
            </a:r>
            <a:r>
              <a:rPr lang="en-US">
                <a:latin typeface="Times New Roman"/>
                <a:ea typeface="Times New Roman"/>
                <a:cs typeface="Times New Roman"/>
                <a:sym typeface="Times New Roman"/>
              </a:rPr>
              <a:t>ngăn nhớ = 2</a:t>
            </a:r>
            <a:r>
              <a:rPr baseline="30000" lang="en-US">
                <a:latin typeface="Times New Roman"/>
                <a:ea typeface="Times New Roman"/>
                <a:cs typeface="Times New Roman"/>
                <a:sym typeface="Times New Roman"/>
              </a:rPr>
              <a:t>N</a:t>
            </a:r>
            <a:r>
              <a:rPr lang="en-US">
                <a:latin typeface="Times New Roman"/>
                <a:ea typeface="Times New Roman"/>
                <a:cs typeface="Times New Roman"/>
                <a:sym typeface="Times New Roman"/>
              </a:rPr>
              <a:t> Byte → gọi là không gian địa chỉ bộ nhớ. </a:t>
            </a:r>
            <a:endParaRPr/>
          </a:p>
        </p:txBody>
      </p:sp>
      <p:sp>
        <p:nvSpPr>
          <p:cNvPr id="395" name="Google Shape;395;p31"/>
          <p:cNvSpPr/>
          <p:nvPr/>
        </p:nvSpPr>
        <p:spPr>
          <a:xfrm>
            <a:off x="4439816" y="620688"/>
            <a:ext cx="2520280"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BUS ĐỊA CHỈ</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animEffect filter="fade" transition="in">
                                      <p:cBhvr>
                                        <p:cTn dur="500"/>
                                        <p:tgtEl>
                                          <p:spTgt spid="3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1" st="1"/>
                                            </p:txEl>
                                          </p:spTgt>
                                        </p:tgtEl>
                                        <p:attrNameLst>
                                          <p:attrName>style.visibility</p:attrName>
                                        </p:attrNameLst>
                                      </p:cBhvr>
                                      <p:to>
                                        <p:strVal val="visible"/>
                                      </p:to>
                                    </p:set>
                                    <p:animEffect filter="fade" transition="in">
                                      <p:cBhvr>
                                        <p:cTn dur="500"/>
                                        <p:tgtEl>
                                          <p:spTgt spid="3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2" st="2"/>
                                            </p:txEl>
                                          </p:spTgt>
                                        </p:tgtEl>
                                        <p:attrNameLst>
                                          <p:attrName>style.visibility</p:attrName>
                                        </p:attrNameLst>
                                      </p:cBhvr>
                                      <p:to>
                                        <p:strVal val="visible"/>
                                      </p:to>
                                    </p:set>
                                    <p:animEffect filter="fade" transition="in">
                                      <p:cBhvr>
                                        <p:cTn dur="500"/>
                                        <p:tgtEl>
                                          <p:spTgt spid="3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3" st="3"/>
                                            </p:txEl>
                                          </p:spTgt>
                                        </p:tgtEl>
                                        <p:attrNameLst>
                                          <p:attrName>style.visibility</p:attrName>
                                        </p:attrNameLst>
                                      </p:cBhvr>
                                      <p:to>
                                        <p:strVal val="visible"/>
                                      </p:to>
                                    </p:set>
                                    <p:animEffect filter="fade" transition="in">
                                      <p:cBhvr>
                                        <p:cTn dur="500"/>
                                        <p:tgtEl>
                                          <p:spTgt spid="3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4" st="4"/>
                                            </p:txEl>
                                          </p:spTgt>
                                        </p:tgtEl>
                                        <p:attrNameLst>
                                          <p:attrName>style.visibility</p:attrName>
                                        </p:attrNameLst>
                                      </p:cBhvr>
                                      <p:to>
                                        <p:strVal val="visible"/>
                                      </p:to>
                                    </p:set>
                                    <p:animEffect filter="fade" transition="in">
                                      <p:cBhvr>
                                        <p:cTn dur="500"/>
                                        <p:tgtEl>
                                          <p:spTgt spid="39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2"/>
          <p:cNvSpPr txBox="1"/>
          <p:nvPr>
            <p:ph idx="1" type="body"/>
          </p:nvPr>
        </p:nvSpPr>
        <p:spPr>
          <a:xfrm>
            <a:off x="1703512" y="1600200"/>
            <a:ext cx="8964488" cy="4876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Độ rộng bus địa chỉ của một số bộ vi xử lý của Intel:</a:t>
            </a:r>
            <a:endParaRPr/>
          </a:p>
          <a:p>
            <a:pPr indent="-285750" lvl="1" marL="742950" rtl="0" algn="just">
              <a:spcBef>
                <a:spcPts val="56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8088/8086 : N = 20 bit → KGĐCBN = 2</a:t>
            </a:r>
            <a:r>
              <a:rPr baseline="30000" lang="en-US">
                <a:latin typeface="Times New Roman"/>
                <a:ea typeface="Times New Roman"/>
                <a:cs typeface="Times New Roman"/>
                <a:sym typeface="Times New Roman"/>
              </a:rPr>
              <a:t>20</a:t>
            </a:r>
            <a:r>
              <a:rPr lang="en-US">
                <a:latin typeface="Times New Roman"/>
                <a:ea typeface="Times New Roman"/>
                <a:cs typeface="Times New Roman"/>
                <a:sym typeface="Times New Roman"/>
              </a:rPr>
              <a:t> Byte = 1 MB</a:t>
            </a:r>
            <a:endParaRPr/>
          </a:p>
          <a:p>
            <a:pPr indent="-285750" lvl="1" marL="742950" rtl="0" algn="just">
              <a:spcBef>
                <a:spcPts val="56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80286 : N = 24 bit → KGĐCBN = 2</a:t>
            </a:r>
            <a:r>
              <a:rPr baseline="30000" lang="en-US">
                <a:latin typeface="Times New Roman"/>
                <a:ea typeface="Times New Roman"/>
                <a:cs typeface="Times New Roman"/>
                <a:sym typeface="Times New Roman"/>
              </a:rPr>
              <a:t>24</a:t>
            </a:r>
            <a:r>
              <a:rPr lang="en-US">
                <a:latin typeface="Times New Roman"/>
                <a:ea typeface="Times New Roman"/>
                <a:cs typeface="Times New Roman"/>
                <a:sym typeface="Times New Roman"/>
              </a:rPr>
              <a:t> Byte = 16 MB</a:t>
            </a:r>
            <a:endParaRPr/>
          </a:p>
          <a:p>
            <a:pPr indent="-285750" lvl="1" marL="742950" rtl="0" algn="just">
              <a:spcBef>
                <a:spcPts val="56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80386, 80486, Pentium : N = 32 bit → KGĐCBN = 2</a:t>
            </a:r>
            <a:r>
              <a:rPr baseline="30000" lang="en-US">
                <a:latin typeface="Times New Roman"/>
                <a:ea typeface="Times New Roman"/>
                <a:cs typeface="Times New Roman"/>
                <a:sym typeface="Times New Roman"/>
              </a:rPr>
              <a:t>32</a:t>
            </a:r>
            <a:r>
              <a:rPr lang="en-US">
                <a:latin typeface="Times New Roman"/>
                <a:ea typeface="Times New Roman"/>
                <a:cs typeface="Times New Roman"/>
                <a:sym typeface="Times New Roman"/>
              </a:rPr>
              <a:t> Byte = 4 GB</a:t>
            </a:r>
            <a:endParaRPr/>
          </a:p>
          <a:p>
            <a:pPr indent="-285750" lvl="1" marL="742950" rtl="0" algn="just">
              <a:spcBef>
                <a:spcPts val="56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Pentium II, III, 4 : N = 36 bit → KGĐCBN = 2</a:t>
            </a:r>
            <a:r>
              <a:rPr baseline="30000" lang="en-US">
                <a:latin typeface="Times New Roman"/>
                <a:ea typeface="Times New Roman"/>
                <a:cs typeface="Times New Roman"/>
                <a:sym typeface="Times New Roman"/>
              </a:rPr>
              <a:t>36</a:t>
            </a:r>
            <a:r>
              <a:rPr lang="en-US">
                <a:latin typeface="Times New Roman"/>
                <a:ea typeface="Times New Roman"/>
                <a:cs typeface="Times New Roman"/>
                <a:sym typeface="Times New Roman"/>
              </a:rPr>
              <a:t> Byte = 64 GB </a:t>
            </a:r>
            <a:endParaRPr/>
          </a:p>
        </p:txBody>
      </p:sp>
      <p:sp>
        <p:nvSpPr>
          <p:cNvPr id="401" name="Google Shape;401;p32"/>
          <p:cNvSpPr/>
          <p:nvPr/>
        </p:nvSpPr>
        <p:spPr>
          <a:xfrm>
            <a:off x="2279576" y="620688"/>
            <a:ext cx="1512168"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VÍ DỤ</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Chức năng:</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Vận chuyển lệnh từ bộ nhớ chính đến bộ vi xử lý.</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Vận chuyển dữ liệu giữa các thành phần của hệ vi xử lý với nhau.</a:t>
            </a:r>
            <a:endParaRPr/>
          </a:p>
          <a:p>
            <a:pPr indent="-342900" lvl="0" marL="342900" rtl="0" algn="just">
              <a:spcBef>
                <a:spcPts val="640"/>
              </a:spcBef>
              <a:spcAft>
                <a:spcPts val="0"/>
              </a:spcAft>
              <a:buClr>
                <a:schemeClr val="dk1"/>
              </a:buClr>
              <a:buSzPts val="3200"/>
              <a:buChar char="•"/>
            </a:pPr>
            <a:r>
              <a:rPr lang="en-US">
                <a:latin typeface="Times New Roman"/>
                <a:ea typeface="Times New Roman"/>
                <a:cs typeface="Times New Roman"/>
                <a:sym typeface="Times New Roman"/>
              </a:rPr>
              <a:t>Độ rộng bus dữ liệu: Xác định số bit dữ liệu có thể được trao đổi đồng thời.</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Nếu độ rộng bus dữ liệu là M bit (gồm M đường dây</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D</a:t>
            </a:r>
            <a:r>
              <a:rPr baseline="-25000" lang="en-US" sz="2400">
                <a:latin typeface="Times New Roman"/>
                <a:ea typeface="Times New Roman"/>
                <a:cs typeface="Times New Roman"/>
                <a:sym typeface="Times New Roman"/>
              </a:rPr>
              <a:t>M-1</a:t>
            </a:r>
            <a:r>
              <a:rPr lang="en-US" sz="2400">
                <a:latin typeface="Times New Roman"/>
                <a:ea typeface="Times New Roman"/>
                <a:cs typeface="Times New Roman"/>
                <a:sym typeface="Times New Roman"/>
              </a:rPr>
              <a:t>, D</a:t>
            </a:r>
            <a:r>
              <a:rPr baseline="-25000" lang="en-US" sz="2400">
                <a:latin typeface="Times New Roman"/>
                <a:ea typeface="Times New Roman"/>
                <a:cs typeface="Times New Roman"/>
                <a:sym typeface="Times New Roman"/>
              </a:rPr>
              <a:t>M-2</a:t>
            </a:r>
            <a:r>
              <a:rPr lang="en-US" sz="2400">
                <a:latin typeface="Times New Roman"/>
                <a:ea typeface="Times New Roman"/>
                <a:cs typeface="Times New Roman"/>
                <a:sym typeface="Times New Roman"/>
              </a:rPr>
              <a:t>, ... , D</a:t>
            </a:r>
            <a:r>
              <a:rPr baseline="-25000" lang="en-US" sz="2400">
                <a:latin typeface="Times New Roman"/>
                <a:ea typeface="Times New Roman"/>
                <a:cs typeface="Times New Roman"/>
                <a:sym typeface="Times New Roman"/>
              </a:rPr>
              <a:t>2</a:t>
            </a:r>
            <a:r>
              <a:rPr lang="en-US" sz="2400">
                <a:latin typeface="Times New Roman"/>
                <a:ea typeface="Times New Roman"/>
                <a:cs typeface="Times New Roman"/>
                <a:sym typeface="Times New Roman"/>
              </a:rPr>
              <a:t>, D</a:t>
            </a:r>
            <a:r>
              <a:rPr baseline="-25000" lang="en-US" sz="2400">
                <a:latin typeface="Times New Roman"/>
                <a:ea typeface="Times New Roman"/>
                <a:cs typeface="Times New Roman"/>
                <a:sym typeface="Times New Roman"/>
              </a:rPr>
              <a:t>1</a:t>
            </a:r>
            <a:r>
              <a:rPr lang="en-US" sz="2400">
                <a:latin typeface="Times New Roman"/>
                <a:ea typeface="Times New Roman"/>
                <a:cs typeface="Times New Roman"/>
                <a:sym typeface="Times New Roman"/>
              </a:rPr>
              <a:t>, D</a:t>
            </a:r>
            <a:r>
              <a:rPr baseline="-25000" lang="en-US" sz="2400">
                <a:latin typeface="Times New Roman"/>
                <a:ea typeface="Times New Roman"/>
                <a:cs typeface="Times New Roman"/>
                <a:sym typeface="Times New Roman"/>
              </a:rPr>
              <a:t>0</a:t>
            </a:r>
            <a:r>
              <a:rPr lang="en-US" sz="2400">
                <a:latin typeface="Times New Roman"/>
                <a:ea typeface="Times New Roman"/>
                <a:cs typeface="Times New Roman"/>
                <a:sym typeface="Times New Roman"/>
              </a:rPr>
              <a:t>) thì nghĩa là đường bus dữ liệu đó có thể vận chuyển đồng thời được M bit dữ liệu.</a:t>
            </a:r>
            <a:endParaRPr/>
          </a:p>
          <a:p>
            <a:pPr indent="-285750" lvl="1" marL="74295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M thường là 8, 16, 32, 64 bit.</a:t>
            </a:r>
            <a:endParaRPr/>
          </a:p>
        </p:txBody>
      </p:sp>
      <p:sp>
        <p:nvSpPr>
          <p:cNvPr id="407" name="Google Shape;407;p33"/>
          <p:cNvSpPr/>
          <p:nvPr/>
        </p:nvSpPr>
        <p:spPr>
          <a:xfrm>
            <a:off x="2279576" y="620688"/>
            <a:ext cx="2520280"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BUS DỮ LIỆU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animEffect filter="fade" transition="in">
                                      <p:cBhvr>
                                        <p:cTn dur="500"/>
                                        <p:tgtEl>
                                          <p:spTgt spid="4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animEffect filter="fade" transition="in">
                                      <p:cBhvr>
                                        <p:cTn dur="500"/>
                                        <p:tgtEl>
                                          <p:spTgt spid="4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animEffect filter="fade" transition="in">
                                      <p:cBhvr>
                                        <p:cTn dur="500"/>
                                        <p:tgtEl>
                                          <p:spTgt spid="4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animEffect filter="fade" transition="in">
                                      <p:cBhvr>
                                        <p:cTn dur="500"/>
                                        <p:tgtEl>
                                          <p:spTgt spid="4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animEffect filter="fade" transition="in">
                                      <p:cBhvr>
                                        <p:cTn dur="500"/>
                                        <p:tgtEl>
                                          <p:spTgt spid="4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animEffect filter="fade" transition="in">
                                      <p:cBhvr>
                                        <p:cTn dur="500"/>
                                        <p:tgtEl>
                                          <p:spTgt spid="40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Độ rộng bus dữ liệu của một số bộ vi xử lý của Intel:</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8088 : M = 8 bit</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8086, 80286 : M = 16 bit</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80386, 80486 : M = 32 bit</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Các bộ xử lý Pentium : M = 64 bit</a:t>
            </a:r>
            <a:endParaRPr/>
          </a:p>
        </p:txBody>
      </p:sp>
      <p:sp>
        <p:nvSpPr>
          <p:cNvPr id="413" name="Google Shape;413;p3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(c) 1/2007 by DTB</a:t>
            </a:r>
            <a:endParaRPr/>
          </a:p>
        </p:txBody>
      </p:sp>
      <p:sp>
        <p:nvSpPr>
          <p:cNvPr id="414" name="Google Shape;414;p3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5" name="Google Shape;415;p34"/>
          <p:cNvSpPr/>
          <p:nvPr/>
        </p:nvSpPr>
        <p:spPr>
          <a:xfrm>
            <a:off x="2279576" y="620688"/>
            <a:ext cx="1512168"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VÍ DỤ</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Chức năng: vận chuyển các tín hiệu điều khiển</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Các loại tín hiệu điều khiển:</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Các tín hiệu điều khiển phát ra từ bộ vi xử lý để điều khiển bộ nhớ chính hay mạch nối ghép vào-ra.</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Các tín hiệu yêu cầu từ bộ nhớ chính hay mạch nối ghép vào-ra gửi đến bộ vi xử lý.</a:t>
            </a:r>
            <a:endParaRPr/>
          </a:p>
        </p:txBody>
      </p:sp>
      <p:sp>
        <p:nvSpPr>
          <p:cNvPr id="421" name="Google Shape;421;p3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(c) 1/2007 by DTB</a:t>
            </a:r>
            <a:endParaRPr/>
          </a:p>
        </p:txBody>
      </p:sp>
      <p:sp>
        <p:nvSpPr>
          <p:cNvPr id="422" name="Google Shape;422;p3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3" name="Google Shape;423;p35"/>
          <p:cNvSpPr/>
          <p:nvPr/>
        </p:nvSpPr>
        <p:spPr>
          <a:xfrm>
            <a:off x="2279576" y="620688"/>
            <a:ext cx="3384376" cy="612648"/>
          </a:xfrm>
          <a:prstGeom prst="flowChartAlternateProcess">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BUS ĐIỀU KHIỂN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0" st="0"/>
                                            </p:txEl>
                                          </p:spTgt>
                                        </p:tgtEl>
                                        <p:attrNameLst>
                                          <p:attrName>style.visibility</p:attrName>
                                        </p:attrNameLst>
                                      </p:cBhvr>
                                      <p:to>
                                        <p:strVal val="visible"/>
                                      </p:to>
                                    </p:set>
                                    <p:animEffect filter="fade" transition="in">
                                      <p:cBhvr>
                                        <p:cTn dur="500"/>
                                        <p:tgtEl>
                                          <p:spTgt spid="4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1" st="1"/>
                                            </p:txEl>
                                          </p:spTgt>
                                        </p:tgtEl>
                                        <p:attrNameLst>
                                          <p:attrName>style.visibility</p:attrName>
                                        </p:attrNameLst>
                                      </p:cBhvr>
                                      <p:to>
                                        <p:strVal val="visible"/>
                                      </p:to>
                                    </p:set>
                                    <p:animEffect filter="fade" transition="in">
                                      <p:cBhvr>
                                        <p:cTn dur="500"/>
                                        <p:tgtEl>
                                          <p:spTgt spid="4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2" st="2"/>
                                            </p:txEl>
                                          </p:spTgt>
                                        </p:tgtEl>
                                        <p:attrNameLst>
                                          <p:attrName>style.visibility</p:attrName>
                                        </p:attrNameLst>
                                      </p:cBhvr>
                                      <p:to>
                                        <p:strVal val="visible"/>
                                      </p:to>
                                    </p:set>
                                    <p:animEffect filter="fade" transition="in">
                                      <p:cBhvr>
                                        <p:cTn dur="500"/>
                                        <p:tgtEl>
                                          <p:spTgt spid="4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xEl>
                                              <p:pRg end="3" st="3"/>
                                            </p:txEl>
                                          </p:spTgt>
                                        </p:tgtEl>
                                        <p:attrNameLst>
                                          <p:attrName>style.visibility</p:attrName>
                                        </p:attrNameLst>
                                      </p:cBhvr>
                                      <p:to>
                                        <p:strVal val="visible"/>
                                      </p:to>
                                    </p:set>
                                    <p:animEffect filter="fade" transition="in">
                                      <p:cBhvr>
                                        <p:cTn dur="500"/>
                                        <p:tgtEl>
                                          <p:spTgt spid="42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6"/>
          <p:cNvSpPr txBox="1"/>
          <p:nvPr>
            <p:ph idx="1" type="body"/>
          </p:nvPr>
        </p:nvSpPr>
        <p:spPr>
          <a:xfrm>
            <a:off x="304800" y="1600200"/>
            <a:ext cx="10896600" cy="2209800"/>
          </a:xfrm>
          <a:prstGeom prst="rect">
            <a:avLst/>
          </a:prstGeom>
          <a:noFill/>
          <a:ln>
            <a:noFill/>
          </a:ln>
        </p:spPr>
        <p:txBody>
          <a:bodyPr anchorCtr="0" anchor="t" bIns="45700" lIns="91425" spcFirstLastPara="1" rIns="91425" wrap="square" tIns="45700">
            <a:noAutofit/>
          </a:bodyPr>
          <a:lstStyle/>
          <a:p>
            <a:pPr indent="-285750" lvl="1" marL="742950" rtl="0" algn="just">
              <a:spcBef>
                <a:spcPts val="0"/>
              </a:spcBef>
              <a:spcAft>
                <a:spcPts val="0"/>
              </a:spcAft>
              <a:buClr>
                <a:schemeClr val="dk1"/>
              </a:buClr>
              <a:buSzPts val="2800"/>
              <a:buFont typeface="Arial"/>
              <a:buChar char="•"/>
            </a:pPr>
            <a:r>
              <a:rPr lang="en-US">
                <a:latin typeface="Times New Roman"/>
                <a:ea typeface="Times New Roman"/>
                <a:cs typeface="Times New Roman"/>
                <a:sym typeface="Times New Roman"/>
              </a:rPr>
              <a:t>Phân tích chức năng nhiệm vụ của hệ vi xử lý cần thiết kế.</a:t>
            </a:r>
            <a:endParaRPr>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800"/>
              <a:buFont typeface="Arial"/>
              <a:buChar char="•"/>
            </a:pPr>
            <a:r>
              <a:rPr lang="en-US">
                <a:latin typeface="Times New Roman"/>
                <a:ea typeface="Times New Roman"/>
                <a:cs typeface="Times New Roman"/>
                <a:sym typeface="Times New Roman"/>
              </a:rPr>
              <a:t>Tổ chức phần cứng cho hệ vi xử lý cần thiết kế.</a:t>
            </a:r>
            <a:endParaRPr>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800"/>
              <a:buFont typeface="Arial"/>
              <a:buChar char="•"/>
            </a:pPr>
            <a:r>
              <a:rPr lang="en-US">
                <a:latin typeface="Times New Roman"/>
                <a:ea typeface="Times New Roman"/>
                <a:cs typeface="Times New Roman"/>
                <a:sym typeface="Times New Roman"/>
              </a:rPr>
              <a:t>Xây dựng phần mềm cho hệ vi xử lý cần thiết kế.</a:t>
            </a:r>
            <a:endParaRPr>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800"/>
              <a:buFont typeface="Arial"/>
              <a:buChar char="•"/>
            </a:pPr>
            <a:r>
              <a:rPr lang="en-US">
                <a:latin typeface="Times New Roman"/>
                <a:ea typeface="Times New Roman"/>
                <a:cs typeface="Times New Roman"/>
                <a:sym typeface="Times New Roman"/>
              </a:rPr>
              <a:t>Nạp chương trình cho hệ vi xử lý là hiệu chỉnh hệ thống</a:t>
            </a:r>
            <a:r>
              <a:rPr b="1" i="1"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114300" lvl="0" marL="342900" rtl="0" algn="l">
              <a:spcBef>
                <a:spcPts val="1200"/>
              </a:spcBef>
              <a:spcAft>
                <a:spcPts val="0"/>
              </a:spcAft>
              <a:buClr>
                <a:schemeClr val="dk1"/>
              </a:buClr>
              <a:buSzPts val="3600"/>
              <a:buNone/>
            </a:pPr>
            <a:r>
              <a:t/>
            </a:r>
            <a:endParaRPr sz="3600">
              <a:latin typeface="Times New Roman"/>
              <a:ea typeface="Times New Roman"/>
              <a:cs typeface="Times New Roman"/>
              <a:sym typeface="Times New Roman"/>
            </a:endParaRPr>
          </a:p>
        </p:txBody>
      </p:sp>
      <p:sp>
        <p:nvSpPr>
          <p:cNvPr id="429" name="Google Shape;429;p36"/>
          <p:cNvSpPr txBox="1"/>
          <p:nvPr>
            <p:ph type="title"/>
          </p:nvPr>
        </p:nvSpPr>
        <p:spPr>
          <a:xfrm>
            <a:off x="76200" y="117464"/>
            <a:ext cx="8229600" cy="720736"/>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1.3. Các bước thiết kế một hệ vi xử lý</a:t>
            </a:r>
            <a:endParaRPr b="1" sz="3200">
              <a:solidFill>
                <a:srgbClr val="366092"/>
              </a:solidFill>
              <a:latin typeface="Times New Roman"/>
              <a:ea typeface="Times New Roman"/>
              <a:cs typeface="Times New Roman"/>
              <a:sym typeface="Times New Roman"/>
            </a:endParaRPr>
          </a:p>
        </p:txBody>
      </p:sp>
      <p:sp>
        <p:nvSpPr>
          <p:cNvPr id="430" name="Google Shape;430;p3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1400">
                <a:solidFill>
                  <a:srgbClr val="FF0000"/>
                </a:solidFill>
              </a:rPr>
              <a:t>‹#›</a:t>
            </a:fld>
            <a:endParaRPr b="1" sz="14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0" st="0"/>
                                            </p:txEl>
                                          </p:spTgt>
                                        </p:tgtEl>
                                        <p:attrNameLst>
                                          <p:attrName>style.visibility</p:attrName>
                                        </p:attrNameLst>
                                      </p:cBhvr>
                                      <p:to>
                                        <p:strVal val="visible"/>
                                      </p:to>
                                    </p:set>
                                    <p:animEffect filter="fade" transition="in">
                                      <p:cBhvr>
                                        <p:cTn dur="1000"/>
                                        <p:tgtEl>
                                          <p:spTgt spid="4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1" st="1"/>
                                            </p:txEl>
                                          </p:spTgt>
                                        </p:tgtEl>
                                        <p:attrNameLst>
                                          <p:attrName>style.visibility</p:attrName>
                                        </p:attrNameLst>
                                      </p:cBhvr>
                                      <p:to>
                                        <p:strVal val="visible"/>
                                      </p:to>
                                    </p:set>
                                    <p:animEffect filter="fade" transition="in">
                                      <p:cBhvr>
                                        <p:cTn dur="1000"/>
                                        <p:tgtEl>
                                          <p:spTgt spid="4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2" st="2"/>
                                            </p:txEl>
                                          </p:spTgt>
                                        </p:tgtEl>
                                        <p:attrNameLst>
                                          <p:attrName>style.visibility</p:attrName>
                                        </p:attrNameLst>
                                      </p:cBhvr>
                                      <p:to>
                                        <p:strVal val="visible"/>
                                      </p:to>
                                    </p:set>
                                    <p:animEffect filter="fade" transition="in">
                                      <p:cBhvr>
                                        <p:cTn dur="1000"/>
                                        <p:tgtEl>
                                          <p:spTgt spid="4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3" st="3"/>
                                            </p:txEl>
                                          </p:spTgt>
                                        </p:tgtEl>
                                        <p:attrNameLst>
                                          <p:attrName>style.visibility</p:attrName>
                                        </p:attrNameLst>
                                      </p:cBhvr>
                                      <p:to>
                                        <p:strVal val="visible"/>
                                      </p:to>
                                    </p:set>
                                    <p:animEffect filter="fade" transition="in">
                                      <p:cBhvr>
                                        <p:cTn dur="1000"/>
                                        <p:tgtEl>
                                          <p:spTgt spid="4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4" st="4"/>
                                            </p:txEl>
                                          </p:spTgt>
                                        </p:tgtEl>
                                        <p:attrNameLst>
                                          <p:attrName>style.visibility</p:attrName>
                                        </p:attrNameLst>
                                      </p:cBhvr>
                                      <p:to>
                                        <p:strVal val="visible"/>
                                      </p:to>
                                    </p:set>
                                    <p:animEffect filter="fade" transition="in">
                                      <p:cBhvr>
                                        <p:cTn dur="1000"/>
                                        <p:tgtEl>
                                          <p:spTgt spid="42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7"/>
          <p:cNvSpPr txBox="1"/>
          <p:nvPr/>
        </p:nvSpPr>
        <p:spPr>
          <a:xfrm>
            <a:off x="1905000" y="2438400"/>
            <a:ext cx="5638800" cy="16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Chương 2. </a:t>
            </a:r>
            <a:endParaRPr/>
          </a:p>
          <a:p>
            <a:pPr indent="0" lvl="0" marL="0" marR="0" rtl="0" algn="ctr">
              <a:spcBef>
                <a:spcPts val="120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VI ĐIỀU KHIỂN 8051</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graphicFrame>
        <p:nvGraphicFramePr>
          <p:cNvPr id="443" name="Google Shape;443;p38"/>
          <p:cNvGraphicFramePr/>
          <p:nvPr/>
        </p:nvGraphicFramePr>
        <p:xfrm>
          <a:off x="304800" y="1752601"/>
          <a:ext cx="3000000" cy="3000000"/>
        </p:xfrm>
        <a:graphic>
          <a:graphicData uri="http://schemas.openxmlformats.org/drawingml/2006/table">
            <a:tbl>
              <a:tblPr>
                <a:noFill/>
                <a:tableStyleId>{A4A541D9-23D5-4180-BFA4-B58C0BD4C685}</a:tableStyleId>
              </a:tblPr>
              <a:tblGrid>
                <a:gridCol w="11201400"/>
              </a:tblGrid>
              <a:tr h="1205125">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sơ đồ và chức năng chân tín hiệu của VĐK 8051, từ đó có thể  ghép nối VĐK 8051 với các thành phần phần cứng bên ngoài. </a:t>
                      </a:r>
                      <a:endParaRPr/>
                    </a:p>
                  </a:txBody>
                  <a:tcPr marT="0" marB="0" marR="114300" marL="114300"/>
                </a:tc>
              </a:tr>
              <a:tr h="242675">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
        <p:nvSpPr>
          <p:cNvPr id="444" name="Google Shape;444;p38"/>
          <p:cNvSpPr txBox="1"/>
          <p:nvPr>
            <p:ph type="title"/>
          </p:nvPr>
        </p:nvSpPr>
        <p:spPr>
          <a:xfrm>
            <a:off x="304800" y="228600"/>
            <a:ext cx="8458200" cy="4873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MỤC TIÊU</a:t>
            </a:r>
            <a:endParaRPr/>
          </a:p>
        </p:txBody>
      </p:sp>
      <p:sp>
        <p:nvSpPr>
          <p:cNvPr id="445" name="Google Shape;445;p3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46" name="Google Shape;446;p38"/>
          <p:cNvGraphicFramePr/>
          <p:nvPr/>
        </p:nvGraphicFramePr>
        <p:xfrm>
          <a:off x="304800" y="3459481"/>
          <a:ext cx="3000000" cy="3000000"/>
        </p:xfrm>
        <a:graphic>
          <a:graphicData uri="http://schemas.openxmlformats.org/drawingml/2006/table">
            <a:tbl>
              <a:tblPr>
                <a:noFill/>
                <a:tableStyleId>{A4A541D9-23D5-4180-BFA4-B58C0BD4C685}</a:tableStyleId>
              </a:tblPr>
              <a:tblGrid>
                <a:gridCol w="11201400"/>
              </a:tblGrid>
              <a:tr h="1293650">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cấu trúc trúc bên trong, tập lệnh của VĐK 8051, từ đó có thể xây dựng chương trình bằng tập lệnh của 8051</a:t>
                      </a:r>
                      <a:endParaRPr/>
                    </a:p>
                  </a:txBody>
                  <a:tcPr marT="0" marB="0" marR="114300" marL="114300"/>
                </a:tc>
              </a:tr>
              <a:tr h="260500">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9"/>
          <p:cNvSpPr txBox="1"/>
          <p:nvPr>
            <p:ph idx="1" type="body"/>
          </p:nvPr>
        </p:nvSpPr>
        <p:spPr>
          <a:xfrm>
            <a:off x="1524000" y="1524000"/>
            <a:ext cx="8686800" cy="3733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2"/>
              </a:buClr>
              <a:buSzPts val="2800"/>
              <a:buNone/>
            </a:pPr>
            <a:r>
              <a:rPr b="1" lang="en-US" sz="2800">
                <a:solidFill>
                  <a:schemeClr val="dk2"/>
                </a:solidFill>
                <a:latin typeface="Times New Roman"/>
                <a:ea typeface="Times New Roman"/>
                <a:cs typeface="Times New Roman"/>
                <a:sym typeface="Times New Roman"/>
              </a:rPr>
              <a:t>2.1. Tổng quan về 8051</a:t>
            </a:r>
            <a:endParaRPr/>
          </a:p>
          <a:p>
            <a:pPr indent="0" lvl="0" marL="0" rtl="0" algn="l">
              <a:spcBef>
                <a:spcPts val="2400"/>
              </a:spcBef>
              <a:spcAft>
                <a:spcPts val="0"/>
              </a:spcAft>
              <a:buClr>
                <a:schemeClr val="dk2"/>
              </a:buClr>
              <a:buSzPts val="2800"/>
              <a:buNone/>
            </a:pPr>
            <a:r>
              <a:rPr b="1" lang="en-US" sz="2800">
                <a:solidFill>
                  <a:schemeClr val="dk2"/>
                </a:solidFill>
                <a:latin typeface="Times New Roman"/>
                <a:ea typeface="Times New Roman"/>
                <a:cs typeface="Times New Roman"/>
                <a:sym typeface="Times New Roman"/>
              </a:rPr>
              <a:t>2.2. Sơ đồ chân tín hiệu của 8051</a:t>
            </a:r>
            <a:endParaRPr/>
          </a:p>
          <a:p>
            <a:pPr indent="0" lvl="0" marL="0" rtl="0" algn="l">
              <a:spcBef>
                <a:spcPts val="2400"/>
              </a:spcBef>
              <a:spcAft>
                <a:spcPts val="0"/>
              </a:spcAft>
              <a:buClr>
                <a:schemeClr val="dk2"/>
              </a:buClr>
              <a:buSzPts val="2800"/>
              <a:buNone/>
            </a:pPr>
            <a:r>
              <a:rPr b="1" lang="en-US" sz="2800">
                <a:solidFill>
                  <a:schemeClr val="dk2"/>
                </a:solidFill>
                <a:latin typeface="Times New Roman"/>
                <a:ea typeface="Times New Roman"/>
                <a:cs typeface="Times New Roman"/>
                <a:sym typeface="Times New Roman"/>
              </a:rPr>
              <a:t>2.3. Tổ chức bộ nhớ của 8051</a:t>
            </a:r>
            <a:endParaRPr/>
          </a:p>
          <a:p>
            <a:pPr indent="0" lvl="0" marL="0" rtl="0" algn="l">
              <a:spcBef>
                <a:spcPts val="2400"/>
              </a:spcBef>
              <a:spcAft>
                <a:spcPts val="0"/>
              </a:spcAft>
              <a:buClr>
                <a:schemeClr val="dk2"/>
              </a:buClr>
              <a:buSzPts val="2800"/>
              <a:buNone/>
            </a:pPr>
            <a:r>
              <a:rPr b="1" lang="en-US" sz="2800">
                <a:solidFill>
                  <a:schemeClr val="dk2"/>
                </a:solidFill>
                <a:latin typeface="Times New Roman"/>
                <a:ea typeface="Times New Roman"/>
                <a:cs typeface="Times New Roman"/>
                <a:sym typeface="Times New Roman"/>
              </a:rPr>
              <a:t>2.4. Tập lệnh của 8051</a:t>
            </a:r>
            <a:endParaRPr/>
          </a:p>
          <a:p>
            <a:pPr indent="0" lvl="0" marL="0" rtl="0" algn="l">
              <a:spcBef>
                <a:spcPts val="2400"/>
              </a:spcBef>
              <a:spcAft>
                <a:spcPts val="0"/>
              </a:spcAft>
              <a:buClr>
                <a:schemeClr val="dk2"/>
              </a:buClr>
              <a:buSzPts val="2800"/>
              <a:buNone/>
            </a:pPr>
            <a:r>
              <a:rPr b="1" lang="en-US" sz="2800">
                <a:solidFill>
                  <a:schemeClr val="dk2"/>
                </a:solidFill>
                <a:latin typeface="Times New Roman"/>
                <a:ea typeface="Times New Roman"/>
                <a:cs typeface="Times New Roman"/>
                <a:sym typeface="Times New Roman"/>
              </a:rPr>
              <a:t>2.5. Khung chương trình hợp ngữ cho 8051 </a:t>
            </a:r>
            <a:endParaRPr/>
          </a:p>
        </p:txBody>
      </p:sp>
      <p:sp>
        <p:nvSpPr>
          <p:cNvPr id="452" name="Google Shape;452;p39"/>
          <p:cNvSpPr txBox="1"/>
          <p:nvPr>
            <p:ph type="title"/>
          </p:nvPr>
        </p:nvSpPr>
        <p:spPr>
          <a:xfrm>
            <a:off x="152400" y="228600"/>
            <a:ext cx="8686800" cy="6096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NỘI DUNG</a:t>
            </a:r>
            <a:endParaRPr b="1" sz="3200">
              <a:solidFill>
                <a:srgbClr val="C00000"/>
              </a:solidFill>
            </a:endParaRPr>
          </a:p>
        </p:txBody>
      </p:sp>
      <p:sp>
        <p:nvSpPr>
          <p:cNvPr id="453" name="Google Shape;453;p3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animEffect filter="fade" transition="in">
                                      <p:cBhvr>
                                        <p:cTn dur="1000"/>
                                        <p:tgtEl>
                                          <p:spTgt spid="4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1" st="1"/>
                                            </p:txEl>
                                          </p:spTgt>
                                        </p:tgtEl>
                                        <p:attrNameLst>
                                          <p:attrName>style.visibility</p:attrName>
                                        </p:attrNameLst>
                                      </p:cBhvr>
                                      <p:to>
                                        <p:strVal val="visible"/>
                                      </p:to>
                                    </p:set>
                                    <p:animEffect filter="fade" transition="in">
                                      <p:cBhvr>
                                        <p:cTn dur="1000"/>
                                        <p:tgtEl>
                                          <p:spTgt spid="4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2" st="2"/>
                                            </p:txEl>
                                          </p:spTgt>
                                        </p:tgtEl>
                                        <p:attrNameLst>
                                          <p:attrName>style.visibility</p:attrName>
                                        </p:attrNameLst>
                                      </p:cBhvr>
                                      <p:to>
                                        <p:strVal val="visible"/>
                                      </p:to>
                                    </p:set>
                                    <p:animEffect filter="fade" transition="in">
                                      <p:cBhvr>
                                        <p:cTn dur="1000"/>
                                        <p:tgtEl>
                                          <p:spTgt spid="4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3" st="3"/>
                                            </p:txEl>
                                          </p:spTgt>
                                        </p:tgtEl>
                                        <p:attrNameLst>
                                          <p:attrName>style.visibility</p:attrName>
                                        </p:attrNameLst>
                                      </p:cBhvr>
                                      <p:to>
                                        <p:strVal val="visible"/>
                                      </p:to>
                                    </p:set>
                                    <p:animEffect filter="fade" transition="in">
                                      <p:cBhvr>
                                        <p:cTn dur="1000"/>
                                        <p:tgtEl>
                                          <p:spTgt spid="4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4" st="4"/>
                                            </p:txEl>
                                          </p:spTgt>
                                        </p:tgtEl>
                                        <p:attrNameLst>
                                          <p:attrName>style.visibility</p:attrName>
                                        </p:attrNameLst>
                                      </p:cBhvr>
                                      <p:to>
                                        <p:strVal val="visible"/>
                                      </p:to>
                                    </p:set>
                                    <p:animEffect filter="fade" transition="in">
                                      <p:cBhvr>
                                        <p:cTn dur="1000"/>
                                        <p:tgtEl>
                                          <p:spTgt spid="45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0"/>
          <p:cNvSpPr txBox="1"/>
          <p:nvPr>
            <p:ph type="title"/>
          </p:nvPr>
        </p:nvSpPr>
        <p:spPr>
          <a:xfrm>
            <a:off x="152400" y="228600"/>
            <a:ext cx="5907505" cy="639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imes New Roman"/>
              <a:buNone/>
            </a:pPr>
            <a:r>
              <a:rPr b="1" lang="en-US" sz="3600">
                <a:solidFill>
                  <a:schemeClr val="dk2"/>
                </a:solidFill>
                <a:latin typeface="Times New Roman"/>
                <a:ea typeface="Times New Roman"/>
                <a:cs typeface="Times New Roman"/>
                <a:sym typeface="Times New Roman"/>
              </a:rPr>
              <a:t>2.1. Tổng quan về 8051</a:t>
            </a:r>
            <a:endParaRPr sz="3600"/>
          </a:p>
        </p:txBody>
      </p:sp>
      <p:sp>
        <p:nvSpPr>
          <p:cNvPr id="459" name="Google Shape;459;p40"/>
          <p:cNvSpPr txBox="1"/>
          <p:nvPr>
            <p:ph idx="1" type="body"/>
          </p:nvPr>
        </p:nvSpPr>
        <p:spPr>
          <a:xfrm>
            <a:off x="609600" y="1219200"/>
            <a:ext cx="8229600" cy="4924425"/>
          </a:xfrm>
          <a:prstGeom prst="rect">
            <a:avLst/>
          </a:prstGeom>
          <a:noFill/>
          <a:ln>
            <a:noFill/>
          </a:ln>
        </p:spPr>
        <p:txBody>
          <a:bodyPr anchorCtr="0" anchor="t" bIns="45700" lIns="91425" spcFirstLastPara="1" rIns="91425" wrap="square" tIns="45700">
            <a:spAutoFit/>
          </a:bodyPr>
          <a:lstStyle/>
          <a:p>
            <a:pPr indent="-3429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Đóng trong hộp 40 chân </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4KB ROM</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128 byte RAM</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4 cổng xuất nhập dữ liệu 8 bit</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1 cổng nối tiếp</a:t>
            </a:r>
            <a:endParaRPr sz="2400">
              <a:latin typeface="Times New Roman"/>
              <a:ea typeface="Times New Roman"/>
              <a:cs typeface="Times New Roman"/>
              <a:sym typeface="Times New Roman"/>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2 bộ Timer 16 bit</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6 nguồn ngắt (2 ngắt ngoài)</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 Không gian nhớ chương trình ngoài 64KB</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 Không gian nhớ dữ liệu ngoài 64KB</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210 vị trí được định địa chỉ bit</a:t>
            </a:r>
            <a:endParaRPr/>
          </a:p>
          <a:p>
            <a:pPr indent="-342900" lvl="0" marL="342900" rtl="0" algn="just">
              <a:spcBef>
                <a:spcPts val="600"/>
              </a:spcBef>
              <a:spcAft>
                <a:spcPts val="0"/>
              </a:spcAft>
              <a:buClr>
                <a:schemeClr val="dk1"/>
              </a:buClr>
              <a:buSzPts val="2400"/>
              <a:buChar char="•"/>
            </a:pPr>
            <a:r>
              <a:rPr lang="en-US" sz="2400">
                <a:latin typeface="Times New Roman"/>
                <a:ea typeface="Times New Roman"/>
                <a:cs typeface="Times New Roman"/>
                <a:sym typeface="Times New Roman"/>
              </a:rPr>
              <a:t>Tần số xung nhịp (11.0592 MHz, 12 MHz, 16MHz, 24 MHz)</a:t>
            </a:r>
            <a:endParaRPr/>
          </a:p>
        </p:txBody>
      </p:sp>
      <p:sp>
        <p:nvSpPr>
          <p:cNvPr id="460" name="Google Shape;460;p4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61" name="Google Shape;461;p40"/>
          <p:cNvPicPr preferRelativeResize="0"/>
          <p:nvPr/>
        </p:nvPicPr>
        <p:blipFill rotWithShape="1">
          <a:blip r:embed="rId3">
            <a:alphaModFix/>
          </a:blip>
          <a:srcRect b="0" l="0" r="0" t="0"/>
          <a:stretch/>
        </p:blipFill>
        <p:spPr>
          <a:xfrm>
            <a:off x="8001000" y="714375"/>
            <a:ext cx="3276600" cy="46958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1"/>
          <p:cNvSpPr txBox="1"/>
          <p:nvPr>
            <p:ph type="title"/>
          </p:nvPr>
        </p:nvSpPr>
        <p:spPr>
          <a:xfrm>
            <a:off x="114300" y="147782"/>
            <a:ext cx="87630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2.2. Sơ đồ, chức năng chân tín hiệu 8051 (1)</a:t>
            </a:r>
            <a:endParaRPr/>
          </a:p>
        </p:txBody>
      </p:sp>
      <p:sp>
        <p:nvSpPr>
          <p:cNvPr id="467" name="Google Shape;467;p41"/>
          <p:cNvSpPr txBox="1"/>
          <p:nvPr/>
        </p:nvSpPr>
        <p:spPr>
          <a:xfrm>
            <a:off x="4380932" y="6033867"/>
            <a:ext cx="3429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Times New Roman"/>
                <a:ea typeface="Times New Roman"/>
                <a:cs typeface="Times New Roman"/>
                <a:sym typeface="Times New Roman"/>
              </a:rPr>
              <a:t>Hình 2.1. Sơ đồ chân của 8051</a:t>
            </a:r>
            <a:endParaRPr/>
          </a:p>
        </p:txBody>
      </p:sp>
      <p:pic>
        <p:nvPicPr>
          <p:cNvPr id="468" name="Google Shape;468;p41"/>
          <p:cNvPicPr preferRelativeResize="0"/>
          <p:nvPr/>
        </p:nvPicPr>
        <p:blipFill rotWithShape="1">
          <a:blip r:embed="rId3">
            <a:alphaModFix/>
          </a:blip>
          <a:srcRect b="0" l="0" r="0" t="0"/>
          <a:stretch/>
        </p:blipFill>
        <p:spPr>
          <a:xfrm>
            <a:off x="4458629" y="800554"/>
            <a:ext cx="3469354" cy="4865734"/>
          </a:xfrm>
          <a:prstGeom prst="rect">
            <a:avLst/>
          </a:prstGeom>
          <a:noFill/>
          <a:ln>
            <a:noFill/>
          </a:ln>
        </p:spPr>
      </p:pic>
      <p:sp>
        <p:nvSpPr>
          <p:cNvPr id="469" name="Google Shape;469;p4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2"/>
          <p:cNvSpPr txBox="1"/>
          <p:nvPr>
            <p:ph idx="1" type="body"/>
          </p:nvPr>
        </p:nvSpPr>
        <p:spPr>
          <a:xfrm>
            <a:off x="304800" y="1359372"/>
            <a:ext cx="5791200" cy="435562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b="1" lang="en-US" sz="2800">
                <a:latin typeface="Times New Roman"/>
                <a:ea typeface="Times New Roman"/>
                <a:cs typeface="Times New Roman"/>
                <a:sym typeface="Times New Roman"/>
              </a:rPr>
              <a:t>Port 0 (từ chân 32 đến 39), </a:t>
            </a:r>
            <a:r>
              <a:rPr lang="en-US" sz="2800">
                <a:latin typeface="Times New Roman"/>
                <a:ea typeface="Times New Roman"/>
                <a:cs typeface="Times New Roman"/>
                <a:sym typeface="Times New Roman"/>
              </a:rPr>
              <a:t>có 02 chức năng:</a:t>
            </a:r>
            <a:endParaRPr/>
          </a:p>
          <a:p>
            <a:pPr indent="-285750" lvl="1" marL="568325"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 Trong các thiết kế tối thiểu, các chân này có chức năng xuất/nhập dữ liệu;</a:t>
            </a:r>
            <a:endParaRPr/>
          </a:p>
          <a:p>
            <a:pPr indent="-285750" lvl="1" marL="568325"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 Là byte địa chỉ thấp cho các thiết kế có bộ nhớ ngoài. </a:t>
            </a:r>
            <a:endParaRPr/>
          </a:p>
          <a:p>
            <a:pPr indent="457200" lvl="1"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Các chân của cổng P0 có dạng cực máng hở, nên phải được nối với một điện trở kéo 10KΩ bên ngoài, Hình 2.2</a:t>
            </a:r>
            <a:endParaRPr/>
          </a:p>
        </p:txBody>
      </p:sp>
      <p:sp>
        <p:nvSpPr>
          <p:cNvPr id="475" name="Google Shape;475;p42"/>
          <p:cNvSpPr txBox="1"/>
          <p:nvPr>
            <p:ph type="title"/>
          </p:nvPr>
        </p:nvSpPr>
        <p:spPr>
          <a:xfrm>
            <a:off x="152400" y="127129"/>
            <a:ext cx="87630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2.2. Sơ đồ, chức năng chân tín hiệu 8051 (2)</a:t>
            </a:r>
            <a:endParaRPr/>
          </a:p>
        </p:txBody>
      </p:sp>
      <p:grpSp>
        <p:nvGrpSpPr>
          <p:cNvPr id="476" name="Google Shape;476;p42"/>
          <p:cNvGrpSpPr/>
          <p:nvPr/>
        </p:nvGrpSpPr>
        <p:grpSpPr>
          <a:xfrm>
            <a:off x="6432100" y="943280"/>
            <a:ext cx="5531300" cy="4195443"/>
            <a:chOff x="5638800" y="2362200"/>
            <a:chExt cx="4966600" cy="3767123"/>
          </a:xfrm>
        </p:grpSpPr>
        <p:pic>
          <p:nvPicPr>
            <p:cNvPr id="477" name="Google Shape;477;p42"/>
            <p:cNvPicPr preferRelativeResize="0"/>
            <p:nvPr/>
          </p:nvPicPr>
          <p:blipFill rotWithShape="1">
            <a:blip r:embed="rId3">
              <a:alphaModFix/>
            </a:blip>
            <a:srcRect b="0" l="0" r="0" t="0"/>
            <a:stretch/>
          </p:blipFill>
          <p:spPr>
            <a:xfrm>
              <a:off x="5638800" y="2362200"/>
              <a:ext cx="4966600" cy="3373907"/>
            </a:xfrm>
            <a:prstGeom prst="rect">
              <a:avLst/>
            </a:prstGeom>
            <a:noFill/>
            <a:ln>
              <a:noFill/>
            </a:ln>
          </p:spPr>
        </p:pic>
        <p:sp>
          <p:nvSpPr>
            <p:cNvPr id="478" name="Google Shape;478;p42"/>
            <p:cNvSpPr txBox="1"/>
            <p:nvPr/>
          </p:nvSpPr>
          <p:spPr>
            <a:xfrm>
              <a:off x="5912300" y="5759991"/>
              <a:ext cx="44196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2.2. Mắc điện trở kéo cổng P0</a:t>
              </a:r>
              <a:endParaRPr/>
            </a:p>
          </p:txBody>
        </p:sp>
      </p:grpSp>
      <p:sp>
        <p:nvSpPr>
          <p:cNvPr id="479" name="Google Shape;479;p4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animEffect filter="fade" transition="in">
                                      <p:cBhvr>
                                        <p:cTn dur="1000"/>
                                        <p:tgtEl>
                                          <p:spTgt spid="4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animEffect filter="fade" transition="in">
                                      <p:cBhvr>
                                        <p:cTn dur="1000"/>
                                        <p:tgtEl>
                                          <p:spTgt spid="4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animEffect filter="fade" transition="in">
                                      <p:cBhvr>
                                        <p:cTn dur="1000"/>
                                        <p:tgtEl>
                                          <p:spTgt spid="4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3" st="3"/>
                                            </p:txEl>
                                          </p:spTgt>
                                        </p:tgtEl>
                                        <p:attrNameLst>
                                          <p:attrName>style.visibility</p:attrName>
                                        </p:attrNameLst>
                                      </p:cBhvr>
                                      <p:to>
                                        <p:strVal val="visible"/>
                                      </p:to>
                                    </p:set>
                                    <p:animEffect filter="fade" transition="in">
                                      <p:cBhvr>
                                        <p:cTn dur="1000"/>
                                        <p:tgtEl>
                                          <p:spTgt spid="47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3"/>
          <p:cNvSpPr txBox="1"/>
          <p:nvPr>
            <p:ph idx="1" type="body"/>
          </p:nvPr>
        </p:nvSpPr>
        <p:spPr>
          <a:xfrm>
            <a:off x="218364" y="1323833"/>
            <a:ext cx="7620000" cy="4343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b="1" lang="en-US" sz="2400">
                <a:latin typeface="Times New Roman"/>
                <a:ea typeface="Times New Roman"/>
                <a:cs typeface="Times New Roman"/>
                <a:sym typeface="Times New Roman"/>
              </a:rPr>
              <a:t>Port 1 (từ chân 1 đến 8)</a:t>
            </a:r>
            <a:r>
              <a:rPr lang="en-US" sz="2400">
                <a:latin typeface="Times New Roman"/>
                <a:ea typeface="Times New Roman"/>
                <a:cs typeface="Times New Roman"/>
                <a:sym typeface="Times New Roman"/>
              </a:rPr>
              <a:t>,</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có 01 chức năng duy nhất là trao đổi dữ liệu với thiết bị bên ngoài khi có yêu cầu</a:t>
            </a:r>
            <a:endParaRPr sz="2400">
              <a:latin typeface="Times New Roman"/>
              <a:ea typeface="Times New Roman"/>
              <a:cs typeface="Times New Roman"/>
              <a:sym typeface="Times New Roman"/>
            </a:endParaRPr>
          </a:p>
          <a:p>
            <a:pPr indent="-342900" lvl="0" marL="342900" rtl="0" algn="just">
              <a:spcBef>
                <a:spcPts val="1200"/>
              </a:spcBef>
              <a:spcAft>
                <a:spcPts val="0"/>
              </a:spcAft>
              <a:buClr>
                <a:schemeClr val="dk1"/>
              </a:buClr>
              <a:buSzPts val="2400"/>
              <a:buChar char="•"/>
            </a:pPr>
            <a:r>
              <a:rPr b="1" lang="en-US" sz="2400">
                <a:latin typeface="Times New Roman"/>
                <a:ea typeface="Times New Roman"/>
                <a:cs typeface="Times New Roman"/>
                <a:sym typeface="Times New Roman"/>
              </a:rPr>
              <a:t>Port 2 (từ chân 21 đến 28)</a:t>
            </a:r>
            <a:r>
              <a:rPr lang="en-US" sz="2400">
                <a:latin typeface="Times New Roman"/>
                <a:ea typeface="Times New Roman"/>
                <a:cs typeface="Times New Roman"/>
                <a:sym typeface="Times New Roman"/>
              </a:rPr>
              <a:t>,</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có 02 chức năng:</a:t>
            </a:r>
            <a:endParaRPr/>
          </a:p>
          <a:p>
            <a:pPr indent="-285750" lvl="1" marL="742950"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Trao đổi dữ liệu với thiết bị bên ngoài</a:t>
            </a:r>
            <a:endParaRPr sz="2400">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Là byte cao địa chỉ cho các thiết kế có bộ nhớ ngoài</a:t>
            </a:r>
            <a:endParaRPr sz="2400">
              <a:latin typeface="Times New Roman"/>
              <a:ea typeface="Times New Roman"/>
              <a:cs typeface="Times New Roman"/>
              <a:sym typeface="Times New Roman"/>
            </a:endParaRPr>
          </a:p>
          <a:p>
            <a:pPr indent="-342900" lvl="0" marL="342900" rtl="0" algn="just">
              <a:spcBef>
                <a:spcPts val="1200"/>
              </a:spcBef>
              <a:spcAft>
                <a:spcPts val="0"/>
              </a:spcAft>
              <a:buClr>
                <a:schemeClr val="dk1"/>
              </a:buClr>
              <a:buSzPts val="2400"/>
              <a:buChar char="•"/>
            </a:pPr>
            <a:r>
              <a:rPr b="1" lang="en-US" sz="2400">
                <a:latin typeface="Times New Roman"/>
                <a:ea typeface="Times New Roman"/>
                <a:cs typeface="Times New Roman"/>
                <a:sym typeface="Times New Roman"/>
              </a:rPr>
              <a:t>Port 3 (từ chân 10 đến 17), </a:t>
            </a:r>
            <a:r>
              <a:rPr lang="en-US" sz="2400">
                <a:latin typeface="Times New Roman"/>
                <a:ea typeface="Times New Roman"/>
                <a:cs typeface="Times New Roman"/>
                <a:sym typeface="Times New Roman"/>
              </a:rPr>
              <a:t>có 02 chức năng:</a:t>
            </a:r>
            <a:endParaRPr/>
          </a:p>
          <a:p>
            <a:pPr indent="-285750" lvl="1" marL="742950"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Trao đổi dữ liệu với thiết bị bên ngoài</a:t>
            </a:r>
            <a:endParaRPr sz="2400">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Khi không hoạt động trao đổi dữ liệu, mỗi chân của Port 3 thực hiện chức năng riêng (Bảng 2.1)</a:t>
            </a:r>
            <a:endParaRPr/>
          </a:p>
        </p:txBody>
      </p:sp>
      <p:sp>
        <p:nvSpPr>
          <p:cNvPr id="485" name="Google Shape;485;p43"/>
          <p:cNvSpPr txBox="1"/>
          <p:nvPr>
            <p:ph type="title"/>
          </p:nvPr>
        </p:nvSpPr>
        <p:spPr>
          <a:xfrm>
            <a:off x="228600" y="152400"/>
            <a:ext cx="87630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2.2. Sơ đồ, chức năng chân tín hiệu 8051 (3)</a:t>
            </a:r>
            <a:endParaRPr/>
          </a:p>
        </p:txBody>
      </p:sp>
      <p:pic>
        <p:nvPicPr>
          <p:cNvPr id="486" name="Google Shape;486;p43"/>
          <p:cNvPicPr preferRelativeResize="0"/>
          <p:nvPr/>
        </p:nvPicPr>
        <p:blipFill rotWithShape="1">
          <a:blip r:embed="rId3">
            <a:alphaModFix/>
          </a:blip>
          <a:srcRect b="0" l="0" r="0" t="0"/>
          <a:stretch/>
        </p:blipFill>
        <p:spPr>
          <a:xfrm>
            <a:off x="8382000" y="1219200"/>
            <a:ext cx="3422913" cy="4800600"/>
          </a:xfrm>
          <a:prstGeom prst="rect">
            <a:avLst/>
          </a:prstGeom>
          <a:noFill/>
          <a:ln>
            <a:noFill/>
          </a:ln>
        </p:spPr>
      </p:pic>
      <p:sp>
        <p:nvSpPr>
          <p:cNvPr id="487" name="Google Shape;487;p4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0" st="0"/>
                                            </p:txEl>
                                          </p:spTgt>
                                        </p:tgtEl>
                                        <p:attrNameLst>
                                          <p:attrName>style.visibility</p:attrName>
                                        </p:attrNameLst>
                                      </p:cBhvr>
                                      <p:to>
                                        <p:strVal val="visible"/>
                                      </p:to>
                                    </p:set>
                                    <p:animEffect filter="fade" transition="in">
                                      <p:cBhvr>
                                        <p:cTn dur="1000"/>
                                        <p:tgtEl>
                                          <p:spTgt spid="4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1" st="1"/>
                                            </p:txEl>
                                          </p:spTgt>
                                        </p:tgtEl>
                                        <p:attrNameLst>
                                          <p:attrName>style.visibility</p:attrName>
                                        </p:attrNameLst>
                                      </p:cBhvr>
                                      <p:to>
                                        <p:strVal val="visible"/>
                                      </p:to>
                                    </p:set>
                                    <p:animEffect filter="fade" transition="in">
                                      <p:cBhvr>
                                        <p:cTn dur="1000"/>
                                        <p:tgtEl>
                                          <p:spTgt spid="4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2" st="2"/>
                                            </p:txEl>
                                          </p:spTgt>
                                        </p:tgtEl>
                                        <p:attrNameLst>
                                          <p:attrName>style.visibility</p:attrName>
                                        </p:attrNameLst>
                                      </p:cBhvr>
                                      <p:to>
                                        <p:strVal val="visible"/>
                                      </p:to>
                                    </p:set>
                                    <p:animEffect filter="fade" transition="in">
                                      <p:cBhvr>
                                        <p:cTn dur="1000"/>
                                        <p:tgtEl>
                                          <p:spTgt spid="4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3" st="3"/>
                                            </p:txEl>
                                          </p:spTgt>
                                        </p:tgtEl>
                                        <p:attrNameLst>
                                          <p:attrName>style.visibility</p:attrName>
                                        </p:attrNameLst>
                                      </p:cBhvr>
                                      <p:to>
                                        <p:strVal val="visible"/>
                                      </p:to>
                                    </p:set>
                                    <p:animEffect filter="fade" transition="in">
                                      <p:cBhvr>
                                        <p:cTn dur="1000"/>
                                        <p:tgtEl>
                                          <p:spTgt spid="4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4" st="4"/>
                                            </p:txEl>
                                          </p:spTgt>
                                        </p:tgtEl>
                                        <p:attrNameLst>
                                          <p:attrName>style.visibility</p:attrName>
                                        </p:attrNameLst>
                                      </p:cBhvr>
                                      <p:to>
                                        <p:strVal val="visible"/>
                                      </p:to>
                                    </p:set>
                                    <p:animEffect filter="fade" transition="in">
                                      <p:cBhvr>
                                        <p:cTn dur="1000"/>
                                        <p:tgtEl>
                                          <p:spTgt spid="4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5" st="5"/>
                                            </p:txEl>
                                          </p:spTgt>
                                        </p:tgtEl>
                                        <p:attrNameLst>
                                          <p:attrName>style.visibility</p:attrName>
                                        </p:attrNameLst>
                                      </p:cBhvr>
                                      <p:to>
                                        <p:strVal val="visible"/>
                                      </p:to>
                                    </p:set>
                                    <p:animEffect filter="fade" transition="in">
                                      <p:cBhvr>
                                        <p:cTn dur="1000"/>
                                        <p:tgtEl>
                                          <p:spTgt spid="4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xEl>
                                              <p:pRg end="6" st="6"/>
                                            </p:txEl>
                                          </p:spTgt>
                                        </p:tgtEl>
                                        <p:attrNameLst>
                                          <p:attrName>style.visibility</p:attrName>
                                        </p:attrNameLst>
                                      </p:cBhvr>
                                      <p:to>
                                        <p:strVal val="visible"/>
                                      </p:to>
                                    </p:set>
                                    <p:animEffect filter="fade" transition="in">
                                      <p:cBhvr>
                                        <p:cTn dur="1000"/>
                                        <p:tgtEl>
                                          <p:spTgt spid="48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4"/>
          <p:cNvSpPr txBox="1"/>
          <p:nvPr>
            <p:ph idx="1" type="body"/>
          </p:nvPr>
        </p:nvSpPr>
        <p:spPr>
          <a:xfrm>
            <a:off x="285468" y="990599"/>
            <a:ext cx="7010400" cy="533401"/>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400"/>
              <a:buNone/>
            </a:pPr>
            <a:r>
              <a:rPr i="1" lang="en-US" sz="2400">
                <a:latin typeface="Times New Roman"/>
                <a:ea typeface="Times New Roman"/>
                <a:cs typeface="Times New Roman"/>
                <a:sym typeface="Times New Roman"/>
              </a:rPr>
              <a:t>Bảng 2.1 Chức năng của các chân Port 3</a:t>
            </a:r>
            <a:endParaRPr/>
          </a:p>
          <a:p>
            <a:pPr indent="0" lvl="0" marL="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493" name="Google Shape;493;p44"/>
          <p:cNvSpPr txBox="1"/>
          <p:nvPr>
            <p:ph type="title"/>
          </p:nvPr>
        </p:nvSpPr>
        <p:spPr>
          <a:xfrm>
            <a:off x="152400" y="152400"/>
            <a:ext cx="87630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2.2. Sơ đồ, chức năng chân tín hiệu 8051 (4)</a:t>
            </a:r>
            <a:endParaRPr/>
          </a:p>
        </p:txBody>
      </p:sp>
      <p:graphicFrame>
        <p:nvGraphicFramePr>
          <p:cNvPr id="494" name="Google Shape;494;p44"/>
          <p:cNvGraphicFramePr/>
          <p:nvPr/>
        </p:nvGraphicFramePr>
        <p:xfrm>
          <a:off x="1555467" y="1665635"/>
          <a:ext cx="3000000" cy="3000000"/>
        </p:xfrm>
        <a:graphic>
          <a:graphicData uri="http://schemas.openxmlformats.org/drawingml/2006/table">
            <a:tbl>
              <a:tblPr bandRow="1" firstRow="1">
                <a:noFill/>
                <a:tableStyleId>{A4A541D9-23D5-4180-BFA4-B58C0BD4C685}</a:tableStyleId>
              </a:tblPr>
              <a:tblGrid>
                <a:gridCol w="694875"/>
                <a:gridCol w="787700"/>
                <a:gridCol w="1042975"/>
                <a:gridCol w="4656575"/>
              </a:tblGrid>
              <a:tr h="762000">
                <a:tc>
                  <a:txBody>
                    <a:bodyPr/>
                    <a:lstStyle/>
                    <a:p>
                      <a:pPr indent="0" lvl="0" marL="0" marR="0" rtl="0" algn="ctr">
                        <a:spcBef>
                          <a:spcPts val="0"/>
                        </a:spcBef>
                        <a:spcAft>
                          <a:spcPts val="0"/>
                        </a:spcAft>
                        <a:buNone/>
                      </a:pPr>
                      <a:r>
                        <a:rPr lang="en-US" sz="2200" u="none" cap="none" strike="noStrike">
                          <a:latin typeface="Times New Roman"/>
                          <a:ea typeface="Times New Roman"/>
                          <a:cs typeface="Times New Roman"/>
                          <a:sym typeface="Times New Roman"/>
                        </a:rPr>
                        <a:t>Bit</a:t>
                      </a:r>
                      <a:endParaRPr/>
                    </a:p>
                  </a:txBody>
                  <a:tcPr marT="45725" marB="45725" marR="91450" marL="91450"/>
                </a:tc>
                <a:tc>
                  <a:txBody>
                    <a:bodyPr/>
                    <a:lstStyle/>
                    <a:p>
                      <a:pPr indent="0" lvl="0" marL="0" marR="0" rtl="0" algn="ctr">
                        <a:spcBef>
                          <a:spcPts val="0"/>
                        </a:spcBef>
                        <a:spcAft>
                          <a:spcPts val="0"/>
                        </a:spcAft>
                        <a:buNone/>
                      </a:pPr>
                      <a:r>
                        <a:rPr lang="en-US" sz="2200" u="none" cap="none" strike="noStrike">
                          <a:latin typeface="Times New Roman"/>
                          <a:ea typeface="Times New Roman"/>
                          <a:cs typeface="Times New Roman"/>
                          <a:sym typeface="Times New Roman"/>
                        </a:rPr>
                        <a:t>Tên</a:t>
                      </a:r>
                      <a:endParaRPr sz="22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200" u="none" cap="none" strike="noStrike">
                          <a:latin typeface="Times New Roman"/>
                          <a:ea typeface="Times New Roman"/>
                          <a:cs typeface="Times New Roman"/>
                          <a:sym typeface="Times New Roman"/>
                        </a:rPr>
                        <a:t>Địa chỉ bit</a:t>
                      </a:r>
                      <a:endParaRPr sz="22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200" u="none" cap="none" strike="noStrike">
                          <a:latin typeface="Times New Roman"/>
                          <a:ea typeface="Times New Roman"/>
                          <a:cs typeface="Times New Roman"/>
                          <a:sym typeface="Times New Roman"/>
                        </a:rPr>
                        <a:t>Chức năng</a:t>
                      </a:r>
                      <a:endParaRPr sz="2200" u="none" cap="none" strike="noStrike">
                        <a:latin typeface="Times New Roman"/>
                        <a:ea typeface="Times New Roman"/>
                        <a:cs typeface="Times New Roman"/>
                        <a:sym typeface="Times New Roman"/>
                      </a:endParaRPr>
                    </a:p>
                  </a:txBody>
                  <a:tcPr marT="45725" marB="45725" marR="91450" marL="91450"/>
                </a:tc>
              </a:tr>
              <a:tr h="490875">
                <a:tc>
                  <a:txBody>
                    <a:bodyPr/>
                    <a:lstStyle/>
                    <a:p>
                      <a:pPr indent="0" lvl="0" marL="0" marR="0" rtl="0" algn="l">
                        <a:spcBef>
                          <a:spcPts val="0"/>
                        </a:spcBef>
                        <a:spcAft>
                          <a:spcPts val="0"/>
                        </a:spcAft>
                        <a:buNone/>
                      </a:pPr>
                      <a:r>
                        <a:rPr lang="en-US" sz="2200" u="none" cap="none" strike="noStrike">
                          <a:latin typeface="Times New Roman"/>
                          <a:ea typeface="Times New Roman"/>
                          <a:cs typeface="Times New Roman"/>
                          <a:sym typeface="Times New Roman"/>
                        </a:rPr>
                        <a:t>P3.0</a:t>
                      </a:r>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RxD</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B0H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Chân</a:t>
                      </a:r>
                      <a:r>
                        <a:rPr lang="en-US" sz="2200">
                          <a:latin typeface="Times New Roman"/>
                          <a:ea typeface="Times New Roman"/>
                          <a:cs typeface="Times New Roman"/>
                          <a:sym typeface="Times New Roman"/>
                        </a:rPr>
                        <a:t> nhận dl nối tiếp</a:t>
                      </a:r>
                      <a:endParaRPr sz="2200">
                        <a:latin typeface="Times New Roman"/>
                        <a:ea typeface="Times New Roman"/>
                        <a:cs typeface="Times New Roman"/>
                        <a:sym typeface="Times New Roman"/>
                      </a:endParaRPr>
                    </a:p>
                  </a:txBody>
                  <a:tcPr marT="45725" marB="45725" marR="91450" marL="91450"/>
                </a:tc>
              </a:tr>
              <a:tr h="490875">
                <a:tc>
                  <a:txBody>
                    <a:bodyPr/>
                    <a:lstStyle/>
                    <a:p>
                      <a:pPr indent="0" lvl="0" marL="0" marR="0" rtl="0" algn="l">
                        <a:lnSpc>
                          <a:spcPct val="100000"/>
                        </a:lnSpc>
                        <a:spcBef>
                          <a:spcPts val="0"/>
                        </a:spcBef>
                        <a:spcAft>
                          <a:spcPts val="0"/>
                        </a:spcAft>
                        <a:buClr>
                          <a:schemeClr val="dk1"/>
                        </a:buClr>
                        <a:buSzPts val="2200"/>
                        <a:buFont typeface="Times New Roman"/>
                        <a:buNone/>
                      </a:pPr>
                      <a:r>
                        <a:rPr lang="en-US" sz="2200">
                          <a:latin typeface="Times New Roman"/>
                          <a:ea typeface="Times New Roman"/>
                          <a:cs typeface="Times New Roman"/>
                          <a:sym typeface="Times New Roman"/>
                        </a:rPr>
                        <a:t>P3.1</a:t>
                      </a:r>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TxD</a:t>
                      </a:r>
                      <a:endParaRPr sz="2200">
                        <a:latin typeface="Times New Roman"/>
                        <a:ea typeface="Times New Roman"/>
                        <a:cs typeface="Times New Roman"/>
                        <a:sym typeface="Times New Roman"/>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B1H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Chân</a:t>
                      </a:r>
                      <a:r>
                        <a:rPr lang="en-US" sz="2200">
                          <a:latin typeface="Times New Roman"/>
                          <a:ea typeface="Times New Roman"/>
                          <a:cs typeface="Times New Roman"/>
                          <a:sym typeface="Times New Roman"/>
                        </a:rPr>
                        <a:t> phát dl nối tiếp</a:t>
                      </a:r>
                      <a:endParaRPr sz="2200">
                        <a:latin typeface="Times New Roman"/>
                        <a:ea typeface="Times New Roman"/>
                        <a:cs typeface="Times New Roman"/>
                        <a:sym typeface="Times New Roman"/>
                      </a:endParaRPr>
                    </a:p>
                  </a:txBody>
                  <a:tcPr marT="45725" marB="45725" marR="91450" marL="91450"/>
                </a:tc>
              </a:tr>
              <a:tr h="491700">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P3.2</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B2H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Ngõ</a:t>
                      </a:r>
                      <a:r>
                        <a:rPr lang="en-US" sz="2200">
                          <a:latin typeface="Times New Roman"/>
                          <a:ea typeface="Times New Roman"/>
                          <a:cs typeface="Times New Roman"/>
                          <a:sym typeface="Times New Roman"/>
                        </a:rPr>
                        <a:t> vào ngắt ngoài 0</a:t>
                      </a:r>
                      <a:endParaRPr sz="2200">
                        <a:latin typeface="Times New Roman"/>
                        <a:ea typeface="Times New Roman"/>
                        <a:cs typeface="Times New Roman"/>
                        <a:sym typeface="Times New Roman"/>
                      </a:endParaRPr>
                    </a:p>
                  </a:txBody>
                  <a:tcPr marT="45725" marB="45725" marR="91450" marL="91450"/>
                </a:tc>
              </a:tr>
              <a:tr h="491700">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P3.3</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B3H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Ngõ</a:t>
                      </a:r>
                      <a:r>
                        <a:rPr lang="en-US" sz="2200">
                          <a:latin typeface="Times New Roman"/>
                          <a:ea typeface="Times New Roman"/>
                          <a:cs typeface="Times New Roman"/>
                          <a:sym typeface="Times New Roman"/>
                        </a:rPr>
                        <a:t> vào ngắt ngoài 1</a:t>
                      </a:r>
                      <a:endParaRPr sz="2200">
                        <a:latin typeface="Times New Roman"/>
                        <a:ea typeface="Times New Roman"/>
                        <a:cs typeface="Times New Roman"/>
                        <a:sym typeface="Times New Roman"/>
                      </a:endParaRPr>
                    </a:p>
                  </a:txBody>
                  <a:tcPr marT="45725" marB="45725" marR="91450" marL="91450"/>
                </a:tc>
              </a:tr>
              <a:tr h="490875">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P3.4</a:t>
                      </a:r>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T0</a:t>
                      </a:r>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B4H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Ngõ</a:t>
                      </a:r>
                      <a:r>
                        <a:rPr lang="en-US" sz="2200">
                          <a:latin typeface="Times New Roman"/>
                          <a:ea typeface="Times New Roman"/>
                          <a:cs typeface="Times New Roman"/>
                          <a:sym typeface="Times New Roman"/>
                        </a:rPr>
                        <a:t> vào của bộ định thời/đếm 0</a:t>
                      </a:r>
                      <a:endParaRPr sz="2200">
                        <a:latin typeface="Times New Roman"/>
                        <a:ea typeface="Times New Roman"/>
                        <a:cs typeface="Times New Roman"/>
                        <a:sym typeface="Times New Roman"/>
                      </a:endParaRPr>
                    </a:p>
                  </a:txBody>
                  <a:tcPr marT="45725" marB="45725" marR="91450" marL="91450"/>
                </a:tc>
              </a:tr>
              <a:tr h="490875">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P3.5</a:t>
                      </a:r>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T1</a:t>
                      </a:r>
                      <a:endParaRPr/>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B5H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Ngõ</a:t>
                      </a:r>
                      <a:r>
                        <a:rPr lang="en-US" sz="2200">
                          <a:latin typeface="Times New Roman"/>
                          <a:ea typeface="Times New Roman"/>
                          <a:cs typeface="Times New Roman"/>
                          <a:sym typeface="Times New Roman"/>
                        </a:rPr>
                        <a:t> vào của bộ định thời/đếm 1</a:t>
                      </a:r>
                      <a:endParaRPr sz="2200">
                        <a:latin typeface="Times New Roman"/>
                        <a:ea typeface="Times New Roman"/>
                        <a:cs typeface="Times New Roman"/>
                        <a:sym typeface="Times New Roman"/>
                      </a:endParaRPr>
                    </a:p>
                  </a:txBody>
                  <a:tcPr marT="45725" marB="45725" marR="91450" marL="91450"/>
                </a:tc>
              </a:tr>
              <a:tr h="490875">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P3.6</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B6H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Điều</a:t>
                      </a:r>
                      <a:r>
                        <a:rPr lang="en-US" sz="2200">
                          <a:latin typeface="Times New Roman"/>
                          <a:ea typeface="Times New Roman"/>
                          <a:cs typeface="Times New Roman"/>
                          <a:sym typeface="Times New Roman"/>
                        </a:rPr>
                        <a:t> khiển ghi bộ nhớ dl ngoài</a:t>
                      </a:r>
                      <a:endParaRPr sz="2200">
                        <a:latin typeface="Times New Roman"/>
                        <a:ea typeface="Times New Roman"/>
                        <a:cs typeface="Times New Roman"/>
                        <a:sym typeface="Times New Roman"/>
                      </a:endParaRPr>
                    </a:p>
                  </a:txBody>
                  <a:tcPr marT="45725" marB="45725" marR="91450" marL="91450"/>
                </a:tc>
              </a:tr>
              <a:tr h="490875">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P3.7</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B7H</a:t>
                      </a:r>
                      <a:endParaRPr/>
                    </a:p>
                  </a:txBody>
                  <a:tcPr marT="45725" marB="45725" marR="91450" marL="91450"/>
                </a:tc>
                <a:tc>
                  <a:txBody>
                    <a:bodyPr/>
                    <a:lstStyle/>
                    <a:p>
                      <a:pPr indent="0" lvl="0" marL="0" marR="0" rtl="0" algn="l">
                        <a:spcBef>
                          <a:spcPts val="0"/>
                        </a:spcBef>
                        <a:spcAft>
                          <a:spcPts val="0"/>
                        </a:spcAft>
                        <a:buNone/>
                      </a:pPr>
                      <a:r>
                        <a:rPr lang="en-US" sz="2200">
                          <a:latin typeface="Times New Roman"/>
                          <a:ea typeface="Times New Roman"/>
                          <a:cs typeface="Times New Roman"/>
                          <a:sym typeface="Times New Roman"/>
                        </a:rPr>
                        <a:t>Điều</a:t>
                      </a:r>
                      <a:r>
                        <a:rPr lang="en-US" sz="2200">
                          <a:latin typeface="Times New Roman"/>
                          <a:ea typeface="Times New Roman"/>
                          <a:cs typeface="Times New Roman"/>
                          <a:sym typeface="Times New Roman"/>
                        </a:rPr>
                        <a:t> khiển đọc bộ nhớ dữ liệu ngoài</a:t>
                      </a:r>
                      <a:endParaRPr sz="2200">
                        <a:latin typeface="Times New Roman"/>
                        <a:ea typeface="Times New Roman"/>
                        <a:cs typeface="Times New Roman"/>
                        <a:sym typeface="Times New Roman"/>
                      </a:endParaRPr>
                    </a:p>
                  </a:txBody>
                  <a:tcPr marT="45725" marB="45725" marR="91450" marL="91450"/>
                </a:tc>
              </a:tr>
            </a:tbl>
          </a:graphicData>
        </a:graphic>
      </p:graphicFrame>
      <p:sp>
        <p:nvSpPr>
          <p:cNvPr id="495" name="Google Shape;495;p4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5"/>
          <p:cNvSpPr txBox="1"/>
          <p:nvPr>
            <p:ph idx="1" type="body"/>
          </p:nvPr>
        </p:nvSpPr>
        <p:spPr>
          <a:xfrm>
            <a:off x="152400" y="1371600"/>
            <a:ext cx="7620000" cy="4648200"/>
          </a:xfrm>
          <a:prstGeom prst="rect">
            <a:avLst/>
          </a:prstGeom>
          <a:blipFill rotWithShape="1">
            <a:blip r:embed="rId3">
              <a:alphaModFix/>
            </a:blip>
            <a:stretch>
              <a:fillRect b="0" l="-1040" r="-1200" t="-917"/>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 </a:t>
            </a:r>
            <a:endParaRPr/>
          </a:p>
        </p:txBody>
      </p:sp>
      <p:sp>
        <p:nvSpPr>
          <p:cNvPr id="501" name="Google Shape;501;p45"/>
          <p:cNvSpPr txBox="1"/>
          <p:nvPr>
            <p:ph type="title"/>
          </p:nvPr>
        </p:nvSpPr>
        <p:spPr>
          <a:xfrm>
            <a:off x="152400" y="152400"/>
            <a:ext cx="87630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66092"/>
              </a:buClr>
              <a:buSzPts val="3200"/>
              <a:buFont typeface="Times New Roman"/>
              <a:buNone/>
            </a:pPr>
            <a:r>
              <a:rPr b="1" lang="en-US" sz="3200">
                <a:solidFill>
                  <a:srgbClr val="366092"/>
                </a:solidFill>
                <a:latin typeface="Times New Roman"/>
                <a:ea typeface="Times New Roman"/>
                <a:cs typeface="Times New Roman"/>
                <a:sym typeface="Times New Roman"/>
              </a:rPr>
              <a:t>2.2. Sơ đồ, chức năng chân tín hiệu 8051 (5)</a:t>
            </a:r>
            <a:endParaRPr/>
          </a:p>
        </p:txBody>
      </p:sp>
      <p:pic>
        <p:nvPicPr>
          <p:cNvPr id="502" name="Google Shape;502;p45"/>
          <p:cNvPicPr preferRelativeResize="0"/>
          <p:nvPr/>
        </p:nvPicPr>
        <p:blipFill rotWithShape="1">
          <a:blip r:embed="rId4">
            <a:alphaModFix/>
          </a:blip>
          <a:srcRect b="0" l="0" r="0" t="0"/>
          <a:stretch/>
        </p:blipFill>
        <p:spPr>
          <a:xfrm>
            <a:off x="8382000" y="1219200"/>
            <a:ext cx="3422913" cy="4800600"/>
          </a:xfrm>
          <a:prstGeom prst="rect">
            <a:avLst/>
          </a:prstGeom>
          <a:noFill/>
          <a:ln>
            <a:noFill/>
          </a:ln>
        </p:spPr>
      </p:pic>
      <p:sp>
        <p:nvSpPr>
          <p:cNvPr id="503" name="Google Shape;503;p4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xEl>
                                              <p:pRg end="0" st="0"/>
                                            </p:txEl>
                                          </p:spTgt>
                                        </p:tgtEl>
                                        <p:attrNameLst>
                                          <p:attrName>style.visibility</p:attrName>
                                        </p:attrNameLst>
                                      </p:cBhvr>
                                      <p:to>
                                        <p:strVal val="visible"/>
                                      </p:to>
                                    </p:set>
                                    <p:animEffect filter="fade" transition="in">
                                      <p:cBhvr>
                                        <p:cTn dur="1000"/>
                                        <p:tgtEl>
                                          <p:spTgt spid="50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txBox="1"/>
          <p:nvPr>
            <p:ph type="title"/>
          </p:nvPr>
        </p:nvSpPr>
        <p:spPr>
          <a:xfrm>
            <a:off x="152400" y="46038"/>
            <a:ext cx="87630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0066"/>
              </a:buClr>
              <a:buSzPts val="3200"/>
              <a:buFont typeface="Times New Roman"/>
              <a:buNone/>
            </a:pPr>
            <a:r>
              <a:rPr b="1" lang="en-US" sz="3200">
                <a:solidFill>
                  <a:srgbClr val="000066"/>
                </a:solidFill>
                <a:latin typeface="Times New Roman"/>
                <a:ea typeface="Times New Roman"/>
                <a:cs typeface="Times New Roman"/>
                <a:sym typeface="Times New Roman"/>
              </a:rPr>
              <a:t>2.2. Sơ đồ, chức năng chân tín hiệu 8051 (6)</a:t>
            </a:r>
            <a:endParaRPr b="1" sz="3200">
              <a:latin typeface="Times New Roman"/>
              <a:ea typeface="Times New Roman"/>
              <a:cs typeface="Times New Roman"/>
              <a:sym typeface="Times New Roman"/>
            </a:endParaRPr>
          </a:p>
        </p:txBody>
      </p:sp>
      <p:sp>
        <p:nvSpPr>
          <p:cNvPr id="509" name="Google Shape;509;p46"/>
          <p:cNvSpPr txBox="1"/>
          <p:nvPr/>
        </p:nvSpPr>
        <p:spPr>
          <a:xfrm>
            <a:off x="6705600" y="5761038"/>
            <a:ext cx="496778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Times New Roman"/>
                <a:ea typeface="Times New Roman"/>
                <a:cs typeface="Times New Roman"/>
                <a:sym typeface="Times New Roman"/>
              </a:rPr>
              <a:t>Hình 2.3. Mạch tạo dao đông, Reset cho 8051</a:t>
            </a:r>
            <a:endParaRPr/>
          </a:p>
        </p:txBody>
      </p:sp>
      <p:pic>
        <p:nvPicPr>
          <p:cNvPr id="510" name="Google Shape;510;p46"/>
          <p:cNvPicPr preferRelativeResize="0"/>
          <p:nvPr>
            <p:ph idx="1" type="body"/>
          </p:nvPr>
        </p:nvPicPr>
        <p:blipFill rotWithShape="1">
          <a:blip r:embed="rId3">
            <a:alphaModFix/>
          </a:blip>
          <a:srcRect b="0" l="0" r="0" t="0"/>
          <a:stretch/>
        </p:blipFill>
        <p:spPr>
          <a:xfrm>
            <a:off x="6096000" y="1066800"/>
            <a:ext cx="5836652" cy="4495800"/>
          </a:xfrm>
          <a:prstGeom prst="rect">
            <a:avLst/>
          </a:prstGeom>
          <a:noFill/>
          <a:ln>
            <a:noFill/>
          </a:ln>
        </p:spPr>
      </p:pic>
      <p:sp>
        <p:nvSpPr>
          <p:cNvPr id="511" name="Google Shape;511;p46"/>
          <p:cNvSpPr/>
          <p:nvPr/>
        </p:nvSpPr>
        <p:spPr>
          <a:xfrm>
            <a:off x="0" y="1377286"/>
            <a:ext cx="5638800" cy="3570208"/>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RST (Reset): bình thường ở mức logic thấp. Khi có mức logic cao vi điều khiển khởi động lại, khi đó mọi giá trị trên các thanh ghi bị xóa, bộ đếm chương trình PC=0 </a:t>
            </a:r>
            <a:r>
              <a:rPr i="1" lang="en-US" sz="2400">
                <a:solidFill>
                  <a:schemeClr val="dk1"/>
                </a:solidFill>
                <a:latin typeface="Times New Roman"/>
                <a:ea typeface="Times New Roman"/>
                <a:cs typeface="Times New Roman"/>
                <a:sym typeface="Times New Roman"/>
              </a:rPr>
              <a:t>(tức là CPU nhận lệnh đầu tiên tại địa chỉ 0000h – địa chỉ khởi động của 8051)</a:t>
            </a:r>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Chân XTAL1, XTAL2: mạch tạo dao động ngoài cho 8051. Hình 2.3 </a:t>
            </a:r>
            <a:endParaRPr/>
          </a:p>
        </p:txBody>
      </p:sp>
      <p:sp>
        <p:nvSpPr>
          <p:cNvPr id="512" name="Google Shape;512;p4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0" st="0"/>
                                            </p:txEl>
                                          </p:spTgt>
                                        </p:tgtEl>
                                        <p:attrNameLst>
                                          <p:attrName>style.visibility</p:attrName>
                                        </p:attrNameLst>
                                      </p:cBhvr>
                                      <p:to>
                                        <p:strVal val="visible"/>
                                      </p:to>
                                    </p:set>
                                    <p:animEffect filter="fade" transition="in">
                                      <p:cBhvr>
                                        <p:cTn dur="1000"/>
                                        <p:tgtEl>
                                          <p:spTgt spid="5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xEl>
                                              <p:pRg end="1" st="1"/>
                                            </p:txEl>
                                          </p:spTgt>
                                        </p:tgtEl>
                                        <p:attrNameLst>
                                          <p:attrName>style.visibility</p:attrName>
                                        </p:attrNameLst>
                                      </p:cBhvr>
                                      <p:to>
                                        <p:strVal val="visible"/>
                                      </p:to>
                                    </p:set>
                                    <p:animEffect filter="fade" transition="in">
                                      <p:cBhvr>
                                        <p:cTn dur="1000"/>
                                        <p:tgtEl>
                                          <p:spTgt spid="51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7"/>
          <p:cNvSpPr txBox="1"/>
          <p:nvPr/>
        </p:nvSpPr>
        <p:spPr>
          <a:xfrm>
            <a:off x="1371600" y="1676400"/>
            <a:ext cx="5257800"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2.3.1. Tổ chức bộ nhớ trong</a:t>
            </a:r>
            <a:endParaRPr b="1" sz="2800">
              <a:solidFill>
                <a:srgbClr val="C00000"/>
              </a:solidFill>
              <a:latin typeface="Times New Roman"/>
              <a:ea typeface="Times New Roman"/>
              <a:cs typeface="Times New Roman"/>
              <a:sym typeface="Times New Roman"/>
            </a:endParaRPr>
          </a:p>
          <a:p>
            <a:pPr indent="0" lvl="0" marL="0" marR="0" rtl="0" algn="l">
              <a:spcBef>
                <a:spcPts val="1200"/>
              </a:spcBef>
              <a:spcAft>
                <a:spcPts val="0"/>
              </a:spcAft>
              <a:buNone/>
            </a:pPr>
            <a:r>
              <a:rPr b="1" lang="en-US" sz="2800">
                <a:solidFill>
                  <a:srgbClr val="C00000"/>
                </a:solidFill>
                <a:latin typeface="Times New Roman"/>
                <a:ea typeface="Times New Roman"/>
                <a:cs typeface="Times New Roman"/>
                <a:sym typeface="Times New Roman"/>
              </a:rPr>
              <a:t>2.3.2. Tổ chức bộ nhớ ngoài</a:t>
            </a:r>
            <a:endParaRPr b="1" sz="2800">
              <a:solidFill>
                <a:srgbClr val="C00000"/>
              </a:solidFill>
              <a:latin typeface="Times New Roman"/>
              <a:ea typeface="Times New Roman"/>
              <a:cs typeface="Times New Roman"/>
              <a:sym typeface="Times New Roman"/>
            </a:endParaRPr>
          </a:p>
          <a:p>
            <a:pPr indent="0" lvl="0" marL="0" marR="0" rtl="0" algn="l">
              <a:spcBef>
                <a:spcPts val="1200"/>
              </a:spcBef>
              <a:spcAft>
                <a:spcPts val="0"/>
              </a:spcAft>
              <a:buNone/>
            </a:pPr>
            <a:r>
              <a:rPr b="1" lang="en-US" sz="2800">
                <a:solidFill>
                  <a:srgbClr val="C00000"/>
                </a:solidFill>
                <a:latin typeface="Times New Roman"/>
                <a:ea typeface="Times New Roman"/>
                <a:cs typeface="Times New Roman"/>
                <a:sym typeface="Times New Roman"/>
              </a:rPr>
              <a:t>2.3.3. Ví dụ tổ chức bộ nhớ ngoài</a:t>
            </a:r>
            <a:endParaRPr sz="2400">
              <a:solidFill>
                <a:srgbClr val="C00000"/>
              </a:solidFill>
              <a:latin typeface="Times New Roman"/>
              <a:ea typeface="Times New Roman"/>
              <a:cs typeface="Times New Roman"/>
              <a:sym typeface="Times New Roman"/>
            </a:endParaRPr>
          </a:p>
        </p:txBody>
      </p:sp>
      <p:sp>
        <p:nvSpPr>
          <p:cNvPr id="518" name="Google Shape;518;p47"/>
          <p:cNvSpPr txBox="1"/>
          <p:nvPr/>
        </p:nvSpPr>
        <p:spPr>
          <a:xfrm>
            <a:off x="228600" y="176188"/>
            <a:ext cx="5791200" cy="50633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2.3. Tổ chức bộ nhớ 8051</a:t>
            </a:r>
            <a:endParaRPr/>
          </a:p>
        </p:txBody>
      </p:sp>
      <p:sp>
        <p:nvSpPr>
          <p:cNvPr id="519" name="Google Shape;519;p4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26" name="Google Shape;526;p48"/>
          <p:cNvPicPr preferRelativeResize="0"/>
          <p:nvPr/>
        </p:nvPicPr>
        <p:blipFill rotWithShape="1">
          <a:blip r:embed="rId3">
            <a:alphaModFix/>
          </a:blip>
          <a:srcRect b="0" l="0" r="0" t="0"/>
          <a:stretch/>
        </p:blipFill>
        <p:spPr>
          <a:xfrm>
            <a:off x="2133600" y="914400"/>
            <a:ext cx="8763000" cy="4953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32" name="Google Shape;532;p49"/>
          <p:cNvPicPr preferRelativeResize="0"/>
          <p:nvPr/>
        </p:nvPicPr>
        <p:blipFill rotWithShape="1">
          <a:blip r:embed="rId3">
            <a:alphaModFix/>
          </a:blip>
          <a:srcRect b="0" l="0" r="0" t="0"/>
          <a:stretch/>
        </p:blipFill>
        <p:spPr>
          <a:xfrm>
            <a:off x="1752600" y="381000"/>
            <a:ext cx="8610599" cy="64769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0"/>
          <p:cNvSpPr txBox="1"/>
          <p:nvPr/>
        </p:nvSpPr>
        <p:spPr>
          <a:xfrm>
            <a:off x="228600" y="176188"/>
            <a:ext cx="5791200" cy="50633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2.3.1. Tổ chức bộ nhớ trong (1)</a:t>
            </a:r>
            <a:endParaRPr sz="2800">
              <a:solidFill>
                <a:srgbClr val="C00000"/>
              </a:solidFill>
              <a:latin typeface="Times New Roman"/>
              <a:ea typeface="Times New Roman"/>
              <a:cs typeface="Times New Roman"/>
              <a:sym typeface="Times New Roman"/>
            </a:endParaRPr>
          </a:p>
        </p:txBody>
      </p:sp>
      <p:grpSp>
        <p:nvGrpSpPr>
          <p:cNvPr id="538" name="Google Shape;538;p50"/>
          <p:cNvGrpSpPr/>
          <p:nvPr/>
        </p:nvGrpSpPr>
        <p:grpSpPr>
          <a:xfrm>
            <a:off x="7881222" y="682518"/>
            <a:ext cx="4114801" cy="5497486"/>
            <a:chOff x="7881222" y="971836"/>
            <a:chExt cx="4114801" cy="5497486"/>
          </a:xfrm>
        </p:grpSpPr>
        <p:pic>
          <p:nvPicPr>
            <p:cNvPr id="539" name="Google Shape;539;p50"/>
            <p:cNvPicPr preferRelativeResize="0"/>
            <p:nvPr/>
          </p:nvPicPr>
          <p:blipFill rotWithShape="1">
            <a:blip r:embed="rId3">
              <a:alphaModFix/>
            </a:blip>
            <a:srcRect b="0" l="0" r="0" t="0"/>
            <a:stretch/>
          </p:blipFill>
          <p:spPr>
            <a:xfrm>
              <a:off x="7881222" y="971836"/>
              <a:ext cx="4114801" cy="5128154"/>
            </a:xfrm>
            <a:prstGeom prst="rect">
              <a:avLst/>
            </a:prstGeom>
            <a:noFill/>
            <a:ln>
              <a:noFill/>
            </a:ln>
          </p:spPr>
        </p:pic>
        <p:sp>
          <p:nvSpPr>
            <p:cNvPr id="540" name="Google Shape;540;p50"/>
            <p:cNvSpPr txBox="1"/>
            <p:nvPr/>
          </p:nvSpPr>
          <p:spPr>
            <a:xfrm>
              <a:off x="7968377" y="6099990"/>
              <a:ext cx="402764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2.8. Tổ chức bộ nhớ RAM trong</a:t>
              </a:r>
              <a:endParaRPr i="1" sz="1800">
                <a:solidFill>
                  <a:schemeClr val="dk1"/>
                </a:solidFill>
                <a:latin typeface="Times New Roman"/>
                <a:ea typeface="Times New Roman"/>
                <a:cs typeface="Times New Roman"/>
                <a:sym typeface="Times New Roman"/>
              </a:endParaRPr>
            </a:p>
          </p:txBody>
        </p:sp>
      </p:grpSp>
      <p:sp>
        <p:nvSpPr>
          <p:cNvPr id="541" name="Google Shape;541;p50"/>
          <p:cNvSpPr txBox="1"/>
          <p:nvPr/>
        </p:nvSpPr>
        <p:spPr>
          <a:xfrm>
            <a:off x="228600" y="1353897"/>
            <a:ext cx="7162800" cy="486287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Hình 2.8. trình bày vùng nhớ RAM trong có 128 byte được gán địa chỉ từ 00H đến 7FH. </a:t>
            </a:r>
            <a:endParaRPr/>
          </a:p>
          <a:p>
            <a:pPr indent="-127000" lvl="0" marL="0" marR="0" rtl="0" algn="just">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Từ 00H đến 1FH (32 byte) là các băng thanh ghi và ngăn xếp.</a:t>
            </a:r>
            <a:endParaRPr/>
          </a:p>
          <a:p>
            <a:pPr indent="-127000" lvl="0" marL="0" marR="0" rtl="0" algn="just">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Từ 20H đến 2FH (16 byte) được định địa chỉ bit. Vùng nhớ này có thể truy nhập theo byte, hoặt bit tùy theo lệnh. Ví dụ:</a:t>
            </a:r>
            <a:endParaRPr/>
          </a:p>
          <a:p>
            <a:pPr indent="395288" lvl="0" marL="0" marR="0" rtl="0" algn="just">
              <a:spcBef>
                <a:spcPts val="1200"/>
              </a:spcBef>
              <a:spcAft>
                <a:spcPts val="0"/>
              </a:spcAft>
              <a:buNone/>
            </a:pPr>
            <a:r>
              <a:rPr lang="en-US" sz="2000">
                <a:solidFill>
                  <a:schemeClr val="dk1"/>
                </a:solidFill>
                <a:latin typeface="Times New Roman"/>
                <a:ea typeface="Times New Roman"/>
                <a:cs typeface="Times New Roman"/>
                <a:sym typeface="Times New Roman"/>
              </a:rPr>
              <a:t>MOV A, 2Ch ; đọc cả byte</a:t>
            </a:r>
            <a:endParaRPr/>
          </a:p>
          <a:p>
            <a:pPr indent="395288" lvl="0" marL="0" marR="0" rtl="0" algn="just">
              <a:spcBef>
                <a:spcPts val="1200"/>
              </a:spcBef>
              <a:spcAft>
                <a:spcPts val="0"/>
              </a:spcAft>
              <a:buNone/>
            </a:pPr>
            <a:r>
              <a:rPr lang="en-US" sz="2000">
                <a:solidFill>
                  <a:schemeClr val="dk1"/>
                </a:solidFill>
                <a:latin typeface="Times New Roman"/>
                <a:ea typeface="Times New Roman"/>
                <a:cs typeface="Times New Roman"/>
                <a:sym typeface="Times New Roman"/>
              </a:rPr>
              <a:t>ORL A, #10000000B; set bit cao nhất</a:t>
            </a:r>
            <a:endParaRPr sz="2000">
              <a:solidFill>
                <a:schemeClr val="dk1"/>
              </a:solidFill>
              <a:latin typeface="Times New Roman"/>
              <a:ea typeface="Times New Roman"/>
              <a:cs typeface="Times New Roman"/>
              <a:sym typeface="Times New Roman"/>
            </a:endParaRPr>
          </a:p>
          <a:p>
            <a:pPr indent="395288" lvl="0" marL="0" marR="0" rtl="0" algn="just">
              <a:spcBef>
                <a:spcPts val="1200"/>
              </a:spcBef>
              <a:spcAft>
                <a:spcPts val="0"/>
              </a:spcAft>
              <a:buNone/>
            </a:pPr>
            <a:r>
              <a:rPr lang="en-US" sz="2000">
                <a:solidFill>
                  <a:schemeClr val="dk1"/>
                </a:solidFill>
                <a:latin typeface="Times New Roman"/>
                <a:ea typeface="Times New Roman"/>
                <a:cs typeface="Times New Roman"/>
                <a:sym typeface="Times New Roman"/>
              </a:rPr>
              <a:t>MOV 2CH, A; ghi lại cả byte</a:t>
            </a:r>
            <a:endParaRPr/>
          </a:p>
          <a:p>
            <a:pPr indent="0" lvl="0" marL="0" marR="0" rtl="0" algn="just">
              <a:spcBef>
                <a:spcPts val="1200"/>
              </a:spcBef>
              <a:spcAft>
                <a:spcPts val="0"/>
              </a:spcAft>
              <a:buNone/>
            </a:pPr>
            <a:r>
              <a:rPr lang="en-US" sz="2000">
                <a:solidFill>
                  <a:schemeClr val="dk1"/>
                </a:solidFill>
                <a:latin typeface="Times New Roman"/>
                <a:ea typeface="Times New Roman"/>
                <a:cs typeface="Times New Roman"/>
                <a:sym typeface="Times New Roman"/>
              </a:rPr>
              <a:t>Ba lệnh trên tương đương lệnh “SETB 67H”</a:t>
            </a:r>
            <a:endParaRPr/>
          </a:p>
          <a:p>
            <a:pPr indent="-127000" lvl="0" marL="0" marR="0" rtl="0" algn="just">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Từ 30H đến 7FH (80 byte) được sử dụng để lưu thông tin khi đọc và ghi, hay được gọi là bảng nháp. 80 byte này thường được sử dụng để lưu dữ liệu và tham số. </a:t>
            </a:r>
            <a:endParaRPr/>
          </a:p>
        </p:txBody>
      </p:sp>
      <p:sp>
        <p:nvSpPr>
          <p:cNvPr id="542" name="Google Shape;542;p5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0" st="0"/>
                                            </p:txEl>
                                          </p:spTgt>
                                        </p:tgtEl>
                                        <p:attrNameLst>
                                          <p:attrName>style.visibility</p:attrName>
                                        </p:attrNameLst>
                                      </p:cBhvr>
                                      <p:to>
                                        <p:strVal val="visible"/>
                                      </p:to>
                                    </p:set>
                                    <p:animEffect filter="fade" transition="in">
                                      <p:cBhvr>
                                        <p:cTn dur="1000"/>
                                        <p:tgtEl>
                                          <p:spTgt spid="5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1" st="1"/>
                                            </p:txEl>
                                          </p:spTgt>
                                        </p:tgtEl>
                                        <p:attrNameLst>
                                          <p:attrName>style.visibility</p:attrName>
                                        </p:attrNameLst>
                                      </p:cBhvr>
                                      <p:to>
                                        <p:strVal val="visible"/>
                                      </p:to>
                                    </p:set>
                                    <p:animEffect filter="fade" transition="in">
                                      <p:cBhvr>
                                        <p:cTn dur="1000"/>
                                        <p:tgtEl>
                                          <p:spTgt spid="5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2" st="2"/>
                                            </p:txEl>
                                          </p:spTgt>
                                        </p:tgtEl>
                                        <p:attrNameLst>
                                          <p:attrName>style.visibility</p:attrName>
                                        </p:attrNameLst>
                                      </p:cBhvr>
                                      <p:to>
                                        <p:strVal val="visible"/>
                                      </p:to>
                                    </p:set>
                                    <p:animEffect filter="fade" transition="in">
                                      <p:cBhvr>
                                        <p:cTn dur="1000"/>
                                        <p:tgtEl>
                                          <p:spTgt spid="5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3" st="3"/>
                                            </p:txEl>
                                          </p:spTgt>
                                        </p:tgtEl>
                                        <p:attrNameLst>
                                          <p:attrName>style.visibility</p:attrName>
                                        </p:attrNameLst>
                                      </p:cBhvr>
                                      <p:to>
                                        <p:strVal val="visible"/>
                                      </p:to>
                                    </p:set>
                                    <p:animEffect filter="fade" transition="in">
                                      <p:cBhvr>
                                        <p:cTn dur="1000"/>
                                        <p:tgtEl>
                                          <p:spTgt spid="5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4" st="4"/>
                                            </p:txEl>
                                          </p:spTgt>
                                        </p:tgtEl>
                                        <p:attrNameLst>
                                          <p:attrName>style.visibility</p:attrName>
                                        </p:attrNameLst>
                                      </p:cBhvr>
                                      <p:to>
                                        <p:strVal val="visible"/>
                                      </p:to>
                                    </p:set>
                                    <p:animEffect filter="fade" transition="in">
                                      <p:cBhvr>
                                        <p:cTn dur="1000"/>
                                        <p:tgtEl>
                                          <p:spTgt spid="5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5" st="5"/>
                                            </p:txEl>
                                          </p:spTgt>
                                        </p:tgtEl>
                                        <p:attrNameLst>
                                          <p:attrName>style.visibility</p:attrName>
                                        </p:attrNameLst>
                                      </p:cBhvr>
                                      <p:to>
                                        <p:strVal val="visible"/>
                                      </p:to>
                                    </p:set>
                                    <p:animEffect filter="fade" transition="in">
                                      <p:cBhvr>
                                        <p:cTn dur="1000"/>
                                        <p:tgtEl>
                                          <p:spTgt spid="5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6" st="6"/>
                                            </p:txEl>
                                          </p:spTgt>
                                        </p:tgtEl>
                                        <p:attrNameLst>
                                          <p:attrName>style.visibility</p:attrName>
                                        </p:attrNameLst>
                                      </p:cBhvr>
                                      <p:to>
                                        <p:strVal val="visible"/>
                                      </p:to>
                                    </p:set>
                                    <p:animEffect filter="fade" transition="in">
                                      <p:cBhvr>
                                        <p:cTn dur="1000"/>
                                        <p:tgtEl>
                                          <p:spTgt spid="5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xEl>
                                              <p:pRg end="7" st="7"/>
                                            </p:txEl>
                                          </p:spTgt>
                                        </p:tgtEl>
                                        <p:attrNameLst>
                                          <p:attrName>style.visibility</p:attrName>
                                        </p:attrNameLst>
                                      </p:cBhvr>
                                      <p:to>
                                        <p:strVal val="visible"/>
                                      </p:to>
                                    </p:set>
                                    <p:animEffect filter="fade" transition="in">
                                      <p:cBhvr>
                                        <p:cTn dur="1000"/>
                                        <p:tgtEl>
                                          <p:spTgt spid="54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1"/>
          <p:cNvSpPr txBox="1"/>
          <p:nvPr/>
        </p:nvSpPr>
        <p:spPr>
          <a:xfrm>
            <a:off x="133350" y="1281198"/>
            <a:ext cx="6398241" cy="2092881"/>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Băng 0 được mặc định khi sử dụng, để chuyển sang các băng thanh ghi khác bằng cách sử dụng bit D3, D4 (PSW.3, PSW.4) của thanh ghi PSW, Bảng 2.2. Các bit này có thể được lập, xóa theo lệnh SETB, CLR. Ví dụ, “SETB PSW.3”</a:t>
            </a:r>
            <a:endParaRPr/>
          </a:p>
          <a:p>
            <a:pPr indent="-285750" lvl="0" marL="285750" marR="0" rtl="0" algn="just">
              <a:spcBef>
                <a:spcPts val="12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Lưu ý: mặc định các bit này = 0.</a:t>
            </a:r>
            <a:endParaRPr/>
          </a:p>
        </p:txBody>
      </p:sp>
      <p:graphicFrame>
        <p:nvGraphicFramePr>
          <p:cNvPr id="548" name="Google Shape;548;p51"/>
          <p:cNvGraphicFramePr/>
          <p:nvPr/>
        </p:nvGraphicFramePr>
        <p:xfrm>
          <a:off x="7617725" y="1784296"/>
          <a:ext cx="3000000" cy="3000000"/>
        </p:xfrm>
        <a:graphic>
          <a:graphicData uri="http://schemas.openxmlformats.org/drawingml/2006/table">
            <a:tbl>
              <a:tblPr bandRow="1" firstRow="1">
                <a:noFill/>
                <a:tableStyleId>{A4A541D9-23D5-4180-BFA4-B58C0BD4C685}</a:tableStyleId>
              </a:tblPr>
              <a:tblGrid>
                <a:gridCol w="1060875"/>
                <a:gridCol w="1051050"/>
                <a:gridCol w="1458925"/>
              </a:tblGrid>
              <a:tr h="431825">
                <a:tc>
                  <a:txBody>
                    <a:bodyPr/>
                    <a:lstStyle/>
                    <a:p>
                      <a:pPr indent="0" lvl="0" marL="0" marR="0" rtl="0" algn="ctr">
                        <a:spcBef>
                          <a:spcPts val="0"/>
                        </a:spcBef>
                        <a:spcAft>
                          <a:spcPts val="0"/>
                        </a:spcAft>
                        <a:buNone/>
                      </a:pPr>
                      <a:r>
                        <a:t/>
                      </a:r>
                      <a:endParaRPr sz="2200">
                        <a:latin typeface="Times New Roman"/>
                        <a:ea typeface="Times New Roman"/>
                        <a:cs typeface="Times New Roman"/>
                        <a:sym typeface="Times New Roman"/>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PSW.4</a:t>
                      </a:r>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PSW.3</a:t>
                      </a:r>
                      <a:endParaRPr/>
                    </a:p>
                  </a:txBody>
                  <a:tcPr marT="49825" marB="49825" marR="99650" marL="99650"/>
                </a:tc>
              </a:tr>
              <a:tr h="431825">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Băng</a:t>
                      </a:r>
                      <a:r>
                        <a:rPr lang="en-US" sz="2200">
                          <a:latin typeface="Times New Roman"/>
                          <a:ea typeface="Times New Roman"/>
                          <a:cs typeface="Times New Roman"/>
                          <a:sym typeface="Times New Roman"/>
                        </a:rPr>
                        <a:t> 0</a:t>
                      </a:r>
                      <a:endParaRPr sz="2200">
                        <a:latin typeface="Times New Roman"/>
                        <a:ea typeface="Times New Roman"/>
                        <a:cs typeface="Times New Roman"/>
                        <a:sym typeface="Times New Roman"/>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0</a:t>
                      </a:r>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0</a:t>
                      </a:r>
                      <a:endParaRPr/>
                    </a:p>
                  </a:txBody>
                  <a:tcPr marT="49825" marB="49825" marR="99650" marL="99650"/>
                </a:tc>
              </a:tr>
              <a:tr h="431825">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Băng</a:t>
                      </a:r>
                      <a:r>
                        <a:rPr lang="en-US" sz="2200">
                          <a:latin typeface="Times New Roman"/>
                          <a:ea typeface="Times New Roman"/>
                          <a:cs typeface="Times New Roman"/>
                          <a:sym typeface="Times New Roman"/>
                        </a:rPr>
                        <a:t> 1</a:t>
                      </a:r>
                      <a:endParaRPr sz="2200">
                        <a:latin typeface="Times New Roman"/>
                        <a:ea typeface="Times New Roman"/>
                        <a:cs typeface="Times New Roman"/>
                        <a:sym typeface="Times New Roman"/>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0</a:t>
                      </a:r>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1</a:t>
                      </a:r>
                      <a:endParaRPr/>
                    </a:p>
                  </a:txBody>
                  <a:tcPr marT="49825" marB="49825" marR="99650" marL="99650"/>
                </a:tc>
              </a:tr>
              <a:tr h="431825">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Băng</a:t>
                      </a:r>
                      <a:r>
                        <a:rPr lang="en-US" sz="2200">
                          <a:latin typeface="Times New Roman"/>
                          <a:ea typeface="Times New Roman"/>
                          <a:cs typeface="Times New Roman"/>
                          <a:sym typeface="Times New Roman"/>
                        </a:rPr>
                        <a:t> 2</a:t>
                      </a:r>
                      <a:endParaRPr sz="2200">
                        <a:latin typeface="Times New Roman"/>
                        <a:ea typeface="Times New Roman"/>
                        <a:cs typeface="Times New Roman"/>
                        <a:sym typeface="Times New Roman"/>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1</a:t>
                      </a:r>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0</a:t>
                      </a:r>
                      <a:endParaRPr/>
                    </a:p>
                  </a:txBody>
                  <a:tcPr marT="49825" marB="49825" marR="99650" marL="99650"/>
                </a:tc>
              </a:tr>
              <a:tr h="603225">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Băng</a:t>
                      </a:r>
                      <a:r>
                        <a:rPr lang="en-US" sz="2200">
                          <a:latin typeface="Times New Roman"/>
                          <a:ea typeface="Times New Roman"/>
                          <a:cs typeface="Times New Roman"/>
                          <a:sym typeface="Times New Roman"/>
                        </a:rPr>
                        <a:t> 3</a:t>
                      </a:r>
                      <a:endParaRPr sz="2200">
                        <a:latin typeface="Times New Roman"/>
                        <a:ea typeface="Times New Roman"/>
                        <a:cs typeface="Times New Roman"/>
                        <a:sym typeface="Times New Roman"/>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1</a:t>
                      </a:r>
                      <a:endParaRPr/>
                    </a:p>
                  </a:txBody>
                  <a:tcPr marT="49825" marB="49825" marR="99650" marL="99650"/>
                </a:tc>
                <a:tc>
                  <a:txBody>
                    <a:bodyPr/>
                    <a:lstStyle/>
                    <a:p>
                      <a:pPr indent="0" lvl="0" marL="0" marR="0" rtl="0" algn="ctr">
                        <a:spcBef>
                          <a:spcPts val="0"/>
                        </a:spcBef>
                        <a:spcAft>
                          <a:spcPts val="0"/>
                        </a:spcAft>
                        <a:buNone/>
                      </a:pPr>
                      <a:r>
                        <a:rPr lang="en-US" sz="2200">
                          <a:latin typeface="Times New Roman"/>
                          <a:ea typeface="Times New Roman"/>
                          <a:cs typeface="Times New Roman"/>
                          <a:sym typeface="Times New Roman"/>
                        </a:rPr>
                        <a:t>1</a:t>
                      </a:r>
                      <a:endParaRPr/>
                    </a:p>
                  </a:txBody>
                  <a:tcPr marT="49825" marB="49825" marR="99650" marL="99650"/>
                </a:tc>
              </a:tr>
            </a:tbl>
          </a:graphicData>
        </a:graphic>
      </p:graphicFrame>
      <p:sp>
        <p:nvSpPr>
          <p:cNvPr id="549" name="Google Shape;549;p51"/>
          <p:cNvSpPr txBox="1"/>
          <p:nvPr/>
        </p:nvSpPr>
        <p:spPr>
          <a:xfrm>
            <a:off x="7617725" y="1219200"/>
            <a:ext cx="3429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Bảng 2.2. Chọn băng thanh ghi</a:t>
            </a:r>
            <a:endParaRPr i="1" sz="2000">
              <a:solidFill>
                <a:schemeClr val="dk1"/>
              </a:solidFill>
              <a:latin typeface="Times New Roman"/>
              <a:ea typeface="Times New Roman"/>
              <a:cs typeface="Times New Roman"/>
              <a:sym typeface="Times New Roman"/>
            </a:endParaRPr>
          </a:p>
        </p:txBody>
      </p:sp>
      <p:sp>
        <p:nvSpPr>
          <p:cNvPr id="550" name="Google Shape;550;p51"/>
          <p:cNvSpPr txBox="1"/>
          <p:nvPr/>
        </p:nvSpPr>
        <p:spPr>
          <a:xfrm>
            <a:off x="133350" y="672853"/>
            <a:ext cx="3162300"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Noto Sans Symbols"/>
              <a:buChar char="❖"/>
            </a:pPr>
            <a:r>
              <a:rPr b="1" lang="en-US" sz="2400">
                <a:solidFill>
                  <a:schemeClr val="dk1"/>
                </a:solidFill>
                <a:latin typeface="Times New Roman"/>
                <a:ea typeface="Times New Roman"/>
                <a:cs typeface="Times New Roman"/>
                <a:sym typeface="Times New Roman"/>
              </a:rPr>
              <a:t>Băng thanh ghi</a:t>
            </a:r>
            <a:endParaRPr sz="1900">
              <a:solidFill>
                <a:schemeClr val="dk1"/>
              </a:solidFill>
              <a:latin typeface="Times New Roman"/>
              <a:ea typeface="Times New Roman"/>
              <a:cs typeface="Times New Roman"/>
              <a:sym typeface="Times New Roman"/>
            </a:endParaRPr>
          </a:p>
        </p:txBody>
      </p:sp>
      <p:sp>
        <p:nvSpPr>
          <p:cNvPr id="551" name="Google Shape;551;p51"/>
          <p:cNvSpPr txBox="1"/>
          <p:nvPr/>
        </p:nvSpPr>
        <p:spPr>
          <a:xfrm>
            <a:off x="685799" y="3733800"/>
            <a:ext cx="5845791" cy="19082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Times New Roman"/>
                <a:ea typeface="Times New Roman"/>
                <a:cs typeface="Times New Roman"/>
                <a:sym typeface="Times New Roman"/>
              </a:rPr>
              <a:t>Ví dụ 2.1:</a:t>
            </a:r>
            <a:endParaRPr/>
          </a:p>
          <a:p>
            <a:pPr indent="0" lvl="0" marL="0" marR="0" rtl="0" algn="l">
              <a:spcBef>
                <a:spcPts val="1200"/>
              </a:spcBef>
              <a:spcAft>
                <a:spcPts val="0"/>
              </a:spcAft>
              <a:buNone/>
            </a:pPr>
            <a:r>
              <a:rPr lang="en-US" sz="2200">
                <a:solidFill>
                  <a:schemeClr val="dk1"/>
                </a:solidFill>
                <a:latin typeface="Times New Roman"/>
                <a:ea typeface="Times New Roman"/>
                <a:cs typeface="Times New Roman"/>
                <a:sym typeface="Times New Roman"/>
              </a:rPr>
              <a:t>SETB	PSW.3		; PSW.3=1</a:t>
            </a:r>
            <a:endParaRPr/>
          </a:p>
          <a:p>
            <a:pPr indent="0" lvl="0" marL="0" marR="0" rtl="0" algn="l">
              <a:spcBef>
                <a:spcPts val="1200"/>
              </a:spcBef>
              <a:spcAft>
                <a:spcPts val="0"/>
              </a:spcAft>
              <a:buNone/>
            </a:pPr>
            <a:r>
              <a:rPr lang="en-US" sz="2200">
                <a:solidFill>
                  <a:schemeClr val="dk1"/>
                </a:solidFill>
                <a:latin typeface="Times New Roman"/>
                <a:ea typeface="Times New Roman"/>
                <a:cs typeface="Times New Roman"/>
                <a:sym typeface="Times New Roman"/>
              </a:rPr>
              <a:t>;SETB	PSW.4		; PSW.4=1</a:t>
            </a:r>
            <a:endParaRPr/>
          </a:p>
          <a:p>
            <a:pPr indent="0" lvl="0" marL="0" marR="0" rtl="0" algn="l">
              <a:spcBef>
                <a:spcPts val="1200"/>
              </a:spcBef>
              <a:spcAft>
                <a:spcPts val="0"/>
              </a:spcAft>
              <a:buNone/>
            </a:pPr>
            <a:r>
              <a:rPr lang="en-US" sz="2200">
                <a:solidFill>
                  <a:schemeClr val="dk1"/>
                </a:solidFill>
                <a:latin typeface="Times New Roman"/>
                <a:ea typeface="Times New Roman"/>
                <a:cs typeface="Times New Roman"/>
                <a:sym typeface="Times New Roman"/>
              </a:rPr>
              <a:t>MOV	R0, #99	; nạp giá trị 99H vào R0</a:t>
            </a:r>
            <a:endParaRPr/>
          </a:p>
        </p:txBody>
      </p:sp>
      <p:sp>
        <p:nvSpPr>
          <p:cNvPr id="552" name="Google Shape;552;p51"/>
          <p:cNvSpPr txBox="1"/>
          <p:nvPr/>
        </p:nvSpPr>
        <p:spPr>
          <a:xfrm>
            <a:off x="228600" y="152400"/>
            <a:ext cx="5791200" cy="50633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2.3.1. Tổ chức bộ nhớ trong (2)</a:t>
            </a:r>
            <a:endParaRPr sz="2800">
              <a:solidFill>
                <a:srgbClr val="C00000"/>
              </a:solidFill>
              <a:latin typeface="Times New Roman"/>
              <a:ea typeface="Times New Roman"/>
              <a:cs typeface="Times New Roman"/>
              <a:sym typeface="Times New Roman"/>
            </a:endParaRPr>
          </a:p>
        </p:txBody>
      </p:sp>
      <p:sp>
        <p:nvSpPr>
          <p:cNvPr id="553" name="Google Shape;553;p5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2"/>
          <p:cNvSpPr txBox="1"/>
          <p:nvPr>
            <p:ph idx="1" type="body"/>
          </p:nvPr>
        </p:nvSpPr>
        <p:spPr>
          <a:xfrm>
            <a:off x="228600" y="687429"/>
            <a:ext cx="2895600" cy="533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Noto Sans Symbols"/>
              <a:buChar char="❖"/>
            </a:pPr>
            <a:r>
              <a:rPr b="1" lang="en-US" sz="2400">
                <a:latin typeface="Times New Roman"/>
                <a:ea typeface="Times New Roman"/>
                <a:cs typeface="Times New Roman"/>
                <a:sym typeface="Times New Roman"/>
              </a:rPr>
              <a:t>Ngăn xếp (stack)</a:t>
            </a:r>
            <a:endParaRPr/>
          </a:p>
        </p:txBody>
      </p:sp>
      <p:sp>
        <p:nvSpPr>
          <p:cNvPr id="560" name="Google Shape;560;p52"/>
          <p:cNvSpPr txBox="1"/>
          <p:nvPr/>
        </p:nvSpPr>
        <p:spPr>
          <a:xfrm>
            <a:off x="260444" y="3902614"/>
            <a:ext cx="11931555" cy="2246769"/>
          </a:xfrm>
          <a:prstGeom prst="rect">
            <a:avLst/>
          </a:prstGeom>
          <a:noFill/>
          <a:ln>
            <a:noFill/>
          </a:ln>
        </p:spPr>
        <p:txBody>
          <a:bodyPr anchorCtr="0" anchor="t" bIns="45700" lIns="91425" spcFirstLastPara="1" rIns="91425" wrap="square" tIns="45700">
            <a:spAutoFit/>
          </a:bodyPr>
          <a:lstStyle/>
          <a:p>
            <a:pPr indent="46355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Ngăn xếp là một vùng nhớ RAM được sử dụng để lưu thông tin (có thể là dữ liệu hoặc địa chỉ) tạm thời. SP (stack pointer) độ dài 8 bit, được sử dụng để trỏ tới đỉnh ngăn xếp. Khi cất dữ liệu vào stack SP được tăng thêm 1. </a:t>
            </a:r>
            <a:endParaRPr/>
          </a:p>
          <a:p>
            <a:pPr indent="-285750" lvl="0" marL="285750" marR="0" rtl="0" algn="just">
              <a:spcBef>
                <a:spcPts val="12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Khi bật nguồn, hoặc reset SP=07H, nghĩa là ngăn nhớ có địa chỉ 07H là ngăn nhớ đầu tiên được dụng làm ngăn xếp. Khi đó dung lượng tối đa của ngăn xếp là 24 byte (từ 08H đến 1FH). Nếu chương trình cần nhiều hơn 24 byte cho vùng ngăn xếp thì có thể đổi SP trỏ tới vùng từ 30H đến 7Fh bằng lệnh “MOV SP, #XX”. </a:t>
            </a:r>
            <a:endParaRPr/>
          </a:p>
          <a:p>
            <a:pPr indent="-342900" lvl="0" marL="342900" marR="0" rtl="0" algn="just">
              <a:spcBef>
                <a:spcPts val="12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Cần lưu ý rằng các vùng nhớ được định địa chỉ bit không được sử dụng cho vùng ngăn xếp. </a:t>
            </a:r>
            <a:endParaRPr/>
          </a:p>
        </p:txBody>
      </p:sp>
      <p:pic>
        <p:nvPicPr>
          <p:cNvPr id="561" name="Google Shape;561;p52"/>
          <p:cNvPicPr preferRelativeResize="0"/>
          <p:nvPr/>
        </p:nvPicPr>
        <p:blipFill rotWithShape="1">
          <a:blip r:embed="rId3">
            <a:alphaModFix/>
          </a:blip>
          <a:srcRect b="0" l="0" r="0" t="0"/>
          <a:stretch/>
        </p:blipFill>
        <p:spPr>
          <a:xfrm>
            <a:off x="4343400" y="635043"/>
            <a:ext cx="6403778" cy="3200400"/>
          </a:xfrm>
          <a:prstGeom prst="rect">
            <a:avLst/>
          </a:prstGeom>
          <a:noFill/>
          <a:ln>
            <a:noFill/>
          </a:ln>
        </p:spPr>
      </p:pic>
      <p:sp>
        <p:nvSpPr>
          <p:cNvPr id="562" name="Google Shape;562;p52"/>
          <p:cNvSpPr txBox="1"/>
          <p:nvPr/>
        </p:nvSpPr>
        <p:spPr>
          <a:xfrm>
            <a:off x="228600" y="176188"/>
            <a:ext cx="5791200" cy="50633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2.3.1. Tổ chức bộ nhớ trong (3)</a:t>
            </a:r>
            <a:endParaRPr sz="2800">
              <a:solidFill>
                <a:srgbClr val="C00000"/>
              </a:solidFill>
              <a:latin typeface="Times New Roman"/>
              <a:ea typeface="Times New Roman"/>
              <a:cs typeface="Times New Roman"/>
              <a:sym typeface="Times New Roman"/>
            </a:endParaRPr>
          </a:p>
        </p:txBody>
      </p:sp>
      <p:sp>
        <p:nvSpPr>
          <p:cNvPr id="563" name="Google Shape;563;p5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0">
                                            <p:txEl>
                                              <p:pRg end="0" st="0"/>
                                            </p:txEl>
                                          </p:spTgt>
                                        </p:tgtEl>
                                        <p:attrNameLst>
                                          <p:attrName>style.visibility</p:attrName>
                                        </p:attrNameLst>
                                      </p:cBhvr>
                                      <p:to>
                                        <p:strVal val="visible"/>
                                      </p:to>
                                    </p:set>
                                    <p:animEffect filter="fade" transition="in">
                                      <p:cBhvr>
                                        <p:cTn dur="1000"/>
                                        <p:tgtEl>
                                          <p:spTgt spid="5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0">
                                            <p:txEl>
                                              <p:pRg end="1" st="1"/>
                                            </p:txEl>
                                          </p:spTgt>
                                        </p:tgtEl>
                                        <p:attrNameLst>
                                          <p:attrName>style.visibility</p:attrName>
                                        </p:attrNameLst>
                                      </p:cBhvr>
                                      <p:to>
                                        <p:strVal val="visible"/>
                                      </p:to>
                                    </p:set>
                                    <p:animEffect filter="fade" transition="in">
                                      <p:cBhvr>
                                        <p:cTn dur="1000"/>
                                        <p:tgtEl>
                                          <p:spTgt spid="5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0">
                                            <p:txEl>
                                              <p:pRg end="2" st="2"/>
                                            </p:txEl>
                                          </p:spTgt>
                                        </p:tgtEl>
                                        <p:attrNameLst>
                                          <p:attrName>style.visibility</p:attrName>
                                        </p:attrNameLst>
                                      </p:cBhvr>
                                      <p:to>
                                        <p:strVal val="visible"/>
                                      </p:to>
                                    </p:set>
                                    <p:animEffect filter="fade" transition="in">
                                      <p:cBhvr>
                                        <p:cTn dur="1000"/>
                                        <p:tgtEl>
                                          <p:spTgt spid="56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3"/>
          <p:cNvSpPr txBox="1"/>
          <p:nvPr>
            <p:ph type="title"/>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(1)</a:t>
            </a:r>
            <a:endParaRPr/>
          </a:p>
        </p:txBody>
      </p:sp>
      <p:sp>
        <p:nvSpPr>
          <p:cNvPr id="569" name="Google Shape;569;p53"/>
          <p:cNvSpPr txBox="1"/>
          <p:nvPr/>
        </p:nvSpPr>
        <p:spPr>
          <a:xfrm>
            <a:off x="320153" y="4800600"/>
            <a:ext cx="11155908" cy="1815882"/>
          </a:xfrm>
          <a:prstGeom prst="rect">
            <a:avLst/>
          </a:prstGeom>
          <a:noFill/>
          <a:ln>
            <a:noFill/>
          </a:ln>
        </p:spPr>
        <p:txBody>
          <a:bodyPr anchorCtr="0" anchor="t" bIns="45700" lIns="91425" spcFirstLastPara="1" rIns="91425" wrap="square" tIns="45700">
            <a:spAutoFit/>
          </a:bodyPr>
          <a:lstStyle/>
          <a:p>
            <a:pPr indent="401638" lvl="0" marL="0" marR="0" rtl="0" algn="just">
              <a:spcBef>
                <a:spcPts val="0"/>
              </a:spcBef>
              <a:spcAft>
                <a:spcPts val="0"/>
              </a:spcAft>
              <a:buNone/>
            </a:pPr>
            <a:r>
              <a:rPr lang="en-US" sz="2800">
                <a:solidFill>
                  <a:schemeClr val="dk1"/>
                </a:solidFill>
                <a:latin typeface="Times New Roman"/>
                <a:ea typeface="Times New Roman"/>
                <a:cs typeface="Times New Roman"/>
                <a:sym typeface="Times New Roman"/>
              </a:rPr>
              <a:t>8051 có không gian bộ nhớ riêng cho chương trình và dữ liệu. Bộ nhớ chương trình và dữ liệu đặt bên trong chip, tuy nhiên có thể mở rộng bộ nhớ chương trình và dữ liệu bằng các chip nhớ bên ngoài với dung lượng tối đa 64K cho mỗi bộ nhớ. </a:t>
            </a:r>
            <a:r>
              <a:rPr b="1" lang="en-US" sz="2800">
                <a:solidFill>
                  <a:schemeClr val="dk1"/>
                </a:solidFill>
                <a:latin typeface="Times New Roman"/>
                <a:ea typeface="Times New Roman"/>
                <a:cs typeface="Times New Roman"/>
                <a:sym typeface="Times New Roman"/>
              </a:rPr>
              <a:t>Không gian bộ nhớ ROM</a:t>
            </a:r>
            <a:r>
              <a:rPr lang="en-US" sz="2800">
                <a:solidFill>
                  <a:schemeClr val="dk1"/>
                </a:solidFill>
                <a:latin typeface="Times New Roman"/>
                <a:ea typeface="Times New Roman"/>
                <a:cs typeface="Times New Roman"/>
                <a:sym typeface="Times New Roman"/>
              </a:rPr>
              <a:t>, Hình 2.4</a:t>
            </a:r>
            <a:endParaRPr/>
          </a:p>
        </p:txBody>
      </p:sp>
      <p:grpSp>
        <p:nvGrpSpPr>
          <p:cNvPr id="570" name="Google Shape;570;p53"/>
          <p:cNvGrpSpPr/>
          <p:nvPr/>
        </p:nvGrpSpPr>
        <p:grpSpPr>
          <a:xfrm>
            <a:off x="2926307" y="914400"/>
            <a:ext cx="5943600" cy="3696314"/>
            <a:chOff x="5943600" y="1419304"/>
            <a:chExt cx="5943600" cy="3696314"/>
          </a:xfrm>
        </p:grpSpPr>
        <p:pic>
          <p:nvPicPr>
            <p:cNvPr id="571" name="Google Shape;571;p53"/>
            <p:cNvPicPr preferRelativeResize="0"/>
            <p:nvPr/>
          </p:nvPicPr>
          <p:blipFill rotWithShape="1">
            <a:blip r:embed="rId3">
              <a:alphaModFix/>
            </a:blip>
            <a:srcRect b="0" l="0" r="0" t="0"/>
            <a:stretch/>
          </p:blipFill>
          <p:spPr>
            <a:xfrm>
              <a:off x="5943600" y="1419304"/>
              <a:ext cx="5943600" cy="3272320"/>
            </a:xfrm>
            <a:prstGeom prst="rect">
              <a:avLst/>
            </a:prstGeom>
            <a:noFill/>
            <a:ln>
              <a:noFill/>
            </a:ln>
          </p:spPr>
        </p:pic>
        <p:sp>
          <p:nvSpPr>
            <p:cNvPr id="572" name="Google Shape;572;p53"/>
            <p:cNvSpPr txBox="1"/>
            <p:nvPr/>
          </p:nvSpPr>
          <p:spPr>
            <a:xfrm>
              <a:off x="6286500" y="4715508"/>
              <a:ext cx="52578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Hình 2.4. Không gian bộ nhớ ROM</a:t>
              </a:r>
              <a:endParaRPr/>
            </a:p>
          </p:txBody>
        </p:sp>
      </p:grpSp>
      <p:sp>
        <p:nvSpPr>
          <p:cNvPr id="573" name="Google Shape;573;p5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4"/>
          <p:cNvSpPr txBox="1"/>
          <p:nvPr>
            <p:ph type="title"/>
          </p:nvPr>
        </p:nvSpPr>
        <p:spPr>
          <a:xfrm>
            <a:off x="228600" y="790548"/>
            <a:ext cx="7518188" cy="767073"/>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 Truy xuất bộ nhớ ROM ngoài, </a:t>
            </a:r>
            <a:r>
              <a:rPr lang="en-US" sz="2400">
                <a:latin typeface="Times New Roman"/>
                <a:ea typeface="Times New Roman"/>
                <a:cs typeface="Times New Roman"/>
                <a:sym typeface="Times New Roman"/>
              </a:rPr>
              <a:t>Hình 2.5</a:t>
            </a:r>
            <a:endParaRPr/>
          </a:p>
        </p:txBody>
      </p:sp>
      <p:sp>
        <p:nvSpPr>
          <p:cNvPr id="580" name="Google Shape;580;p54"/>
          <p:cNvSpPr/>
          <p:nvPr/>
        </p:nvSpPr>
        <p:spPr>
          <a:xfrm>
            <a:off x="1524001"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54"/>
          <p:cNvSpPr/>
          <p:nvPr/>
        </p:nvSpPr>
        <p:spPr>
          <a:xfrm>
            <a:off x="1524001"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54"/>
          <p:cNvSpPr/>
          <p:nvPr/>
        </p:nvSpPr>
        <p:spPr>
          <a:xfrm>
            <a:off x="1524001"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83" name="Google Shape;583;p54"/>
          <p:cNvGrpSpPr/>
          <p:nvPr/>
        </p:nvGrpSpPr>
        <p:grpSpPr>
          <a:xfrm>
            <a:off x="2667000" y="1752600"/>
            <a:ext cx="6855912" cy="4640181"/>
            <a:chOff x="2629944" y="1600200"/>
            <a:chExt cx="6855912" cy="4640181"/>
          </a:xfrm>
        </p:grpSpPr>
        <p:pic>
          <p:nvPicPr>
            <p:cNvPr id="584" name="Google Shape;584;p54"/>
            <p:cNvPicPr preferRelativeResize="0"/>
            <p:nvPr/>
          </p:nvPicPr>
          <p:blipFill rotWithShape="1">
            <a:blip r:embed="rId3">
              <a:alphaModFix/>
            </a:blip>
            <a:srcRect b="0" l="0" r="0" t="0"/>
            <a:stretch/>
          </p:blipFill>
          <p:spPr>
            <a:xfrm>
              <a:off x="2629944" y="1600200"/>
              <a:ext cx="6855912" cy="4199846"/>
            </a:xfrm>
            <a:prstGeom prst="rect">
              <a:avLst/>
            </a:prstGeom>
            <a:noFill/>
            <a:ln>
              <a:noFill/>
            </a:ln>
          </p:spPr>
        </p:pic>
        <p:sp>
          <p:nvSpPr>
            <p:cNvPr id="585" name="Google Shape;585;p54"/>
            <p:cNvSpPr txBox="1"/>
            <p:nvPr/>
          </p:nvSpPr>
          <p:spPr>
            <a:xfrm>
              <a:off x="3422904" y="5859381"/>
              <a:ext cx="5257800" cy="38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2.5. Truy xuất bộ nhớ ROM ngoài</a:t>
              </a:r>
              <a:endParaRPr i="1" sz="1800">
                <a:solidFill>
                  <a:schemeClr val="dk1"/>
                </a:solidFill>
                <a:latin typeface="Times New Roman"/>
                <a:ea typeface="Times New Roman"/>
                <a:cs typeface="Times New Roman"/>
                <a:sym typeface="Times New Roman"/>
              </a:endParaRPr>
            </a:p>
          </p:txBody>
        </p:sp>
      </p:grpSp>
      <p:sp>
        <p:nvSpPr>
          <p:cNvPr id="586" name="Google Shape;586;p54"/>
          <p:cNvSpPr txBox="1"/>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(2)</a:t>
            </a:r>
            <a:endParaRPr/>
          </a:p>
        </p:txBody>
      </p:sp>
      <p:sp>
        <p:nvSpPr>
          <p:cNvPr id="587" name="Google Shape;587;p5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5"/>
          <p:cNvSpPr txBox="1"/>
          <p:nvPr>
            <p:ph type="title"/>
          </p:nvPr>
        </p:nvSpPr>
        <p:spPr>
          <a:xfrm>
            <a:off x="304800" y="812088"/>
            <a:ext cx="5972328" cy="655638"/>
          </a:xfrm>
          <a:prstGeom prst="rect">
            <a:avLst/>
          </a:prstGeom>
          <a:noFill/>
          <a:ln>
            <a:noFill/>
          </a:ln>
        </p:spPr>
        <p:txBody>
          <a:bodyPr anchorCtr="0" anchor="ctr" bIns="45700" lIns="91425" spcFirstLastPara="1" rIns="91425" wrap="square" tIns="45700">
            <a:normAutofit/>
          </a:bodyPr>
          <a:lstStyle/>
          <a:p>
            <a:pPr indent="-457200" lvl="0" marL="4572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Không gian bộ nhớ RAM</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Hình 2.6</a:t>
            </a:r>
            <a:endParaRPr/>
          </a:p>
        </p:txBody>
      </p:sp>
      <p:pic>
        <p:nvPicPr>
          <p:cNvPr id="593" name="Google Shape;593;p55"/>
          <p:cNvPicPr preferRelativeResize="0"/>
          <p:nvPr/>
        </p:nvPicPr>
        <p:blipFill rotWithShape="1">
          <a:blip r:embed="rId3">
            <a:alphaModFix/>
          </a:blip>
          <a:srcRect b="0" l="0" r="0" t="0"/>
          <a:stretch/>
        </p:blipFill>
        <p:spPr>
          <a:xfrm>
            <a:off x="3124201" y="1654747"/>
            <a:ext cx="5626029" cy="3975179"/>
          </a:xfrm>
          <a:prstGeom prst="rect">
            <a:avLst/>
          </a:prstGeom>
          <a:noFill/>
          <a:ln>
            <a:noFill/>
          </a:ln>
        </p:spPr>
      </p:pic>
      <p:sp>
        <p:nvSpPr>
          <p:cNvPr id="594" name="Google Shape;594;p55"/>
          <p:cNvSpPr txBox="1"/>
          <p:nvPr/>
        </p:nvSpPr>
        <p:spPr>
          <a:xfrm>
            <a:off x="3467100" y="5760671"/>
            <a:ext cx="5257800" cy="38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2.6. Không gian bộ nhớ RAM</a:t>
            </a:r>
            <a:endParaRPr/>
          </a:p>
        </p:txBody>
      </p:sp>
      <p:sp>
        <p:nvSpPr>
          <p:cNvPr id="595" name="Google Shape;595;p55"/>
          <p:cNvSpPr txBox="1"/>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(3)</a:t>
            </a:r>
            <a:endParaRPr/>
          </a:p>
        </p:txBody>
      </p:sp>
      <p:sp>
        <p:nvSpPr>
          <p:cNvPr id="596" name="Google Shape;596;p5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6"/>
          <p:cNvSpPr txBox="1"/>
          <p:nvPr>
            <p:ph type="title"/>
          </p:nvPr>
        </p:nvSpPr>
        <p:spPr>
          <a:xfrm>
            <a:off x="152400" y="713016"/>
            <a:ext cx="6934200" cy="639762"/>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Truy xuất bộ nhớ RAM ngoài, </a:t>
            </a:r>
            <a:r>
              <a:rPr lang="en-US" sz="2400">
                <a:latin typeface="Times New Roman"/>
                <a:ea typeface="Times New Roman"/>
                <a:cs typeface="Times New Roman"/>
                <a:sym typeface="Times New Roman"/>
              </a:rPr>
              <a:t>Hình 2.7</a:t>
            </a:r>
            <a:endParaRPr/>
          </a:p>
        </p:txBody>
      </p:sp>
      <p:sp>
        <p:nvSpPr>
          <p:cNvPr id="602" name="Google Shape;602;p56"/>
          <p:cNvSpPr/>
          <p:nvPr/>
        </p:nvSpPr>
        <p:spPr>
          <a:xfrm>
            <a:off x="1524001"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56"/>
          <p:cNvSpPr/>
          <p:nvPr/>
        </p:nvSpPr>
        <p:spPr>
          <a:xfrm>
            <a:off x="1524001"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56"/>
          <p:cNvSpPr/>
          <p:nvPr/>
        </p:nvSpPr>
        <p:spPr>
          <a:xfrm>
            <a:off x="1524001"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05" name="Google Shape;605;p56"/>
          <p:cNvPicPr preferRelativeResize="0"/>
          <p:nvPr/>
        </p:nvPicPr>
        <p:blipFill rotWithShape="1">
          <a:blip r:embed="rId3">
            <a:alphaModFix/>
          </a:blip>
          <a:srcRect b="0" l="0" r="0" t="0"/>
          <a:stretch/>
        </p:blipFill>
        <p:spPr>
          <a:xfrm>
            <a:off x="2895600" y="1652337"/>
            <a:ext cx="5867400" cy="3867328"/>
          </a:xfrm>
          <a:prstGeom prst="rect">
            <a:avLst/>
          </a:prstGeom>
          <a:noFill/>
          <a:ln>
            <a:noFill/>
          </a:ln>
        </p:spPr>
      </p:pic>
      <p:sp>
        <p:nvSpPr>
          <p:cNvPr id="606" name="Google Shape;606;p56"/>
          <p:cNvSpPr txBox="1"/>
          <p:nvPr/>
        </p:nvSpPr>
        <p:spPr>
          <a:xfrm>
            <a:off x="3422904" y="5859381"/>
            <a:ext cx="5257800" cy="38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2.7. Truy xuất bộ nhớ RAM ngoài</a:t>
            </a:r>
            <a:endParaRPr i="1" sz="1800">
              <a:solidFill>
                <a:schemeClr val="dk1"/>
              </a:solidFill>
              <a:latin typeface="Times New Roman"/>
              <a:ea typeface="Times New Roman"/>
              <a:cs typeface="Times New Roman"/>
              <a:sym typeface="Times New Roman"/>
            </a:endParaRPr>
          </a:p>
        </p:txBody>
      </p:sp>
      <p:sp>
        <p:nvSpPr>
          <p:cNvPr id="607" name="Google Shape;607;p56"/>
          <p:cNvSpPr txBox="1"/>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(4)</a:t>
            </a:r>
            <a:endParaRPr/>
          </a:p>
        </p:txBody>
      </p:sp>
      <p:sp>
        <p:nvSpPr>
          <p:cNvPr id="608" name="Google Shape;608;p5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7"/>
          <p:cNvSpPr txBox="1"/>
          <p:nvPr>
            <p:ph idx="1" type="body"/>
          </p:nvPr>
        </p:nvSpPr>
        <p:spPr>
          <a:xfrm>
            <a:off x="59141" y="846438"/>
            <a:ext cx="5105400" cy="47896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Cấu trúc chung của IC nhớ</a:t>
            </a:r>
            <a:endParaRPr/>
          </a:p>
        </p:txBody>
      </p:sp>
      <p:grpSp>
        <p:nvGrpSpPr>
          <p:cNvPr id="614" name="Google Shape;614;p57"/>
          <p:cNvGrpSpPr/>
          <p:nvPr/>
        </p:nvGrpSpPr>
        <p:grpSpPr>
          <a:xfrm>
            <a:off x="2611841" y="2057400"/>
            <a:ext cx="6969421" cy="3881400"/>
            <a:chOff x="3617" y="1379"/>
            <a:chExt cx="5744" cy="3200"/>
          </a:xfrm>
        </p:grpSpPr>
        <p:grpSp>
          <p:nvGrpSpPr>
            <p:cNvPr id="615" name="Google Shape;615;p57"/>
            <p:cNvGrpSpPr/>
            <p:nvPr/>
          </p:nvGrpSpPr>
          <p:grpSpPr>
            <a:xfrm>
              <a:off x="3617" y="1379"/>
              <a:ext cx="5744" cy="2623"/>
              <a:chOff x="3617" y="1379"/>
              <a:chExt cx="5744" cy="2623"/>
            </a:xfrm>
          </p:grpSpPr>
          <p:sp>
            <p:nvSpPr>
              <p:cNvPr id="616" name="Google Shape;616;p57"/>
              <p:cNvSpPr txBox="1"/>
              <p:nvPr/>
            </p:nvSpPr>
            <p:spPr>
              <a:xfrm>
                <a:off x="5951" y="1380"/>
                <a:ext cx="1439" cy="2279"/>
              </a:xfrm>
              <a:prstGeom prst="rect">
                <a:avLst/>
              </a:prstGeom>
              <a:solidFill>
                <a:srgbClr val="FFFFFF"/>
              </a:solidFill>
              <a:ln cap="flat" cmpd="sng" w="19050">
                <a:solidFill>
                  <a:srgbClr val="000000"/>
                </a:solidFill>
                <a:prstDash val="solid"/>
                <a:miter lim="8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A0	      D0</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A1	      D1</a:t>
                </a:r>
                <a:endParaRPr/>
              </a:p>
              <a:p>
                <a:pPr indent="0" lvl="0" marL="0" marR="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Am-1	     Dn-1</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WE</a:t>
                </a:r>
                <a:endParaRPr/>
              </a:p>
              <a:p>
                <a:pPr indent="0" lvl="0" marL="0" marR="0" rtl="0" algn="l">
                  <a:spcBef>
                    <a:spcPts val="600"/>
                  </a:spcBef>
                  <a:spcAft>
                    <a:spcPts val="0"/>
                  </a:spcAft>
                  <a:buNone/>
                </a:pPr>
                <a:r>
                  <a:rPr b="1" lang="en-US" sz="1800">
                    <a:solidFill>
                      <a:schemeClr val="dk1"/>
                    </a:solidFill>
                    <a:latin typeface="Calibri"/>
                    <a:ea typeface="Calibri"/>
                    <a:cs typeface="Calibri"/>
                    <a:sym typeface="Calibri"/>
                  </a:rPr>
                  <a:t>  OE</a:t>
                </a:r>
                <a:endParaRPr/>
              </a:p>
            </p:txBody>
          </p:sp>
          <p:cxnSp>
            <p:nvCxnSpPr>
              <p:cNvPr id="617" name="Google Shape;617;p57"/>
              <p:cNvCxnSpPr/>
              <p:nvPr/>
            </p:nvCxnSpPr>
            <p:spPr>
              <a:xfrm>
                <a:off x="7390" y="1493"/>
                <a:ext cx="841" cy="1"/>
              </a:xfrm>
              <a:prstGeom prst="straightConnector1">
                <a:avLst/>
              </a:prstGeom>
              <a:noFill/>
              <a:ln cap="flat" cmpd="sng" w="9525">
                <a:solidFill>
                  <a:srgbClr val="000000"/>
                </a:solidFill>
                <a:prstDash val="solid"/>
                <a:round/>
                <a:headEnd len="med" w="med" type="stealth"/>
                <a:tailEnd len="med" w="med" type="stealth"/>
              </a:ln>
            </p:spPr>
          </p:cxnSp>
          <p:cxnSp>
            <p:nvCxnSpPr>
              <p:cNvPr id="618" name="Google Shape;618;p57"/>
              <p:cNvCxnSpPr/>
              <p:nvPr/>
            </p:nvCxnSpPr>
            <p:spPr>
              <a:xfrm>
                <a:off x="7376" y="1751"/>
                <a:ext cx="841" cy="1"/>
              </a:xfrm>
              <a:prstGeom prst="straightConnector1">
                <a:avLst/>
              </a:prstGeom>
              <a:noFill/>
              <a:ln cap="flat" cmpd="sng" w="9525">
                <a:solidFill>
                  <a:srgbClr val="000000"/>
                </a:solidFill>
                <a:prstDash val="solid"/>
                <a:round/>
                <a:headEnd len="med" w="med" type="stealth"/>
                <a:tailEnd len="med" w="med" type="stealth"/>
              </a:ln>
            </p:spPr>
          </p:cxnSp>
          <p:cxnSp>
            <p:nvCxnSpPr>
              <p:cNvPr id="619" name="Google Shape;619;p57"/>
              <p:cNvCxnSpPr/>
              <p:nvPr/>
            </p:nvCxnSpPr>
            <p:spPr>
              <a:xfrm>
                <a:off x="7376" y="2518"/>
                <a:ext cx="841" cy="1"/>
              </a:xfrm>
              <a:prstGeom prst="straightConnector1">
                <a:avLst/>
              </a:prstGeom>
              <a:noFill/>
              <a:ln cap="flat" cmpd="sng" w="9525">
                <a:solidFill>
                  <a:srgbClr val="000000"/>
                </a:solidFill>
                <a:prstDash val="solid"/>
                <a:round/>
                <a:headEnd len="med" w="med" type="stealth"/>
                <a:tailEnd len="med" w="med" type="stealth"/>
              </a:ln>
            </p:spPr>
          </p:cxnSp>
          <p:cxnSp>
            <p:nvCxnSpPr>
              <p:cNvPr id="620" name="Google Shape;620;p57"/>
              <p:cNvCxnSpPr/>
              <p:nvPr/>
            </p:nvCxnSpPr>
            <p:spPr>
              <a:xfrm>
                <a:off x="5110" y="1494"/>
                <a:ext cx="841" cy="1"/>
              </a:xfrm>
              <a:prstGeom prst="straightConnector1">
                <a:avLst/>
              </a:prstGeom>
              <a:noFill/>
              <a:ln cap="flat" cmpd="sng" w="9525">
                <a:solidFill>
                  <a:srgbClr val="000000"/>
                </a:solidFill>
                <a:prstDash val="solid"/>
                <a:round/>
                <a:headEnd len="med" w="med" type="none"/>
                <a:tailEnd len="med" w="med" type="stealth"/>
              </a:ln>
            </p:spPr>
          </p:cxnSp>
          <p:cxnSp>
            <p:nvCxnSpPr>
              <p:cNvPr id="621" name="Google Shape;621;p57"/>
              <p:cNvCxnSpPr/>
              <p:nvPr/>
            </p:nvCxnSpPr>
            <p:spPr>
              <a:xfrm>
                <a:off x="5096" y="1752"/>
                <a:ext cx="841" cy="1"/>
              </a:xfrm>
              <a:prstGeom prst="straightConnector1">
                <a:avLst/>
              </a:prstGeom>
              <a:noFill/>
              <a:ln cap="flat" cmpd="sng" w="9525">
                <a:solidFill>
                  <a:srgbClr val="000000"/>
                </a:solidFill>
                <a:prstDash val="solid"/>
                <a:round/>
                <a:headEnd len="med" w="med" type="none"/>
                <a:tailEnd len="med" w="med" type="stealth"/>
              </a:ln>
            </p:spPr>
          </p:cxnSp>
          <p:cxnSp>
            <p:nvCxnSpPr>
              <p:cNvPr id="622" name="Google Shape;622;p57"/>
              <p:cNvCxnSpPr/>
              <p:nvPr/>
            </p:nvCxnSpPr>
            <p:spPr>
              <a:xfrm>
                <a:off x="5096" y="2519"/>
                <a:ext cx="841" cy="1"/>
              </a:xfrm>
              <a:prstGeom prst="straightConnector1">
                <a:avLst/>
              </a:prstGeom>
              <a:noFill/>
              <a:ln cap="flat" cmpd="sng" w="9525">
                <a:solidFill>
                  <a:srgbClr val="000000"/>
                </a:solidFill>
                <a:prstDash val="solid"/>
                <a:round/>
                <a:headEnd len="med" w="med" type="none"/>
                <a:tailEnd len="med" w="med" type="stealth"/>
              </a:ln>
            </p:spPr>
          </p:cxnSp>
          <p:cxnSp>
            <p:nvCxnSpPr>
              <p:cNvPr id="623" name="Google Shape;623;p57"/>
              <p:cNvCxnSpPr/>
              <p:nvPr/>
            </p:nvCxnSpPr>
            <p:spPr>
              <a:xfrm>
                <a:off x="5039" y="2991"/>
                <a:ext cx="907" cy="1"/>
              </a:xfrm>
              <a:prstGeom prst="straightConnector1">
                <a:avLst/>
              </a:prstGeom>
              <a:noFill/>
              <a:ln cap="flat" cmpd="sng" w="9525">
                <a:solidFill>
                  <a:srgbClr val="000000"/>
                </a:solidFill>
                <a:prstDash val="solid"/>
                <a:round/>
                <a:headEnd len="med" w="med" type="none"/>
                <a:tailEnd len="med" w="med" type="stealth"/>
              </a:ln>
            </p:spPr>
          </p:cxnSp>
          <p:cxnSp>
            <p:nvCxnSpPr>
              <p:cNvPr id="624" name="Google Shape;624;p57"/>
              <p:cNvCxnSpPr/>
              <p:nvPr/>
            </p:nvCxnSpPr>
            <p:spPr>
              <a:xfrm>
                <a:off x="5039" y="3276"/>
                <a:ext cx="907" cy="1"/>
              </a:xfrm>
              <a:prstGeom prst="straightConnector1">
                <a:avLst/>
              </a:prstGeom>
              <a:noFill/>
              <a:ln cap="flat" cmpd="sng" w="9525">
                <a:solidFill>
                  <a:srgbClr val="000000"/>
                </a:solidFill>
                <a:prstDash val="solid"/>
                <a:round/>
                <a:headEnd len="med" w="med" type="none"/>
                <a:tailEnd len="med" w="med" type="stealth"/>
              </a:ln>
            </p:spPr>
          </p:cxnSp>
          <p:cxnSp>
            <p:nvCxnSpPr>
              <p:cNvPr id="625" name="Google Shape;625;p57"/>
              <p:cNvCxnSpPr/>
              <p:nvPr/>
            </p:nvCxnSpPr>
            <p:spPr>
              <a:xfrm flipH="1" rot="10800000">
                <a:off x="6679" y="3655"/>
                <a:ext cx="1" cy="340"/>
              </a:xfrm>
              <a:prstGeom prst="straightConnector1">
                <a:avLst/>
              </a:prstGeom>
              <a:noFill/>
              <a:ln cap="flat" cmpd="sng" w="9525">
                <a:solidFill>
                  <a:srgbClr val="000000"/>
                </a:solidFill>
                <a:prstDash val="solid"/>
                <a:round/>
                <a:headEnd len="med" w="med" type="none"/>
                <a:tailEnd len="med" w="med" type="stealth"/>
              </a:ln>
            </p:spPr>
          </p:cxnSp>
          <p:cxnSp>
            <p:nvCxnSpPr>
              <p:cNvPr id="626" name="Google Shape;626;p57"/>
              <p:cNvCxnSpPr/>
              <p:nvPr/>
            </p:nvCxnSpPr>
            <p:spPr>
              <a:xfrm flipH="1">
                <a:off x="5039" y="4001"/>
                <a:ext cx="1641" cy="1"/>
              </a:xfrm>
              <a:prstGeom prst="straightConnector1">
                <a:avLst/>
              </a:prstGeom>
              <a:noFill/>
              <a:ln cap="flat" cmpd="sng" w="9525">
                <a:solidFill>
                  <a:srgbClr val="000000"/>
                </a:solidFill>
                <a:prstDash val="solid"/>
                <a:round/>
                <a:headEnd len="med" w="med" type="none"/>
                <a:tailEnd len="med" w="med" type="none"/>
              </a:ln>
            </p:spPr>
          </p:cxnSp>
          <p:sp>
            <p:nvSpPr>
              <p:cNvPr id="627" name="Google Shape;627;p57"/>
              <p:cNvSpPr/>
              <p:nvPr/>
            </p:nvSpPr>
            <p:spPr>
              <a:xfrm>
                <a:off x="8288" y="1379"/>
                <a:ext cx="171" cy="1197"/>
              </a:xfrm>
              <a:prstGeom prst="rightBrace">
                <a:avLst>
                  <a:gd fmla="val 58333" name="adj1"/>
                  <a:gd fmla="val 50000" name="adj2"/>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b="1" sz="4000">
                  <a:solidFill>
                    <a:schemeClr val="dk1"/>
                  </a:solidFill>
                  <a:latin typeface="Calibri"/>
                  <a:ea typeface="Calibri"/>
                  <a:cs typeface="Calibri"/>
                  <a:sym typeface="Calibri"/>
                </a:endParaRPr>
              </a:p>
            </p:txBody>
          </p:sp>
          <p:sp>
            <p:nvSpPr>
              <p:cNvPr id="628" name="Google Shape;628;p57"/>
              <p:cNvSpPr/>
              <p:nvPr/>
            </p:nvSpPr>
            <p:spPr>
              <a:xfrm>
                <a:off x="4754" y="1436"/>
                <a:ext cx="228" cy="1140"/>
              </a:xfrm>
              <a:prstGeom prst="leftBrace">
                <a:avLst>
                  <a:gd fmla="val 41667" name="adj1"/>
                  <a:gd fmla="val 50000" name="adj2"/>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b="1" sz="4000">
                  <a:solidFill>
                    <a:schemeClr val="dk1"/>
                  </a:solidFill>
                  <a:latin typeface="Calibri"/>
                  <a:ea typeface="Calibri"/>
                  <a:cs typeface="Calibri"/>
                  <a:sym typeface="Calibri"/>
                </a:endParaRPr>
              </a:p>
            </p:txBody>
          </p:sp>
          <p:grpSp>
            <p:nvGrpSpPr>
              <p:cNvPr id="629" name="Google Shape;629;p57"/>
              <p:cNvGrpSpPr/>
              <p:nvPr/>
            </p:nvGrpSpPr>
            <p:grpSpPr>
              <a:xfrm>
                <a:off x="4526" y="2895"/>
                <a:ext cx="399" cy="227"/>
                <a:chOff x="5321" y="8927"/>
                <a:chExt cx="399" cy="227"/>
              </a:xfrm>
            </p:grpSpPr>
            <p:sp>
              <p:nvSpPr>
                <p:cNvPr id="630" name="Google Shape;630;p57"/>
                <p:cNvSpPr txBox="1"/>
                <p:nvPr/>
              </p:nvSpPr>
              <p:spPr>
                <a:xfrm>
                  <a:off x="5321" y="8927"/>
                  <a:ext cx="399" cy="22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WRRD</a:t>
                  </a:r>
                  <a:endParaRPr b="1" sz="1800">
                    <a:solidFill>
                      <a:schemeClr val="dk1"/>
                    </a:solidFill>
                    <a:latin typeface="Times New Roman"/>
                    <a:ea typeface="Times New Roman"/>
                    <a:cs typeface="Times New Roman"/>
                    <a:sym typeface="Times New Roman"/>
                  </a:endParaRPr>
                </a:p>
                <a:p>
                  <a:pPr indent="0" lvl="0" marL="0" marR="0" rtl="0" algn="ctr">
                    <a:spcBef>
                      <a:spcPts val="1000"/>
                    </a:spcBef>
                    <a:spcAft>
                      <a:spcPts val="0"/>
                    </a:spcAft>
                    <a:buNone/>
                  </a:pPr>
                  <a:r>
                    <a:t/>
                  </a:r>
                  <a:endParaRPr b="1" sz="1800">
                    <a:solidFill>
                      <a:schemeClr val="dk1"/>
                    </a:solidFill>
                    <a:latin typeface="Times New Roman"/>
                    <a:ea typeface="Times New Roman"/>
                    <a:cs typeface="Times New Roman"/>
                    <a:sym typeface="Times New Roman"/>
                  </a:endParaRPr>
                </a:p>
              </p:txBody>
            </p:sp>
            <p:cxnSp>
              <p:nvCxnSpPr>
                <p:cNvPr id="631" name="Google Shape;631;p57"/>
                <p:cNvCxnSpPr/>
                <p:nvPr/>
              </p:nvCxnSpPr>
              <p:spPr>
                <a:xfrm>
                  <a:off x="5378" y="8927"/>
                  <a:ext cx="285" cy="1"/>
                </a:xfrm>
                <a:prstGeom prst="straightConnector1">
                  <a:avLst/>
                </a:prstGeom>
                <a:noFill/>
                <a:ln cap="flat" cmpd="sng" w="9525">
                  <a:solidFill>
                    <a:srgbClr val="000000"/>
                  </a:solidFill>
                  <a:prstDash val="solid"/>
                  <a:round/>
                  <a:headEnd len="med" w="med" type="none"/>
                  <a:tailEnd len="med" w="med" type="none"/>
                </a:ln>
              </p:spPr>
            </p:cxnSp>
          </p:grpSp>
          <p:grpSp>
            <p:nvGrpSpPr>
              <p:cNvPr id="632" name="Google Shape;632;p57"/>
              <p:cNvGrpSpPr/>
              <p:nvPr/>
            </p:nvGrpSpPr>
            <p:grpSpPr>
              <a:xfrm>
                <a:off x="4526" y="3179"/>
                <a:ext cx="399" cy="243"/>
                <a:chOff x="5321" y="9211"/>
                <a:chExt cx="399" cy="243"/>
              </a:xfrm>
            </p:grpSpPr>
            <p:sp>
              <p:nvSpPr>
                <p:cNvPr id="633" name="Google Shape;633;p57"/>
                <p:cNvSpPr txBox="1"/>
                <p:nvPr/>
              </p:nvSpPr>
              <p:spPr>
                <a:xfrm>
                  <a:off x="5321" y="9227"/>
                  <a:ext cx="399" cy="22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RD</a:t>
                  </a:r>
                  <a:endParaRPr b="1" sz="4000">
                    <a:solidFill>
                      <a:schemeClr val="dk1"/>
                    </a:solidFill>
                    <a:latin typeface="Arial"/>
                    <a:ea typeface="Arial"/>
                    <a:cs typeface="Arial"/>
                    <a:sym typeface="Arial"/>
                  </a:endParaRPr>
                </a:p>
              </p:txBody>
            </p:sp>
            <p:cxnSp>
              <p:nvCxnSpPr>
                <p:cNvPr id="634" name="Google Shape;634;p57"/>
                <p:cNvCxnSpPr/>
                <p:nvPr/>
              </p:nvCxnSpPr>
              <p:spPr>
                <a:xfrm>
                  <a:off x="5378" y="9211"/>
                  <a:ext cx="285" cy="1"/>
                </a:xfrm>
                <a:prstGeom prst="straightConnector1">
                  <a:avLst/>
                </a:prstGeom>
                <a:noFill/>
                <a:ln cap="flat" cmpd="sng" w="9525">
                  <a:solidFill>
                    <a:srgbClr val="000000"/>
                  </a:solidFill>
                  <a:prstDash val="solid"/>
                  <a:round/>
                  <a:headEnd len="med" w="med" type="none"/>
                  <a:tailEnd len="med" w="med" type="none"/>
                </a:ln>
              </p:spPr>
            </p:cxnSp>
          </p:grpSp>
          <p:sp>
            <p:nvSpPr>
              <p:cNvPr id="635" name="Google Shape;635;p57"/>
              <p:cNvSpPr txBox="1"/>
              <p:nvPr/>
            </p:nvSpPr>
            <p:spPr>
              <a:xfrm>
                <a:off x="3617" y="1893"/>
                <a:ext cx="1013" cy="401"/>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Address</a:t>
                </a:r>
                <a:endParaRPr b="1" sz="4000">
                  <a:solidFill>
                    <a:schemeClr val="dk1"/>
                  </a:solidFill>
                  <a:latin typeface="Arial"/>
                  <a:ea typeface="Arial"/>
                  <a:cs typeface="Arial"/>
                  <a:sym typeface="Arial"/>
                </a:endParaRPr>
              </a:p>
            </p:txBody>
          </p:sp>
          <p:sp>
            <p:nvSpPr>
              <p:cNvPr id="636" name="Google Shape;636;p57"/>
              <p:cNvSpPr txBox="1"/>
              <p:nvPr/>
            </p:nvSpPr>
            <p:spPr>
              <a:xfrm>
                <a:off x="8506" y="1893"/>
                <a:ext cx="855" cy="401"/>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Data</a:t>
                </a:r>
                <a:endParaRPr b="1" sz="4000">
                  <a:solidFill>
                    <a:schemeClr val="dk1"/>
                  </a:solidFill>
                  <a:latin typeface="Arial"/>
                  <a:ea typeface="Arial"/>
                  <a:cs typeface="Arial"/>
                  <a:sym typeface="Arial"/>
                </a:endParaRPr>
              </a:p>
            </p:txBody>
          </p:sp>
          <p:cxnSp>
            <p:nvCxnSpPr>
              <p:cNvPr id="637" name="Google Shape;637;p57"/>
              <p:cNvCxnSpPr/>
              <p:nvPr/>
            </p:nvCxnSpPr>
            <p:spPr>
              <a:xfrm>
                <a:off x="5989" y="2887"/>
                <a:ext cx="285" cy="1"/>
              </a:xfrm>
              <a:prstGeom prst="straightConnector1">
                <a:avLst/>
              </a:prstGeom>
              <a:noFill/>
              <a:ln cap="flat" cmpd="sng" w="9525">
                <a:solidFill>
                  <a:srgbClr val="000000"/>
                </a:solidFill>
                <a:prstDash val="solid"/>
                <a:round/>
                <a:headEnd len="med" w="med" type="none"/>
                <a:tailEnd len="med" w="med" type="none"/>
              </a:ln>
            </p:spPr>
          </p:cxnSp>
          <p:cxnSp>
            <p:nvCxnSpPr>
              <p:cNvPr id="638" name="Google Shape;638;p57"/>
              <p:cNvCxnSpPr/>
              <p:nvPr/>
            </p:nvCxnSpPr>
            <p:spPr>
              <a:xfrm>
                <a:off x="5968" y="3200"/>
                <a:ext cx="285" cy="1"/>
              </a:xfrm>
              <a:prstGeom prst="straightConnector1">
                <a:avLst/>
              </a:prstGeom>
              <a:noFill/>
              <a:ln cap="flat" cmpd="sng" w="9525">
                <a:solidFill>
                  <a:srgbClr val="000000"/>
                </a:solidFill>
                <a:prstDash val="solid"/>
                <a:round/>
                <a:headEnd len="med" w="med" type="none"/>
                <a:tailEnd len="med" w="med" type="none"/>
              </a:ln>
            </p:spPr>
          </p:cxnSp>
        </p:grpSp>
        <p:sp>
          <p:nvSpPr>
            <p:cNvPr id="639" name="Google Shape;639;p57"/>
            <p:cNvSpPr txBox="1"/>
            <p:nvPr/>
          </p:nvSpPr>
          <p:spPr>
            <a:xfrm>
              <a:off x="4056" y="4234"/>
              <a:ext cx="5029" cy="34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Hình 2.8. Cấu trúc chung của 1 IC nhớ</a:t>
              </a:r>
              <a:endParaRPr sz="3600">
                <a:solidFill>
                  <a:schemeClr val="dk1"/>
                </a:solidFill>
                <a:latin typeface="Times New Roman"/>
                <a:ea typeface="Times New Roman"/>
                <a:cs typeface="Times New Roman"/>
                <a:sym typeface="Times New Roman"/>
              </a:endParaRPr>
            </a:p>
          </p:txBody>
        </p:sp>
      </p:grpSp>
      <p:pic>
        <p:nvPicPr>
          <p:cNvPr id="640" name="Google Shape;640;p57"/>
          <p:cNvPicPr preferRelativeResize="0"/>
          <p:nvPr/>
        </p:nvPicPr>
        <p:blipFill rotWithShape="1">
          <a:blip r:embed="rId3">
            <a:alphaModFix/>
          </a:blip>
          <a:srcRect b="0" l="0" r="0" t="0"/>
          <a:stretch/>
        </p:blipFill>
        <p:spPr>
          <a:xfrm>
            <a:off x="6172201" y="4286250"/>
            <a:ext cx="259773" cy="285750"/>
          </a:xfrm>
          <a:prstGeom prst="rect">
            <a:avLst/>
          </a:prstGeom>
          <a:noFill/>
          <a:ln>
            <a:noFill/>
          </a:ln>
        </p:spPr>
      </p:pic>
      <p:sp>
        <p:nvSpPr>
          <p:cNvPr id="641" name="Google Shape;641;p57"/>
          <p:cNvSpPr txBox="1"/>
          <p:nvPr>
            <p:ph type="title"/>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(5)</a:t>
            </a:r>
            <a:endParaRPr/>
          </a:p>
        </p:txBody>
      </p:sp>
      <p:sp>
        <p:nvSpPr>
          <p:cNvPr id="642" name="Google Shape;642;p57"/>
          <p:cNvSpPr txBox="1"/>
          <p:nvPr>
            <p:ph idx="12" type="sldNum"/>
          </p:nvPr>
        </p:nvSpPr>
        <p:spPr>
          <a:xfrm>
            <a:off x="10210800" y="6477000"/>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rgbClr val="FF0000"/>
                </a:solidFill>
              </a:rPr>
              <a:t>‹#›</a:t>
            </a:fld>
            <a:endParaRPr b="1" sz="140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58"/>
          <p:cNvSpPr txBox="1"/>
          <p:nvPr>
            <p:ph idx="1" type="body"/>
          </p:nvPr>
        </p:nvSpPr>
        <p:spPr>
          <a:xfrm>
            <a:off x="216658" y="867157"/>
            <a:ext cx="3733800" cy="457200"/>
          </a:xfrm>
          <a:prstGeom prst="rect">
            <a:avLst/>
          </a:prstGeom>
          <a:noFill/>
          <a:ln>
            <a:noFill/>
          </a:ln>
        </p:spPr>
        <p:txBody>
          <a:bodyPr anchorCtr="0" anchor="t" bIns="45700" lIns="91425" spcFirstLastPara="1" rIns="91425" wrap="square" tIns="45700">
            <a:noAutofit/>
          </a:bodyPr>
          <a:lstStyle/>
          <a:p>
            <a:pPr indent="-342900" lvl="2" marL="3429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Một số IC nhớ ROM</a:t>
            </a:r>
            <a:endParaRPr sz="2800">
              <a:latin typeface="Times New Roman"/>
              <a:ea typeface="Times New Roman"/>
              <a:cs typeface="Times New Roman"/>
              <a:sym typeface="Times New Roman"/>
            </a:endParaRPr>
          </a:p>
          <a:p>
            <a:pPr indent="-114300" lvl="0" marL="342900" rtl="0" algn="l">
              <a:spcBef>
                <a:spcPts val="720"/>
              </a:spcBef>
              <a:spcAft>
                <a:spcPts val="0"/>
              </a:spcAft>
              <a:buClr>
                <a:schemeClr val="dk1"/>
              </a:buClr>
              <a:buSzPts val="3600"/>
              <a:buFont typeface="Noto Sans Symbols"/>
              <a:buNone/>
            </a:pPr>
            <a:r>
              <a:t/>
            </a:r>
            <a:endParaRPr sz="3600">
              <a:latin typeface="Times New Roman"/>
              <a:ea typeface="Times New Roman"/>
              <a:cs typeface="Times New Roman"/>
              <a:sym typeface="Times New Roman"/>
            </a:endParaRPr>
          </a:p>
        </p:txBody>
      </p:sp>
      <p:graphicFrame>
        <p:nvGraphicFramePr>
          <p:cNvPr id="648" name="Google Shape;648;p58"/>
          <p:cNvGraphicFramePr/>
          <p:nvPr/>
        </p:nvGraphicFramePr>
        <p:xfrm>
          <a:off x="228600" y="2005584"/>
          <a:ext cx="3000000" cy="3000000"/>
        </p:xfrm>
        <a:graphic>
          <a:graphicData uri="http://schemas.openxmlformats.org/drawingml/2006/table">
            <a:tbl>
              <a:tblPr>
                <a:noFill/>
                <a:tableStyleId>{8AC10082-C988-4917-91FB-A304A12D18EA}</a:tableStyleId>
              </a:tblPr>
              <a:tblGrid>
                <a:gridCol w="2065750"/>
                <a:gridCol w="2201450"/>
              </a:tblGrid>
              <a:tr h="372525">
                <a:tc gridSpan="2">
                  <a:txBody>
                    <a:bodyPr/>
                    <a:lstStyle/>
                    <a:p>
                      <a:pPr indent="0" lvl="0" marL="0" marR="0" rtl="0" algn="l">
                        <a:lnSpc>
                          <a:spcPct val="115000"/>
                        </a:lnSpc>
                        <a:spcBef>
                          <a:spcPts val="0"/>
                        </a:spcBef>
                        <a:spcAft>
                          <a:spcPts val="0"/>
                        </a:spcAft>
                        <a:buNone/>
                      </a:pPr>
                      <a:r>
                        <a:rPr i="1" lang="en-US" sz="24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Bảng 2.3. Họ EPROM 27x</a:t>
                      </a:r>
                      <a:endParaRPr sz="2400">
                        <a:latin typeface="Times New Roman"/>
                        <a:ea typeface="Times New Roman"/>
                        <a:cs typeface="Times New Roman"/>
                        <a:sym typeface="Times New Roman"/>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72525">
                <a:tc>
                  <a:txBody>
                    <a:bodyPr/>
                    <a:lstStyle/>
                    <a:p>
                      <a:pPr indent="0" lvl="0" marL="0" marR="0" rtl="0" algn="ctr">
                        <a:lnSpc>
                          <a:spcPct val="115000"/>
                        </a:lnSpc>
                        <a:spcBef>
                          <a:spcPts val="0"/>
                        </a:spcBef>
                        <a:spcAft>
                          <a:spcPts val="0"/>
                        </a:spcAft>
                        <a:buNone/>
                      </a:pPr>
                      <a:r>
                        <a:rPr b="1" lang="en-US" sz="2400">
                          <a:latin typeface="Times New Roman"/>
                          <a:ea typeface="Times New Roman"/>
                          <a:cs typeface="Times New Roman"/>
                          <a:sym typeface="Times New Roman"/>
                        </a:rPr>
                        <a:t>Số hiệu Chip</a:t>
                      </a:r>
                      <a:endParaRPr sz="2400">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400">
                          <a:latin typeface="Times New Roman"/>
                          <a:ea typeface="Times New Roman"/>
                          <a:cs typeface="Times New Roman"/>
                          <a:sym typeface="Times New Roman"/>
                        </a:rPr>
                        <a:t>Dung lượng</a:t>
                      </a:r>
                      <a:endParaRPr sz="2400">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2708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1K*8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2716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2732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4K*8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2764</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8K*8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27128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16K*8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27256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32K*8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2525">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27512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64K*8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649" name="Google Shape;649;p58"/>
          <p:cNvSpPr/>
          <p:nvPr/>
        </p:nvSpPr>
        <p:spPr>
          <a:xfrm>
            <a:off x="8329684" y="2408128"/>
            <a:ext cx="3709916" cy="155427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 Tac = 450ns</a:t>
            </a:r>
            <a:endParaRPr sz="2000">
              <a:solidFill>
                <a:schemeClr val="dk1"/>
              </a:solidFill>
              <a:latin typeface="Arial"/>
              <a:ea typeface="Arial"/>
              <a:cs typeface="Arial"/>
              <a:sym typeface="Arial"/>
            </a:endParaRPr>
          </a:p>
          <a:p>
            <a:pPr indent="0" lvl="0" marL="0" marR="0" rtl="0" algn="l">
              <a:spcBef>
                <a:spcPts val="600"/>
              </a:spcBef>
              <a:spcAft>
                <a:spcPts val="0"/>
              </a:spcAft>
              <a:buNone/>
            </a:pPr>
            <a:r>
              <a:rPr lang="en-US" sz="2000">
                <a:solidFill>
                  <a:schemeClr val="dk1"/>
                </a:solidFill>
                <a:latin typeface="Arial"/>
                <a:ea typeface="Arial"/>
                <a:cs typeface="Arial"/>
                <a:sym typeface="Arial"/>
              </a:rPr>
              <a:t>- Vpp : Read 5V, Program 25V</a:t>
            </a:r>
            <a:endParaRPr sz="2000">
              <a:solidFill>
                <a:schemeClr val="dk1"/>
              </a:solidFill>
              <a:latin typeface="Arial"/>
              <a:ea typeface="Arial"/>
              <a:cs typeface="Arial"/>
              <a:sym typeface="Arial"/>
            </a:endParaRPr>
          </a:p>
          <a:p>
            <a:pPr indent="-127000" lvl="0" marL="0" marR="0" rtl="0" algn="l">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 Vcc: Power 5V</a:t>
            </a:r>
            <a:endParaRPr/>
          </a:p>
          <a:p>
            <a:pPr indent="-127000" lvl="0" marL="0" marR="0" rtl="0" algn="l">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 GND: Ground </a:t>
            </a:r>
            <a:endParaRPr/>
          </a:p>
        </p:txBody>
      </p:sp>
      <p:grpSp>
        <p:nvGrpSpPr>
          <p:cNvPr id="650" name="Google Shape;650;p58"/>
          <p:cNvGrpSpPr/>
          <p:nvPr/>
        </p:nvGrpSpPr>
        <p:grpSpPr>
          <a:xfrm>
            <a:off x="8329684" y="4008328"/>
            <a:ext cx="3243708" cy="1554272"/>
            <a:chOff x="9483214" y="1420083"/>
            <a:chExt cx="3243708" cy="1554272"/>
          </a:xfrm>
        </p:grpSpPr>
        <p:sp>
          <p:nvSpPr>
            <p:cNvPr id="651" name="Google Shape;651;p58"/>
            <p:cNvSpPr/>
            <p:nvPr/>
          </p:nvSpPr>
          <p:spPr>
            <a:xfrm>
              <a:off x="9483214" y="1420083"/>
              <a:ext cx="3243708" cy="1554272"/>
            </a:xfrm>
            <a:prstGeom prst="rect">
              <a:avLst/>
            </a:prstGeom>
            <a:noFill/>
            <a:ln>
              <a:noFill/>
            </a:ln>
          </p:spPr>
          <p:txBody>
            <a:bodyPr anchorCtr="0" anchor="ctr" bIns="45700" lIns="91425" spcFirstLastPara="1" rIns="91425" wrap="square" tIns="45700">
              <a:spAutoFit/>
            </a:bodyPr>
            <a:lstStyle/>
            <a:p>
              <a:pPr indent="-127000" lvl="0" marL="0" marR="0" rtl="0" algn="l">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A0-A10:  Address Inputs</a:t>
              </a:r>
              <a:endParaRPr/>
            </a:p>
            <a:p>
              <a:pPr indent="-127000" lvl="0" marL="0" marR="0" rtl="0" algn="l">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 D0-D7: Data Outputs</a:t>
              </a:r>
              <a:endParaRPr/>
            </a:p>
            <a:p>
              <a:pPr indent="0" lvl="0" marL="0" marR="0" rtl="0" algn="l">
                <a:spcBef>
                  <a:spcPts val="600"/>
                </a:spcBef>
                <a:spcAft>
                  <a:spcPts val="0"/>
                </a:spcAft>
                <a:buNone/>
              </a:pPr>
              <a:r>
                <a:rPr lang="en-US" sz="2000">
                  <a:solidFill>
                    <a:schemeClr val="dk1"/>
                  </a:solidFill>
                  <a:latin typeface="Arial"/>
                  <a:ea typeface="Arial"/>
                  <a:cs typeface="Arial"/>
                  <a:sym typeface="Arial"/>
                </a:rPr>
                <a:t>- CS: Chip enable</a:t>
              </a:r>
              <a:endParaRPr/>
            </a:p>
            <a:p>
              <a:pPr indent="-127000" lvl="0" marL="0" marR="0" rtl="0" algn="l">
                <a:spcBef>
                  <a:spcPts val="600"/>
                </a:spcBef>
                <a:spcAft>
                  <a:spcPts val="0"/>
                </a:spcAft>
                <a:buClr>
                  <a:schemeClr val="dk1"/>
                </a:buClr>
                <a:buSzPts val="2000"/>
                <a:buFont typeface="Arial"/>
                <a:buChar char="-"/>
              </a:pPr>
              <a:r>
                <a:rPr lang="en-US" sz="2000">
                  <a:solidFill>
                    <a:schemeClr val="dk1"/>
                  </a:solidFill>
                  <a:latin typeface="Arial"/>
                  <a:ea typeface="Arial"/>
                  <a:cs typeface="Arial"/>
                  <a:sym typeface="Arial"/>
                </a:rPr>
                <a:t> OE: Output enable</a:t>
              </a:r>
              <a:endParaRPr/>
            </a:p>
          </p:txBody>
        </p:sp>
        <p:cxnSp>
          <p:nvCxnSpPr>
            <p:cNvPr id="652" name="Google Shape;652;p58"/>
            <p:cNvCxnSpPr/>
            <p:nvPr/>
          </p:nvCxnSpPr>
          <p:spPr>
            <a:xfrm>
              <a:off x="9753600" y="2286967"/>
              <a:ext cx="274320" cy="1588"/>
            </a:xfrm>
            <a:prstGeom prst="straightConnector1">
              <a:avLst/>
            </a:prstGeom>
            <a:noFill/>
            <a:ln cap="flat" cmpd="sng" w="9525">
              <a:solidFill>
                <a:schemeClr val="dk1"/>
              </a:solidFill>
              <a:prstDash val="solid"/>
              <a:round/>
              <a:headEnd len="sm" w="sm" type="none"/>
              <a:tailEnd len="sm" w="sm" type="none"/>
            </a:ln>
          </p:spPr>
        </p:cxnSp>
        <p:cxnSp>
          <p:nvCxnSpPr>
            <p:cNvPr id="653" name="Google Shape;653;p58"/>
            <p:cNvCxnSpPr/>
            <p:nvPr/>
          </p:nvCxnSpPr>
          <p:spPr>
            <a:xfrm>
              <a:off x="9770660" y="2667967"/>
              <a:ext cx="274320" cy="1588"/>
            </a:xfrm>
            <a:prstGeom prst="straightConnector1">
              <a:avLst/>
            </a:prstGeom>
            <a:noFill/>
            <a:ln cap="flat" cmpd="sng" w="9525">
              <a:solidFill>
                <a:schemeClr val="dk1"/>
              </a:solidFill>
              <a:prstDash val="solid"/>
              <a:round/>
              <a:headEnd len="sm" w="sm" type="none"/>
              <a:tailEnd len="sm" w="sm" type="none"/>
            </a:ln>
          </p:spPr>
        </p:cxnSp>
      </p:grpSp>
      <p:sp>
        <p:nvSpPr>
          <p:cNvPr id="654" name="Google Shape;654;p58"/>
          <p:cNvSpPr txBox="1"/>
          <p:nvPr/>
        </p:nvSpPr>
        <p:spPr>
          <a:xfrm>
            <a:off x="4561652" y="6019800"/>
            <a:ext cx="3896548" cy="533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2.9. Sơ đồ EPROM 2716</a:t>
            </a:r>
            <a:endParaRPr sz="3200">
              <a:solidFill>
                <a:schemeClr val="dk1"/>
              </a:solidFill>
              <a:latin typeface="Times New Roman"/>
              <a:ea typeface="Times New Roman"/>
              <a:cs typeface="Times New Roman"/>
              <a:sym typeface="Times New Roman"/>
            </a:endParaRPr>
          </a:p>
        </p:txBody>
      </p:sp>
      <p:pic>
        <p:nvPicPr>
          <p:cNvPr id="655" name="Google Shape;655;p58"/>
          <p:cNvPicPr preferRelativeResize="0"/>
          <p:nvPr/>
        </p:nvPicPr>
        <p:blipFill rotWithShape="1">
          <a:blip r:embed="rId3">
            <a:alphaModFix/>
          </a:blip>
          <a:srcRect b="0" l="0" r="0" t="0"/>
          <a:stretch/>
        </p:blipFill>
        <p:spPr>
          <a:xfrm>
            <a:off x="5150549" y="2362200"/>
            <a:ext cx="2676786" cy="3441581"/>
          </a:xfrm>
          <a:prstGeom prst="rect">
            <a:avLst/>
          </a:prstGeom>
          <a:noFill/>
          <a:ln>
            <a:noFill/>
          </a:ln>
        </p:spPr>
      </p:pic>
      <p:sp>
        <p:nvSpPr>
          <p:cNvPr id="656" name="Google Shape;656;p58"/>
          <p:cNvSpPr txBox="1"/>
          <p:nvPr>
            <p:ph type="title"/>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(6)</a:t>
            </a:r>
            <a:endParaRPr/>
          </a:p>
        </p:txBody>
      </p:sp>
      <p:sp>
        <p:nvSpPr>
          <p:cNvPr id="657" name="Google Shape;657;p58"/>
          <p:cNvSpPr txBox="1"/>
          <p:nvPr>
            <p:ph idx="12" type="sldNum"/>
          </p:nvPr>
        </p:nvSpPr>
        <p:spPr>
          <a:xfrm>
            <a:off x="10287000" y="6582770"/>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9"/>
          <p:cNvSpPr txBox="1"/>
          <p:nvPr>
            <p:ph idx="1" type="body"/>
          </p:nvPr>
        </p:nvSpPr>
        <p:spPr>
          <a:xfrm>
            <a:off x="228600" y="734150"/>
            <a:ext cx="5943600" cy="548312"/>
          </a:xfrm>
          <a:prstGeom prst="rect">
            <a:avLst/>
          </a:prstGeom>
          <a:noFill/>
          <a:ln>
            <a:noFill/>
          </a:ln>
        </p:spPr>
        <p:txBody>
          <a:bodyPr anchorCtr="0" anchor="t" bIns="45700" lIns="91425" spcFirstLastPara="1" rIns="91425" wrap="square" tIns="45700">
            <a:normAutofit/>
          </a:bodyPr>
          <a:lstStyle/>
          <a:p>
            <a:pPr indent="-342900" lvl="2" marL="3429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Một số IC nhớ RAM</a:t>
            </a:r>
            <a:endParaRPr sz="2800">
              <a:latin typeface="Times New Roman"/>
              <a:ea typeface="Times New Roman"/>
              <a:cs typeface="Times New Roman"/>
              <a:sym typeface="Times New Roman"/>
            </a:endParaRPr>
          </a:p>
        </p:txBody>
      </p:sp>
      <p:graphicFrame>
        <p:nvGraphicFramePr>
          <p:cNvPr id="663" name="Google Shape;663;p59"/>
          <p:cNvGraphicFramePr/>
          <p:nvPr/>
        </p:nvGraphicFramePr>
        <p:xfrm>
          <a:off x="1341786" y="1564516"/>
          <a:ext cx="3000000" cy="3000000"/>
        </p:xfrm>
        <a:graphic>
          <a:graphicData uri="http://schemas.openxmlformats.org/drawingml/2006/table">
            <a:tbl>
              <a:tblPr>
                <a:noFill/>
                <a:tableStyleId>{8AC10082-C988-4917-91FB-A304A12D18EA}</a:tableStyleId>
              </a:tblPr>
              <a:tblGrid>
                <a:gridCol w="2176425"/>
                <a:gridCol w="2319375"/>
              </a:tblGrid>
              <a:tr h="520700">
                <a:tc gridSpan="2">
                  <a:txBody>
                    <a:bodyPr/>
                    <a:lstStyle/>
                    <a:p>
                      <a:pPr indent="0" lvl="0" marL="0" marR="0" rtl="0" algn="l">
                        <a:lnSpc>
                          <a:spcPct val="115000"/>
                        </a:lnSpc>
                        <a:spcBef>
                          <a:spcPts val="0"/>
                        </a:spcBef>
                        <a:spcAft>
                          <a:spcPts val="0"/>
                        </a:spcAft>
                        <a:buNone/>
                      </a:pPr>
                      <a:r>
                        <a:rPr i="1" lang="en-US" sz="2400">
                          <a:latin typeface="Times New Roman"/>
                          <a:ea typeface="Times New Roman"/>
                          <a:cs typeface="Times New Roman"/>
                          <a:sym typeface="Times New Roman"/>
                        </a:rPr>
                        <a:t>	Bảng 2.4.Một số IC nhớ RAM</a:t>
                      </a:r>
                      <a:endParaRPr sz="2400">
                        <a:latin typeface="Times New Roman"/>
                        <a:ea typeface="Times New Roman"/>
                        <a:cs typeface="Times New Roman"/>
                        <a:sym typeface="Times New Roman"/>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20700">
                <a:tc>
                  <a:txBody>
                    <a:bodyPr/>
                    <a:lstStyle/>
                    <a:p>
                      <a:pPr indent="0" lvl="0" marL="0" marR="0" rtl="0" algn="ctr">
                        <a:lnSpc>
                          <a:spcPct val="115000"/>
                        </a:lnSpc>
                        <a:spcBef>
                          <a:spcPts val="0"/>
                        </a:spcBef>
                        <a:spcAft>
                          <a:spcPts val="0"/>
                        </a:spcAft>
                        <a:buNone/>
                      </a:pPr>
                      <a:r>
                        <a:rPr b="1" lang="en-US" sz="2400">
                          <a:latin typeface="Times New Roman"/>
                          <a:ea typeface="Times New Roman"/>
                          <a:cs typeface="Times New Roman"/>
                          <a:sym typeface="Times New Roman"/>
                        </a:rPr>
                        <a:t>Số hiệu Chip</a:t>
                      </a:r>
                      <a:endParaRPr sz="2400">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400">
                          <a:latin typeface="Times New Roman"/>
                          <a:ea typeface="Times New Roman"/>
                          <a:cs typeface="Times New Roman"/>
                          <a:sym typeface="Times New Roman"/>
                        </a:rPr>
                        <a:t>Dung lượng</a:t>
                      </a:r>
                      <a:endParaRPr sz="2400">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0700">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HT 6116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2K*8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0700">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CY 6264</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8K*8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0700">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CY 62256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latin typeface="Times New Roman"/>
                          <a:ea typeface="Times New Roman"/>
                          <a:cs typeface="Times New Roman"/>
                          <a:sym typeface="Times New Roman"/>
                        </a:rPr>
                        <a:t>32K*8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0700">
                <a:tc>
                  <a:txBody>
                    <a:bodyPr/>
                    <a:lstStyle/>
                    <a:p>
                      <a:pPr indent="0" lvl="0" marL="0" marR="0" rtl="0" algn="ctr">
                        <a:lnSpc>
                          <a:spcPct val="115000"/>
                        </a:lnSpc>
                        <a:spcBef>
                          <a:spcPts val="0"/>
                        </a:spcBef>
                        <a:spcAft>
                          <a:spcPts val="0"/>
                        </a:spcAft>
                        <a:buNone/>
                      </a:pPr>
                      <a:r>
                        <a:rPr lang="en-US" sz="2400">
                          <a:solidFill>
                            <a:srgbClr val="000000"/>
                          </a:solidFill>
                          <a:latin typeface="Times New Roman"/>
                          <a:ea typeface="Times New Roman"/>
                          <a:cs typeface="Times New Roman"/>
                          <a:sym typeface="Times New Roman"/>
                        </a:rPr>
                        <a:t>HM 62864</a:t>
                      </a:r>
                      <a:endParaRPr sz="2400">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a:solidFill>
                            <a:srgbClr val="000000"/>
                          </a:solidFill>
                          <a:latin typeface="Times New Roman"/>
                          <a:ea typeface="Times New Roman"/>
                          <a:cs typeface="Times New Roman"/>
                          <a:sym typeface="Times New Roman"/>
                        </a:rPr>
                        <a:t>64K*8</a:t>
                      </a:r>
                      <a:endParaRPr sz="2400">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664" name="Google Shape;664;p59"/>
          <p:cNvSpPr/>
          <p:nvPr/>
        </p:nvSpPr>
        <p:spPr>
          <a:xfrm>
            <a:off x="6629400" y="5532566"/>
            <a:ext cx="3581400" cy="923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T</a:t>
            </a:r>
            <a:r>
              <a:rPr baseline="-25000" lang="en-US" sz="1800">
                <a:solidFill>
                  <a:schemeClr val="dk1"/>
                </a:solidFill>
                <a:latin typeface="Arial"/>
                <a:ea typeface="Arial"/>
                <a:cs typeface="Arial"/>
                <a:sym typeface="Arial"/>
              </a:rPr>
              <a:t>ac</a:t>
            </a:r>
            <a:r>
              <a:rPr lang="en-US" sz="1800">
                <a:solidFill>
                  <a:schemeClr val="dk1"/>
                </a:solidFill>
                <a:latin typeface="Arial"/>
                <a:ea typeface="Arial"/>
                <a:cs typeface="Arial"/>
                <a:sym typeface="Arial"/>
              </a:rPr>
              <a:t> từ 55-70ns</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VCC: Power (5V)</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VSS: Grond</a:t>
            </a:r>
            <a:endParaRPr sz="1800">
              <a:solidFill>
                <a:schemeClr val="dk1"/>
              </a:solidFill>
              <a:latin typeface="Arial"/>
              <a:ea typeface="Arial"/>
              <a:cs typeface="Arial"/>
              <a:sym typeface="Arial"/>
            </a:endParaRPr>
          </a:p>
        </p:txBody>
      </p:sp>
      <p:sp>
        <p:nvSpPr>
          <p:cNvPr id="665" name="Google Shape;665;p59"/>
          <p:cNvSpPr/>
          <p:nvPr/>
        </p:nvSpPr>
        <p:spPr>
          <a:xfrm>
            <a:off x="1690293" y="5084525"/>
            <a:ext cx="4147293" cy="147732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CS: Chip Selet Input</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WR: Output Enabe Input</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I/O1-I/O8: DataInputs/Outputs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A0-A14</a:t>
            </a:r>
            <a:r>
              <a:rPr baseline="-25000" lang="en-US" sz="1800">
                <a:solidFill>
                  <a:schemeClr val="dk1"/>
                </a:solidFill>
                <a:latin typeface="Arial"/>
                <a:ea typeface="Arial"/>
                <a:cs typeface="Arial"/>
                <a:sym typeface="Arial"/>
              </a:rPr>
              <a:t>: </a:t>
            </a:r>
            <a:r>
              <a:rPr lang="en-US" sz="1800">
                <a:solidFill>
                  <a:schemeClr val="dk1"/>
                </a:solidFill>
                <a:latin typeface="Arial"/>
                <a:ea typeface="Arial"/>
                <a:cs typeface="Arial"/>
                <a:sym typeface="Arial"/>
              </a:rPr>
              <a:t>Address Inputs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OE: Output enable</a:t>
            </a:r>
            <a:endParaRPr sz="1000">
              <a:solidFill>
                <a:schemeClr val="dk1"/>
              </a:solidFill>
              <a:latin typeface="Arial"/>
              <a:ea typeface="Arial"/>
              <a:cs typeface="Arial"/>
              <a:sym typeface="Arial"/>
            </a:endParaRPr>
          </a:p>
        </p:txBody>
      </p:sp>
      <p:grpSp>
        <p:nvGrpSpPr>
          <p:cNvPr id="666" name="Google Shape;666;p59"/>
          <p:cNvGrpSpPr/>
          <p:nvPr/>
        </p:nvGrpSpPr>
        <p:grpSpPr>
          <a:xfrm>
            <a:off x="6934200" y="1282462"/>
            <a:ext cx="4267200" cy="3962400"/>
            <a:chOff x="6248400" y="1371600"/>
            <a:chExt cx="4267200" cy="3962400"/>
          </a:xfrm>
        </p:grpSpPr>
        <p:pic>
          <p:nvPicPr>
            <p:cNvPr descr="http://1.bp.blogspot.com/_9r1nt3j6Is4/R5rM_2Zd4qI/AAAAAAAAAMo/CUgfeUUpBaE/s400/km62256BLG.jpg" id="667" name="Google Shape;667;p59"/>
            <p:cNvPicPr preferRelativeResize="0"/>
            <p:nvPr/>
          </p:nvPicPr>
          <p:blipFill rotWithShape="1">
            <a:blip r:embed="rId3">
              <a:alphaModFix/>
            </a:blip>
            <a:srcRect b="0" l="0" r="0" t="0"/>
            <a:stretch/>
          </p:blipFill>
          <p:spPr>
            <a:xfrm>
              <a:off x="6858000" y="1371600"/>
              <a:ext cx="2938732" cy="3429000"/>
            </a:xfrm>
            <a:prstGeom prst="rect">
              <a:avLst/>
            </a:prstGeom>
            <a:noFill/>
            <a:ln>
              <a:noFill/>
            </a:ln>
          </p:spPr>
        </p:pic>
        <p:sp>
          <p:nvSpPr>
            <p:cNvPr id="668" name="Google Shape;668;p59"/>
            <p:cNvSpPr txBox="1"/>
            <p:nvPr/>
          </p:nvSpPr>
          <p:spPr>
            <a:xfrm>
              <a:off x="6248400" y="4800600"/>
              <a:ext cx="4267200" cy="533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Hình 2.10. Sơ đồ SRAM 62256</a:t>
              </a:r>
              <a:endParaRPr sz="3600">
                <a:solidFill>
                  <a:schemeClr val="dk1"/>
                </a:solidFill>
                <a:latin typeface="Times New Roman"/>
                <a:ea typeface="Times New Roman"/>
                <a:cs typeface="Times New Roman"/>
                <a:sym typeface="Times New Roman"/>
              </a:endParaRPr>
            </a:p>
          </p:txBody>
        </p:sp>
      </p:grpSp>
      <p:sp>
        <p:nvSpPr>
          <p:cNvPr id="669" name="Google Shape;669;p59"/>
          <p:cNvSpPr txBox="1"/>
          <p:nvPr>
            <p:ph type="title"/>
          </p:nvPr>
        </p:nvSpPr>
        <p:spPr>
          <a:xfrm>
            <a:off x="76200" y="152400"/>
            <a:ext cx="6172200" cy="56513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2.3.2. Tổ chức bộ nhớ ngoài (7)</a:t>
            </a:r>
            <a:endParaRPr/>
          </a:p>
        </p:txBody>
      </p:sp>
      <p:sp>
        <p:nvSpPr>
          <p:cNvPr id="670" name="Google Shape;670;p59"/>
          <p:cNvSpPr txBox="1"/>
          <p:nvPr>
            <p:ph idx="12" type="sldNum"/>
          </p:nvPr>
        </p:nvSpPr>
        <p:spPr>
          <a:xfrm>
            <a:off x="10247194" y="6455896"/>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60"/>
          <p:cNvSpPr txBox="1"/>
          <p:nvPr>
            <p:ph idx="1" type="body"/>
          </p:nvPr>
        </p:nvSpPr>
        <p:spPr>
          <a:xfrm>
            <a:off x="304800" y="948789"/>
            <a:ext cx="11506200" cy="685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Ví dụ 2.2: </a:t>
            </a:r>
            <a:r>
              <a:rPr lang="en-US" sz="2400">
                <a:latin typeface="Times New Roman"/>
                <a:ea typeface="Times New Roman"/>
                <a:cs typeface="Times New Roman"/>
                <a:sym typeface="Times New Roman"/>
              </a:rPr>
              <a:t>Ghép nối 8051 với ROM ngoài dung lượng 2KB bắt đầu từ địa chỉ 1000h</a:t>
            </a:r>
            <a:endParaRPr/>
          </a:p>
        </p:txBody>
      </p:sp>
      <p:sp>
        <p:nvSpPr>
          <p:cNvPr id="676" name="Google Shape;676;p60"/>
          <p:cNvSpPr txBox="1"/>
          <p:nvPr/>
        </p:nvSpPr>
        <p:spPr>
          <a:xfrm>
            <a:off x="0" y="43866"/>
            <a:ext cx="8229600" cy="58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2.3.3. Ví dụ tổ chức bộ nhớ ngoài – ROM (1)</a:t>
            </a:r>
            <a:endParaRPr sz="2800">
              <a:solidFill>
                <a:srgbClr val="C00000"/>
              </a:solidFill>
              <a:latin typeface="Times New Roman"/>
              <a:ea typeface="Times New Roman"/>
              <a:cs typeface="Times New Roman"/>
              <a:sym typeface="Times New Roman"/>
            </a:endParaRPr>
          </a:p>
        </p:txBody>
      </p:sp>
      <p:graphicFrame>
        <p:nvGraphicFramePr>
          <p:cNvPr id="677" name="Google Shape;677;p60"/>
          <p:cNvGraphicFramePr/>
          <p:nvPr/>
        </p:nvGraphicFramePr>
        <p:xfrm>
          <a:off x="690918" y="2881370"/>
          <a:ext cx="3000000" cy="3000000"/>
        </p:xfrm>
        <a:graphic>
          <a:graphicData uri="http://schemas.openxmlformats.org/drawingml/2006/table">
            <a:tbl>
              <a:tblPr bandRow="1" firstRow="1">
                <a:noFill/>
                <a:tableStyleId>{A4A541D9-23D5-4180-BFA4-B58C0BD4C685}</a:tableStyleId>
              </a:tblPr>
              <a:tblGrid>
                <a:gridCol w="777675"/>
                <a:gridCol w="777675"/>
                <a:gridCol w="777675"/>
                <a:gridCol w="777675"/>
                <a:gridCol w="763425"/>
                <a:gridCol w="777675"/>
                <a:gridCol w="592150"/>
                <a:gridCol w="592150"/>
                <a:gridCol w="592150"/>
                <a:gridCol w="592150"/>
                <a:gridCol w="592150"/>
                <a:gridCol w="592150"/>
                <a:gridCol w="592150"/>
                <a:gridCol w="592150"/>
                <a:gridCol w="648150"/>
                <a:gridCol w="621675"/>
              </a:tblGrid>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A15</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A14</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A13</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A12</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A9</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A8</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A7</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A6</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A5</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A4</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A3</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A2</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r>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r>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r>
              <a:tr h="370850">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r>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ot"/>
                      <a:round/>
                      <a:headEnd len="sm" w="sm" type="none"/>
                      <a:tailEnd len="sm" w="sm" type="none"/>
                    </a:lnL>
                    <a:lnR cap="flat" cmpd="sng" w="12700">
                      <a:solidFill>
                        <a:schemeClr val="dk1"/>
                      </a:solidFill>
                      <a:prstDash val="dot"/>
                      <a:round/>
                      <a:headEnd len="sm" w="sm" type="none"/>
                      <a:tailEnd len="sm" w="sm" type="none"/>
                    </a:lnR>
                    <a:lnT cap="flat" cmpd="sng" w="12700">
                      <a:solidFill>
                        <a:schemeClr val="dk1"/>
                      </a:solidFill>
                      <a:prstDash val="dot"/>
                      <a:round/>
                      <a:headEnd len="sm" w="sm" type="none"/>
                      <a:tailEnd len="sm" w="sm" type="none"/>
                    </a:lnT>
                    <a:lnB cap="flat" cmpd="sng" w="12700">
                      <a:solidFill>
                        <a:schemeClr val="dk1"/>
                      </a:solidFill>
                      <a:prstDash val="dot"/>
                      <a:round/>
                      <a:headEnd len="sm" w="sm" type="none"/>
                      <a:tailEnd len="sm" w="sm" type="none"/>
                    </a:lnB>
                  </a:tcPr>
                </a:tc>
              </a:tr>
            </a:tbl>
          </a:graphicData>
        </a:graphic>
      </p:graphicFrame>
      <p:sp>
        <p:nvSpPr>
          <p:cNvPr id="678" name="Google Shape;678;p60"/>
          <p:cNvSpPr txBox="1"/>
          <p:nvPr/>
        </p:nvSpPr>
        <p:spPr>
          <a:xfrm>
            <a:off x="728449" y="1983745"/>
            <a:ext cx="3323230" cy="576902"/>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Bản đồ địa chỉ:</a:t>
            </a:r>
            <a:endParaRPr/>
          </a:p>
        </p:txBody>
      </p:sp>
      <p:sp>
        <p:nvSpPr>
          <p:cNvPr id="679" name="Google Shape;679;p60"/>
          <p:cNvSpPr txBox="1"/>
          <p:nvPr>
            <p:ph idx="12" type="sldNum"/>
          </p:nvPr>
        </p:nvSpPr>
        <p:spPr>
          <a:xfrm>
            <a:off x="10250479" y="6477000"/>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txBox="1"/>
          <p:nvPr/>
        </p:nvSpPr>
        <p:spPr>
          <a:xfrm>
            <a:off x="152400" y="817593"/>
            <a:ext cx="2590800" cy="66760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Sơ đồ mạch:</a:t>
            </a:r>
            <a:endParaRPr/>
          </a:p>
        </p:txBody>
      </p:sp>
      <p:pic>
        <p:nvPicPr>
          <p:cNvPr id="686" name="Google Shape;686;p61"/>
          <p:cNvPicPr preferRelativeResize="0"/>
          <p:nvPr/>
        </p:nvPicPr>
        <p:blipFill rotWithShape="1">
          <a:blip r:embed="rId3">
            <a:alphaModFix/>
          </a:blip>
          <a:srcRect b="0" l="0" r="0" t="0"/>
          <a:stretch/>
        </p:blipFill>
        <p:spPr>
          <a:xfrm>
            <a:off x="1447800" y="1540789"/>
            <a:ext cx="8968188" cy="4978290"/>
          </a:xfrm>
          <a:prstGeom prst="rect">
            <a:avLst/>
          </a:prstGeom>
          <a:noFill/>
          <a:ln>
            <a:noFill/>
          </a:ln>
        </p:spPr>
      </p:pic>
      <p:sp>
        <p:nvSpPr>
          <p:cNvPr id="687" name="Google Shape;687;p61"/>
          <p:cNvSpPr txBox="1"/>
          <p:nvPr/>
        </p:nvSpPr>
        <p:spPr>
          <a:xfrm>
            <a:off x="152400" y="101600"/>
            <a:ext cx="8229600" cy="58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2.3.3. Ví dụ tổ chức bộ nhớ ngoài – ROM (2)</a:t>
            </a:r>
            <a:endParaRPr sz="2800">
              <a:solidFill>
                <a:srgbClr val="C00000"/>
              </a:solidFill>
              <a:latin typeface="Times New Roman"/>
              <a:ea typeface="Times New Roman"/>
              <a:cs typeface="Times New Roman"/>
              <a:sym typeface="Times New Roman"/>
            </a:endParaRPr>
          </a:p>
        </p:txBody>
      </p:sp>
      <p:sp>
        <p:nvSpPr>
          <p:cNvPr id="688" name="Google Shape;688;p61"/>
          <p:cNvSpPr txBox="1"/>
          <p:nvPr>
            <p:ph idx="12" type="sldNum"/>
          </p:nvPr>
        </p:nvSpPr>
        <p:spPr>
          <a:xfrm>
            <a:off x="10210800" y="6460372"/>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62"/>
          <p:cNvSpPr txBox="1"/>
          <p:nvPr>
            <p:ph idx="1" type="body"/>
          </p:nvPr>
        </p:nvSpPr>
        <p:spPr>
          <a:xfrm>
            <a:off x="381000" y="876973"/>
            <a:ext cx="10972800" cy="83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Ví dụ 2.3:  </a:t>
            </a:r>
            <a:r>
              <a:rPr lang="en-US" sz="2400">
                <a:latin typeface="Times New Roman"/>
                <a:ea typeface="Times New Roman"/>
                <a:cs typeface="Times New Roman"/>
                <a:sym typeface="Times New Roman"/>
              </a:rPr>
              <a:t>ghép nối 8051 với RAM ngoài dung lượng 8KB bắt đầu từ địa chỉ 0000h</a:t>
            </a:r>
            <a:endParaRPr/>
          </a:p>
          <a:p>
            <a:pPr indent="0" lvl="0" marL="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p:txBody>
      </p:sp>
      <p:graphicFrame>
        <p:nvGraphicFramePr>
          <p:cNvPr id="694" name="Google Shape;694;p62"/>
          <p:cNvGraphicFramePr/>
          <p:nvPr/>
        </p:nvGraphicFramePr>
        <p:xfrm>
          <a:off x="762000" y="2514600"/>
          <a:ext cx="3000000" cy="3000000"/>
        </p:xfrm>
        <a:graphic>
          <a:graphicData uri="http://schemas.openxmlformats.org/drawingml/2006/table">
            <a:tbl>
              <a:tblPr bandRow="1" firstRow="1">
                <a:noFill/>
                <a:tableStyleId>{A4A541D9-23D5-4180-BFA4-B58C0BD4C685}</a:tableStyleId>
              </a:tblPr>
              <a:tblGrid>
                <a:gridCol w="761650"/>
                <a:gridCol w="761650"/>
                <a:gridCol w="761650"/>
                <a:gridCol w="761650"/>
                <a:gridCol w="747700"/>
                <a:gridCol w="761650"/>
                <a:gridCol w="579975"/>
                <a:gridCol w="579975"/>
                <a:gridCol w="579975"/>
                <a:gridCol w="579975"/>
                <a:gridCol w="579975"/>
                <a:gridCol w="579975"/>
                <a:gridCol w="579975"/>
                <a:gridCol w="579975"/>
                <a:gridCol w="634800"/>
                <a:gridCol w="608875"/>
              </a:tblGrid>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A15</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A14</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A13</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A9</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A8</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A7</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A6</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A5</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A4</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A3</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A2</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r>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r>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r>
              <a:tr h="370850">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r>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dash"/>
                      <a:round/>
                      <a:headEnd len="sm" w="sm" type="none"/>
                      <a:tailEnd len="sm" w="sm" type="none"/>
                    </a:lnL>
                    <a:lnR cap="flat" cmpd="sng" w="12700">
                      <a:solidFill>
                        <a:schemeClr val="dk1"/>
                      </a:solidFill>
                      <a:prstDash val="dash"/>
                      <a:round/>
                      <a:headEnd len="sm" w="sm" type="none"/>
                      <a:tailEnd len="sm" w="sm" type="none"/>
                    </a:lnR>
                    <a:lnT cap="flat" cmpd="sng" w="12700">
                      <a:solidFill>
                        <a:schemeClr val="dk1"/>
                      </a:solidFill>
                      <a:prstDash val="dash"/>
                      <a:round/>
                      <a:headEnd len="sm" w="sm" type="none"/>
                      <a:tailEnd len="sm" w="sm" type="none"/>
                    </a:lnT>
                    <a:lnB cap="flat" cmpd="sng" w="12700">
                      <a:solidFill>
                        <a:schemeClr val="dk1"/>
                      </a:solidFill>
                      <a:prstDash val="dash"/>
                      <a:round/>
                      <a:headEnd len="sm" w="sm" type="none"/>
                      <a:tailEnd len="sm" w="sm" type="none"/>
                    </a:lnB>
                  </a:tcPr>
                </a:tc>
              </a:tr>
            </a:tbl>
          </a:graphicData>
        </a:graphic>
      </p:graphicFrame>
      <p:sp>
        <p:nvSpPr>
          <p:cNvPr id="695" name="Google Shape;695;p62"/>
          <p:cNvSpPr txBox="1"/>
          <p:nvPr/>
        </p:nvSpPr>
        <p:spPr>
          <a:xfrm>
            <a:off x="762000" y="1732233"/>
            <a:ext cx="3276600" cy="6096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Bản đồ địa chỉ:</a:t>
            </a:r>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696" name="Google Shape;696;p62"/>
          <p:cNvSpPr txBox="1"/>
          <p:nvPr/>
        </p:nvSpPr>
        <p:spPr>
          <a:xfrm>
            <a:off x="228600" y="120006"/>
            <a:ext cx="8229600" cy="58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2.3.3. Ví dụ tổ chức bộ nhớ ngoài – RAM (1)</a:t>
            </a:r>
            <a:endParaRPr sz="2800">
              <a:solidFill>
                <a:srgbClr val="C00000"/>
              </a:solidFill>
              <a:latin typeface="Times New Roman"/>
              <a:ea typeface="Times New Roman"/>
              <a:cs typeface="Times New Roman"/>
              <a:sym typeface="Times New Roman"/>
            </a:endParaRPr>
          </a:p>
        </p:txBody>
      </p:sp>
      <p:sp>
        <p:nvSpPr>
          <p:cNvPr id="697" name="Google Shape;697;p62"/>
          <p:cNvSpPr txBox="1"/>
          <p:nvPr>
            <p:ph idx="12" type="sldNum"/>
          </p:nvPr>
        </p:nvSpPr>
        <p:spPr>
          <a:xfrm>
            <a:off x="10210800" y="6477000"/>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63"/>
          <p:cNvSpPr txBox="1"/>
          <p:nvPr>
            <p:ph idx="1" type="body"/>
          </p:nvPr>
        </p:nvSpPr>
        <p:spPr>
          <a:xfrm>
            <a:off x="228600" y="838200"/>
            <a:ext cx="3581400" cy="533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Sơ đồ mạch:</a:t>
            </a:r>
            <a:endParaRPr/>
          </a:p>
        </p:txBody>
      </p:sp>
      <p:pic>
        <p:nvPicPr>
          <p:cNvPr id="703" name="Google Shape;703;p63"/>
          <p:cNvPicPr preferRelativeResize="0"/>
          <p:nvPr/>
        </p:nvPicPr>
        <p:blipFill rotWithShape="1">
          <a:blip r:embed="rId3">
            <a:alphaModFix/>
          </a:blip>
          <a:srcRect b="0" l="0" r="0" t="0"/>
          <a:stretch/>
        </p:blipFill>
        <p:spPr>
          <a:xfrm>
            <a:off x="609600" y="1572755"/>
            <a:ext cx="11284033" cy="5060027"/>
          </a:xfrm>
          <a:prstGeom prst="rect">
            <a:avLst/>
          </a:prstGeom>
          <a:noFill/>
          <a:ln>
            <a:noFill/>
          </a:ln>
        </p:spPr>
      </p:pic>
      <p:sp>
        <p:nvSpPr>
          <p:cNvPr id="704" name="Google Shape;704;p63"/>
          <p:cNvSpPr txBox="1"/>
          <p:nvPr/>
        </p:nvSpPr>
        <p:spPr>
          <a:xfrm>
            <a:off x="200526" y="153423"/>
            <a:ext cx="8229600" cy="58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2.3.3. Ví dụ tổ chức bộ nhớ ngoài – RAM (2)</a:t>
            </a:r>
            <a:endParaRPr sz="2800">
              <a:solidFill>
                <a:srgbClr val="C00000"/>
              </a:solidFill>
              <a:latin typeface="Times New Roman"/>
              <a:ea typeface="Times New Roman"/>
              <a:cs typeface="Times New Roman"/>
              <a:sym typeface="Times New Roman"/>
            </a:endParaRPr>
          </a:p>
        </p:txBody>
      </p:sp>
      <p:sp>
        <p:nvSpPr>
          <p:cNvPr id="705" name="Google Shape;705;p63"/>
          <p:cNvSpPr txBox="1"/>
          <p:nvPr>
            <p:ph idx="12" type="sldNum"/>
          </p:nvPr>
        </p:nvSpPr>
        <p:spPr>
          <a:xfrm>
            <a:off x="10310366" y="6518482"/>
            <a:ext cx="1583267" cy="2286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4"/>
          <p:cNvSpPr txBox="1"/>
          <p:nvPr>
            <p:ph type="title"/>
          </p:nvPr>
        </p:nvSpPr>
        <p:spPr>
          <a:xfrm>
            <a:off x="152400" y="152400"/>
            <a:ext cx="8229600" cy="533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2.4. Tập lệnh của 8051</a:t>
            </a:r>
            <a:endParaRPr/>
          </a:p>
        </p:txBody>
      </p:sp>
      <p:sp>
        <p:nvSpPr>
          <p:cNvPr id="711" name="Google Shape;711;p64"/>
          <p:cNvSpPr txBox="1"/>
          <p:nvPr/>
        </p:nvSpPr>
        <p:spPr>
          <a:xfrm>
            <a:off x="1371600" y="1828800"/>
            <a:ext cx="822960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2.4.1. Các thanh ghi chức năng đặt biệt của 8051</a:t>
            </a:r>
            <a:endParaRPr/>
          </a:p>
          <a:p>
            <a:pPr indent="0" lvl="0" marL="0" marR="0" rtl="0" algn="l">
              <a:spcBef>
                <a:spcPts val="120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2.4.2. Các chế độ địa chỉ</a:t>
            </a:r>
            <a:endParaRPr b="1" sz="2800">
              <a:solidFill>
                <a:srgbClr val="C00000"/>
              </a:solidFill>
              <a:latin typeface="Times New Roman"/>
              <a:ea typeface="Times New Roman"/>
              <a:cs typeface="Times New Roman"/>
              <a:sym typeface="Times New Roman"/>
            </a:endParaRPr>
          </a:p>
          <a:p>
            <a:pPr indent="0" lvl="0" marL="0" marR="0" rtl="0" algn="l">
              <a:spcBef>
                <a:spcPts val="120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2.4.3. Tập lệnh</a:t>
            </a:r>
            <a:endParaRPr b="1" sz="2800">
              <a:solidFill>
                <a:srgbClr val="C00000"/>
              </a:solidFill>
              <a:latin typeface="Times New Roman"/>
              <a:ea typeface="Times New Roman"/>
              <a:cs typeface="Times New Roman"/>
              <a:sym typeface="Times New Roman"/>
            </a:endParaRPr>
          </a:p>
        </p:txBody>
      </p:sp>
      <p:sp>
        <p:nvSpPr>
          <p:cNvPr id="712" name="Google Shape;712;p6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5"/>
          <p:cNvSpPr txBox="1"/>
          <p:nvPr>
            <p:ph idx="1" type="body"/>
          </p:nvPr>
        </p:nvSpPr>
        <p:spPr>
          <a:xfrm>
            <a:off x="136478" y="179014"/>
            <a:ext cx="9693322"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00000"/>
              </a:buClr>
              <a:buSzPts val="3200"/>
              <a:buNone/>
            </a:pPr>
            <a:r>
              <a:rPr b="1" lang="en-US">
                <a:solidFill>
                  <a:srgbClr val="C00000"/>
                </a:solidFill>
                <a:latin typeface="Times New Roman"/>
                <a:ea typeface="Times New Roman"/>
                <a:cs typeface="Times New Roman"/>
                <a:sym typeface="Times New Roman"/>
              </a:rPr>
              <a:t>2.4.1. Các thanh ghi chức năng đặc biệt của 8051 (1)</a:t>
            </a:r>
            <a:endParaRPr/>
          </a:p>
          <a:p>
            <a:pPr indent="0" lvl="0" marL="0" rtl="0" algn="l">
              <a:spcBef>
                <a:spcPts val="640"/>
              </a:spcBef>
              <a:spcAft>
                <a:spcPts val="0"/>
              </a:spcAft>
              <a:buClr>
                <a:schemeClr val="dk1"/>
              </a:buClr>
              <a:buSzPts val="3200"/>
              <a:buNone/>
            </a:pPr>
            <a:r>
              <a:t/>
            </a:r>
            <a:endParaRPr b="1">
              <a:solidFill>
                <a:srgbClr val="C00000"/>
              </a:solidFill>
              <a:latin typeface="Times New Roman"/>
              <a:ea typeface="Times New Roman"/>
              <a:cs typeface="Times New Roman"/>
              <a:sym typeface="Times New Roman"/>
            </a:endParaRPr>
          </a:p>
        </p:txBody>
      </p:sp>
      <p:pic>
        <p:nvPicPr>
          <p:cNvPr id="719" name="Google Shape;719;p65"/>
          <p:cNvPicPr preferRelativeResize="0"/>
          <p:nvPr/>
        </p:nvPicPr>
        <p:blipFill rotWithShape="1">
          <a:blip r:embed="rId3">
            <a:alphaModFix/>
          </a:blip>
          <a:srcRect b="0" l="0" r="0" t="0"/>
          <a:stretch/>
        </p:blipFill>
        <p:spPr>
          <a:xfrm>
            <a:off x="7760369" y="860790"/>
            <a:ext cx="3520421" cy="5997210"/>
          </a:xfrm>
          <a:prstGeom prst="rect">
            <a:avLst/>
          </a:prstGeom>
          <a:noFill/>
          <a:ln>
            <a:noFill/>
          </a:ln>
        </p:spPr>
      </p:pic>
      <p:sp>
        <p:nvSpPr>
          <p:cNvPr id="720" name="Google Shape;720;p65"/>
          <p:cNvSpPr txBox="1"/>
          <p:nvPr/>
        </p:nvSpPr>
        <p:spPr>
          <a:xfrm>
            <a:off x="136478" y="1295400"/>
            <a:ext cx="6950122" cy="523220"/>
          </a:xfrm>
          <a:prstGeom prst="rect">
            <a:avLst/>
          </a:prstGeom>
          <a:noFill/>
          <a:ln>
            <a:noFill/>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Thanh ghi trạng thái chương trình PSW </a:t>
            </a:r>
            <a:endParaRPr sz="2800">
              <a:solidFill>
                <a:schemeClr val="dk1"/>
              </a:solidFill>
              <a:latin typeface="Times New Roman"/>
              <a:ea typeface="Times New Roman"/>
              <a:cs typeface="Times New Roman"/>
              <a:sym typeface="Times New Roman"/>
            </a:endParaRPr>
          </a:p>
        </p:txBody>
      </p:sp>
      <p:sp>
        <p:nvSpPr>
          <p:cNvPr id="721" name="Google Shape;721;p65"/>
          <p:cNvSpPr txBox="1"/>
          <p:nvPr/>
        </p:nvSpPr>
        <p:spPr>
          <a:xfrm>
            <a:off x="685800" y="2104310"/>
            <a:ext cx="6096000" cy="2677656"/>
          </a:xfrm>
          <a:prstGeom prst="rect">
            <a:avLst/>
          </a:prstGeom>
          <a:noFill/>
          <a:ln>
            <a:noFill/>
          </a:ln>
        </p:spPr>
        <p:txBody>
          <a:bodyPr anchorCtr="0" anchor="t" bIns="45700" lIns="91425" spcFirstLastPara="1" rIns="91425" wrap="square" tIns="45700">
            <a:spAutoFit/>
          </a:bodyPr>
          <a:lstStyle/>
          <a:p>
            <a:pPr indent="46355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PSW (Program status word), hay còn gọi là thanh ghi cờ 8 bit, nhưng chỉ có 6 bit được sử dụng. Hai bit cờ chưa dùng là các cờ mà người dùng có thể định nghĩa được. Bốn trong số các cờ là cờ điều kiện, được thiết lập do kết quả thực hiện một lệnh, đó là CY, AC, P và OV, các bit có chức năng được tóm tắt trong Bảng 2.5.</a:t>
            </a:r>
            <a:endParaRPr/>
          </a:p>
        </p:txBody>
      </p:sp>
      <p:sp>
        <p:nvSpPr>
          <p:cNvPr id="722" name="Google Shape;722;p6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0" st="0"/>
                                            </p:txEl>
                                          </p:spTgt>
                                        </p:tgtEl>
                                        <p:attrNameLst>
                                          <p:attrName>style.visibility</p:attrName>
                                        </p:attrNameLst>
                                      </p:cBhvr>
                                      <p:to>
                                        <p:strVal val="visible"/>
                                      </p:to>
                                    </p:set>
                                    <p:animEffect filter="fade" transition="in">
                                      <p:cBhvr>
                                        <p:cTn dur="1000"/>
                                        <p:tgtEl>
                                          <p:spTgt spid="72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graphicFrame>
        <p:nvGraphicFramePr>
          <p:cNvPr id="728" name="Google Shape;728;p66"/>
          <p:cNvGraphicFramePr/>
          <p:nvPr/>
        </p:nvGraphicFramePr>
        <p:xfrm>
          <a:off x="2133600" y="1428690"/>
          <a:ext cx="3000000" cy="3000000"/>
        </p:xfrm>
        <a:graphic>
          <a:graphicData uri="http://schemas.openxmlformats.org/drawingml/2006/table">
            <a:tbl>
              <a:tblPr bandRow="1" firstRow="1">
                <a:noFill/>
                <a:tableStyleId>{A4A541D9-23D5-4180-BFA4-B58C0BD4C685}</a:tableStyleId>
              </a:tblPr>
              <a:tblGrid>
                <a:gridCol w="1129800"/>
                <a:gridCol w="1326575"/>
                <a:gridCol w="1225000"/>
                <a:gridCol w="4243425"/>
              </a:tblGrid>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Bit</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Ký</a:t>
                      </a:r>
                      <a:r>
                        <a:rPr lang="en-US" sz="1800">
                          <a:latin typeface="Times New Roman"/>
                          <a:ea typeface="Times New Roman"/>
                          <a:cs typeface="Times New Roman"/>
                          <a:sym typeface="Times New Roman"/>
                        </a:rPr>
                        <a:t> hiệu</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Địa chỉ</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Mô</a:t>
                      </a:r>
                      <a:r>
                        <a:rPr lang="en-US" sz="1800">
                          <a:latin typeface="Times New Roman"/>
                          <a:ea typeface="Times New Roman"/>
                          <a:cs typeface="Times New Roman"/>
                          <a:sym typeface="Times New Roman"/>
                        </a:rPr>
                        <a:t> tả bit</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PSW.7</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CY</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D7H</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Cờ</a:t>
                      </a:r>
                      <a:r>
                        <a:rPr lang="en-US" sz="1800">
                          <a:latin typeface="Times New Roman"/>
                          <a:ea typeface="Times New Roman"/>
                          <a:cs typeface="Times New Roman"/>
                          <a:sym typeface="Times New Roman"/>
                        </a:rPr>
                        <a:t> nhớ chính</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PSW.6</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AC</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D6H</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Cờ nhớ</a:t>
                      </a:r>
                      <a:r>
                        <a:rPr lang="en-US" sz="1800">
                          <a:latin typeface="Times New Roman"/>
                          <a:ea typeface="Times New Roman"/>
                          <a:cs typeface="Times New Roman"/>
                          <a:sym typeface="Times New Roman"/>
                        </a:rPr>
                        <a:t> phụ</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PSW.5</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D5H</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Dành</a:t>
                      </a:r>
                      <a:r>
                        <a:rPr lang="en-US" sz="1800">
                          <a:latin typeface="Times New Roman"/>
                          <a:ea typeface="Times New Roman"/>
                          <a:cs typeface="Times New Roman"/>
                          <a:sym typeface="Times New Roman"/>
                        </a:rPr>
                        <a:t> cho người dung sử dụng mục đích chung</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PSW.4</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RS1</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D4H</a:t>
                      </a:r>
                      <a:endParaRPr/>
                    </a:p>
                  </a:txBody>
                  <a:tcPr marT="45725" marB="45725" marR="91450" marL="91450"/>
                </a:tc>
                <a:tc rowSpan="2">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Chọn</a:t>
                      </a:r>
                      <a:r>
                        <a:rPr lang="en-US" sz="1800">
                          <a:latin typeface="Times New Roman"/>
                          <a:ea typeface="Times New Roman"/>
                          <a:cs typeface="Times New Roman"/>
                          <a:sym typeface="Times New Roman"/>
                        </a:rPr>
                        <a:t> các băng thanh ghi</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PSW.3</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RS0</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D3H</a:t>
                      </a:r>
                      <a:endParaRPr/>
                    </a:p>
                  </a:txBody>
                  <a:tcPr marT="45725" marB="45725" marR="91450" marL="91450"/>
                </a:tc>
                <a:tc vMerge="1"/>
              </a:tr>
              <a:tr h="370850">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00</a:t>
                      </a:r>
                      <a:r>
                        <a:rPr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a:t>
                      </a:r>
                      <a:r>
                        <a:rPr lang="en-US" sz="1800">
                          <a:latin typeface="Times New Roman"/>
                          <a:ea typeface="Times New Roman"/>
                          <a:cs typeface="Times New Roman"/>
                          <a:sym typeface="Times New Roman"/>
                        </a:rPr>
                        <a:t> B</a:t>
                      </a:r>
                      <a:r>
                        <a:rPr lang="en-US" sz="1800">
                          <a:latin typeface="Times New Roman"/>
                          <a:ea typeface="Times New Roman"/>
                          <a:cs typeface="Times New Roman"/>
                          <a:sym typeface="Times New Roman"/>
                        </a:rPr>
                        <a:t>ăng</a:t>
                      </a:r>
                      <a:r>
                        <a:rPr lang="en-US" sz="1800">
                          <a:latin typeface="Times New Roman"/>
                          <a:ea typeface="Times New Roman"/>
                          <a:cs typeface="Times New Roman"/>
                          <a:sym typeface="Times New Roman"/>
                        </a:rPr>
                        <a:t> 0</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01 – băng</a:t>
                      </a:r>
                      <a:r>
                        <a:rPr lang="en-US" sz="1800">
                          <a:latin typeface="Times New Roman"/>
                          <a:ea typeface="Times New Roman"/>
                          <a:cs typeface="Times New Roman"/>
                          <a:sym typeface="Times New Roman"/>
                        </a:rPr>
                        <a:t> 1</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10 – Băng</a:t>
                      </a:r>
                      <a:r>
                        <a:rPr lang="en-US" sz="1800">
                          <a:latin typeface="Times New Roman"/>
                          <a:ea typeface="Times New Roman"/>
                          <a:cs typeface="Times New Roman"/>
                          <a:sym typeface="Times New Roman"/>
                        </a:rPr>
                        <a:t> 2</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11 – Băng</a:t>
                      </a:r>
                      <a:r>
                        <a:rPr lang="en-US" sz="1800">
                          <a:latin typeface="Times New Roman"/>
                          <a:ea typeface="Times New Roman"/>
                          <a:cs typeface="Times New Roman"/>
                          <a:sym typeface="Times New Roman"/>
                        </a:rPr>
                        <a:t> 3</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PSW.2</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OV</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D2H</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Cờ</a:t>
                      </a:r>
                      <a:r>
                        <a:rPr lang="en-US" sz="1800">
                          <a:latin typeface="Times New Roman"/>
                          <a:ea typeface="Times New Roman"/>
                          <a:cs typeface="Times New Roman"/>
                          <a:sym typeface="Times New Roman"/>
                        </a:rPr>
                        <a:t> tràn</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PSW.1</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D1H</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Dành</a:t>
                      </a:r>
                      <a:r>
                        <a:rPr lang="en-US" sz="1800">
                          <a:latin typeface="Times New Roman"/>
                          <a:ea typeface="Times New Roman"/>
                          <a:cs typeface="Times New Roman"/>
                          <a:sym typeface="Times New Roman"/>
                        </a:rPr>
                        <a:t> cho người dung định ngĩa</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PSW.0</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P</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D0H</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Cờ</a:t>
                      </a:r>
                      <a:r>
                        <a:rPr lang="en-US" sz="1800">
                          <a:latin typeface="Times New Roman"/>
                          <a:ea typeface="Times New Roman"/>
                          <a:cs typeface="Times New Roman"/>
                          <a:sym typeface="Times New Roman"/>
                        </a:rPr>
                        <a:t> kiểm tra chẵn lẻ</a:t>
                      </a:r>
                      <a:endParaRPr sz="1800">
                        <a:latin typeface="Times New Roman"/>
                        <a:ea typeface="Times New Roman"/>
                        <a:cs typeface="Times New Roman"/>
                        <a:sym typeface="Times New Roman"/>
                      </a:endParaRPr>
                    </a:p>
                  </a:txBody>
                  <a:tcPr marT="45725" marB="45725" marR="91450" marL="91450"/>
                </a:tc>
              </a:tr>
            </a:tbl>
          </a:graphicData>
        </a:graphic>
      </p:graphicFrame>
      <p:sp>
        <p:nvSpPr>
          <p:cNvPr id="729" name="Google Shape;729;p66"/>
          <p:cNvSpPr txBox="1"/>
          <p:nvPr/>
        </p:nvSpPr>
        <p:spPr>
          <a:xfrm>
            <a:off x="2667000" y="794084"/>
            <a:ext cx="62484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Bảng 2.5 Thanh ghi trạng thái chương trình PSW</a:t>
            </a:r>
            <a:endParaRPr/>
          </a:p>
        </p:txBody>
      </p:sp>
      <p:sp>
        <p:nvSpPr>
          <p:cNvPr id="730" name="Google Shape;730;p66"/>
          <p:cNvSpPr txBox="1"/>
          <p:nvPr/>
        </p:nvSpPr>
        <p:spPr>
          <a:xfrm>
            <a:off x="36095" y="54618"/>
            <a:ext cx="9693322" cy="70738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3200"/>
              <a:buFont typeface="Arial"/>
              <a:buNone/>
            </a:pPr>
            <a:r>
              <a:rPr b="1" lang="en-US" sz="3200">
                <a:solidFill>
                  <a:srgbClr val="C00000"/>
                </a:solidFill>
                <a:latin typeface="Times New Roman"/>
                <a:ea typeface="Times New Roman"/>
                <a:cs typeface="Times New Roman"/>
                <a:sym typeface="Times New Roman"/>
              </a:rPr>
              <a:t>2.4.1. Các thanh ghi chức năng đặc biệt của 8051 (2)</a:t>
            </a:r>
            <a:endParaRPr/>
          </a:p>
          <a:p>
            <a:pPr indent="0" lvl="0" marL="0" marR="0" rtl="0" algn="l">
              <a:spcBef>
                <a:spcPts val="640"/>
              </a:spcBef>
              <a:spcAft>
                <a:spcPts val="0"/>
              </a:spcAft>
              <a:buClr>
                <a:schemeClr val="dk1"/>
              </a:buClr>
              <a:buSzPts val="3200"/>
              <a:buFont typeface="Arial"/>
              <a:buNone/>
            </a:pPr>
            <a:r>
              <a:t/>
            </a:r>
            <a:endParaRPr b="1" sz="3200">
              <a:solidFill>
                <a:srgbClr val="C00000"/>
              </a:solidFill>
              <a:latin typeface="Times New Roman"/>
              <a:ea typeface="Times New Roman"/>
              <a:cs typeface="Times New Roman"/>
              <a:sym typeface="Times New Roman"/>
            </a:endParaRPr>
          </a:p>
        </p:txBody>
      </p:sp>
      <p:sp>
        <p:nvSpPr>
          <p:cNvPr id="731" name="Google Shape;731;p6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7"/>
          <p:cNvSpPr txBox="1"/>
          <p:nvPr>
            <p:ph idx="1" type="body"/>
          </p:nvPr>
        </p:nvSpPr>
        <p:spPr>
          <a:xfrm>
            <a:off x="381000" y="1066800"/>
            <a:ext cx="11506200" cy="5486400"/>
          </a:xfrm>
          <a:prstGeom prst="rect">
            <a:avLst/>
          </a:prstGeom>
          <a:noFill/>
          <a:ln>
            <a:noFill/>
          </a:ln>
        </p:spPr>
        <p:txBody>
          <a:bodyPr anchorCtr="0" anchor="t" bIns="45700" lIns="91425" spcFirstLastPara="1" rIns="91425" wrap="square" tIns="45700">
            <a:normAutofit/>
          </a:bodyPr>
          <a:lstStyle/>
          <a:p>
            <a:pPr indent="-512763" lvl="0" marL="512763" rtl="0" algn="just">
              <a:spcBef>
                <a:spcPts val="0"/>
              </a:spcBef>
              <a:spcAft>
                <a:spcPts val="0"/>
              </a:spcAft>
              <a:buClr>
                <a:schemeClr val="dk1"/>
              </a:buClr>
              <a:buSzPts val="3000"/>
              <a:buFont typeface="Noto Sans Symbols"/>
              <a:buChar char="❖"/>
            </a:pPr>
            <a:r>
              <a:rPr b="1" lang="en-US" sz="3000">
                <a:latin typeface="Times New Roman"/>
                <a:ea typeface="Times New Roman"/>
                <a:cs typeface="Times New Roman"/>
                <a:sym typeface="Times New Roman"/>
              </a:rPr>
              <a:t>Thanh chứa A: </a:t>
            </a:r>
            <a:r>
              <a:rPr lang="en-US" sz="2400">
                <a:latin typeface="Times New Roman"/>
                <a:ea typeface="Times New Roman"/>
                <a:cs typeface="Times New Roman"/>
                <a:sym typeface="Times New Roman"/>
              </a:rPr>
              <a:t>Có địa chỉ E0, được sử dụng nhiều nhất, dùng để chứa toán hạng, và lưu kết quả trong các phép toán số học và logic. </a:t>
            </a:r>
            <a:endParaRPr sz="2600">
              <a:latin typeface="Times New Roman"/>
              <a:ea typeface="Times New Roman"/>
              <a:cs typeface="Times New Roman"/>
              <a:sym typeface="Times New Roman"/>
            </a:endParaRPr>
          </a:p>
          <a:p>
            <a:pPr indent="-465138" lvl="0" marL="465138" rtl="0" algn="just">
              <a:spcBef>
                <a:spcPts val="1200"/>
              </a:spcBef>
              <a:spcAft>
                <a:spcPts val="0"/>
              </a:spcAft>
              <a:buClr>
                <a:schemeClr val="dk1"/>
              </a:buClr>
              <a:buSzPts val="3000"/>
              <a:buFont typeface="Noto Sans Symbols"/>
              <a:buChar char="❖"/>
            </a:pPr>
            <a:r>
              <a:rPr b="1" lang="en-US" sz="3000">
                <a:latin typeface="Times New Roman"/>
                <a:ea typeface="Times New Roman"/>
                <a:cs typeface="Times New Roman"/>
                <a:sym typeface="Times New Roman"/>
              </a:rPr>
              <a:t>Thanh ghi B: </a:t>
            </a:r>
            <a:r>
              <a:rPr lang="en-US" sz="2400">
                <a:latin typeface="Times New Roman"/>
                <a:ea typeface="Times New Roman"/>
                <a:cs typeface="Times New Roman"/>
                <a:sym typeface="Times New Roman"/>
              </a:rPr>
              <a:t>Thanh ghi B có địa chỉ F0h được dùng chung với thành ghi A trong các phép toán nhân, chia.</a:t>
            </a:r>
            <a:endParaRPr/>
          </a:p>
          <a:p>
            <a:pPr indent="0" lvl="0" marL="0" rtl="0" algn="just">
              <a:spcBef>
                <a:spcPts val="1200"/>
              </a:spcBef>
              <a:spcAft>
                <a:spcPts val="0"/>
              </a:spcAft>
              <a:buClr>
                <a:schemeClr val="dk1"/>
              </a:buClr>
              <a:buSzPts val="2400"/>
              <a:buNone/>
            </a:pPr>
            <a:r>
              <a:rPr b="1" lang="en-US" sz="2400">
                <a:latin typeface="Times New Roman"/>
                <a:ea typeface="Times New Roman"/>
                <a:cs typeface="Times New Roman"/>
                <a:sym typeface="Times New Roman"/>
              </a:rPr>
              <a:t>Ví dụ 2.4:</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MUL AB	; thực hiện nhân không dấu nội dung của A và B, </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		; kết quả  16 bit đặt vào BA (B chứa byte cao, </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		; A chứa byte thấp)</a:t>
            </a:r>
            <a:endParaRPr/>
          </a:p>
          <a:p>
            <a:pPr indent="0" lvl="0" marL="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DIV AB	; Chia A cho B, A chứa thương số, B chứa số dư</a:t>
            </a:r>
            <a:endParaRPr sz="2400">
              <a:latin typeface="Times New Roman"/>
              <a:ea typeface="Times New Roman"/>
              <a:cs typeface="Times New Roman"/>
              <a:sym typeface="Times New Roman"/>
            </a:endParaRPr>
          </a:p>
          <a:p>
            <a:pPr indent="0" lvl="0" marL="0" rtl="0" algn="just">
              <a:spcBef>
                <a:spcPts val="108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738" name="Google Shape;738;p67"/>
          <p:cNvSpPr txBox="1"/>
          <p:nvPr/>
        </p:nvSpPr>
        <p:spPr>
          <a:xfrm>
            <a:off x="152400" y="130818"/>
            <a:ext cx="9693322" cy="70738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3200"/>
              <a:buFont typeface="Arial"/>
              <a:buNone/>
            </a:pPr>
            <a:r>
              <a:rPr b="1" lang="en-US" sz="3200">
                <a:solidFill>
                  <a:srgbClr val="C00000"/>
                </a:solidFill>
                <a:latin typeface="Times New Roman"/>
                <a:ea typeface="Times New Roman"/>
                <a:cs typeface="Times New Roman"/>
                <a:sym typeface="Times New Roman"/>
              </a:rPr>
              <a:t>2.4.1. Các thanh ghi chức năng đặc biệt của 8051 (3)</a:t>
            </a:r>
            <a:endParaRPr/>
          </a:p>
        </p:txBody>
      </p:sp>
      <p:sp>
        <p:nvSpPr>
          <p:cNvPr id="739" name="Google Shape;739;p6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0" st="0"/>
                                            </p:txEl>
                                          </p:spTgt>
                                        </p:tgtEl>
                                        <p:attrNameLst>
                                          <p:attrName>style.visibility</p:attrName>
                                        </p:attrNameLst>
                                      </p:cBhvr>
                                      <p:to>
                                        <p:strVal val="visible"/>
                                      </p:to>
                                    </p:set>
                                    <p:animEffect filter="fade" transition="in">
                                      <p:cBhvr>
                                        <p:cTn dur="1000"/>
                                        <p:tgtEl>
                                          <p:spTgt spid="7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1" st="1"/>
                                            </p:txEl>
                                          </p:spTgt>
                                        </p:tgtEl>
                                        <p:attrNameLst>
                                          <p:attrName>style.visibility</p:attrName>
                                        </p:attrNameLst>
                                      </p:cBhvr>
                                      <p:to>
                                        <p:strVal val="visible"/>
                                      </p:to>
                                    </p:set>
                                    <p:animEffect filter="fade" transition="in">
                                      <p:cBhvr>
                                        <p:cTn dur="1000"/>
                                        <p:tgtEl>
                                          <p:spTgt spid="7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2" st="2"/>
                                            </p:txEl>
                                          </p:spTgt>
                                        </p:tgtEl>
                                        <p:attrNameLst>
                                          <p:attrName>style.visibility</p:attrName>
                                        </p:attrNameLst>
                                      </p:cBhvr>
                                      <p:to>
                                        <p:strVal val="visible"/>
                                      </p:to>
                                    </p:set>
                                    <p:animEffect filter="fade" transition="in">
                                      <p:cBhvr>
                                        <p:cTn dur="1000"/>
                                        <p:tgtEl>
                                          <p:spTgt spid="7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3" st="3"/>
                                            </p:txEl>
                                          </p:spTgt>
                                        </p:tgtEl>
                                        <p:attrNameLst>
                                          <p:attrName>style.visibility</p:attrName>
                                        </p:attrNameLst>
                                      </p:cBhvr>
                                      <p:to>
                                        <p:strVal val="visible"/>
                                      </p:to>
                                    </p:set>
                                    <p:animEffect filter="fade" transition="in">
                                      <p:cBhvr>
                                        <p:cTn dur="1000"/>
                                        <p:tgtEl>
                                          <p:spTgt spid="7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4" st="4"/>
                                            </p:txEl>
                                          </p:spTgt>
                                        </p:tgtEl>
                                        <p:attrNameLst>
                                          <p:attrName>style.visibility</p:attrName>
                                        </p:attrNameLst>
                                      </p:cBhvr>
                                      <p:to>
                                        <p:strVal val="visible"/>
                                      </p:to>
                                    </p:set>
                                    <p:animEffect filter="fade" transition="in">
                                      <p:cBhvr>
                                        <p:cTn dur="1000"/>
                                        <p:tgtEl>
                                          <p:spTgt spid="7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5" st="5"/>
                                            </p:txEl>
                                          </p:spTgt>
                                        </p:tgtEl>
                                        <p:attrNameLst>
                                          <p:attrName>style.visibility</p:attrName>
                                        </p:attrNameLst>
                                      </p:cBhvr>
                                      <p:to>
                                        <p:strVal val="visible"/>
                                      </p:to>
                                    </p:set>
                                    <p:animEffect filter="fade" transition="in">
                                      <p:cBhvr>
                                        <p:cTn dur="1000"/>
                                        <p:tgtEl>
                                          <p:spTgt spid="7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6" st="6"/>
                                            </p:txEl>
                                          </p:spTgt>
                                        </p:tgtEl>
                                        <p:attrNameLst>
                                          <p:attrName>style.visibility</p:attrName>
                                        </p:attrNameLst>
                                      </p:cBhvr>
                                      <p:to>
                                        <p:strVal val="visible"/>
                                      </p:to>
                                    </p:set>
                                    <p:animEffect filter="fade" transition="in">
                                      <p:cBhvr>
                                        <p:cTn dur="1000"/>
                                        <p:tgtEl>
                                          <p:spTgt spid="7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7" st="7"/>
                                            </p:txEl>
                                          </p:spTgt>
                                        </p:tgtEl>
                                        <p:attrNameLst>
                                          <p:attrName>style.visibility</p:attrName>
                                        </p:attrNameLst>
                                      </p:cBhvr>
                                      <p:to>
                                        <p:strVal val="visible"/>
                                      </p:to>
                                    </p:set>
                                    <p:animEffect filter="fade" transition="in">
                                      <p:cBhvr>
                                        <p:cTn dur="1000"/>
                                        <p:tgtEl>
                                          <p:spTgt spid="7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xEl>
                                              <p:pRg end="8" st="8"/>
                                            </p:txEl>
                                          </p:spTgt>
                                        </p:tgtEl>
                                        <p:attrNameLst>
                                          <p:attrName>style.visibility</p:attrName>
                                        </p:attrNameLst>
                                      </p:cBhvr>
                                      <p:to>
                                        <p:strVal val="visible"/>
                                      </p:to>
                                    </p:set>
                                    <p:animEffect filter="fade" transition="in">
                                      <p:cBhvr>
                                        <p:cTn dur="1000"/>
                                        <p:tgtEl>
                                          <p:spTgt spid="73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68"/>
          <p:cNvSpPr txBox="1"/>
          <p:nvPr>
            <p:ph idx="1" type="body"/>
          </p:nvPr>
        </p:nvSpPr>
        <p:spPr>
          <a:xfrm>
            <a:off x="381000" y="1066800"/>
            <a:ext cx="11506200" cy="5638800"/>
          </a:xfrm>
          <a:prstGeom prst="rect">
            <a:avLst/>
          </a:prstGeom>
          <a:noFill/>
          <a:ln>
            <a:noFill/>
          </a:ln>
        </p:spPr>
        <p:txBody>
          <a:bodyPr anchorCtr="0" anchor="t" bIns="45700" lIns="91425" spcFirstLastPara="1" rIns="91425" wrap="square" tIns="45700">
            <a:normAutofit/>
          </a:bodyPr>
          <a:lstStyle/>
          <a:p>
            <a:pPr indent="-465138" lvl="0" marL="465138" rtl="0" algn="just">
              <a:spcBef>
                <a:spcPts val="0"/>
              </a:spcBef>
              <a:spcAft>
                <a:spcPts val="0"/>
              </a:spcAft>
              <a:buClr>
                <a:schemeClr val="dk1"/>
              </a:buClr>
              <a:buSzPts val="3000"/>
              <a:buFont typeface="Noto Sans Symbols"/>
              <a:buChar char="❖"/>
            </a:pPr>
            <a:r>
              <a:rPr b="1" lang="en-US" sz="3000">
                <a:latin typeface="Times New Roman"/>
                <a:ea typeface="Times New Roman"/>
                <a:cs typeface="Times New Roman"/>
                <a:sym typeface="Times New Roman"/>
              </a:rPr>
              <a:t>Con trỏ ngăn xếp: </a:t>
            </a:r>
            <a:r>
              <a:rPr lang="en-US" sz="2400">
                <a:latin typeface="Times New Roman"/>
                <a:ea typeface="Times New Roman"/>
                <a:cs typeface="Times New Roman"/>
                <a:sym typeface="Times New Roman"/>
              </a:rPr>
              <a:t>Thanh ghi con trỏ ngăn xếp (SP) là thanh ghi 8 bit, chứa địa chỉ của đỉnh ngăn xếp. SP=SP+1 khi cất dữ liệu vào ngăn xếp; SP=SP-1 khi lấy dữ liệu ra từ ngăn xếp.</a:t>
            </a:r>
            <a:endParaRPr/>
          </a:p>
          <a:p>
            <a:pPr indent="-465138" lvl="0" marL="465138" rtl="0" algn="just">
              <a:spcBef>
                <a:spcPts val="1200"/>
              </a:spcBef>
              <a:spcAft>
                <a:spcPts val="0"/>
              </a:spcAft>
              <a:buClr>
                <a:schemeClr val="dk1"/>
              </a:buClr>
              <a:buSzPts val="3000"/>
              <a:buFont typeface="Noto Sans Symbols"/>
              <a:buChar char="❖"/>
            </a:pPr>
            <a:r>
              <a:rPr b="1" lang="en-US" sz="3000">
                <a:latin typeface="Times New Roman"/>
                <a:ea typeface="Times New Roman"/>
                <a:cs typeface="Times New Roman"/>
                <a:sym typeface="Times New Roman"/>
              </a:rPr>
              <a:t>Con trỏ dữ liệu DPTR: </a:t>
            </a:r>
            <a:r>
              <a:rPr lang="en-US" sz="2400">
                <a:latin typeface="Times New Roman"/>
                <a:ea typeface="Times New Roman"/>
                <a:cs typeface="Times New Roman"/>
                <a:sym typeface="Times New Roman"/>
              </a:rPr>
              <a:t>DPTR (data pointer) được sử dụng để truy xuất bộ nhớ chương trình, hoặc dữ liệu ngoài. DPTR là thanh ghi 16 bit, thanh ghi này được chia là 02 phần: DPL (byte thấp - địa chỉ  82H), DPH (byte cao – địa chỉ 83H)</a:t>
            </a:r>
            <a:endParaRPr/>
          </a:p>
          <a:p>
            <a:pPr indent="0" lvl="0" marL="0" rtl="0" algn="just">
              <a:spcBef>
                <a:spcPts val="1200"/>
              </a:spcBef>
              <a:spcAft>
                <a:spcPts val="0"/>
              </a:spcAft>
              <a:buClr>
                <a:schemeClr val="dk1"/>
              </a:buClr>
              <a:buSzPts val="2400"/>
              <a:buNone/>
            </a:pPr>
            <a:r>
              <a:rPr b="1" lang="en-US" sz="2400">
                <a:latin typeface="Times New Roman"/>
                <a:ea typeface="Times New Roman"/>
                <a:cs typeface="Times New Roman"/>
                <a:sym typeface="Times New Roman"/>
              </a:rPr>
              <a:t>Ví dụ 2.5:</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MOV	A, #55H</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MOV	DPTR, #1000H</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MOV	@DPTR, A</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Đoạn chương trình nạp giá trị 55H vào ô nhớ ngoài có địa chỉ 1000H</a:t>
            </a:r>
            <a:endParaRPr/>
          </a:p>
        </p:txBody>
      </p:sp>
      <p:sp>
        <p:nvSpPr>
          <p:cNvPr id="746" name="Google Shape;746;p68"/>
          <p:cNvSpPr txBox="1"/>
          <p:nvPr/>
        </p:nvSpPr>
        <p:spPr>
          <a:xfrm>
            <a:off x="152400" y="130818"/>
            <a:ext cx="9693322" cy="70738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3200"/>
              <a:buFont typeface="Arial"/>
              <a:buNone/>
            </a:pPr>
            <a:r>
              <a:rPr b="1" lang="en-US" sz="3200">
                <a:solidFill>
                  <a:srgbClr val="C00000"/>
                </a:solidFill>
                <a:latin typeface="Times New Roman"/>
                <a:ea typeface="Times New Roman"/>
                <a:cs typeface="Times New Roman"/>
                <a:sym typeface="Times New Roman"/>
              </a:rPr>
              <a:t>2.4.1. Các thanh ghi chức năng đặc biệt của 8051 (4)</a:t>
            </a:r>
            <a:endParaRPr/>
          </a:p>
        </p:txBody>
      </p:sp>
      <p:sp>
        <p:nvSpPr>
          <p:cNvPr id="747" name="Google Shape;747;p6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0" st="0"/>
                                            </p:txEl>
                                          </p:spTgt>
                                        </p:tgtEl>
                                        <p:attrNameLst>
                                          <p:attrName>style.visibility</p:attrName>
                                        </p:attrNameLst>
                                      </p:cBhvr>
                                      <p:to>
                                        <p:strVal val="visible"/>
                                      </p:to>
                                    </p:set>
                                    <p:animEffect filter="fade" transition="in">
                                      <p:cBhvr>
                                        <p:cTn dur="1000"/>
                                        <p:tgtEl>
                                          <p:spTgt spid="7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1" st="1"/>
                                            </p:txEl>
                                          </p:spTgt>
                                        </p:tgtEl>
                                        <p:attrNameLst>
                                          <p:attrName>style.visibility</p:attrName>
                                        </p:attrNameLst>
                                      </p:cBhvr>
                                      <p:to>
                                        <p:strVal val="visible"/>
                                      </p:to>
                                    </p:set>
                                    <p:animEffect filter="fade" transition="in">
                                      <p:cBhvr>
                                        <p:cTn dur="1000"/>
                                        <p:tgtEl>
                                          <p:spTgt spid="7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2" st="2"/>
                                            </p:txEl>
                                          </p:spTgt>
                                        </p:tgtEl>
                                        <p:attrNameLst>
                                          <p:attrName>style.visibility</p:attrName>
                                        </p:attrNameLst>
                                      </p:cBhvr>
                                      <p:to>
                                        <p:strVal val="visible"/>
                                      </p:to>
                                    </p:set>
                                    <p:animEffect filter="fade" transition="in">
                                      <p:cBhvr>
                                        <p:cTn dur="1000"/>
                                        <p:tgtEl>
                                          <p:spTgt spid="7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3" st="3"/>
                                            </p:txEl>
                                          </p:spTgt>
                                        </p:tgtEl>
                                        <p:attrNameLst>
                                          <p:attrName>style.visibility</p:attrName>
                                        </p:attrNameLst>
                                      </p:cBhvr>
                                      <p:to>
                                        <p:strVal val="visible"/>
                                      </p:to>
                                    </p:set>
                                    <p:animEffect filter="fade" transition="in">
                                      <p:cBhvr>
                                        <p:cTn dur="1000"/>
                                        <p:tgtEl>
                                          <p:spTgt spid="7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4" st="4"/>
                                            </p:txEl>
                                          </p:spTgt>
                                        </p:tgtEl>
                                        <p:attrNameLst>
                                          <p:attrName>style.visibility</p:attrName>
                                        </p:attrNameLst>
                                      </p:cBhvr>
                                      <p:to>
                                        <p:strVal val="visible"/>
                                      </p:to>
                                    </p:set>
                                    <p:animEffect filter="fade" transition="in">
                                      <p:cBhvr>
                                        <p:cTn dur="1000"/>
                                        <p:tgtEl>
                                          <p:spTgt spid="7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5" st="5"/>
                                            </p:txEl>
                                          </p:spTgt>
                                        </p:tgtEl>
                                        <p:attrNameLst>
                                          <p:attrName>style.visibility</p:attrName>
                                        </p:attrNameLst>
                                      </p:cBhvr>
                                      <p:to>
                                        <p:strVal val="visible"/>
                                      </p:to>
                                    </p:set>
                                    <p:animEffect filter="fade" transition="in">
                                      <p:cBhvr>
                                        <p:cTn dur="1000"/>
                                        <p:tgtEl>
                                          <p:spTgt spid="7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6" st="6"/>
                                            </p:txEl>
                                          </p:spTgt>
                                        </p:tgtEl>
                                        <p:attrNameLst>
                                          <p:attrName>style.visibility</p:attrName>
                                        </p:attrNameLst>
                                      </p:cBhvr>
                                      <p:to>
                                        <p:strVal val="visible"/>
                                      </p:to>
                                    </p:set>
                                    <p:animEffect filter="fade" transition="in">
                                      <p:cBhvr>
                                        <p:cTn dur="1000"/>
                                        <p:tgtEl>
                                          <p:spTgt spid="74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9"/>
          <p:cNvSpPr txBox="1"/>
          <p:nvPr>
            <p:ph idx="1" type="body"/>
          </p:nvPr>
        </p:nvSpPr>
        <p:spPr>
          <a:xfrm>
            <a:off x="381000" y="1447800"/>
            <a:ext cx="11049000" cy="4114800"/>
          </a:xfrm>
          <a:prstGeom prst="rect">
            <a:avLst/>
          </a:prstGeom>
          <a:noFill/>
          <a:ln>
            <a:noFill/>
          </a:ln>
        </p:spPr>
        <p:txBody>
          <a:bodyPr anchorCtr="0" anchor="t" bIns="45700" lIns="91425" spcFirstLastPara="1" rIns="91425" wrap="square" tIns="45700">
            <a:normAutofit/>
          </a:bodyPr>
          <a:lstStyle/>
          <a:p>
            <a:pPr indent="-465138" lvl="0" marL="465138"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Các thanh ghi định thời/bộ đếm</a:t>
            </a:r>
            <a:endParaRPr b="1" sz="2800">
              <a:latin typeface="Times New Roman"/>
              <a:ea typeface="Times New Roman"/>
              <a:cs typeface="Times New Roman"/>
              <a:sym typeface="Times New Roman"/>
            </a:endParaRPr>
          </a:p>
          <a:p>
            <a:pPr indent="40640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8051 có 02 định thời/bộ đếm (timer/counter) 16 bit để định khoảng thời gian hoặc đếm các sự kiện. </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Bộ định thời 0: TL0 – byte thấp, địa chỉ 8AH; TH0 – byte cao, địa chỉ 8CH</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Bộ định thời 1: TL1 – byte thấp, địa chỉ 8BH; TH1 – byte cao, địa chỉ 8DH</a:t>
            </a:r>
            <a:endParaRPr/>
          </a:p>
          <a:p>
            <a:pPr indent="50800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Hoạt động của bộ định thời được thiết lập bởi thanh ghi chế độ định thời TMOD (time mode register) và thanh ghi điều khiển định thời TCON (timer control register). Các thanh ghi này sẽ thảo luận ở phần sau.</a:t>
            </a:r>
            <a:endParaRPr/>
          </a:p>
          <a:p>
            <a:pPr indent="-190500" lvl="0" marL="342900" rtl="0" algn="l">
              <a:spcBef>
                <a:spcPts val="120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p:txBody>
      </p:sp>
      <p:sp>
        <p:nvSpPr>
          <p:cNvPr id="753" name="Google Shape;753;p69"/>
          <p:cNvSpPr txBox="1"/>
          <p:nvPr/>
        </p:nvSpPr>
        <p:spPr>
          <a:xfrm>
            <a:off x="152400" y="130818"/>
            <a:ext cx="9693322" cy="70738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3200"/>
              <a:buFont typeface="Arial"/>
              <a:buNone/>
            </a:pPr>
            <a:r>
              <a:rPr b="1" lang="en-US" sz="3200">
                <a:solidFill>
                  <a:srgbClr val="C00000"/>
                </a:solidFill>
                <a:latin typeface="Times New Roman"/>
                <a:ea typeface="Times New Roman"/>
                <a:cs typeface="Times New Roman"/>
                <a:sym typeface="Times New Roman"/>
              </a:rPr>
              <a:t>2.4.1. Các thanh ghi chức năng đặc biệt của 8051 (5)</a:t>
            </a:r>
            <a:endParaRPr/>
          </a:p>
        </p:txBody>
      </p:sp>
      <p:sp>
        <p:nvSpPr>
          <p:cNvPr id="754" name="Google Shape;754;p6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0"/>
          <p:cNvSpPr txBox="1"/>
          <p:nvPr>
            <p:ph idx="1" type="body"/>
          </p:nvPr>
        </p:nvSpPr>
        <p:spPr>
          <a:xfrm>
            <a:off x="381000" y="874294"/>
            <a:ext cx="11430000" cy="5831305"/>
          </a:xfrm>
          <a:prstGeom prst="rect">
            <a:avLst/>
          </a:prstGeom>
          <a:noFill/>
          <a:ln>
            <a:noFill/>
          </a:ln>
        </p:spPr>
        <p:txBody>
          <a:bodyPr anchorCtr="0" anchor="t" bIns="45700" lIns="91425" spcFirstLastPara="1" rIns="91425" wrap="square" tIns="45700">
            <a:noAutofit/>
          </a:bodyPr>
          <a:lstStyle/>
          <a:p>
            <a:pPr indent="-465138" lvl="0" marL="465138" rtl="0" algn="just">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Các thanh ghi cổng nối tiếp: </a:t>
            </a:r>
            <a:r>
              <a:rPr lang="en-US" sz="2400">
                <a:latin typeface="Times New Roman"/>
                <a:ea typeface="Times New Roman"/>
                <a:cs typeface="Times New Roman"/>
                <a:sym typeface="Times New Roman"/>
              </a:rPr>
              <a:t>8051 có một cổng nối tiếp để truyền thông với các thiết bị nối tiếp. </a:t>
            </a:r>
            <a:endParaRPr/>
          </a:p>
          <a:p>
            <a:pPr indent="-342900" lvl="0" marL="342900" rtl="0" algn="just">
              <a:spcBef>
                <a:spcPts val="9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Thanh ghi cấu hình cổng nối tiếp SCON</a:t>
            </a:r>
            <a:endParaRPr/>
          </a:p>
          <a:p>
            <a:pPr indent="-342900" lvl="0" marL="342900" rtl="0" algn="just">
              <a:spcBef>
                <a:spcPts val="6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Thanh ghi SBUF (serial data buffer) được sử dụng để lưu dữ liệu truyền đi, hoặc nhận về</a:t>
            </a:r>
            <a:endParaRPr sz="2400">
              <a:latin typeface="Times New Roman"/>
              <a:ea typeface="Times New Roman"/>
              <a:cs typeface="Times New Roman"/>
              <a:sym typeface="Times New Roman"/>
            </a:endParaRPr>
          </a:p>
          <a:p>
            <a:pPr indent="0" lvl="0" marL="0" rtl="0" algn="ctr">
              <a:spcBef>
                <a:spcPts val="600"/>
              </a:spcBef>
              <a:spcAft>
                <a:spcPts val="0"/>
              </a:spcAft>
              <a:buClr>
                <a:schemeClr val="dk1"/>
              </a:buClr>
              <a:buSzPts val="2400"/>
              <a:buNone/>
            </a:pPr>
            <a:r>
              <a:rPr i="1" lang="en-US" sz="2400">
                <a:latin typeface="Times New Roman"/>
                <a:ea typeface="Times New Roman"/>
                <a:cs typeface="Times New Roman"/>
                <a:sym typeface="Times New Roman"/>
              </a:rPr>
              <a:t>(hoạt động chi tiết được thảo luận ở phần sau)</a:t>
            </a:r>
            <a:endParaRPr/>
          </a:p>
          <a:p>
            <a:pPr indent="-465138" lvl="0" marL="465138" rtl="0" algn="just">
              <a:spcBef>
                <a:spcPts val="90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Thanh ghi ngắt</a:t>
            </a:r>
            <a:endParaRPr b="1" sz="2800">
              <a:latin typeface="Times New Roman"/>
              <a:ea typeface="Times New Roman"/>
              <a:cs typeface="Times New Roman"/>
              <a:sym typeface="Times New Roman"/>
            </a:endParaRPr>
          </a:p>
          <a:p>
            <a:pPr indent="465138"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8051 có một cấu trúc ngắt với 2 mức ưu tiên và 5 nguyên nhân ngắt (5 source, 2 priority level interrupt structure). Các ngắt bị vô hiệu hóa sau khi reset hệ thống, sau đó được cho phép bằng cách ghi vào thanh ghi cho phép ngắt IE (interrupt enable register). </a:t>
            </a:r>
            <a:endParaRPr/>
          </a:p>
          <a:p>
            <a:pPr indent="465138" lvl="0" marL="0" rtl="0" algn="ctr">
              <a:spcBef>
                <a:spcPts val="1200"/>
              </a:spcBef>
              <a:spcAft>
                <a:spcPts val="0"/>
              </a:spcAft>
              <a:buClr>
                <a:schemeClr val="dk1"/>
              </a:buClr>
              <a:buSzPts val="2400"/>
              <a:buNone/>
            </a:pPr>
            <a:r>
              <a:rPr i="1" lang="en-US" sz="2400">
                <a:latin typeface="Times New Roman"/>
                <a:ea typeface="Times New Roman"/>
                <a:cs typeface="Times New Roman"/>
                <a:sym typeface="Times New Roman"/>
              </a:rPr>
              <a:t>(Hoạt động chi tiết được thảo luận ở phần sau)</a:t>
            </a:r>
            <a:endParaRPr/>
          </a:p>
          <a:p>
            <a:pPr indent="-465138" lvl="0" marL="465138" rtl="0" algn="just">
              <a:spcBef>
                <a:spcPts val="120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Thanh ghi điều khiển nguồn PCON </a:t>
            </a:r>
            <a:r>
              <a:rPr lang="en-US" sz="2400">
                <a:latin typeface="Times New Roman"/>
                <a:ea typeface="Times New Roman"/>
                <a:cs typeface="Times New Roman"/>
                <a:sym typeface="Times New Roman"/>
              </a:rPr>
              <a:t>(power control register) cho phép tăng tốc độ của cổng nối tiếp</a:t>
            </a:r>
            <a:endParaRPr sz="2400">
              <a:latin typeface="Times New Roman"/>
              <a:ea typeface="Times New Roman"/>
              <a:cs typeface="Times New Roman"/>
              <a:sym typeface="Times New Roman"/>
            </a:endParaRPr>
          </a:p>
        </p:txBody>
      </p:sp>
      <p:sp>
        <p:nvSpPr>
          <p:cNvPr id="760" name="Google Shape;760;p70"/>
          <p:cNvSpPr txBox="1"/>
          <p:nvPr/>
        </p:nvSpPr>
        <p:spPr>
          <a:xfrm>
            <a:off x="152400" y="130818"/>
            <a:ext cx="9693322" cy="70738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3200"/>
              <a:buFont typeface="Arial"/>
              <a:buNone/>
            </a:pPr>
            <a:r>
              <a:rPr b="1" lang="en-US" sz="3200">
                <a:solidFill>
                  <a:srgbClr val="C00000"/>
                </a:solidFill>
                <a:latin typeface="Times New Roman"/>
                <a:ea typeface="Times New Roman"/>
                <a:cs typeface="Times New Roman"/>
                <a:sym typeface="Times New Roman"/>
              </a:rPr>
              <a:t>2.4.1. Các thanh ghi chức năng đặc biệt của 8051 (6)</a:t>
            </a:r>
            <a:endParaRPr/>
          </a:p>
        </p:txBody>
      </p:sp>
      <p:sp>
        <p:nvSpPr>
          <p:cNvPr id="761" name="Google Shape;761;p7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0" st="0"/>
                                            </p:txEl>
                                          </p:spTgt>
                                        </p:tgtEl>
                                        <p:attrNameLst>
                                          <p:attrName>style.visibility</p:attrName>
                                        </p:attrNameLst>
                                      </p:cBhvr>
                                      <p:to>
                                        <p:strVal val="visible"/>
                                      </p:to>
                                    </p:set>
                                    <p:animEffect filter="fade" transition="in">
                                      <p:cBhvr>
                                        <p:cTn dur="1000"/>
                                        <p:tgtEl>
                                          <p:spTgt spid="7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1" st="1"/>
                                            </p:txEl>
                                          </p:spTgt>
                                        </p:tgtEl>
                                        <p:attrNameLst>
                                          <p:attrName>style.visibility</p:attrName>
                                        </p:attrNameLst>
                                      </p:cBhvr>
                                      <p:to>
                                        <p:strVal val="visible"/>
                                      </p:to>
                                    </p:set>
                                    <p:animEffect filter="fade" transition="in">
                                      <p:cBhvr>
                                        <p:cTn dur="1000"/>
                                        <p:tgtEl>
                                          <p:spTgt spid="7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2" st="2"/>
                                            </p:txEl>
                                          </p:spTgt>
                                        </p:tgtEl>
                                        <p:attrNameLst>
                                          <p:attrName>style.visibility</p:attrName>
                                        </p:attrNameLst>
                                      </p:cBhvr>
                                      <p:to>
                                        <p:strVal val="visible"/>
                                      </p:to>
                                    </p:set>
                                    <p:animEffect filter="fade" transition="in">
                                      <p:cBhvr>
                                        <p:cTn dur="1000"/>
                                        <p:tgtEl>
                                          <p:spTgt spid="7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3" st="3"/>
                                            </p:txEl>
                                          </p:spTgt>
                                        </p:tgtEl>
                                        <p:attrNameLst>
                                          <p:attrName>style.visibility</p:attrName>
                                        </p:attrNameLst>
                                      </p:cBhvr>
                                      <p:to>
                                        <p:strVal val="visible"/>
                                      </p:to>
                                    </p:set>
                                    <p:animEffect filter="fade" transition="in">
                                      <p:cBhvr>
                                        <p:cTn dur="1000"/>
                                        <p:tgtEl>
                                          <p:spTgt spid="7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4" st="4"/>
                                            </p:txEl>
                                          </p:spTgt>
                                        </p:tgtEl>
                                        <p:attrNameLst>
                                          <p:attrName>style.visibility</p:attrName>
                                        </p:attrNameLst>
                                      </p:cBhvr>
                                      <p:to>
                                        <p:strVal val="visible"/>
                                      </p:to>
                                    </p:set>
                                    <p:animEffect filter="fade" transition="in">
                                      <p:cBhvr>
                                        <p:cTn dur="1000"/>
                                        <p:tgtEl>
                                          <p:spTgt spid="7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5" st="5"/>
                                            </p:txEl>
                                          </p:spTgt>
                                        </p:tgtEl>
                                        <p:attrNameLst>
                                          <p:attrName>style.visibility</p:attrName>
                                        </p:attrNameLst>
                                      </p:cBhvr>
                                      <p:to>
                                        <p:strVal val="visible"/>
                                      </p:to>
                                    </p:set>
                                    <p:animEffect filter="fade" transition="in">
                                      <p:cBhvr>
                                        <p:cTn dur="1000"/>
                                        <p:tgtEl>
                                          <p:spTgt spid="7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6" st="6"/>
                                            </p:txEl>
                                          </p:spTgt>
                                        </p:tgtEl>
                                        <p:attrNameLst>
                                          <p:attrName>style.visibility</p:attrName>
                                        </p:attrNameLst>
                                      </p:cBhvr>
                                      <p:to>
                                        <p:strVal val="visible"/>
                                      </p:to>
                                    </p:set>
                                    <p:animEffect filter="fade" transition="in">
                                      <p:cBhvr>
                                        <p:cTn dur="1000"/>
                                        <p:tgtEl>
                                          <p:spTgt spid="7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7" st="7"/>
                                            </p:txEl>
                                          </p:spTgt>
                                        </p:tgtEl>
                                        <p:attrNameLst>
                                          <p:attrName>style.visibility</p:attrName>
                                        </p:attrNameLst>
                                      </p:cBhvr>
                                      <p:to>
                                        <p:strVal val="visible"/>
                                      </p:to>
                                    </p:set>
                                    <p:animEffect filter="fade" transition="in">
                                      <p:cBhvr>
                                        <p:cTn dur="1000"/>
                                        <p:tgtEl>
                                          <p:spTgt spid="75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71"/>
          <p:cNvSpPr txBox="1"/>
          <p:nvPr>
            <p:ph type="title"/>
          </p:nvPr>
        </p:nvSpPr>
        <p:spPr>
          <a:xfrm>
            <a:off x="228600" y="190899"/>
            <a:ext cx="82296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2.4.2. Các chế độ địa chỉ (1)</a:t>
            </a:r>
            <a:endParaRPr/>
          </a:p>
        </p:txBody>
      </p:sp>
      <p:sp>
        <p:nvSpPr>
          <p:cNvPr id="767" name="Google Shape;767;p71"/>
          <p:cNvSpPr txBox="1"/>
          <p:nvPr/>
        </p:nvSpPr>
        <p:spPr>
          <a:xfrm>
            <a:off x="228600" y="990600"/>
            <a:ext cx="8839200" cy="2026841"/>
          </a:xfrm>
          <a:prstGeom prst="rect">
            <a:avLst/>
          </a:prstGeom>
          <a:noFill/>
          <a:ln>
            <a:noFill/>
          </a:ln>
        </p:spPr>
        <p:txBody>
          <a:bodyPr anchorCtr="0" anchor="t" bIns="45700" lIns="91425" spcFirstLastPara="1" rIns="91425" wrap="square" tIns="45700">
            <a:noAutofit/>
          </a:bodyPr>
          <a:lstStyle/>
          <a:p>
            <a:pPr indent="-465138" lvl="0" marL="465138" marR="0" rtl="0" algn="l">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Chế độ địa chỉ tức thời</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Toán hạng nguồn là hằng số</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Trước dữ liệu tức thời cần có dấu #</a:t>
            </a:r>
            <a:endParaRPr/>
          </a:p>
          <a:p>
            <a:pPr indent="0" lvl="1" marL="457200" marR="0" rtl="0" algn="l">
              <a:spcBef>
                <a:spcPts val="480"/>
              </a:spcBef>
              <a:spcAft>
                <a:spcPts val="0"/>
              </a:spcAft>
              <a:buNone/>
            </a:pPr>
            <a:r>
              <a:rPr b="1" i="0" lang="en-US" sz="2400" u="none" cap="none" strike="noStrike">
                <a:solidFill>
                  <a:schemeClr val="dk1"/>
                </a:solidFill>
                <a:latin typeface="Times New Roman"/>
                <a:ea typeface="Times New Roman"/>
                <a:cs typeface="Times New Roman"/>
                <a:sym typeface="Times New Roman"/>
              </a:rPr>
              <a:t>Ví dụ 2.6: </a:t>
            </a:r>
            <a:r>
              <a:rPr b="0" i="0" lang="en-US" sz="2400" u="none" cap="none" strike="noStrike">
                <a:solidFill>
                  <a:schemeClr val="dk1"/>
                </a:solidFill>
                <a:latin typeface="Times New Roman"/>
                <a:ea typeface="Times New Roman"/>
                <a:cs typeface="Times New Roman"/>
                <a:sym typeface="Times New Roman"/>
              </a:rPr>
              <a:t>MOV    A, #25	; Nạp giá trị 25 và thanh ghi A</a:t>
            </a:r>
            <a:endParaRPr/>
          </a:p>
        </p:txBody>
      </p:sp>
      <p:sp>
        <p:nvSpPr>
          <p:cNvPr id="768" name="Google Shape;768;p71"/>
          <p:cNvSpPr txBox="1"/>
          <p:nvPr/>
        </p:nvSpPr>
        <p:spPr>
          <a:xfrm>
            <a:off x="228600" y="3017440"/>
            <a:ext cx="10744200" cy="3535759"/>
          </a:xfrm>
          <a:prstGeom prst="rect">
            <a:avLst/>
          </a:prstGeom>
          <a:noFill/>
          <a:ln>
            <a:noFill/>
          </a:ln>
        </p:spPr>
        <p:txBody>
          <a:bodyPr anchorCtr="0" anchor="t" bIns="45700" lIns="91425" spcFirstLastPara="1" rIns="91425" wrap="square" tIns="45700">
            <a:noAutofit/>
          </a:bodyPr>
          <a:lstStyle/>
          <a:p>
            <a:pPr indent="-465138" lvl="0" marL="465138" marR="0" rtl="0" algn="l">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Chế độ định địa chỉ thanh ghi</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Sử dụng thanh ghi để lưu trữ dữ liệu cần thao tác</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Thanh ghi nguồn và đích phải phù hợp về kích thước</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Không được chuyển dữ liệu giữa các thanh ghi Rn vào Rm</a:t>
            </a:r>
            <a:endParaRPr/>
          </a:p>
          <a:p>
            <a:pPr indent="0" lvl="1" marL="457200" marR="0" rtl="0" algn="l">
              <a:spcBef>
                <a:spcPts val="480"/>
              </a:spcBef>
              <a:spcAft>
                <a:spcPts val="0"/>
              </a:spcAft>
              <a:buNone/>
            </a:pPr>
            <a:r>
              <a:rPr b="1" i="0" lang="en-US" sz="2400" u="none" cap="none" strike="noStrike">
                <a:solidFill>
                  <a:schemeClr val="dk1"/>
                </a:solidFill>
                <a:latin typeface="Times New Roman"/>
                <a:ea typeface="Times New Roman"/>
                <a:cs typeface="Times New Roman"/>
                <a:sym typeface="Times New Roman"/>
              </a:rPr>
              <a:t>Ví dụ 2.7:</a:t>
            </a:r>
            <a:endParaRPr/>
          </a:p>
          <a:p>
            <a:pPr indent="0" lvl="2" marL="914400"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A, R0 		; Chuyển dữ liệu trong R0 vào A</a:t>
            </a:r>
            <a:endParaRPr/>
          </a:p>
          <a:p>
            <a:pPr indent="0" lvl="2" marL="914400"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DPTR, A	; không thực hiện được, vì không cùng kích thước</a:t>
            </a:r>
            <a:endParaRPr b="0" i="0" sz="2400" u="none" cap="none" strike="noStrike">
              <a:solidFill>
                <a:schemeClr val="dk1"/>
              </a:solidFill>
              <a:latin typeface="Times New Roman"/>
              <a:ea typeface="Times New Roman"/>
              <a:cs typeface="Times New Roman"/>
              <a:sym typeface="Times New Roman"/>
            </a:endParaRPr>
          </a:p>
          <a:p>
            <a:pPr indent="0" lvl="2" marL="914400"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R1, R2		; không hợp lệ</a:t>
            </a:r>
            <a:endParaRPr b="0" i="0" sz="2400" u="none" cap="none" strike="noStrike">
              <a:solidFill>
                <a:schemeClr val="dk1"/>
              </a:solidFill>
              <a:latin typeface="Times New Roman"/>
              <a:ea typeface="Times New Roman"/>
              <a:cs typeface="Times New Roman"/>
              <a:sym typeface="Times New Roman"/>
            </a:endParaRPr>
          </a:p>
        </p:txBody>
      </p:sp>
      <p:sp>
        <p:nvSpPr>
          <p:cNvPr id="769" name="Google Shape;769;p7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1000"/>
                                        <p:tgtEl>
                                          <p:spTgt spid="7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0" st="0"/>
                                            </p:txEl>
                                          </p:spTgt>
                                        </p:tgtEl>
                                        <p:attrNameLst>
                                          <p:attrName>style.visibility</p:attrName>
                                        </p:attrNameLst>
                                      </p:cBhvr>
                                      <p:to>
                                        <p:strVal val="visible"/>
                                      </p:to>
                                    </p:set>
                                    <p:animEffect filter="fade" transition="in">
                                      <p:cBhvr>
                                        <p:cTn dur="1000"/>
                                        <p:tgtEl>
                                          <p:spTgt spid="7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1" st="1"/>
                                            </p:txEl>
                                          </p:spTgt>
                                        </p:tgtEl>
                                        <p:attrNameLst>
                                          <p:attrName>style.visibility</p:attrName>
                                        </p:attrNameLst>
                                      </p:cBhvr>
                                      <p:to>
                                        <p:strVal val="visible"/>
                                      </p:to>
                                    </p:set>
                                    <p:animEffect filter="fade" transition="in">
                                      <p:cBhvr>
                                        <p:cTn dur="1000"/>
                                        <p:tgtEl>
                                          <p:spTgt spid="7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2" st="2"/>
                                            </p:txEl>
                                          </p:spTgt>
                                        </p:tgtEl>
                                        <p:attrNameLst>
                                          <p:attrName>style.visibility</p:attrName>
                                        </p:attrNameLst>
                                      </p:cBhvr>
                                      <p:to>
                                        <p:strVal val="visible"/>
                                      </p:to>
                                    </p:set>
                                    <p:animEffect filter="fade" transition="in">
                                      <p:cBhvr>
                                        <p:cTn dur="1000"/>
                                        <p:tgtEl>
                                          <p:spTgt spid="7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3" st="3"/>
                                            </p:txEl>
                                          </p:spTgt>
                                        </p:tgtEl>
                                        <p:attrNameLst>
                                          <p:attrName>style.visibility</p:attrName>
                                        </p:attrNameLst>
                                      </p:cBhvr>
                                      <p:to>
                                        <p:strVal val="visible"/>
                                      </p:to>
                                    </p:set>
                                    <p:animEffect filter="fade" transition="in">
                                      <p:cBhvr>
                                        <p:cTn dur="1000"/>
                                        <p:tgtEl>
                                          <p:spTgt spid="7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4" st="4"/>
                                            </p:txEl>
                                          </p:spTgt>
                                        </p:tgtEl>
                                        <p:attrNameLst>
                                          <p:attrName>style.visibility</p:attrName>
                                        </p:attrNameLst>
                                      </p:cBhvr>
                                      <p:to>
                                        <p:strVal val="visible"/>
                                      </p:to>
                                    </p:set>
                                    <p:animEffect filter="fade" transition="in">
                                      <p:cBhvr>
                                        <p:cTn dur="1000"/>
                                        <p:tgtEl>
                                          <p:spTgt spid="7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5" st="5"/>
                                            </p:txEl>
                                          </p:spTgt>
                                        </p:tgtEl>
                                        <p:attrNameLst>
                                          <p:attrName>style.visibility</p:attrName>
                                        </p:attrNameLst>
                                      </p:cBhvr>
                                      <p:to>
                                        <p:strVal val="visible"/>
                                      </p:to>
                                    </p:set>
                                    <p:animEffect filter="fade" transition="in">
                                      <p:cBhvr>
                                        <p:cTn dur="1000"/>
                                        <p:tgtEl>
                                          <p:spTgt spid="7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6" st="6"/>
                                            </p:txEl>
                                          </p:spTgt>
                                        </p:tgtEl>
                                        <p:attrNameLst>
                                          <p:attrName>style.visibility</p:attrName>
                                        </p:attrNameLst>
                                      </p:cBhvr>
                                      <p:to>
                                        <p:strVal val="visible"/>
                                      </p:to>
                                    </p:set>
                                    <p:animEffect filter="fade" transition="in">
                                      <p:cBhvr>
                                        <p:cTn dur="1000"/>
                                        <p:tgtEl>
                                          <p:spTgt spid="7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8">
                                            <p:txEl>
                                              <p:pRg end="7" st="7"/>
                                            </p:txEl>
                                          </p:spTgt>
                                        </p:tgtEl>
                                        <p:attrNameLst>
                                          <p:attrName>style.visibility</p:attrName>
                                        </p:attrNameLst>
                                      </p:cBhvr>
                                      <p:to>
                                        <p:strVal val="visible"/>
                                      </p:to>
                                    </p:set>
                                    <p:animEffect filter="fade" transition="in">
                                      <p:cBhvr>
                                        <p:cTn dur="1000"/>
                                        <p:tgtEl>
                                          <p:spTgt spid="76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72"/>
          <p:cNvSpPr txBox="1"/>
          <p:nvPr/>
        </p:nvSpPr>
        <p:spPr>
          <a:xfrm>
            <a:off x="248652" y="846702"/>
            <a:ext cx="11028947" cy="288709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Chế độ địa chỉ trực tiếp</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Toán hạng (nguồn hoặc đích) là địa chỉ của ô nhớ</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Trước địa chỉ ô nhớ không có dấu #</a:t>
            </a:r>
            <a:endParaRPr/>
          </a:p>
          <a:p>
            <a:pPr indent="0" lvl="1" marL="457200" marR="0" rtl="0" algn="l">
              <a:spcBef>
                <a:spcPts val="480"/>
              </a:spcBef>
              <a:spcAft>
                <a:spcPts val="0"/>
              </a:spcAft>
              <a:buNone/>
            </a:pPr>
            <a:r>
              <a:rPr b="1" i="0" lang="en-US" sz="2400" u="none" cap="none" strike="noStrike">
                <a:solidFill>
                  <a:schemeClr val="dk1"/>
                </a:solidFill>
                <a:latin typeface="Times New Roman"/>
                <a:ea typeface="Times New Roman"/>
                <a:cs typeface="Times New Roman"/>
                <a:sym typeface="Times New Roman"/>
              </a:rPr>
              <a:t>Ví dụ 2.8:</a:t>
            </a:r>
            <a:endParaRPr/>
          </a:p>
          <a:p>
            <a:pPr indent="0" lvl="2" marL="465138"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A, 35h 	; DL trong ô nhớ có đ/c 35h được chuyển vào thanh ghi A</a:t>
            </a:r>
            <a:endParaRPr/>
          </a:p>
          <a:p>
            <a:pPr indent="0" lvl="2" marL="465138"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56h, A	; chuyển nd thanh ghi A vào ô nhớ có địa 56h</a:t>
            </a:r>
            <a:endParaRPr/>
          </a:p>
          <a:p>
            <a:pPr indent="-158750" lvl="1" marL="742950"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776" name="Google Shape;776;p72"/>
          <p:cNvSpPr txBox="1"/>
          <p:nvPr/>
        </p:nvSpPr>
        <p:spPr>
          <a:xfrm>
            <a:off x="248651" y="3733800"/>
            <a:ext cx="11943349" cy="2743200"/>
          </a:xfrm>
          <a:prstGeom prst="rect">
            <a:avLst/>
          </a:prstGeom>
          <a:noFill/>
          <a:ln>
            <a:noFill/>
          </a:ln>
        </p:spPr>
        <p:txBody>
          <a:bodyPr anchorCtr="0" anchor="t" bIns="45700" lIns="91425" spcFirstLastPara="1" rIns="91425" wrap="square" tIns="45700">
            <a:noAutofit/>
          </a:bodyPr>
          <a:lstStyle/>
          <a:p>
            <a:pPr indent="-465138" lvl="0" marL="465138" marR="0" rtl="0" algn="l">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Chế độ định địa chỉ gián tiếp thanh ghi</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Địa chỉ ô nhớ chứa dữ liệu được chứa trong thanh ghi R0 hoặc R1</a:t>
            </a:r>
            <a:endParaRPr/>
          </a:p>
          <a:p>
            <a:pPr indent="-285750" lvl="1" marL="742950" marR="0" rtl="0" algn="l">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Trước thanh ghi R0 hoặc R1 phải chèn thêm ký tự “@” để biểu thị cho chế độ địa chỉ này</a:t>
            </a:r>
            <a:endParaRPr/>
          </a:p>
          <a:p>
            <a:pPr indent="0" lvl="1" marL="457200" marR="0" rtl="0" algn="l">
              <a:spcBef>
                <a:spcPts val="480"/>
              </a:spcBef>
              <a:spcAft>
                <a:spcPts val="0"/>
              </a:spcAft>
              <a:buNone/>
            </a:pPr>
            <a:r>
              <a:rPr b="1" i="0" lang="en-US" sz="2400" u="none" cap="none" strike="noStrike">
                <a:solidFill>
                  <a:schemeClr val="dk1"/>
                </a:solidFill>
                <a:latin typeface="Times New Roman"/>
                <a:ea typeface="Times New Roman"/>
                <a:cs typeface="Times New Roman"/>
                <a:sym typeface="Times New Roman"/>
              </a:rPr>
              <a:t>Ví dụ 2.9:</a:t>
            </a:r>
            <a:endParaRPr/>
          </a:p>
          <a:p>
            <a:pPr indent="0" lvl="2" marL="508000"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A, @R0	;chuyển dl trong ô nhớ có đ/c trong R0 vào A</a:t>
            </a:r>
            <a:endParaRPr/>
          </a:p>
          <a:p>
            <a:pPr indent="0" lvl="2" marL="508000" marR="0" rtl="0" algn="l">
              <a:spcBef>
                <a:spcPts val="480"/>
              </a:spcBef>
              <a:spcAft>
                <a:spcPts val="0"/>
              </a:spcAft>
              <a:buNone/>
            </a:pPr>
            <a:r>
              <a:rPr b="0" i="0" lang="en-US" sz="2400" u="none" cap="none" strike="noStrike">
                <a:solidFill>
                  <a:schemeClr val="dk1"/>
                </a:solidFill>
                <a:latin typeface="Times New Roman"/>
                <a:ea typeface="Times New Roman"/>
                <a:cs typeface="Times New Roman"/>
                <a:sym typeface="Times New Roman"/>
              </a:rPr>
              <a:t>MOV  @R1, A	; chuyển nd A vào ô nhớ có đ/c trong R1</a:t>
            </a:r>
            <a:endParaRPr/>
          </a:p>
          <a:p>
            <a:pPr indent="-146050" lvl="1" marL="742950" marR="0" rtl="0" algn="l">
              <a:spcBef>
                <a:spcPts val="440"/>
              </a:spcBef>
              <a:spcAft>
                <a:spcPts val="0"/>
              </a:spcAft>
              <a:buClr>
                <a:schemeClr val="dk1"/>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p:txBody>
      </p:sp>
      <p:sp>
        <p:nvSpPr>
          <p:cNvPr id="777" name="Google Shape;777;p72"/>
          <p:cNvSpPr txBox="1"/>
          <p:nvPr>
            <p:ph type="title"/>
          </p:nvPr>
        </p:nvSpPr>
        <p:spPr>
          <a:xfrm>
            <a:off x="228600" y="190899"/>
            <a:ext cx="8229600" cy="6397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2.4.2. Các chế độ địa chỉ (2)</a:t>
            </a:r>
            <a:endParaRPr/>
          </a:p>
        </p:txBody>
      </p:sp>
      <p:sp>
        <p:nvSpPr>
          <p:cNvPr id="778" name="Google Shape;778;p7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0" st="0"/>
                                            </p:txEl>
                                          </p:spTgt>
                                        </p:tgtEl>
                                        <p:attrNameLst>
                                          <p:attrName>style.visibility</p:attrName>
                                        </p:attrNameLst>
                                      </p:cBhvr>
                                      <p:to>
                                        <p:strVal val="visible"/>
                                      </p:to>
                                    </p:set>
                                    <p:animEffect filter="fade" transition="in">
                                      <p:cBhvr>
                                        <p:cTn dur="1000"/>
                                        <p:tgtEl>
                                          <p:spTgt spid="7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1" st="1"/>
                                            </p:txEl>
                                          </p:spTgt>
                                        </p:tgtEl>
                                        <p:attrNameLst>
                                          <p:attrName>style.visibility</p:attrName>
                                        </p:attrNameLst>
                                      </p:cBhvr>
                                      <p:to>
                                        <p:strVal val="visible"/>
                                      </p:to>
                                    </p:set>
                                    <p:animEffect filter="fade" transition="in">
                                      <p:cBhvr>
                                        <p:cTn dur="1000"/>
                                        <p:tgtEl>
                                          <p:spTgt spid="7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2" st="2"/>
                                            </p:txEl>
                                          </p:spTgt>
                                        </p:tgtEl>
                                        <p:attrNameLst>
                                          <p:attrName>style.visibility</p:attrName>
                                        </p:attrNameLst>
                                      </p:cBhvr>
                                      <p:to>
                                        <p:strVal val="visible"/>
                                      </p:to>
                                    </p:set>
                                    <p:animEffect filter="fade" transition="in">
                                      <p:cBhvr>
                                        <p:cTn dur="1000"/>
                                        <p:tgtEl>
                                          <p:spTgt spid="7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3" st="3"/>
                                            </p:txEl>
                                          </p:spTgt>
                                        </p:tgtEl>
                                        <p:attrNameLst>
                                          <p:attrName>style.visibility</p:attrName>
                                        </p:attrNameLst>
                                      </p:cBhvr>
                                      <p:to>
                                        <p:strVal val="visible"/>
                                      </p:to>
                                    </p:set>
                                    <p:animEffect filter="fade" transition="in">
                                      <p:cBhvr>
                                        <p:cTn dur="1000"/>
                                        <p:tgtEl>
                                          <p:spTgt spid="7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4" st="4"/>
                                            </p:txEl>
                                          </p:spTgt>
                                        </p:tgtEl>
                                        <p:attrNameLst>
                                          <p:attrName>style.visibility</p:attrName>
                                        </p:attrNameLst>
                                      </p:cBhvr>
                                      <p:to>
                                        <p:strVal val="visible"/>
                                      </p:to>
                                    </p:set>
                                    <p:animEffect filter="fade" transition="in">
                                      <p:cBhvr>
                                        <p:cTn dur="1000"/>
                                        <p:tgtEl>
                                          <p:spTgt spid="7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5" st="5"/>
                                            </p:txEl>
                                          </p:spTgt>
                                        </p:tgtEl>
                                        <p:attrNameLst>
                                          <p:attrName>style.visibility</p:attrName>
                                        </p:attrNameLst>
                                      </p:cBhvr>
                                      <p:to>
                                        <p:strVal val="visible"/>
                                      </p:to>
                                    </p:set>
                                    <p:animEffect filter="fade" transition="in">
                                      <p:cBhvr>
                                        <p:cTn dur="1000"/>
                                        <p:tgtEl>
                                          <p:spTgt spid="7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xEl>
                                              <p:pRg end="6" st="6"/>
                                            </p:txEl>
                                          </p:spTgt>
                                        </p:tgtEl>
                                        <p:attrNameLst>
                                          <p:attrName>style.visibility</p:attrName>
                                        </p:attrNameLst>
                                      </p:cBhvr>
                                      <p:to>
                                        <p:strVal val="visible"/>
                                      </p:to>
                                    </p:set>
                                    <p:animEffect filter="fade" transition="in">
                                      <p:cBhvr>
                                        <p:cTn dur="1000"/>
                                        <p:tgtEl>
                                          <p:spTgt spid="7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0" st="0"/>
                                            </p:txEl>
                                          </p:spTgt>
                                        </p:tgtEl>
                                        <p:attrNameLst>
                                          <p:attrName>style.visibility</p:attrName>
                                        </p:attrNameLst>
                                      </p:cBhvr>
                                      <p:to>
                                        <p:strVal val="visible"/>
                                      </p:to>
                                    </p:set>
                                    <p:animEffect filter="fade" transition="in">
                                      <p:cBhvr>
                                        <p:cTn dur="1000"/>
                                        <p:tgtEl>
                                          <p:spTgt spid="7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1" st="1"/>
                                            </p:txEl>
                                          </p:spTgt>
                                        </p:tgtEl>
                                        <p:attrNameLst>
                                          <p:attrName>style.visibility</p:attrName>
                                        </p:attrNameLst>
                                      </p:cBhvr>
                                      <p:to>
                                        <p:strVal val="visible"/>
                                      </p:to>
                                    </p:set>
                                    <p:animEffect filter="fade" transition="in">
                                      <p:cBhvr>
                                        <p:cTn dur="1000"/>
                                        <p:tgtEl>
                                          <p:spTgt spid="7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2" st="2"/>
                                            </p:txEl>
                                          </p:spTgt>
                                        </p:tgtEl>
                                        <p:attrNameLst>
                                          <p:attrName>style.visibility</p:attrName>
                                        </p:attrNameLst>
                                      </p:cBhvr>
                                      <p:to>
                                        <p:strVal val="visible"/>
                                      </p:to>
                                    </p:set>
                                    <p:animEffect filter="fade" transition="in">
                                      <p:cBhvr>
                                        <p:cTn dur="1000"/>
                                        <p:tgtEl>
                                          <p:spTgt spid="7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3" st="3"/>
                                            </p:txEl>
                                          </p:spTgt>
                                        </p:tgtEl>
                                        <p:attrNameLst>
                                          <p:attrName>style.visibility</p:attrName>
                                        </p:attrNameLst>
                                      </p:cBhvr>
                                      <p:to>
                                        <p:strVal val="visible"/>
                                      </p:to>
                                    </p:set>
                                    <p:animEffect filter="fade" transition="in">
                                      <p:cBhvr>
                                        <p:cTn dur="1000"/>
                                        <p:tgtEl>
                                          <p:spTgt spid="7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4" st="4"/>
                                            </p:txEl>
                                          </p:spTgt>
                                        </p:tgtEl>
                                        <p:attrNameLst>
                                          <p:attrName>style.visibility</p:attrName>
                                        </p:attrNameLst>
                                      </p:cBhvr>
                                      <p:to>
                                        <p:strVal val="visible"/>
                                      </p:to>
                                    </p:set>
                                    <p:animEffect filter="fade" transition="in">
                                      <p:cBhvr>
                                        <p:cTn dur="1000"/>
                                        <p:tgtEl>
                                          <p:spTgt spid="7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5" st="5"/>
                                            </p:txEl>
                                          </p:spTgt>
                                        </p:tgtEl>
                                        <p:attrNameLst>
                                          <p:attrName>style.visibility</p:attrName>
                                        </p:attrNameLst>
                                      </p:cBhvr>
                                      <p:to>
                                        <p:strVal val="visible"/>
                                      </p:to>
                                    </p:set>
                                    <p:animEffect filter="fade" transition="in">
                                      <p:cBhvr>
                                        <p:cTn dur="1000"/>
                                        <p:tgtEl>
                                          <p:spTgt spid="7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xEl>
                                              <p:pRg end="6" st="6"/>
                                            </p:txEl>
                                          </p:spTgt>
                                        </p:tgtEl>
                                        <p:attrNameLst>
                                          <p:attrName>style.visibility</p:attrName>
                                        </p:attrNameLst>
                                      </p:cBhvr>
                                      <p:to>
                                        <p:strVal val="visible"/>
                                      </p:to>
                                    </p:set>
                                    <p:animEffect filter="fade" transition="in">
                                      <p:cBhvr>
                                        <p:cTn dur="1000"/>
                                        <p:tgtEl>
                                          <p:spTgt spid="77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84" name="Google Shape;784;p73"/>
          <p:cNvSpPr txBox="1"/>
          <p:nvPr/>
        </p:nvSpPr>
        <p:spPr>
          <a:xfrm>
            <a:off x="5791200" y="228600"/>
            <a:ext cx="8969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BÀI TẬP</a:t>
            </a:r>
            <a:endParaRPr/>
          </a:p>
        </p:txBody>
      </p:sp>
      <p:sp>
        <p:nvSpPr>
          <p:cNvPr id="785" name="Google Shape;785;p73"/>
          <p:cNvSpPr txBox="1"/>
          <p:nvPr/>
        </p:nvSpPr>
        <p:spPr>
          <a:xfrm>
            <a:off x="-1828800" y="565848"/>
            <a:ext cx="13944600" cy="784830"/>
          </a:xfrm>
          <a:prstGeom prst="rect">
            <a:avLst/>
          </a:prstGeom>
          <a:noFill/>
          <a:ln>
            <a:noFill/>
          </a:ln>
        </p:spPr>
        <p:txBody>
          <a:bodyPr anchorCtr="0" anchor="t" bIns="45700" lIns="91425" spcFirstLastPara="1" rIns="91425" wrap="square" tIns="45700">
            <a:spAutoFit/>
          </a:bodyPr>
          <a:lstStyle/>
          <a:p>
            <a:pPr indent="-228600" lvl="4" marL="2057400" marR="0" rtl="0" algn="l">
              <a:spcBef>
                <a:spcPts val="0"/>
              </a:spcBef>
              <a:spcAft>
                <a:spcPts val="0"/>
              </a:spcAft>
              <a:buClr>
                <a:schemeClr val="dk1"/>
              </a:buClr>
              <a:buSzPts val="2000"/>
              <a:buFont typeface="Calibri"/>
              <a:buAutoNum type="arabicPeriod"/>
            </a:pPr>
            <a:r>
              <a:rPr b="0" i="0" lang="en-US" sz="2000" u="none" cap="none" strike="noStrike">
                <a:solidFill>
                  <a:schemeClr val="dk1"/>
                </a:solidFill>
                <a:latin typeface="Times New Roman"/>
                <a:ea typeface="Times New Roman"/>
                <a:cs typeface="Times New Roman"/>
                <a:sym typeface="Times New Roman"/>
              </a:rPr>
              <a:t>Trong không gian bộ nhớ dữ liệu bên trong của chip 89C51, các thanh ghi chức năng đặc biệt (SFR) có địa chỉ:</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l">
              <a:spcBef>
                <a:spcPts val="6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80H – FFH		B. 00H – 1FH 	C. 20H – 2FH 	D. 30H – 7FH</a:t>
            </a:r>
            <a:endParaRPr/>
          </a:p>
        </p:txBody>
      </p:sp>
      <p:pic>
        <p:nvPicPr>
          <p:cNvPr id="786" name="Google Shape;786;p73"/>
          <p:cNvPicPr preferRelativeResize="0"/>
          <p:nvPr/>
        </p:nvPicPr>
        <p:blipFill rotWithShape="1">
          <a:blip r:embed="rId3">
            <a:alphaModFix/>
          </a:blip>
          <a:srcRect b="0" l="0" r="0" t="0"/>
          <a:stretch/>
        </p:blipFill>
        <p:spPr>
          <a:xfrm>
            <a:off x="457200" y="2362200"/>
            <a:ext cx="9829800" cy="4584248"/>
          </a:xfrm>
          <a:prstGeom prst="rect">
            <a:avLst/>
          </a:prstGeom>
          <a:noFill/>
          <a:ln>
            <a:noFill/>
          </a:ln>
        </p:spPr>
      </p:pic>
      <p:sp>
        <p:nvSpPr>
          <p:cNvPr id="787" name="Google Shape;787;p73"/>
          <p:cNvSpPr txBox="1"/>
          <p:nvPr/>
        </p:nvSpPr>
        <p:spPr>
          <a:xfrm>
            <a:off x="-1818640" y="1642066"/>
            <a:ext cx="13782040" cy="70788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2. Cho sơ đồ mở rộng bộ nhớ chương trình ROM và bộ nhớ dữ liệu RAM của vi điều khiển 89C51 như hình vẽ dưới đây:  Nếu P2.7=0 thì địa chỉ thấp nhất của IC1 là____H?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7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93" name="Google Shape;793;p74"/>
          <p:cNvSpPr txBox="1"/>
          <p:nvPr/>
        </p:nvSpPr>
        <p:spPr>
          <a:xfrm>
            <a:off x="5199023" y="228600"/>
            <a:ext cx="8969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BÀI TẬP</a:t>
            </a:r>
            <a:endParaRPr/>
          </a:p>
        </p:txBody>
      </p:sp>
      <p:sp>
        <p:nvSpPr>
          <p:cNvPr id="794" name="Google Shape;794;p74"/>
          <p:cNvSpPr txBox="1"/>
          <p:nvPr/>
        </p:nvSpPr>
        <p:spPr>
          <a:xfrm>
            <a:off x="-1752600" y="548811"/>
            <a:ext cx="13563600" cy="201593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3. Khi mở rộng bộ nhớ ROM chương trình của vi điều khiển 89C51 lên tới 2Kx8bit, thì các chân địa chỉ của vi điều khiển sẽ là:</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6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P0.7 và P2.0 – P2.2</a:t>
            </a:r>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P0.7 và P2.0 – P2.3</a:t>
            </a:r>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P0.2 và P2.0 – P2.7</a:t>
            </a:r>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P0.3 và P2.0 – P2.7</a:t>
            </a:r>
            <a:endParaRPr/>
          </a:p>
        </p:txBody>
      </p:sp>
      <p:pic>
        <p:nvPicPr>
          <p:cNvPr id="795" name="Google Shape;795;p74"/>
          <p:cNvPicPr preferRelativeResize="0"/>
          <p:nvPr/>
        </p:nvPicPr>
        <p:blipFill rotWithShape="1">
          <a:blip r:embed="rId3">
            <a:alphaModFix/>
          </a:blip>
          <a:srcRect b="0" l="0" r="0" t="0"/>
          <a:stretch/>
        </p:blipFill>
        <p:spPr>
          <a:xfrm>
            <a:off x="152400" y="3276600"/>
            <a:ext cx="11658600" cy="3420813"/>
          </a:xfrm>
          <a:prstGeom prst="rect">
            <a:avLst/>
          </a:prstGeom>
          <a:noFill/>
          <a:ln>
            <a:noFill/>
          </a:ln>
        </p:spPr>
      </p:pic>
      <p:sp>
        <p:nvSpPr>
          <p:cNvPr id="796" name="Google Shape;796;p74"/>
          <p:cNvSpPr txBox="1"/>
          <p:nvPr/>
        </p:nvSpPr>
        <p:spPr>
          <a:xfrm>
            <a:off x="-1752600" y="2638177"/>
            <a:ext cx="12891168" cy="70788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4. </a:t>
            </a:r>
            <a:r>
              <a:rPr b="0" i="0" lang="en-US" sz="2000" u="none" cap="none" strike="noStrike">
                <a:solidFill>
                  <a:schemeClr val="dk1"/>
                </a:solidFill>
                <a:latin typeface="Times New Roman"/>
                <a:ea typeface="Times New Roman"/>
                <a:cs typeface="Times New Roman"/>
                <a:sym typeface="Times New Roman"/>
              </a:rPr>
              <a:t>Cho sơ đồ mở rộng bộ nhớ chương trình ROM và bộ nhớ dữ liệu RAM của vi điều khiển 89C51 như hình vẽ dưới đây: Địa chỉ thấp nhất của IC1 là____H?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02" name="Google Shape;802;p75"/>
          <p:cNvSpPr txBox="1"/>
          <p:nvPr/>
        </p:nvSpPr>
        <p:spPr>
          <a:xfrm>
            <a:off x="5199023" y="228600"/>
            <a:ext cx="8969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BÀI TẬP</a:t>
            </a:r>
            <a:endParaRPr/>
          </a:p>
        </p:txBody>
      </p:sp>
      <p:sp>
        <p:nvSpPr>
          <p:cNvPr id="803" name="Google Shape;803;p75"/>
          <p:cNvSpPr txBox="1"/>
          <p:nvPr/>
        </p:nvSpPr>
        <p:spPr>
          <a:xfrm>
            <a:off x="-1752600" y="548811"/>
            <a:ext cx="13563600" cy="201593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3. Khi mở rộng bộ nhớ ROM chương trình của vi điều khiển 89C51 lên tới 2Kx8bit, thì các chân địa chỉ của vi điều khiển sẽ là:</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6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P0.7 và P2.0 – P2.2</a:t>
            </a:r>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P0.7 và P2.0 – P2.3</a:t>
            </a:r>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P0.2 và P2.0 – P2.7</a:t>
            </a:r>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P0.0 – P0.3 và P2.0 – P2.7</a:t>
            </a:r>
            <a:endParaRPr/>
          </a:p>
        </p:txBody>
      </p:sp>
      <p:pic>
        <p:nvPicPr>
          <p:cNvPr id="804" name="Google Shape;804;p75"/>
          <p:cNvPicPr preferRelativeResize="0"/>
          <p:nvPr/>
        </p:nvPicPr>
        <p:blipFill rotWithShape="1">
          <a:blip r:embed="rId3">
            <a:alphaModFix/>
          </a:blip>
          <a:srcRect b="0" l="0" r="0" t="0"/>
          <a:stretch/>
        </p:blipFill>
        <p:spPr>
          <a:xfrm>
            <a:off x="762000" y="3511938"/>
            <a:ext cx="10058400" cy="3185475"/>
          </a:xfrm>
          <a:prstGeom prst="rect">
            <a:avLst/>
          </a:prstGeom>
          <a:noFill/>
          <a:ln>
            <a:noFill/>
          </a:ln>
        </p:spPr>
      </p:pic>
      <p:sp>
        <p:nvSpPr>
          <p:cNvPr id="805" name="Google Shape;805;p75"/>
          <p:cNvSpPr txBox="1"/>
          <p:nvPr/>
        </p:nvSpPr>
        <p:spPr>
          <a:xfrm>
            <a:off x="-1752600" y="2638177"/>
            <a:ext cx="12891168" cy="70788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4. </a:t>
            </a:r>
            <a:r>
              <a:rPr b="0" i="0" lang="en-US" sz="2000" u="none" cap="none" strike="noStrike">
                <a:solidFill>
                  <a:schemeClr val="dk1"/>
                </a:solidFill>
                <a:latin typeface="Times New Roman"/>
                <a:ea typeface="Times New Roman"/>
                <a:cs typeface="Times New Roman"/>
                <a:sym typeface="Times New Roman"/>
              </a:rPr>
              <a:t>Cho sơ đồ mở rộng bộ nhớ chương trình ROM và bộ nhớ dữ liệu RAM của vi điều khiển 89C51 như hình vẽ dưới đây: Địa chỉ thấp nhất của IC1 là____H?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11" name="Google Shape;811;p76"/>
          <p:cNvSpPr txBox="1"/>
          <p:nvPr/>
        </p:nvSpPr>
        <p:spPr>
          <a:xfrm>
            <a:off x="5199023" y="228600"/>
            <a:ext cx="8969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BÀI TẬP</a:t>
            </a:r>
            <a:endParaRPr/>
          </a:p>
        </p:txBody>
      </p:sp>
      <p:sp>
        <p:nvSpPr>
          <p:cNvPr id="812" name="Google Shape;812;p76"/>
          <p:cNvSpPr txBox="1"/>
          <p:nvPr/>
        </p:nvSpPr>
        <p:spPr>
          <a:xfrm>
            <a:off x="-1752600" y="762000"/>
            <a:ext cx="13944600" cy="201593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5. Hãy cho biết chế độ định địa chỉ trên vi điều khiển 89C51 trong vi điều khiển 89C51 toán hạng nguồn trong câu lệnh: MOV A, #4AH</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6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địa chỉ tức thời</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đia chỉ trực tiếp</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địa chỉ gián tiếp</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địa chỉ thanh ghi</a:t>
            </a:r>
            <a:endParaRPr b="0" i="0" sz="2000" u="none" cap="none" strike="noStrike">
              <a:solidFill>
                <a:schemeClr val="dk1"/>
              </a:solidFill>
              <a:latin typeface="Times New Roman"/>
              <a:ea typeface="Times New Roman"/>
              <a:cs typeface="Times New Roman"/>
              <a:sym typeface="Times New Roman"/>
            </a:endParaRPr>
          </a:p>
        </p:txBody>
      </p:sp>
      <p:sp>
        <p:nvSpPr>
          <p:cNvPr id="813" name="Google Shape;813;p76"/>
          <p:cNvSpPr txBox="1"/>
          <p:nvPr/>
        </p:nvSpPr>
        <p:spPr>
          <a:xfrm>
            <a:off x="-1740568" y="2942004"/>
            <a:ext cx="10287000" cy="2015936"/>
          </a:xfrm>
          <a:prstGeom prst="rect">
            <a:avLst/>
          </a:prstGeom>
          <a:noFill/>
          <a:ln>
            <a:noFill/>
          </a:ln>
        </p:spPr>
        <p:txBody>
          <a:bodyPr anchorCtr="0" anchor="t" bIns="45700" lIns="91425" spcFirstLastPara="1" rIns="91425" wrap="square" tIns="45700">
            <a:spAutoFit/>
          </a:bodyPr>
          <a:lstStyle/>
          <a:p>
            <a:pPr indent="0" lvl="4" marL="1828800" marR="0" rtl="0" algn="just">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6. Hãy cho biết chế độ định địa chỉ trên vi điều khiển 89C51 trong toán hạng nguồn trong câu lệnh: MOV A, B6H</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60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đia chỉ trực tiếp</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địa chỉ tức thời</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địa chỉ gián tiếp</a:t>
            </a:r>
            <a:endParaRPr b="0" i="0" sz="2000" u="none" cap="none" strike="noStrike">
              <a:solidFill>
                <a:schemeClr val="dk1"/>
              </a:solidFill>
              <a:latin typeface="Times New Roman"/>
              <a:ea typeface="Times New Roman"/>
              <a:cs typeface="Times New Roman"/>
              <a:sym typeface="Times New Roman"/>
            </a:endParaRPr>
          </a:p>
          <a:p>
            <a:pPr indent="-228600" lvl="5" marL="2514600" marR="0" rtl="0" algn="just">
              <a:spcBef>
                <a:spcPts val="0"/>
              </a:spcBef>
              <a:spcAft>
                <a:spcPts val="0"/>
              </a:spcAft>
              <a:buClr>
                <a:schemeClr val="dk1"/>
              </a:buClr>
              <a:buSzPts val="2000"/>
              <a:buFont typeface="Calibri"/>
              <a:buAutoNum type="alphaUcPeriod"/>
            </a:pPr>
            <a:r>
              <a:rPr b="0" i="0" lang="en-US" sz="2000" u="none" cap="none" strike="noStrike">
                <a:solidFill>
                  <a:schemeClr val="dk1"/>
                </a:solidFill>
                <a:latin typeface="Times New Roman"/>
                <a:ea typeface="Times New Roman"/>
                <a:cs typeface="Times New Roman"/>
                <a:sym typeface="Times New Roman"/>
              </a:rPr>
              <a:t>Chế độ định địa chỉ thanh ghi</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7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19" name="Google Shape;819;p77"/>
          <p:cNvPicPr preferRelativeResize="0"/>
          <p:nvPr/>
        </p:nvPicPr>
        <p:blipFill rotWithShape="1">
          <a:blip r:embed="rId3">
            <a:alphaModFix/>
          </a:blip>
          <a:srcRect b="0" l="0" r="0" t="0"/>
          <a:stretch/>
        </p:blipFill>
        <p:spPr>
          <a:xfrm>
            <a:off x="685800" y="1447799"/>
            <a:ext cx="10668000" cy="4953001"/>
          </a:xfrm>
          <a:prstGeom prst="rect">
            <a:avLst/>
          </a:prstGeom>
          <a:noFill/>
          <a:ln>
            <a:noFill/>
          </a:ln>
        </p:spPr>
      </p:pic>
      <p:sp>
        <p:nvSpPr>
          <p:cNvPr id="820" name="Google Shape;820;p77"/>
          <p:cNvSpPr txBox="1"/>
          <p:nvPr/>
        </p:nvSpPr>
        <p:spPr>
          <a:xfrm>
            <a:off x="457200" y="304800"/>
            <a:ext cx="10210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Cho sơ đồ mở rộng bộ nhớ chương trình ROM và bộ nhớ dữ liệu RAM của vi điều khiển 89C51 như hình vẽ dưới đây: Địa chỉ thấp nhất của IC1 là____H? </a:t>
            </a:r>
            <a:endParaRPr sz="180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8"/>
          <p:cNvSpPr txBox="1"/>
          <p:nvPr>
            <p:ph type="title"/>
          </p:nvPr>
        </p:nvSpPr>
        <p:spPr>
          <a:xfrm>
            <a:off x="152400" y="152400"/>
            <a:ext cx="8229600" cy="563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2.4.3. Tập lệnh</a:t>
            </a:r>
            <a:endParaRPr/>
          </a:p>
        </p:txBody>
      </p:sp>
      <p:sp>
        <p:nvSpPr>
          <p:cNvPr id="826" name="Google Shape;826;p78"/>
          <p:cNvSpPr txBox="1"/>
          <p:nvPr>
            <p:ph idx="1" type="body"/>
          </p:nvPr>
        </p:nvSpPr>
        <p:spPr>
          <a:xfrm>
            <a:off x="1600200" y="1371600"/>
            <a:ext cx="8229600" cy="4495799"/>
          </a:xfrm>
          <a:prstGeom prst="rect">
            <a:avLst/>
          </a:prstGeom>
          <a:noFill/>
          <a:ln>
            <a:noFill/>
          </a:ln>
        </p:spPr>
        <p:txBody>
          <a:bodyPr anchorCtr="0" anchor="t" bIns="45700" lIns="91425" spcFirstLastPara="1" rIns="91425" wrap="square" tIns="45700">
            <a:noAutofit/>
          </a:bodyPr>
          <a:lstStyle/>
          <a:p>
            <a:pPr indent="-465138" lvl="0" marL="465138" rtl="0" algn="l">
              <a:lnSpc>
                <a:spcPct val="150000"/>
              </a:lnSpc>
              <a:spcBef>
                <a:spcPts val="0"/>
              </a:spcBef>
              <a:spcAft>
                <a:spcPts val="0"/>
              </a:spcAft>
              <a:buClr>
                <a:schemeClr val="dk2"/>
              </a:buClr>
              <a:buSzPts val="2800"/>
              <a:buFont typeface="Noto Sans Symbols"/>
              <a:buChar char="❖"/>
            </a:pPr>
            <a:r>
              <a:rPr b="1" lang="en-US" sz="2800">
                <a:solidFill>
                  <a:schemeClr val="dk2"/>
                </a:solidFill>
                <a:latin typeface="Times New Roman"/>
                <a:ea typeface="Times New Roman"/>
                <a:cs typeface="Times New Roman"/>
                <a:sym typeface="Times New Roman"/>
              </a:rPr>
              <a:t>Cấu trúc chung một lệnh</a:t>
            </a:r>
            <a:endParaRPr b="1" sz="2800">
              <a:solidFill>
                <a:schemeClr val="dk2"/>
              </a:solidFill>
              <a:latin typeface="Times New Roman"/>
              <a:ea typeface="Times New Roman"/>
              <a:cs typeface="Times New Roman"/>
              <a:sym typeface="Times New Roman"/>
            </a:endParaRPr>
          </a:p>
          <a:p>
            <a:pPr indent="-465138" lvl="0" marL="465138" rtl="0" algn="l">
              <a:lnSpc>
                <a:spcPct val="150000"/>
              </a:lnSpc>
              <a:spcBef>
                <a:spcPts val="560"/>
              </a:spcBef>
              <a:spcAft>
                <a:spcPts val="0"/>
              </a:spcAft>
              <a:buClr>
                <a:schemeClr val="dk2"/>
              </a:buClr>
              <a:buSzPts val="2800"/>
              <a:buFont typeface="Noto Sans Symbols"/>
              <a:buChar char="❖"/>
            </a:pPr>
            <a:r>
              <a:rPr b="1" lang="en-US" sz="2800">
                <a:solidFill>
                  <a:schemeClr val="dk2"/>
                </a:solidFill>
                <a:latin typeface="Times New Roman"/>
                <a:ea typeface="Times New Roman"/>
                <a:cs typeface="Times New Roman"/>
                <a:sym typeface="Times New Roman"/>
              </a:rPr>
              <a:t>Lệnh chuyển dữ liệu (truyền dữ liệu)</a:t>
            </a:r>
            <a:endParaRPr/>
          </a:p>
          <a:p>
            <a:pPr indent="-465138" lvl="0" marL="465138" rtl="0" algn="l">
              <a:lnSpc>
                <a:spcPct val="150000"/>
              </a:lnSpc>
              <a:spcBef>
                <a:spcPts val="560"/>
              </a:spcBef>
              <a:spcAft>
                <a:spcPts val="0"/>
              </a:spcAft>
              <a:buClr>
                <a:schemeClr val="dk2"/>
              </a:buClr>
              <a:buSzPts val="2800"/>
              <a:buFont typeface="Noto Sans Symbols"/>
              <a:buChar char="❖"/>
            </a:pPr>
            <a:r>
              <a:rPr b="1" lang="en-US" sz="2800">
                <a:solidFill>
                  <a:schemeClr val="dk2"/>
                </a:solidFill>
                <a:latin typeface="Times New Roman"/>
                <a:ea typeface="Times New Roman"/>
                <a:cs typeface="Times New Roman"/>
                <a:sym typeface="Times New Roman"/>
              </a:rPr>
              <a:t>Lệnh số học</a:t>
            </a:r>
            <a:endParaRPr/>
          </a:p>
          <a:p>
            <a:pPr indent="-465138" lvl="0" marL="465138" rtl="0" algn="l">
              <a:lnSpc>
                <a:spcPct val="150000"/>
              </a:lnSpc>
              <a:spcBef>
                <a:spcPts val="560"/>
              </a:spcBef>
              <a:spcAft>
                <a:spcPts val="0"/>
              </a:spcAft>
              <a:buClr>
                <a:schemeClr val="dk2"/>
              </a:buClr>
              <a:buSzPts val="2800"/>
              <a:buFont typeface="Noto Sans Symbols"/>
              <a:buChar char="❖"/>
            </a:pPr>
            <a:r>
              <a:rPr b="1" lang="en-US" sz="2800">
                <a:solidFill>
                  <a:schemeClr val="dk2"/>
                </a:solidFill>
                <a:latin typeface="Times New Roman"/>
                <a:ea typeface="Times New Roman"/>
                <a:cs typeface="Times New Roman"/>
                <a:sym typeface="Times New Roman"/>
              </a:rPr>
              <a:t>Lệnh logic (Lệnh tính toán logic và dịch bit)</a:t>
            </a:r>
            <a:endParaRPr/>
          </a:p>
          <a:p>
            <a:pPr indent="-465138" lvl="0" marL="465138" rtl="0" algn="l">
              <a:lnSpc>
                <a:spcPct val="150000"/>
              </a:lnSpc>
              <a:spcBef>
                <a:spcPts val="560"/>
              </a:spcBef>
              <a:spcAft>
                <a:spcPts val="0"/>
              </a:spcAft>
              <a:buClr>
                <a:schemeClr val="dk2"/>
              </a:buClr>
              <a:buSzPts val="2800"/>
              <a:buFont typeface="Noto Sans Symbols"/>
              <a:buChar char="❖"/>
            </a:pPr>
            <a:r>
              <a:rPr b="1" lang="en-US" sz="2800">
                <a:solidFill>
                  <a:schemeClr val="dk2"/>
                </a:solidFill>
                <a:latin typeface="Times New Roman"/>
                <a:ea typeface="Times New Roman"/>
                <a:cs typeface="Times New Roman"/>
                <a:sym typeface="Times New Roman"/>
              </a:rPr>
              <a:t>Xử lý bit</a:t>
            </a:r>
            <a:endParaRPr/>
          </a:p>
          <a:p>
            <a:pPr indent="-465138" lvl="0" marL="465138" rtl="0" algn="l">
              <a:lnSpc>
                <a:spcPct val="150000"/>
              </a:lnSpc>
              <a:spcBef>
                <a:spcPts val="560"/>
              </a:spcBef>
              <a:spcAft>
                <a:spcPts val="0"/>
              </a:spcAft>
              <a:buClr>
                <a:schemeClr val="dk2"/>
              </a:buClr>
              <a:buSzPts val="2800"/>
              <a:buFont typeface="Noto Sans Symbols"/>
              <a:buChar char="❖"/>
            </a:pPr>
            <a:r>
              <a:rPr b="1" lang="en-US" sz="2800">
                <a:solidFill>
                  <a:schemeClr val="dk2"/>
                </a:solidFill>
                <a:latin typeface="Times New Roman"/>
                <a:ea typeface="Times New Roman"/>
                <a:cs typeface="Times New Roman"/>
                <a:sym typeface="Times New Roman"/>
              </a:rPr>
              <a:t>Lệnh rẽ nhánh (điều khiển chương trình)</a:t>
            </a:r>
            <a:endParaRPr/>
          </a:p>
          <a:p>
            <a:pPr indent="-342900" lvl="0" marL="342900" rtl="0" algn="l">
              <a:lnSpc>
                <a:spcPct val="150000"/>
              </a:lnSpc>
              <a:spcBef>
                <a:spcPts val="560"/>
              </a:spcBef>
              <a:spcAft>
                <a:spcPts val="0"/>
              </a:spcAft>
              <a:buClr>
                <a:schemeClr val="dk1"/>
              </a:buClr>
              <a:buSzPts val="2800"/>
              <a:buFont typeface="Noto Sans Symbols"/>
              <a:buNone/>
            </a:pPr>
            <a:r>
              <a:t/>
            </a:r>
            <a:endParaRPr b="1" sz="2800">
              <a:solidFill>
                <a:schemeClr val="dk2"/>
              </a:solidFill>
              <a:latin typeface="Times New Roman"/>
              <a:ea typeface="Times New Roman"/>
              <a:cs typeface="Times New Roman"/>
              <a:sym typeface="Times New Roman"/>
            </a:endParaRPr>
          </a:p>
        </p:txBody>
      </p:sp>
      <p:sp>
        <p:nvSpPr>
          <p:cNvPr id="827" name="Google Shape;827;p7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79"/>
          <p:cNvSpPr txBox="1"/>
          <p:nvPr>
            <p:ph type="title"/>
          </p:nvPr>
        </p:nvSpPr>
        <p:spPr>
          <a:xfrm>
            <a:off x="152400" y="152400"/>
            <a:ext cx="8229600" cy="715962"/>
          </a:xfrm>
          <a:prstGeom prst="rect">
            <a:avLst/>
          </a:prstGeom>
          <a:noFill/>
          <a:ln>
            <a:noFill/>
          </a:ln>
        </p:spPr>
        <p:txBody>
          <a:bodyPr anchorCtr="0" anchor="ctr" bIns="45700" lIns="91425" spcFirstLastPara="1" rIns="91425" wrap="square" tIns="45700">
            <a:normAutofit/>
          </a:bodyPr>
          <a:lstStyle/>
          <a:p>
            <a:pPr indent="-457200" lvl="0" marL="45720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Cấu trúc chung một lệnh</a:t>
            </a:r>
            <a:endParaRPr b="1" sz="3200">
              <a:solidFill>
                <a:schemeClr val="dk2"/>
              </a:solidFill>
              <a:latin typeface="Times New Roman"/>
              <a:ea typeface="Times New Roman"/>
              <a:cs typeface="Times New Roman"/>
              <a:sym typeface="Times New Roman"/>
            </a:endParaRPr>
          </a:p>
        </p:txBody>
      </p:sp>
      <p:sp>
        <p:nvSpPr>
          <p:cNvPr id="833" name="Google Shape;833;p79"/>
          <p:cNvSpPr txBox="1"/>
          <p:nvPr>
            <p:ph idx="1" type="body"/>
          </p:nvPr>
        </p:nvSpPr>
        <p:spPr>
          <a:xfrm>
            <a:off x="5334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[label:] &lt;mã lệnh&gt; [toán hạng 1][,toán hạng 2 ],[toán hạng 3] [;chú giải]</a:t>
            </a:r>
            <a:endParaRPr/>
          </a:p>
          <a:p>
            <a:pPr indent="0" lvl="0" marL="0" rtl="0" algn="l">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&lt;mã lệnh&gt; bắt buộc phải có</a:t>
            </a:r>
            <a:endParaRPr sz="2400">
              <a:latin typeface="Times New Roman"/>
              <a:ea typeface="Times New Roman"/>
              <a:cs typeface="Times New Roman"/>
              <a:sym typeface="Times New Roman"/>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Các trường khác có thể có hoặc không (tùy từng lệnh)</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Các trường cách nhau bởi dấu “cách” hoặc “tab”</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Label phải kết thúc bởi dấu “:”, có độ dài tối đa 31 ký tự gồm các chữ cái, số, dấu ”?”, “_”, không được trùng với mã lệnh, bắt đầu bằng các chữ cái.</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Chú giải bắt đầu bằng “;”</a:t>
            </a:r>
            <a:endParaRPr/>
          </a:p>
        </p:txBody>
      </p:sp>
      <p:sp>
        <p:nvSpPr>
          <p:cNvPr id="834" name="Google Shape;834;p7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80"/>
          <p:cNvSpPr txBox="1"/>
          <p:nvPr>
            <p:ph idx="1" type="body"/>
          </p:nvPr>
        </p:nvSpPr>
        <p:spPr>
          <a:xfrm>
            <a:off x="304800" y="990600"/>
            <a:ext cx="11734800" cy="5638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C00000"/>
              </a:buClr>
              <a:buSzPct val="100000"/>
              <a:buChar char="•"/>
            </a:pPr>
            <a:r>
              <a:rPr b="1" lang="en-US" sz="2600">
                <a:solidFill>
                  <a:srgbClr val="C00000"/>
                </a:solidFill>
                <a:latin typeface="Times New Roman"/>
                <a:ea typeface="Times New Roman"/>
                <a:cs typeface="Times New Roman"/>
                <a:sym typeface="Times New Roman"/>
              </a:rPr>
              <a:t>MOV</a:t>
            </a:r>
            <a:endParaRPr/>
          </a:p>
          <a:p>
            <a:pPr indent="0" lvl="0" marL="0" rtl="0" algn="l">
              <a:spcBef>
                <a:spcPts val="1200"/>
              </a:spcBef>
              <a:spcAft>
                <a:spcPts val="0"/>
              </a:spcAft>
              <a:buClr>
                <a:schemeClr val="dk1"/>
              </a:buClr>
              <a:buSzPct val="100000"/>
              <a:buNone/>
            </a:pPr>
            <a:r>
              <a:rPr b="1" lang="en-US" sz="2400">
                <a:latin typeface="Times New Roman"/>
                <a:ea typeface="Times New Roman"/>
                <a:cs typeface="Times New Roman"/>
                <a:sym typeface="Times New Roman"/>
              </a:rPr>
              <a:t>Cú pháp: </a:t>
            </a:r>
            <a:r>
              <a:rPr lang="en-US" sz="2400">
                <a:latin typeface="Times New Roman"/>
                <a:ea typeface="Times New Roman"/>
                <a:cs typeface="Times New Roman"/>
                <a:sym typeface="Times New Roman"/>
              </a:rPr>
              <a:t>MOV đích, nguồn ; thực hiện chuyển nguồn vào đích</a:t>
            </a:r>
            <a:endParaRPr sz="2400">
              <a:latin typeface="Times New Roman"/>
              <a:ea typeface="Times New Roman"/>
              <a:cs typeface="Times New Roman"/>
              <a:sym typeface="Times New Roman"/>
            </a:endParaRPr>
          </a:p>
          <a:p>
            <a:pPr indent="-342900" lvl="0" marL="342900" rtl="0" algn="l">
              <a:spcBef>
                <a:spcPts val="12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Các giá trị có thể nạp trực tiếp vào bất kỳ thanh ghi nào A, B, R0-R7, giá trị phải có dấu “#” ở trước</a:t>
            </a:r>
            <a:endParaRPr sz="2400">
              <a:latin typeface="Times New Roman"/>
              <a:ea typeface="Times New Roman"/>
              <a:cs typeface="Times New Roman"/>
              <a:sym typeface="Times New Roman"/>
            </a:endParaRPr>
          </a:p>
          <a:p>
            <a:pPr indent="-342900" lvl="0" marL="342900" rtl="0" algn="l">
              <a:spcBef>
                <a:spcPts val="12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Giá trị bắt đầu là chữ cái phải thêm số 0 đằng trước.</a:t>
            </a:r>
            <a:endParaRPr/>
          </a:p>
          <a:p>
            <a:pPr indent="-342900" lvl="0" marL="342900" rtl="0" algn="l">
              <a:spcBef>
                <a:spcPts val="12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Đích, nguồn phải có cùng độ dài.</a:t>
            </a:r>
            <a:endParaRPr/>
          </a:p>
          <a:p>
            <a:pPr indent="0" lvl="0" marL="0" rtl="0" algn="l">
              <a:spcBef>
                <a:spcPts val="1200"/>
              </a:spcBef>
              <a:spcAft>
                <a:spcPts val="0"/>
              </a:spcAft>
              <a:buClr>
                <a:schemeClr val="dk1"/>
              </a:buClr>
              <a:buSzPct val="100000"/>
              <a:buNone/>
            </a:pPr>
            <a:r>
              <a:rPr b="1" lang="en-US" sz="2400">
                <a:latin typeface="Times New Roman"/>
                <a:ea typeface="Times New Roman"/>
                <a:cs typeface="Times New Roman"/>
                <a:sym typeface="Times New Roman"/>
              </a:rPr>
              <a:t>Ví dụ 2.10:</a:t>
            </a:r>
            <a:endParaRPr/>
          </a:p>
          <a:p>
            <a:pPr indent="0" lvl="0" marL="0" rtl="0" algn="l">
              <a:spcBef>
                <a:spcPts val="1200"/>
              </a:spcBef>
              <a:spcAft>
                <a:spcPts val="0"/>
              </a:spcAft>
              <a:buClr>
                <a:schemeClr val="dk1"/>
              </a:buClr>
              <a:buSzPct val="100000"/>
              <a:buNone/>
            </a:pPr>
            <a:r>
              <a:rPr lang="en-US" sz="2400">
                <a:latin typeface="Times New Roman"/>
                <a:ea typeface="Times New Roman"/>
                <a:cs typeface="Times New Roman"/>
                <a:sym typeface="Times New Roman"/>
              </a:rPr>
              <a:t>MOV 	A, #12H</a:t>
            </a:r>
            <a:endParaRPr/>
          </a:p>
          <a:p>
            <a:pPr indent="0" lvl="0" marL="0" rtl="0" algn="l">
              <a:spcBef>
                <a:spcPts val="1200"/>
              </a:spcBef>
              <a:spcAft>
                <a:spcPts val="0"/>
              </a:spcAft>
              <a:buClr>
                <a:schemeClr val="dk1"/>
              </a:buClr>
              <a:buSzPct val="100000"/>
              <a:buNone/>
            </a:pPr>
            <a:r>
              <a:rPr lang="en-US" sz="2400">
                <a:latin typeface="Times New Roman"/>
                <a:ea typeface="Times New Roman"/>
                <a:cs typeface="Times New Roman"/>
                <a:sym typeface="Times New Roman"/>
              </a:rPr>
              <a:t>MOV 	R1, #15H</a:t>
            </a:r>
            <a:endParaRPr/>
          </a:p>
          <a:p>
            <a:pPr indent="0" lvl="0" marL="0" rtl="0" algn="l">
              <a:spcBef>
                <a:spcPts val="1200"/>
              </a:spcBef>
              <a:spcAft>
                <a:spcPts val="0"/>
              </a:spcAft>
              <a:buClr>
                <a:schemeClr val="dk1"/>
              </a:buClr>
              <a:buSzPct val="100000"/>
              <a:buNone/>
            </a:pPr>
            <a:r>
              <a:rPr lang="en-US" sz="2400">
                <a:latin typeface="Times New Roman"/>
                <a:ea typeface="Times New Roman"/>
                <a:cs typeface="Times New Roman"/>
                <a:sym typeface="Times New Roman"/>
              </a:rPr>
              <a:t>MOV	 B, #0BH</a:t>
            </a:r>
            <a:endParaRPr/>
          </a:p>
          <a:p>
            <a:pPr indent="0" lvl="0" marL="0" rtl="0" algn="l">
              <a:spcBef>
                <a:spcPts val="1200"/>
              </a:spcBef>
              <a:spcAft>
                <a:spcPts val="0"/>
              </a:spcAft>
              <a:buClr>
                <a:srgbClr val="C00000"/>
              </a:buClr>
              <a:buSzPct val="100000"/>
              <a:buNone/>
            </a:pPr>
            <a:r>
              <a:rPr lang="en-US" sz="2400">
                <a:solidFill>
                  <a:srgbClr val="C00000"/>
                </a:solidFill>
                <a:latin typeface="Times New Roman"/>
                <a:ea typeface="Times New Roman"/>
                <a:cs typeface="Times New Roman"/>
                <a:sym typeface="Times New Roman"/>
              </a:rPr>
              <a:t>MOV 	R2, #123H ; không hợp lệ</a:t>
            </a:r>
            <a:endParaRPr sz="2400">
              <a:solidFill>
                <a:srgbClr val="C00000"/>
              </a:solidFill>
              <a:latin typeface="Times New Roman"/>
              <a:ea typeface="Times New Roman"/>
              <a:cs typeface="Times New Roman"/>
              <a:sym typeface="Times New Roman"/>
            </a:endParaRPr>
          </a:p>
          <a:p>
            <a:pPr indent="0" lvl="2" marL="0" rtl="0" algn="l">
              <a:spcBef>
                <a:spcPts val="1200"/>
              </a:spcBef>
              <a:spcAft>
                <a:spcPts val="0"/>
              </a:spcAft>
              <a:buClr>
                <a:schemeClr val="dk1"/>
              </a:buClr>
              <a:buSzPct val="100000"/>
              <a:buNone/>
            </a:pPr>
            <a:r>
              <a:rPr lang="en-US">
                <a:latin typeface="Times New Roman"/>
                <a:ea typeface="Times New Roman"/>
                <a:cs typeface="Times New Roman"/>
                <a:sym typeface="Times New Roman"/>
              </a:rPr>
              <a:t>MOV   	A, 35h 	     ; chuyển nội dung ô nhớ có đ/c 35h vào thanh ghi A</a:t>
            </a:r>
            <a:endParaRPr/>
          </a:p>
          <a:p>
            <a:pPr indent="0" lvl="2" marL="0" rtl="0" algn="l">
              <a:spcBef>
                <a:spcPts val="1200"/>
              </a:spcBef>
              <a:spcAft>
                <a:spcPts val="0"/>
              </a:spcAft>
              <a:buClr>
                <a:schemeClr val="dk1"/>
              </a:buClr>
              <a:buSzPct val="100000"/>
              <a:buNone/>
            </a:pPr>
            <a:r>
              <a:rPr lang="en-US">
                <a:latin typeface="Times New Roman"/>
                <a:ea typeface="Times New Roman"/>
                <a:cs typeface="Times New Roman"/>
                <a:sym typeface="Times New Roman"/>
              </a:rPr>
              <a:t>MOV	@R1, A	     ; chuyển nội dung thanh ghi A vào ô nhớ có đ/c trong R1</a:t>
            </a:r>
            <a:endParaRPr/>
          </a:p>
          <a:p>
            <a:pPr indent="0" lvl="2" marL="0" rtl="0" algn="l">
              <a:spcBef>
                <a:spcPts val="1200"/>
              </a:spcBef>
              <a:spcAft>
                <a:spcPts val="0"/>
              </a:spcAft>
              <a:buClr>
                <a:schemeClr val="dk1"/>
              </a:buClr>
              <a:buSzPct val="100000"/>
              <a:buNone/>
            </a:pPr>
            <a:r>
              <a:t/>
            </a:r>
            <a:endParaRPr sz="2000">
              <a:latin typeface="Times New Roman"/>
              <a:ea typeface="Times New Roman"/>
              <a:cs typeface="Times New Roman"/>
              <a:sym typeface="Times New Roman"/>
            </a:endParaRPr>
          </a:p>
          <a:p>
            <a:pPr indent="0" lvl="0" marL="0" rtl="0" algn="l">
              <a:spcBef>
                <a:spcPts val="1200"/>
              </a:spcBef>
              <a:spcAft>
                <a:spcPts val="0"/>
              </a:spcAft>
              <a:buClr>
                <a:schemeClr val="dk1"/>
              </a:buClr>
              <a:buSzPct val="100000"/>
              <a:buNone/>
            </a:pPr>
            <a:r>
              <a:t/>
            </a:r>
            <a:endParaRPr sz="2000">
              <a:solidFill>
                <a:srgbClr val="C00000"/>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100000"/>
              <a:buNone/>
            </a:pPr>
            <a:r>
              <a:t/>
            </a:r>
            <a:endParaRPr sz="2000">
              <a:latin typeface="Times New Roman"/>
              <a:ea typeface="Times New Roman"/>
              <a:cs typeface="Times New Roman"/>
              <a:sym typeface="Times New Roman"/>
            </a:endParaRPr>
          </a:p>
        </p:txBody>
      </p:sp>
      <p:sp>
        <p:nvSpPr>
          <p:cNvPr id="840" name="Google Shape;840;p80"/>
          <p:cNvSpPr txBox="1"/>
          <p:nvPr>
            <p:ph type="title"/>
          </p:nvPr>
        </p:nvSpPr>
        <p:spPr>
          <a:xfrm>
            <a:off x="152400" y="228600"/>
            <a:ext cx="8229600" cy="487362"/>
          </a:xfrm>
          <a:prstGeom prst="rect">
            <a:avLst/>
          </a:prstGeom>
          <a:noFill/>
          <a:ln>
            <a:noFill/>
          </a:ln>
        </p:spPr>
        <p:txBody>
          <a:bodyPr anchorCtr="0" anchor="ctr" bIns="45700" lIns="91425" spcFirstLastPara="1" rIns="91425" wrap="square" tIns="45700">
            <a:normAutofit fontScale="90000"/>
          </a:bodyPr>
          <a:lstStyle/>
          <a:p>
            <a:pPr indent="-571500" lvl="0" marL="571500" rtl="0" algn="l">
              <a:spcBef>
                <a:spcPts val="0"/>
              </a:spcBef>
              <a:spcAft>
                <a:spcPts val="0"/>
              </a:spcAft>
              <a:buClr>
                <a:schemeClr val="dk2"/>
              </a:buClr>
              <a:buSzPct val="100000"/>
              <a:buFont typeface="Noto Sans Symbols"/>
              <a:buChar char="❖"/>
            </a:pPr>
            <a:r>
              <a:rPr b="1" lang="en-US" sz="3600">
                <a:solidFill>
                  <a:schemeClr val="dk2"/>
                </a:solidFill>
                <a:latin typeface="Times New Roman"/>
                <a:ea typeface="Times New Roman"/>
                <a:cs typeface="Times New Roman"/>
                <a:sym typeface="Times New Roman"/>
              </a:rPr>
              <a:t>Lệnh chuyển dữ liệu (1)</a:t>
            </a:r>
            <a:endParaRPr/>
          </a:p>
        </p:txBody>
      </p:sp>
      <p:sp>
        <p:nvSpPr>
          <p:cNvPr id="841" name="Google Shape;841;p8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81"/>
          <p:cNvSpPr txBox="1"/>
          <p:nvPr>
            <p:ph idx="1" type="body"/>
          </p:nvPr>
        </p:nvSpPr>
        <p:spPr>
          <a:xfrm>
            <a:off x="381000" y="1066800"/>
            <a:ext cx="11430000" cy="5562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MOVC</a:t>
            </a:r>
            <a:endParaRPr/>
          </a:p>
          <a:p>
            <a:pPr indent="0" lvl="0" marL="53975" rtl="0" algn="l">
              <a:spcBef>
                <a:spcPts val="600"/>
              </a:spcBef>
              <a:spcAft>
                <a:spcPts val="0"/>
              </a:spcAft>
              <a:buClr>
                <a:schemeClr val="dk1"/>
              </a:buClr>
              <a:buSzPts val="2400"/>
              <a:buNone/>
            </a:pPr>
            <a:r>
              <a:rPr b="1" lang="en-US" sz="2400">
                <a:latin typeface="Times New Roman"/>
                <a:ea typeface="Times New Roman"/>
                <a:cs typeface="Times New Roman"/>
                <a:sym typeface="Times New Roman"/>
              </a:rPr>
              <a:t>Cú pháp: </a:t>
            </a:r>
            <a:endParaRPr/>
          </a:p>
          <a:p>
            <a:pPr indent="0" lvl="0" marL="53975" rtl="0" algn="l">
              <a:spcBef>
                <a:spcPts val="600"/>
              </a:spcBef>
              <a:spcAft>
                <a:spcPts val="0"/>
              </a:spcAft>
              <a:buClr>
                <a:schemeClr val="dk1"/>
              </a:buClr>
              <a:buSzPts val="2400"/>
              <a:buNone/>
            </a:pPr>
            <a:r>
              <a:rPr lang="en-US" sz="2400">
                <a:latin typeface="Times New Roman"/>
                <a:ea typeface="Times New Roman"/>
                <a:cs typeface="Times New Roman"/>
                <a:sym typeface="Times New Roman"/>
              </a:rPr>
              <a:t>MOVC  A, @A + DPTR 	; chuyển vào A một byte từ bộ nhớ chương trình tại vị trí </a:t>
            </a:r>
            <a:endParaRPr/>
          </a:p>
          <a:p>
            <a:pPr indent="0" lvl="0" marL="53975" rtl="0" algn="l">
              <a:spcBef>
                <a:spcPts val="0"/>
              </a:spcBef>
              <a:spcAft>
                <a:spcPts val="0"/>
              </a:spcAft>
              <a:buClr>
                <a:schemeClr val="dk1"/>
              </a:buClr>
              <a:buSzPts val="2400"/>
              <a:buNone/>
            </a:pPr>
            <a:r>
              <a:rPr lang="en-US" sz="2400">
                <a:latin typeface="Times New Roman"/>
                <a:ea typeface="Times New Roman"/>
                <a:cs typeface="Times New Roman"/>
                <a:sym typeface="Times New Roman"/>
              </a:rPr>
              <a:t>				; cách con trỏ gốc DPTR một khoảng là nội dung của A</a:t>
            </a:r>
            <a:endParaRPr sz="2400">
              <a:latin typeface="Times New Roman"/>
              <a:ea typeface="Times New Roman"/>
              <a:cs typeface="Times New Roman"/>
              <a:sym typeface="Times New Roman"/>
            </a:endParaRPr>
          </a:p>
          <a:p>
            <a:pPr indent="0" lvl="0" marL="53975" rtl="0" algn="l">
              <a:spcBef>
                <a:spcPts val="0"/>
              </a:spcBef>
              <a:spcAft>
                <a:spcPts val="0"/>
              </a:spcAft>
              <a:buClr>
                <a:schemeClr val="dk1"/>
              </a:buClr>
              <a:buSzPts val="2400"/>
              <a:buNone/>
            </a:pPr>
            <a:r>
              <a:rPr lang="en-US" sz="2400">
                <a:latin typeface="Times New Roman"/>
                <a:ea typeface="Times New Roman"/>
                <a:cs typeface="Times New Roman"/>
                <a:sym typeface="Times New Roman"/>
              </a:rPr>
              <a:t>			</a:t>
            </a:r>
            <a:endParaRPr/>
          </a:p>
          <a:p>
            <a:pPr indent="0" lvl="0" marL="53975" rtl="0" algn="l">
              <a:spcBef>
                <a:spcPts val="0"/>
              </a:spcBef>
              <a:spcAft>
                <a:spcPts val="0"/>
              </a:spcAft>
              <a:buClr>
                <a:schemeClr val="dk1"/>
              </a:buClr>
              <a:buSzPts val="2400"/>
              <a:buNone/>
            </a:pPr>
            <a:r>
              <a:rPr lang="en-US" sz="2400">
                <a:latin typeface="Times New Roman"/>
                <a:ea typeface="Times New Roman"/>
                <a:cs typeface="Times New Roman"/>
                <a:sym typeface="Times New Roman"/>
              </a:rPr>
              <a:t>MOVC A, @A + PC		; chuyển vào A một byte từ bộ nhớ chương trình tại vị trí</a:t>
            </a:r>
            <a:endParaRPr sz="2400">
              <a:latin typeface="Times New Roman"/>
              <a:ea typeface="Times New Roman"/>
              <a:cs typeface="Times New Roman"/>
              <a:sym typeface="Times New Roman"/>
            </a:endParaRPr>
          </a:p>
          <a:p>
            <a:pPr indent="0" lvl="0" marL="53975" rtl="0" algn="l">
              <a:spcBef>
                <a:spcPts val="0"/>
              </a:spcBef>
              <a:spcAft>
                <a:spcPts val="0"/>
              </a:spcAft>
              <a:buClr>
                <a:schemeClr val="dk1"/>
              </a:buClr>
              <a:buSzPts val="2400"/>
              <a:buNone/>
            </a:pPr>
            <a:r>
              <a:rPr lang="en-US" sz="2400">
                <a:latin typeface="Times New Roman"/>
                <a:ea typeface="Times New Roman"/>
                <a:cs typeface="Times New Roman"/>
                <a:sym typeface="Times New Roman"/>
              </a:rPr>
              <a:t>				; cách vị trí lệnh hiện hành một khoảng là nội dung của A</a:t>
            </a:r>
            <a:endParaRPr sz="2400">
              <a:latin typeface="Times New Roman"/>
              <a:ea typeface="Times New Roman"/>
              <a:cs typeface="Times New Roman"/>
              <a:sym typeface="Times New Roman"/>
            </a:endParaRPr>
          </a:p>
          <a:p>
            <a:pPr indent="-342900" lvl="0" marL="342900" rtl="0" algn="l">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MOVX</a:t>
            </a:r>
            <a:r>
              <a:rPr b="1" lang="en-US" sz="2400">
                <a:solidFill>
                  <a:srgbClr val="C00000"/>
                </a:solidFill>
                <a:latin typeface="Times New Roman"/>
                <a:ea typeface="Times New Roman"/>
                <a:cs typeface="Times New Roman"/>
                <a:sym typeface="Times New Roman"/>
              </a:rPr>
              <a:t> </a:t>
            </a:r>
            <a:endParaRPr/>
          </a:p>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Cú pháp:</a:t>
            </a:r>
            <a:endParaRPr/>
          </a:p>
          <a:p>
            <a:pPr indent="0" lvl="0" marL="53975" rtl="0" algn="l">
              <a:spcBef>
                <a:spcPts val="600"/>
              </a:spcBef>
              <a:spcAft>
                <a:spcPts val="0"/>
              </a:spcAft>
              <a:buClr>
                <a:schemeClr val="dk1"/>
              </a:buClr>
              <a:buSzPts val="2400"/>
              <a:buNone/>
            </a:pPr>
            <a:r>
              <a:rPr lang="en-US" sz="2400">
                <a:latin typeface="Times New Roman"/>
                <a:ea typeface="Times New Roman"/>
                <a:cs typeface="Times New Roman"/>
                <a:sym typeface="Times New Roman"/>
              </a:rPr>
              <a:t>MOVX	A, @Ri</a:t>
            </a:r>
            <a:endParaRPr sz="2400">
              <a:latin typeface="Times New Roman"/>
              <a:ea typeface="Times New Roman"/>
              <a:cs typeface="Times New Roman"/>
              <a:sym typeface="Times New Roman"/>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MOVX	A, @DPTR</a:t>
            </a:r>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MOVX	@Ri, A</a:t>
            </a:r>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MOVX	@DPTR, A</a:t>
            </a:r>
            <a:endParaRPr/>
          </a:p>
          <a:p>
            <a:pPr indent="0" lvl="0" marL="53975" rtl="0" algn="l">
              <a:spcBef>
                <a:spcPts val="6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847" name="Google Shape;847;p81"/>
          <p:cNvSpPr txBox="1"/>
          <p:nvPr>
            <p:ph type="title"/>
          </p:nvPr>
        </p:nvSpPr>
        <p:spPr>
          <a:xfrm>
            <a:off x="152400" y="228600"/>
            <a:ext cx="8229600" cy="487362"/>
          </a:xfrm>
          <a:prstGeom prst="rect">
            <a:avLst/>
          </a:prstGeom>
          <a:noFill/>
          <a:ln>
            <a:noFill/>
          </a:ln>
        </p:spPr>
        <p:txBody>
          <a:bodyPr anchorCtr="0" anchor="ctr" bIns="45700" lIns="91425" spcFirstLastPara="1" rIns="91425" wrap="square" tIns="45700">
            <a:normAutofit fontScale="90000"/>
          </a:bodyPr>
          <a:lstStyle/>
          <a:p>
            <a:pPr indent="-571500" lvl="0" marL="571500" rtl="0" algn="l">
              <a:spcBef>
                <a:spcPts val="0"/>
              </a:spcBef>
              <a:spcAft>
                <a:spcPts val="0"/>
              </a:spcAft>
              <a:buClr>
                <a:schemeClr val="dk2"/>
              </a:buClr>
              <a:buSzPct val="100000"/>
              <a:buFont typeface="Noto Sans Symbols"/>
              <a:buChar char="❖"/>
            </a:pPr>
            <a:r>
              <a:rPr b="1" lang="en-US" sz="3600">
                <a:solidFill>
                  <a:schemeClr val="dk2"/>
                </a:solidFill>
                <a:latin typeface="Times New Roman"/>
                <a:ea typeface="Times New Roman"/>
                <a:cs typeface="Times New Roman"/>
                <a:sym typeface="Times New Roman"/>
              </a:rPr>
              <a:t>Lệnh chuyển dữ liệu (2)</a:t>
            </a:r>
            <a:endParaRPr/>
          </a:p>
        </p:txBody>
      </p:sp>
      <p:sp>
        <p:nvSpPr>
          <p:cNvPr id="848" name="Google Shape;848;p8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0" st="0"/>
                                            </p:txEl>
                                          </p:spTgt>
                                        </p:tgtEl>
                                        <p:attrNameLst>
                                          <p:attrName>style.visibility</p:attrName>
                                        </p:attrNameLst>
                                      </p:cBhvr>
                                      <p:to>
                                        <p:strVal val="visible"/>
                                      </p:to>
                                    </p:set>
                                    <p:animEffect filter="fade" transition="in">
                                      <p:cBhvr>
                                        <p:cTn dur="1000"/>
                                        <p:tgtEl>
                                          <p:spTgt spid="8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1" st="1"/>
                                            </p:txEl>
                                          </p:spTgt>
                                        </p:tgtEl>
                                        <p:attrNameLst>
                                          <p:attrName>style.visibility</p:attrName>
                                        </p:attrNameLst>
                                      </p:cBhvr>
                                      <p:to>
                                        <p:strVal val="visible"/>
                                      </p:to>
                                    </p:set>
                                    <p:animEffect filter="fade" transition="in">
                                      <p:cBhvr>
                                        <p:cTn dur="1000"/>
                                        <p:tgtEl>
                                          <p:spTgt spid="8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2" st="2"/>
                                            </p:txEl>
                                          </p:spTgt>
                                        </p:tgtEl>
                                        <p:attrNameLst>
                                          <p:attrName>style.visibility</p:attrName>
                                        </p:attrNameLst>
                                      </p:cBhvr>
                                      <p:to>
                                        <p:strVal val="visible"/>
                                      </p:to>
                                    </p:set>
                                    <p:animEffect filter="fade" transition="in">
                                      <p:cBhvr>
                                        <p:cTn dur="1000"/>
                                        <p:tgtEl>
                                          <p:spTgt spid="8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3" st="3"/>
                                            </p:txEl>
                                          </p:spTgt>
                                        </p:tgtEl>
                                        <p:attrNameLst>
                                          <p:attrName>style.visibility</p:attrName>
                                        </p:attrNameLst>
                                      </p:cBhvr>
                                      <p:to>
                                        <p:strVal val="visible"/>
                                      </p:to>
                                    </p:set>
                                    <p:animEffect filter="fade" transition="in">
                                      <p:cBhvr>
                                        <p:cTn dur="1000"/>
                                        <p:tgtEl>
                                          <p:spTgt spid="8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4" st="4"/>
                                            </p:txEl>
                                          </p:spTgt>
                                        </p:tgtEl>
                                        <p:attrNameLst>
                                          <p:attrName>style.visibility</p:attrName>
                                        </p:attrNameLst>
                                      </p:cBhvr>
                                      <p:to>
                                        <p:strVal val="visible"/>
                                      </p:to>
                                    </p:set>
                                    <p:animEffect filter="fade" transition="in">
                                      <p:cBhvr>
                                        <p:cTn dur="1000"/>
                                        <p:tgtEl>
                                          <p:spTgt spid="8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5" st="5"/>
                                            </p:txEl>
                                          </p:spTgt>
                                        </p:tgtEl>
                                        <p:attrNameLst>
                                          <p:attrName>style.visibility</p:attrName>
                                        </p:attrNameLst>
                                      </p:cBhvr>
                                      <p:to>
                                        <p:strVal val="visible"/>
                                      </p:to>
                                    </p:set>
                                    <p:animEffect filter="fade" transition="in">
                                      <p:cBhvr>
                                        <p:cTn dur="1000"/>
                                        <p:tgtEl>
                                          <p:spTgt spid="8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6" st="6"/>
                                            </p:txEl>
                                          </p:spTgt>
                                        </p:tgtEl>
                                        <p:attrNameLst>
                                          <p:attrName>style.visibility</p:attrName>
                                        </p:attrNameLst>
                                      </p:cBhvr>
                                      <p:to>
                                        <p:strVal val="visible"/>
                                      </p:to>
                                    </p:set>
                                    <p:animEffect filter="fade" transition="in">
                                      <p:cBhvr>
                                        <p:cTn dur="1000"/>
                                        <p:tgtEl>
                                          <p:spTgt spid="8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7" st="7"/>
                                            </p:txEl>
                                          </p:spTgt>
                                        </p:tgtEl>
                                        <p:attrNameLst>
                                          <p:attrName>style.visibility</p:attrName>
                                        </p:attrNameLst>
                                      </p:cBhvr>
                                      <p:to>
                                        <p:strVal val="visible"/>
                                      </p:to>
                                    </p:set>
                                    <p:animEffect filter="fade" transition="in">
                                      <p:cBhvr>
                                        <p:cTn dur="1000"/>
                                        <p:tgtEl>
                                          <p:spTgt spid="8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8" st="8"/>
                                            </p:txEl>
                                          </p:spTgt>
                                        </p:tgtEl>
                                        <p:attrNameLst>
                                          <p:attrName>style.visibility</p:attrName>
                                        </p:attrNameLst>
                                      </p:cBhvr>
                                      <p:to>
                                        <p:strVal val="visible"/>
                                      </p:to>
                                    </p:set>
                                    <p:animEffect filter="fade" transition="in">
                                      <p:cBhvr>
                                        <p:cTn dur="1000"/>
                                        <p:tgtEl>
                                          <p:spTgt spid="84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9" st="9"/>
                                            </p:txEl>
                                          </p:spTgt>
                                        </p:tgtEl>
                                        <p:attrNameLst>
                                          <p:attrName>style.visibility</p:attrName>
                                        </p:attrNameLst>
                                      </p:cBhvr>
                                      <p:to>
                                        <p:strVal val="visible"/>
                                      </p:to>
                                    </p:set>
                                    <p:animEffect filter="fade" transition="in">
                                      <p:cBhvr>
                                        <p:cTn dur="1000"/>
                                        <p:tgtEl>
                                          <p:spTgt spid="84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10" st="10"/>
                                            </p:txEl>
                                          </p:spTgt>
                                        </p:tgtEl>
                                        <p:attrNameLst>
                                          <p:attrName>style.visibility</p:attrName>
                                        </p:attrNameLst>
                                      </p:cBhvr>
                                      <p:to>
                                        <p:strVal val="visible"/>
                                      </p:to>
                                    </p:set>
                                    <p:animEffect filter="fade" transition="in">
                                      <p:cBhvr>
                                        <p:cTn dur="1000"/>
                                        <p:tgtEl>
                                          <p:spTgt spid="84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11" st="11"/>
                                            </p:txEl>
                                          </p:spTgt>
                                        </p:tgtEl>
                                        <p:attrNameLst>
                                          <p:attrName>style.visibility</p:attrName>
                                        </p:attrNameLst>
                                      </p:cBhvr>
                                      <p:to>
                                        <p:strVal val="visible"/>
                                      </p:to>
                                    </p:set>
                                    <p:animEffect filter="fade" transition="in">
                                      <p:cBhvr>
                                        <p:cTn dur="1000"/>
                                        <p:tgtEl>
                                          <p:spTgt spid="84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12" st="12"/>
                                            </p:txEl>
                                          </p:spTgt>
                                        </p:tgtEl>
                                        <p:attrNameLst>
                                          <p:attrName>style.visibility</p:attrName>
                                        </p:attrNameLst>
                                      </p:cBhvr>
                                      <p:to>
                                        <p:strVal val="visible"/>
                                      </p:to>
                                    </p:set>
                                    <p:animEffect filter="fade" transition="in">
                                      <p:cBhvr>
                                        <p:cTn dur="1000"/>
                                        <p:tgtEl>
                                          <p:spTgt spid="84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xEl>
                                              <p:pRg end="13" st="13"/>
                                            </p:txEl>
                                          </p:spTgt>
                                        </p:tgtEl>
                                        <p:attrNameLst>
                                          <p:attrName>style.visibility</p:attrName>
                                        </p:attrNameLst>
                                      </p:cBhvr>
                                      <p:to>
                                        <p:strVal val="visible"/>
                                      </p:to>
                                    </p:set>
                                    <p:animEffect filter="fade" transition="in">
                                      <p:cBhvr>
                                        <p:cTn dur="1000"/>
                                        <p:tgtEl>
                                          <p:spTgt spid="84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82"/>
          <p:cNvSpPr txBox="1"/>
          <p:nvPr>
            <p:ph idx="1" type="body"/>
          </p:nvPr>
        </p:nvSpPr>
        <p:spPr>
          <a:xfrm>
            <a:off x="381000" y="1371600"/>
            <a:ext cx="11430000" cy="4724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PUSH</a:t>
            </a:r>
            <a:endParaRPr/>
          </a:p>
          <a:p>
            <a:pPr indent="0" lvl="0" marL="0" rtl="0" algn="l">
              <a:spcBef>
                <a:spcPts val="1200"/>
              </a:spcBef>
              <a:spcAft>
                <a:spcPts val="0"/>
              </a:spcAft>
              <a:buClr>
                <a:schemeClr val="dk1"/>
              </a:buClr>
              <a:buSzPts val="2400"/>
              <a:buNone/>
            </a:pPr>
            <a:r>
              <a:rPr b="1" lang="en-US" sz="2400">
                <a:latin typeface="Times New Roman"/>
                <a:ea typeface="Times New Roman"/>
                <a:cs typeface="Times New Roman"/>
                <a:sym typeface="Times New Roman"/>
              </a:rPr>
              <a:t>Cú pháp: 	</a:t>
            </a:r>
            <a:r>
              <a:rPr lang="en-US" sz="2400">
                <a:latin typeface="Times New Roman"/>
                <a:ea typeface="Times New Roman"/>
                <a:cs typeface="Times New Roman"/>
                <a:sym typeface="Times New Roman"/>
              </a:rPr>
              <a:t>PUSH	trực tiếp</a:t>
            </a:r>
            <a:endParaRPr sz="2400">
              <a:latin typeface="Times New Roman"/>
              <a:ea typeface="Times New Roman"/>
              <a:cs typeface="Times New Roman"/>
              <a:sym typeface="Times New Roman"/>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PUSH	ACC</a:t>
            </a:r>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PUSH	R1</a:t>
            </a:r>
            <a:endParaRPr/>
          </a:p>
          <a:p>
            <a:pPr indent="0" lvl="0" marL="53975" rtl="0" algn="l">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342900" lvl="0" marL="342900" rtl="0" algn="l">
              <a:spcBef>
                <a:spcPts val="120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POP</a:t>
            </a:r>
            <a:endParaRPr/>
          </a:p>
          <a:p>
            <a:pPr indent="0" lvl="0" marL="0" rtl="0" algn="l">
              <a:spcBef>
                <a:spcPts val="1200"/>
              </a:spcBef>
              <a:spcAft>
                <a:spcPts val="0"/>
              </a:spcAft>
              <a:buClr>
                <a:schemeClr val="dk1"/>
              </a:buClr>
              <a:buSzPts val="2400"/>
              <a:buNone/>
            </a:pPr>
            <a:r>
              <a:rPr b="1" lang="en-US" sz="2400">
                <a:latin typeface="Times New Roman"/>
                <a:ea typeface="Times New Roman"/>
                <a:cs typeface="Times New Roman"/>
                <a:sym typeface="Times New Roman"/>
              </a:rPr>
              <a:t>Cú pháp: 	</a:t>
            </a:r>
            <a:r>
              <a:rPr lang="en-US" sz="2400">
                <a:latin typeface="Times New Roman"/>
                <a:ea typeface="Times New Roman"/>
                <a:cs typeface="Times New Roman"/>
                <a:sym typeface="Times New Roman"/>
              </a:rPr>
              <a:t>POP	trực tiếp</a:t>
            </a:r>
            <a:endParaRPr sz="2400">
              <a:latin typeface="Times New Roman"/>
              <a:ea typeface="Times New Roman"/>
              <a:cs typeface="Times New Roman"/>
              <a:sym typeface="Times New Roman"/>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POP	R1</a:t>
            </a:r>
            <a:endParaRPr/>
          </a:p>
          <a:p>
            <a:pPr indent="0" lvl="0" marL="53975"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POP	ACC</a:t>
            </a:r>
            <a:endParaRPr/>
          </a:p>
          <a:p>
            <a:pPr indent="0" lvl="0" marL="53975" rtl="0" algn="l">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855" name="Google Shape;855;p82"/>
          <p:cNvSpPr txBox="1"/>
          <p:nvPr>
            <p:ph type="title"/>
          </p:nvPr>
        </p:nvSpPr>
        <p:spPr>
          <a:xfrm>
            <a:off x="152400" y="228600"/>
            <a:ext cx="8229600" cy="487362"/>
          </a:xfrm>
          <a:prstGeom prst="rect">
            <a:avLst/>
          </a:prstGeom>
          <a:noFill/>
          <a:ln>
            <a:noFill/>
          </a:ln>
        </p:spPr>
        <p:txBody>
          <a:bodyPr anchorCtr="0" anchor="ctr" bIns="45700" lIns="91425" spcFirstLastPara="1" rIns="91425" wrap="square" tIns="45700">
            <a:normAutofit fontScale="90000"/>
          </a:bodyPr>
          <a:lstStyle/>
          <a:p>
            <a:pPr indent="-571500" lvl="0" marL="571500" rtl="0" algn="l">
              <a:spcBef>
                <a:spcPts val="0"/>
              </a:spcBef>
              <a:spcAft>
                <a:spcPts val="0"/>
              </a:spcAft>
              <a:buClr>
                <a:schemeClr val="dk2"/>
              </a:buClr>
              <a:buSzPct val="100000"/>
              <a:buFont typeface="Noto Sans Symbols"/>
              <a:buChar char="❖"/>
            </a:pPr>
            <a:r>
              <a:rPr b="1" lang="en-US" sz="3600">
                <a:solidFill>
                  <a:schemeClr val="dk2"/>
                </a:solidFill>
                <a:latin typeface="Times New Roman"/>
                <a:ea typeface="Times New Roman"/>
                <a:cs typeface="Times New Roman"/>
                <a:sym typeface="Times New Roman"/>
              </a:rPr>
              <a:t>Lệnh chuyển dữ liệu (3)</a:t>
            </a:r>
            <a:endParaRPr/>
          </a:p>
        </p:txBody>
      </p:sp>
      <p:sp>
        <p:nvSpPr>
          <p:cNvPr id="856" name="Google Shape;856;p8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0" st="0"/>
                                            </p:txEl>
                                          </p:spTgt>
                                        </p:tgtEl>
                                        <p:attrNameLst>
                                          <p:attrName>style.visibility</p:attrName>
                                        </p:attrNameLst>
                                      </p:cBhvr>
                                      <p:to>
                                        <p:strVal val="visible"/>
                                      </p:to>
                                    </p:set>
                                    <p:animEffect filter="fade" transition="in">
                                      <p:cBhvr>
                                        <p:cTn dur="1000"/>
                                        <p:tgtEl>
                                          <p:spTgt spid="8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1" st="1"/>
                                            </p:txEl>
                                          </p:spTgt>
                                        </p:tgtEl>
                                        <p:attrNameLst>
                                          <p:attrName>style.visibility</p:attrName>
                                        </p:attrNameLst>
                                      </p:cBhvr>
                                      <p:to>
                                        <p:strVal val="visible"/>
                                      </p:to>
                                    </p:set>
                                    <p:animEffect filter="fade" transition="in">
                                      <p:cBhvr>
                                        <p:cTn dur="1000"/>
                                        <p:tgtEl>
                                          <p:spTgt spid="8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2" st="2"/>
                                            </p:txEl>
                                          </p:spTgt>
                                        </p:tgtEl>
                                        <p:attrNameLst>
                                          <p:attrName>style.visibility</p:attrName>
                                        </p:attrNameLst>
                                      </p:cBhvr>
                                      <p:to>
                                        <p:strVal val="visible"/>
                                      </p:to>
                                    </p:set>
                                    <p:animEffect filter="fade" transition="in">
                                      <p:cBhvr>
                                        <p:cTn dur="1000"/>
                                        <p:tgtEl>
                                          <p:spTgt spid="8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3" st="3"/>
                                            </p:txEl>
                                          </p:spTgt>
                                        </p:tgtEl>
                                        <p:attrNameLst>
                                          <p:attrName>style.visibility</p:attrName>
                                        </p:attrNameLst>
                                      </p:cBhvr>
                                      <p:to>
                                        <p:strVal val="visible"/>
                                      </p:to>
                                    </p:set>
                                    <p:animEffect filter="fade" transition="in">
                                      <p:cBhvr>
                                        <p:cTn dur="1000"/>
                                        <p:tgtEl>
                                          <p:spTgt spid="8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4" st="4"/>
                                            </p:txEl>
                                          </p:spTgt>
                                        </p:tgtEl>
                                        <p:attrNameLst>
                                          <p:attrName>style.visibility</p:attrName>
                                        </p:attrNameLst>
                                      </p:cBhvr>
                                      <p:to>
                                        <p:strVal val="visible"/>
                                      </p:to>
                                    </p:set>
                                    <p:animEffect filter="fade" transition="in">
                                      <p:cBhvr>
                                        <p:cTn dur="1000"/>
                                        <p:tgtEl>
                                          <p:spTgt spid="8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5" st="5"/>
                                            </p:txEl>
                                          </p:spTgt>
                                        </p:tgtEl>
                                        <p:attrNameLst>
                                          <p:attrName>style.visibility</p:attrName>
                                        </p:attrNameLst>
                                      </p:cBhvr>
                                      <p:to>
                                        <p:strVal val="visible"/>
                                      </p:to>
                                    </p:set>
                                    <p:animEffect filter="fade" transition="in">
                                      <p:cBhvr>
                                        <p:cTn dur="1000"/>
                                        <p:tgtEl>
                                          <p:spTgt spid="85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6" st="6"/>
                                            </p:txEl>
                                          </p:spTgt>
                                        </p:tgtEl>
                                        <p:attrNameLst>
                                          <p:attrName>style.visibility</p:attrName>
                                        </p:attrNameLst>
                                      </p:cBhvr>
                                      <p:to>
                                        <p:strVal val="visible"/>
                                      </p:to>
                                    </p:set>
                                    <p:animEffect filter="fade" transition="in">
                                      <p:cBhvr>
                                        <p:cTn dur="1000"/>
                                        <p:tgtEl>
                                          <p:spTgt spid="85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7" st="7"/>
                                            </p:txEl>
                                          </p:spTgt>
                                        </p:tgtEl>
                                        <p:attrNameLst>
                                          <p:attrName>style.visibility</p:attrName>
                                        </p:attrNameLst>
                                      </p:cBhvr>
                                      <p:to>
                                        <p:strVal val="visible"/>
                                      </p:to>
                                    </p:set>
                                    <p:animEffect filter="fade" transition="in">
                                      <p:cBhvr>
                                        <p:cTn dur="1000"/>
                                        <p:tgtEl>
                                          <p:spTgt spid="85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8" st="8"/>
                                            </p:txEl>
                                          </p:spTgt>
                                        </p:tgtEl>
                                        <p:attrNameLst>
                                          <p:attrName>style.visibility</p:attrName>
                                        </p:attrNameLst>
                                      </p:cBhvr>
                                      <p:to>
                                        <p:strVal val="visible"/>
                                      </p:to>
                                    </p:set>
                                    <p:animEffect filter="fade" transition="in">
                                      <p:cBhvr>
                                        <p:cTn dur="1000"/>
                                        <p:tgtEl>
                                          <p:spTgt spid="85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4">
                                            <p:txEl>
                                              <p:pRg end="9" st="9"/>
                                            </p:txEl>
                                          </p:spTgt>
                                        </p:tgtEl>
                                        <p:attrNameLst>
                                          <p:attrName>style.visibility</p:attrName>
                                        </p:attrNameLst>
                                      </p:cBhvr>
                                      <p:to>
                                        <p:strVal val="visible"/>
                                      </p:to>
                                    </p:set>
                                    <p:animEffect filter="fade" transition="in">
                                      <p:cBhvr>
                                        <p:cTn dur="1000"/>
                                        <p:tgtEl>
                                          <p:spTgt spid="85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8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62" name="Google Shape;862;p83"/>
          <p:cNvPicPr preferRelativeResize="0"/>
          <p:nvPr/>
        </p:nvPicPr>
        <p:blipFill rotWithShape="1">
          <a:blip r:embed="rId3">
            <a:alphaModFix/>
          </a:blip>
          <a:srcRect b="0" l="0" r="0" t="0"/>
          <a:stretch/>
        </p:blipFill>
        <p:spPr>
          <a:xfrm>
            <a:off x="2990416" y="918812"/>
            <a:ext cx="6211167" cy="502037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8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68" name="Google Shape;868;p84"/>
          <p:cNvPicPr preferRelativeResize="0"/>
          <p:nvPr/>
        </p:nvPicPr>
        <p:blipFill rotWithShape="1">
          <a:blip r:embed="rId3">
            <a:alphaModFix/>
          </a:blip>
          <a:srcRect b="0" l="0" r="0" t="0"/>
          <a:stretch/>
        </p:blipFill>
        <p:spPr>
          <a:xfrm>
            <a:off x="2286000" y="1037891"/>
            <a:ext cx="8077199" cy="4782217"/>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85"/>
          <p:cNvSpPr txBox="1"/>
          <p:nvPr>
            <p:ph idx="1" type="body"/>
          </p:nvPr>
        </p:nvSpPr>
        <p:spPr>
          <a:xfrm>
            <a:off x="304800" y="914401"/>
            <a:ext cx="11353800" cy="571499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C00000"/>
              </a:buClr>
              <a:buSzPts val="2400"/>
              <a:buChar char="•"/>
            </a:pPr>
            <a:r>
              <a:rPr b="1" lang="en-US" sz="2400">
                <a:solidFill>
                  <a:srgbClr val="C00000"/>
                </a:solidFill>
                <a:latin typeface="Times New Roman"/>
                <a:ea typeface="Times New Roman"/>
                <a:cs typeface="Times New Roman"/>
                <a:sym typeface="Times New Roman"/>
              </a:rPr>
              <a:t>XCH</a:t>
            </a:r>
            <a:endParaRPr/>
          </a:p>
          <a:p>
            <a:pPr indent="0" lvl="0" marL="0" rtl="0" algn="l">
              <a:spcBef>
                <a:spcPts val="440"/>
              </a:spcBef>
              <a:spcAft>
                <a:spcPts val="0"/>
              </a:spcAft>
              <a:buClr>
                <a:schemeClr val="dk1"/>
              </a:buClr>
              <a:buSzPts val="2200"/>
              <a:buNone/>
            </a:pPr>
            <a:r>
              <a:rPr b="1" lang="en-US" sz="2200">
                <a:latin typeface="Times New Roman"/>
                <a:ea typeface="Times New Roman"/>
                <a:cs typeface="Times New Roman"/>
                <a:sym typeface="Times New Roman"/>
              </a:rPr>
              <a:t>Cú pháp: </a:t>
            </a:r>
            <a:r>
              <a:rPr lang="en-US" sz="2200">
                <a:latin typeface="Times New Roman"/>
                <a:ea typeface="Times New Roman"/>
                <a:cs typeface="Times New Roman"/>
                <a:sym typeface="Times New Roman"/>
              </a:rPr>
              <a:t>XCH A, nguồn	; đổi nội dung thanh ghi A với nguồn (nguồn là thanh ghi (Ri) hay ô nhớ)</a:t>
            </a:r>
            <a:endParaRPr/>
          </a:p>
          <a:p>
            <a:pPr indent="0" lvl="0" marL="0" rtl="0" algn="l">
              <a:spcBef>
                <a:spcPts val="440"/>
              </a:spcBef>
              <a:spcAft>
                <a:spcPts val="0"/>
              </a:spcAft>
              <a:buClr>
                <a:schemeClr val="dk1"/>
              </a:buClr>
              <a:buSzPts val="2200"/>
              <a:buNone/>
            </a:pPr>
            <a:r>
              <a:rPr b="1" lang="en-US" sz="2200">
                <a:latin typeface="Times New Roman"/>
                <a:ea typeface="Times New Roman"/>
                <a:cs typeface="Times New Roman"/>
                <a:sym typeface="Times New Roman"/>
              </a:rPr>
              <a:t>Ví dụ 2.11:</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XCH A, R7</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XCH A, 60H</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XCH A, @R0</a:t>
            </a:r>
            <a:endParaRPr/>
          </a:p>
          <a:p>
            <a:pPr indent="-342900" lvl="0" marL="342900" rtl="0" algn="l">
              <a:spcBef>
                <a:spcPts val="480"/>
              </a:spcBef>
              <a:spcAft>
                <a:spcPts val="0"/>
              </a:spcAft>
              <a:buClr>
                <a:srgbClr val="C00000"/>
              </a:buClr>
              <a:buSzPts val="2400"/>
              <a:buChar char="•"/>
            </a:pPr>
            <a:r>
              <a:rPr b="1" lang="en-US" sz="2400">
                <a:solidFill>
                  <a:srgbClr val="C00000"/>
                </a:solidFill>
                <a:latin typeface="Times New Roman"/>
                <a:ea typeface="Times New Roman"/>
                <a:cs typeface="Times New Roman"/>
                <a:sym typeface="Times New Roman"/>
              </a:rPr>
              <a:t>XCHD</a:t>
            </a:r>
            <a:endParaRPr/>
          </a:p>
          <a:p>
            <a:pPr indent="0" lvl="0" marL="0" rtl="0" algn="l">
              <a:spcBef>
                <a:spcPts val="440"/>
              </a:spcBef>
              <a:spcAft>
                <a:spcPts val="0"/>
              </a:spcAft>
              <a:buClr>
                <a:schemeClr val="dk1"/>
              </a:buClr>
              <a:buSzPts val="2200"/>
              <a:buNone/>
            </a:pPr>
            <a:r>
              <a:rPr b="1" lang="en-US" sz="2200">
                <a:latin typeface="Times New Roman"/>
                <a:ea typeface="Times New Roman"/>
                <a:cs typeface="Times New Roman"/>
                <a:sym typeface="Times New Roman"/>
              </a:rPr>
              <a:t>Cú pháp: </a:t>
            </a:r>
            <a:r>
              <a:rPr lang="en-US" sz="2200">
                <a:latin typeface="Times New Roman"/>
                <a:ea typeface="Times New Roman"/>
                <a:cs typeface="Times New Roman"/>
                <a:sym typeface="Times New Roman"/>
              </a:rPr>
              <a:t>XCHD A, @Ri 	; hoán đổi 4 bit thấp của A với 4 bit thấp của ô nhớ được trỏ bởi Ri</a:t>
            </a:r>
            <a:endParaRPr sz="2200">
              <a:latin typeface="Times New Roman"/>
              <a:ea typeface="Times New Roman"/>
              <a:cs typeface="Times New Roman"/>
              <a:sym typeface="Times New Roman"/>
            </a:endParaRPr>
          </a:p>
          <a:p>
            <a:pPr indent="0" lvl="0" marL="0" rtl="0" algn="l">
              <a:spcBef>
                <a:spcPts val="440"/>
              </a:spcBef>
              <a:spcAft>
                <a:spcPts val="0"/>
              </a:spcAft>
              <a:buClr>
                <a:schemeClr val="dk1"/>
              </a:buClr>
              <a:buSzPts val="2200"/>
              <a:buNone/>
            </a:pPr>
            <a:r>
              <a:rPr b="1" lang="en-US" sz="2200">
                <a:latin typeface="Times New Roman"/>
                <a:ea typeface="Times New Roman"/>
                <a:cs typeface="Times New Roman"/>
                <a:sym typeface="Times New Roman"/>
              </a:rPr>
              <a:t>Ví dụ 2.12:</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MOV A, #0F3h		; A = 1111 0011</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MOV R1, #40h		; R1 = 40h</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MOV @R1, #5Bh	; ô nhớ = 0101 1011</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XCHD A, @R1		; A = 1111 1011; ô nhớ địa chỉ 40h: 0101 0011</a:t>
            </a:r>
            <a:endParaRPr/>
          </a:p>
        </p:txBody>
      </p:sp>
      <p:sp>
        <p:nvSpPr>
          <p:cNvPr id="874" name="Google Shape;874;p85"/>
          <p:cNvSpPr txBox="1"/>
          <p:nvPr>
            <p:ph type="title"/>
          </p:nvPr>
        </p:nvSpPr>
        <p:spPr>
          <a:xfrm>
            <a:off x="152400" y="228600"/>
            <a:ext cx="8229600" cy="487362"/>
          </a:xfrm>
          <a:prstGeom prst="rect">
            <a:avLst/>
          </a:prstGeom>
          <a:noFill/>
          <a:ln>
            <a:noFill/>
          </a:ln>
        </p:spPr>
        <p:txBody>
          <a:bodyPr anchorCtr="0" anchor="ctr" bIns="45700" lIns="91425" spcFirstLastPara="1" rIns="91425" wrap="square" tIns="45700">
            <a:normAutofit fontScale="90000"/>
          </a:bodyPr>
          <a:lstStyle/>
          <a:p>
            <a:pPr indent="-571500" lvl="0" marL="571500" rtl="0" algn="l">
              <a:spcBef>
                <a:spcPts val="0"/>
              </a:spcBef>
              <a:spcAft>
                <a:spcPts val="0"/>
              </a:spcAft>
              <a:buClr>
                <a:schemeClr val="dk2"/>
              </a:buClr>
              <a:buSzPct val="100000"/>
              <a:buFont typeface="Noto Sans Symbols"/>
              <a:buChar char="❖"/>
            </a:pPr>
            <a:r>
              <a:rPr b="1" lang="en-US" sz="3600">
                <a:solidFill>
                  <a:schemeClr val="dk2"/>
                </a:solidFill>
                <a:latin typeface="Times New Roman"/>
                <a:ea typeface="Times New Roman"/>
                <a:cs typeface="Times New Roman"/>
                <a:sym typeface="Times New Roman"/>
              </a:rPr>
              <a:t>Lệnh chuyển dữ liệu (4)</a:t>
            </a:r>
            <a:endParaRPr/>
          </a:p>
        </p:txBody>
      </p:sp>
      <p:sp>
        <p:nvSpPr>
          <p:cNvPr id="875" name="Google Shape;875;p8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0" st="0"/>
                                            </p:txEl>
                                          </p:spTgt>
                                        </p:tgtEl>
                                        <p:attrNameLst>
                                          <p:attrName>style.visibility</p:attrName>
                                        </p:attrNameLst>
                                      </p:cBhvr>
                                      <p:to>
                                        <p:strVal val="visible"/>
                                      </p:to>
                                    </p:set>
                                    <p:animEffect filter="fade" transition="in">
                                      <p:cBhvr>
                                        <p:cTn dur="1000"/>
                                        <p:tgtEl>
                                          <p:spTgt spid="8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1" st="1"/>
                                            </p:txEl>
                                          </p:spTgt>
                                        </p:tgtEl>
                                        <p:attrNameLst>
                                          <p:attrName>style.visibility</p:attrName>
                                        </p:attrNameLst>
                                      </p:cBhvr>
                                      <p:to>
                                        <p:strVal val="visible"/>
                                      </p:to>
                                    </p:set>
                                    <p:animEffect filter="fade" transition="in">
                                      <p:cBhvr>
                                        <p:cTn dur="1000"/>
                                        <p:tgtEl>
                                          <p:spTgt spid="8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2" st="2"/>
                                            </p:txEl>
                                          </p:spTgt>
                                        </p:tgtEl>
                                        <p:attrNameLst>
                                          <p:attrName>style.visibility</p:attrName>
                                        </p:attrNameLst>
                                      </p:cBhvr>
                                      <p:to>
                                        <p:strVal val="visible"/>
                                      </p:to>
                                    </p:set>
                                    <p:animEffect filter="fade" transition="in">
                                      <p:cBhvr>
                                        <p:cTn dur="1000"/>
                                        <p:tgtEl>
                                          <p:spTgt spid="8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3" st="3"/>
                                            </p:txEl>
                                          </p:spTgt>
                                        </p:tgtEl>
                                        <p:attrNameLst>
                                          <p:attrName>style.visibility</p:attrName>
                                        </p:attrNameLst>
                                      </p:cBhvr>
                                      <p:to>
                                        <p:strVal val="visible"/>
                                      </p:to>
                                    </p:set>
                                    <p:animEffect filter="fade" transition="in">
                                      <p:cBhvr>
                                        <p:cTn dur="1000"/>
                                        <p:tgtEl>
                                          <p:spTgt spid="8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4" st="4"/>
                                            </p:txEl>
                                          </p:spTgt>
                                        </p:tgtEl>
                                        <p:attrNameLst>
                                          <p:attrName>style.visibility</p:attrName>
                                        </p:attrNameLst>
                                      </p:cBhvr>
                                      <p:to>
                                        <p:strVal val="visible"/>
                                      </p:to>
                                    </p:set>
                                    <p:animEffect filter="fade" transition="in">
                                      <p:cBhvr>
                                        <p:cTn dur="1000"/>
                                        <p:tgtEl>
                                          <p:spTgt spid="8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5" st="5"/>
                                            </p:txEl>
                                          </p:spTgt>
                                        </p:tgtEl>
                                        <p:attrNameLst>
                                          <p:attrName>style.visibility</p:attrName>
                                        </p:attrNameLst>
                                      </p:cBhvr>
                                      <p:to>
                                        <p:strVal val="visible"/>
                                      </p:to>
                                    </p:set>
                                    <p:animEffect filter="fade" transition="in">
                                      <p:cBhvr>
                                        <p:cTn dur="1000"/>
                                        <p:tgtEl>
                                          <p:spTgt spid="8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6" st="6"/>
                                            </p:txEl>
                                          </p:spTgt>
                                        </p:tgtEl>
                                        <p:attrNameLst>
                                          <p:attrName>style.visibility</p:attrName>
                                        </p:attrNameLst>
                                      </p:cBhvr>
                                      <p:to>
                                        <p:strVal val="visible"/>
                                      </p:to>
                                    </p:set>
                                    <p:animEffect filter="fade" transition="in">
                                      <p:cBhvr>
                                        <p:cTn dur="1000"/>
                                        <p:tgtEl>
                                          <p:spTgt spid="8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7" st="7"/>
                                            </p:txEl>
                                          </p:spTgt>
                                        </p:tgtEl>
                                        <p:attrNameLst>
                                          <p:attrName>style.visibility</p:attrName>
                                        </p:attrNameLst>
                                      </p:cBhvr>
                                      <p:to>
                                        <p:strVal val="visible"/>
                                      </p:to>
                                    </p:set>
                                    <p:animEffect filter="fade" transition="in">
                                      <p:cBhvr>
                                        <p:cTn dur="1000"/>
                                        <p:tgtEl>
                                          <p:spTgt spid="8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8" st="8"/>
                                            </p:txEl>
                                          </p:spTgt>
                                        </p:tgtEl>
                                        <p:attrNameLst>
                                          <p:attrName>style.visibility</p:attrName>
                                        </p:attrNameLst>
                                      </p:cBhvr>
                                      <p:to>
                                        <p:strVal val="visible"/>
                                      </p:to>
                                    </p:set>
                                    <p:animEffect filter="fade" transition="in">
                                      <p:cBhvr>
                                        <p:cTn dur="1000"/>
                                        <p:tgtEl>
                                          <p:spTgt spid="8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9" st="9"/>
                                            </p:txEl>
                                          </p:spTgt>
                                        </p:tgtEl>
                                        <p:attrNameLst>
                                          <p:attrName>style.visibility</p:attrName>
                                        </p:attrNameLst>
                                      </p:cBhvr>
                                      <p:to>
                                        <p:strVal val="visible"/>
                                      </p:to>
                                    </p:set>
                                    <p:animEffect filter="fade" transition="in">
                                      <p:cBhvr>
                                        <p:cTn dur="1000"/>
                                        <p:tgtEl>
                                          <p:spTgt spid="8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10" st="10"/>
                                            </p:txEl>
                                          </p:spTgt>
                                        </p:tgtEl>
                                        <p:attrNameLst>
                                          <p:attrName>style.visibility</p:attrName>
                                        </p:attrNameLst>
                                      </p:cBhvr>
                                      <p:to>
                                        <p:strVal val="visible"/>
                                      </p:to>
                                    </p:set>
                                    <p:animEffect filter="fade" transition="in">
                                      <p:cBhvr>
                                        <p:cTn dur="1000"/>
                                        <p:tgtEl>
                                          <p:spTgt spid="8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11" st="11"/>
                                            </p:txEl>
                                          </p:spTgt>
                                        </p:tgtEl>
                                        <p:attrNameLst>
                                          <p:attrName>style.visibility</p:attrName>
                                        </p:attrNameLst>
                                      </p:cBhvr>
                                      <p:to>
                                        <p:strVal val="visible"/>
                                      </p:to>
                                    </p:set>
                                    <p:animEffect filter="fade" transition="in">
                                      <p:cBhvr>
                                        <p:cTn dur="1000"/>
                                        <p:tgtEl>
                                          <p:spTgt spid="87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xEl>
                                              <p:pRg end="12" st="12"/>
                                            </p:txEl>
                                          </p:spTgt>
                                        </p:tgtEl>
                                        <p:attrNameLst>
                                          <p:attrName>style.visibility</p:attrName>
                                        </p:attrNameLst>
                                      </p:cBhvr>
                                      <p:to>
                                        <p:strVal val="visible"/>
                                      </p:to>
                                    </p:set>
                                    <p:animEffect filter="fade" transition="in">
                                      <p:cBhvr>
                                        <p:cTn dur="1000"/>
                                        <p:tgtEl>
                                          <p:spTgt spid="873">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86"/>
          <p:cNvSpPr txBox="1"/>
          <p:nvPr/>
        </p:nvSpPr>
        <p:spPr>
          <a:xfrm>
            <a:off x="152400" y="914400"/>
            <a:ext cx="11811000" cy="556049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C00000"/>
              </a:buClr>
              <a:buSzPts val="2800"/>
              <a:buFont typeface="Arial"/>
              <a:buChar char="•"/>
            </a:pPr>
            <a:r>
              <a:rPr b="1" lang="en-US" sz="2800">
                <a:solidFill>
                  <a:srgbClr val="C00000"/>
                </a:solidFill>
                <a:latin typeface="Times New Roman"/>
                <a:ea typeface="Times New Roman"/>
                <a:cs typeface="Times New Roman"/>
                <a:sym typeface="Times New Roman"/>
              </a:rPr>
              <a:t>ADD: </a:t>
            </a:r>
            <a:r>
              <a:rPr lang="en-US" sz="2400">
                <a:solidFill>
                  <a:schemeClr val="dk1"/>
                </a:solidFill>
                <a:latin typeface="Times New Roman"/>
                <a:ea typeface="Times New Roman"/>
                <a:cs typeface="Times New Roman"/>
                <a:sym typeface="Times New Roman"/>
              </a:rPr>
              <a:t>cộng các số không nhớ</a:t>
            </a:r>
            <a:endParaRPr sz="2400">
              <a:solidFill>
                <a:schemeClr val="dk1"/>
              </a:solidFill>
              <a:latin typeface="Times New Roman"/>
              <a:ea typeface="Times New Roman"/>
              <a:cs typeface="Times New Roman"/>
              <a:sym typeface="Times New Roman"/>
            </a:endParaRPr>
          </a:p>
          <a:p>
            <a:pPr indent="0" lvl="1" marL="457200" marR="0" rtl="0" algn="l">
              <a:spcBef>
                <a:spcPts val="400"/>
              </a:spcBef>
              <a:spcAft>
                <a:spcPts val="0"/>
              </a:spcAft>
              <a:buNone/>
            </a:pPr>
            <a:r>
              <a:rPr b="1" i="0" lang="en-US" sz="2400" u="none" cap="none" strike="noStrike">
                <a:solidFill>
                  <a:schemeClr val="dk1"/>
                </a:solidFill>
                <a:latin typeface="Times New Roman"/>
                <a:ea typeface="Times New Roman"/>
                <a:cs typeface="Times New Roman"/>
                <a:sym typeface="Times New Roman"/>
              </a:rPr>
              <a:t>Cú pháp:  </a:t>
            </a:r>
            <a:r>
              <a:rPr b="0" i="0" lang="en-US" sz="2400" u="none" cap="none" strike="noStrike">
                <a:solidFill>
                  <a:schemeClr val="dk1"/>
                </a:solidFill>
                <a:latin typeface="Times New Roman"/>
                <a:ea typeface="Times New Roman"/>
                <a:cs typeface="Times New Roman"/>
                <a:sym typeface="Times New Roman"/>
              </a:rPr>
              <a:t>ADD A, nguồn ; A = A + nguồn</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spcBef>
                <a:spcPts val="400"/>
              </a:spcBef>
              <a:spcAft>
                <a:spcPts val="0"/>
              </a:spcAft>
              <a:buClr>
                <a:schemeClr val="dk1"/>
              </a:buClr>
              <a:buSzPts val="2400"/>
              <a:buFont typeface="Noto Sans Symbols"/>
              <a:buChar char="⮚"/>
            </a:pPr>
            <a:r>
              <a:rPr b="1" i="1" lang="en-US" sz="2400">
                <a:solidFill>
                  <a:schemeClr val="dk1"/>
                </a:solidFill>
                <a:latin typeface="Times New Roman"/>
                <a:ea typeface="Times New Roman"/>
                <a:cs typeface="Times New Roman"/>
                <a:sym typeface="Times New Roman"/>
              </a:rPr>
              <a:t>Lưu ý: </a:t>
            </a:r>
            <a:endParaRPr/>
          </a:p>
          <a:p>
            <a:pPr indent="-342900" lvl="0" marL="342900" marR="0" rtl="0" algn="l">
              <a:spcBef>
                <a:spcPts val="400"/>
              </a:spcBef>
              <a:spcAft>
                <a:spcPts val="0"/>
              </a:spcAft>
              <a:buClr>
                <a:schemeClr val="dk1"/>
              </a:buClr>
              <a:buSzPts val="2400"/>
              <a:buFont typeface="Times New Roman"/>
              <a:buChar char="‑"/>
            </a:pPr>
            <a:r>
              <a:rPr i="1" lang="en-US" sz="2400">
                <a:solidFill>
                  <a:schemeClr val="dk1"/>
                </a:solidFill>
                <a:latin typeface="Times New Roman"/>
                <a:ea typeface="Times New Roman"/>
                <a:cs typeface="Times New Roman"/>
                <a:sym typeface="Times New Roman"/>
              </a:rPr>
              <a:t>Toán hạng đích luôn là thanh ghi A, toán hạng nguồn có thể là dữ liệu, thanh ghi hay ô nhớ</a:t>
            </a:r>
            <a:endParaRPr i="1" sz="2400">
              <a:solidFill>
                <a:schemeClr val="dk1"/>
              </a:solidFill>
              <a:latin typeface="Times New Roman"/>
              <a:ea typeface="Times New Roman"/>
              <a:cs typeface="Times New Roman"/>
              <a:sym typeface="Times New Roman"/>
            </a:endParaRPr>
          </a:p>
          <a:p>
            <a:pPr indent="-342900" lvl="0" marL="342900" marR="0" rtl="0" algn="l">
              <a:spcBef>
                <a:spcPts val="400"/>
              </a:spcBef>
              <a:spcAft>
                <a:spcPts val="0"/>
              </a:spcAft>
              <a:buClr>
                <a:schemeClr val="dk1"/>
              </a:buClr>
              <a:buSzPts val="2400"/>
              <a:buFont typeface="Times New Roman"/>
              <a:buChar char="‑"/>
            </a:pPr>
            <a:r>
              <a:rPr i="1" lang="en-US" sz="2400">
                <a:solidFill>
                  <a:schemeClr val="dk1"/>
                </a:solidFill>
                <a:latin typeface="Times New Roman"/>
                <a:ea typeface="Times New Roman"/>
                <a:cs typeface="Times New Roman"/>
                <a:sym typeface="Times New Roman"/>
              </a:rPr>
              <a:t>Ảnh hưởng tới các cờ: AF, CF, PF</a:t>
            </a:r>
            <a:endParaRPr/>
          </a:p>
          <a:p>
            <a:pPr indent="0" lvl="0" marL="0" marR="0" rtl="0" algn="l">
              <a:spcBef>
                <a:spcPts val="400"/>
              </a:spcBef>
              <a:spcAft>
                <a:spcPts val="0"/>
              </a:spcAft>
              <a:buNone/>
            </a:pPr>
            <a:r>
              <a:rPr b="1" lang="en-US" sz="2400">
                <a:solidFill>
                  <a:schemeClr val="dk1"/>
                </a:solidFill>
                <a:latin typeface="Times New Roman"/>
                <a:ea typeface="Times New Roman"/>
                <a:cs typeface="Times New Roman"/>
                <a:sym typeface="Times New Roman"/>
              </a:rPr>
              <a:t>Ví dụ 2.13:</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MOV A, #0F5h	; A= 1111 0101B</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ADD A, #0Bh	; A= 1111 0101B</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		; +    0000 1011B</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		; =    0000 0000B, CF=1, AF=1, PF=1</a:t>
            </a:r>
            <a:endParaRPr/>
          </a:p>
          <a:p>
            <a:pPr indent="0" lvl="0" marL="0" marR="0" rtl="0" algn="l">
              <a:spcBef>
                <a:spcPts val="400"/>
              </a:spcBef>
              <a:spcAft>
                <a:spcPts val="0"/>
              </a:spcAft>
              <a:buNone/>
            </a:pPr>
            <a:r>
              <a:rPr b="1" lang="en-US" sz="2400">
                <a:solidFill>
                  <a:schemeClr val="dk1"/>
                </a:solidFill>
                <a:latin typeface="Times New Roman"/>
                <a:ea typeface="Times New Roman"/>
                <a:cs typeface="Times New Roman"/>
                <a:sym typeface="Times New Roman"/>
              </a:rPr>
              <a:t>Ví dụ 2.14:</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MOV R0, #40h</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MOV A, #5</a:t>
            </a:r>
            <a:endParaRPr/>
          </a:p>
          <a:p>
            <a:pPr indent="0" lvl="0" marL="0" marR="0" rtl="0" algn="l">
              <a:spcBef>
                <a:spcPts val="400"/>
              </a:spcBef>
              <a:spcAft>
                <a:spcPts val="0"/>
              </a:spcAft>
              <a:buNone/>
            </a:pPr>
            <a:r>
              <a:rPr lang="en-US" sz="2000">
                <a:solidFill>
                  <a:schemeClr val="dk1"/>
                </a:solidFill>
                <a:latin typeface="Times New Roman"/>
                <a:ea typeface="Times New Roman"/>
                <a:cs typeface="Times New Roman"/>
                <a:sym typeface="Times New Roman"/>
              </a:rPr>
              <a:t>ADD A, @R0</a:t>
            </a:r>
            <a:endParaRPr/>
          </a:p>
        </p:txBody>
      </p:sp>
      <p:sp>
        <p:nvSpPr>
          <p:cNvPr id="882" name="Google Shape;882;p86"/>
          <p:cNvSpPr txBox="1"/>
          <p:nvPr>
            <p:ph type="title"/>
          </p:nvPr>
        </p:nvSpPr>
        <p:spPr>
          <a:xfrm>
            <a:off x="0" y="152400"/>
            <a:ext cx="8229600" cy="487362"/>
          </a:xfrm>
          <a:prstGeom prst="rect">
            <a:avLst/>
          </a:prstGeom>
          <a:noFill/>
          <a:ln>
            <a:noFill/>
          </a:ln>
        </p:spPr>
        <p:txBody>
          <a:bodyPr anchorCtr="0" anchor="ctr" bIns="45700" lIns="91425" spcFirstLastPara="1" rIns="91425" wrap="square" tIns="45700">
            <a:noAutofit/>
          </a:bodyPr>
          <a:lstStyle/>
          <a:p>
            <a:pPr indent="-457200" lvl="0" marL="45720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số học (1)</a:t>
            </a:r>
            <a:endParaRPr/>
          </a:p>
        </p:txBody>
      </p:sp>
      <p:sp>
        <p:nvSpPr>
          <p:cNvPr id="883" name="Google Shape;883;p8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0" st="0"/>
                                            </p:txEl>
                                          </p:spTgt>
                                        </p:tgtEl>
                                        <p:attrNameLst>
                                          <p:attrName>style.visibility</p:attrName>
                                        </p:attrNameLst>
                                      </p:cBhvr>
                                      <p:to>
                                        <p:strVal val="visible"/>
                                      </p:to>
                                    </p:set>
                                    <p:animEffect filter="fade" transition="in">
                                      <p:cBhvr>
                                        <p:cTn dur="1000"/>
                                        <p:tgtEl>
                                          <p:spTgt spid="8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1" st="1"/>
                                            </p:txEl>
                                          </p:spTgt>
                                        </p:tgtEl>
                                        <p:attrNameLst>
                                          <p:attrName>style.visibility</p:attrName>
                                        </p:attrNameLst>
                                      </p:cBhvr>
                                      <p:to>
                                        <p:strVal val="visible"/>
                                      </p:to>
                                    </p:set>
                                    <p:animEffect filter="fade" transition="in">
                                      <p:cBhvr>
                                        <p:cTn dur="1000"/>
                                        <p:tgtEl>
                                          <p:spTgt spid="8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2" st="2"/>
                                            </p:txEl>
                                          </p:spTgt>
                                        </p:tgtEl>
                                        <p:attrNameLst>
                                          <p:attrName>style.visibility</p:attrName>
                                        </p:attrNameLst>
                                      </p:cBhvr>
                                      <p:to>
                                        <p:strVal val="visible"/>
                                      </p:to>
                                    </p:set>
                                    <p:animEffect filter="fade" transition="in">
                                      <p:cBhvr>
                                        <p:cTn dur="1000"/>
                                        <p:tgtEl>
                                          <p:spTgt spid="8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3" st="3"/>
                                            </p:txEl>
                                          </p:spTgt>
                                        </p:tgtEl>
                                        <p:attrNameLst>
                                          <p:attrName>style.visibility</p:attrName>
                                        </p:attrNameLst>
                                      </p:cBhvr>
                                      <p:to>
                                        <p:strVal val="visible"/>
                                      </p:to>
                                    </p:set>
                                    <p:animEffect filter="fade" transition="in">
                                      <p:cBhvr>
                                        <p:cTn dur="1000"/>
                                        <p:tgtEl>
                                          <p:spTgt spid="8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4" st="4"/>
                                            </p:txEl>
                                          </p:spTgt>
                                        </p:tgtEl>
                                        <p:attrNameLst>
                                          <p:attrName>style.visibility</p:attrName>
                                        </p:attrNameLst>
                                      </p:cBhvr>
                                      <p:to>
                                        <p:strVal val="visible"/>
                                      </p:to>
                                    </p:set>
                                    <p:animEffect filter="fade" transition="in">
                                      <p:cBhvr>
                                        <p:cTn dur="1000"/>
                                        <p:tgtEl>
                                          <p:spTgt spid="8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5" st="5"/>
                                            </p:txEl>
                                          </p:spTgt>
                                        </p:tgtEl>
                                        <p:attrNameLst>
                                          <p:attrName>style.visibility</p:attrName>
                                        </p:attrNameLst>
                                      </p:cBhvr>
                                      <p:to>
                                        <p:strVal val="visible"/>
                                      </p:to>
                                    </p:set>
                                    <p:animEffect filter="fade" transition="in">
                                      <p:cBhvr>
                                        <p:cTn dur="1000"/>
                                        <p:tgtEl>
                                          <p:spTgt spid="8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6" st="6"/>
                                            </p:txEl>
                                          </p:spTgt>
                                        </p:tgtEl>
                                        <p:attrNameLst>
                                          <p:attrName>style.visibility</p:attrName>
                                        </p:attrNameLst>
                                      </p:cBhvr>
                                      <p:to>
                                        <p:strVal val="visible"/>
                                      </p:to>
                                    </p:set>
                                    <p:animEffect filter="fade" transition="in">
                                      <p:cBhvr>
                                        <p:cTn dur="1000"/>
                                        <p:tgtEl>
                                          <p:spTgt spid="88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7" st="7"/>
                                            </p:txEl>
                                          </p:spTgt>
                                        </p:tgtEl>
                                        <p:attrNameLst>
                                          <p:attrName>style.visibility</p:attrName>
                                        </p:attrNameLst>
                                      </p:cBhvr>
                                      <p:to>
                                        <p:strVal val="visible"/>
                                      </p:to>
                                    </p:set>
                                    <p:animEffect filter="fade" transition="in">
                                      <p:cBhvr>
                                        <p:cTn dur="1000"/>
                                        <p:tgtEl>
                                          <p:spTgt spid="88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8" st="8"/>
                                            </p:txEl>
                                          </p:spTgt>
                                        </p:tgtEl>
                                        <p:attrNameLst>
                                          <p:attrName>style.visibility</p:attrName>
                                        </p:attrNameLst>
                                      </p:cBhvr>
                                      <p:to>
                                        <p:strVal val="visible"/>
                                      </p:to>
                                    </p:set>
                                    <p:animEffect filter="fade" transition="in">
                                      <p:cBhvr>
                                        <p:cTn dur="1000"/>
                                        <p:tgtEl>
                                          <p:spTgt spid="88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9" st="9"/>
                                            </p:txEl>
                                          </p:spTgt>
                                        </p:tgtEl>
                                        <p:attrNameLst>
                                          <p:attrName>style.visibility</p:attrName>
                                        </p:attrNameLst>
                                      </p:cBhvr>
                                      <p:to>
                                        <p:strVal val="visible"/>
                                      </p:to>
                                    </p:set>
                                    <p:animEffect filter="fade" transition="in">
                                      <p:cBhvr>
                                        <p:cTn dur="1000"/>
                                        <p:tgtEl>
                                          <p:spTgt spid="88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10" st="10"/>
                                            </p:txEl>
                                          </p:spTgt>
                                        </p:tgtEl>
                                        <p:attrNameLst>
                                          <p:attrName>style.visibility</p:attrName>
                                        </p:attrNameLst>
                                      </p:cBhvr>
                                      <p:to>
                                        <p:strVal val="visible"/>
                                      </p:to>
                                    </p:set>
                                    <p:animEffect filter="fade" transition="in">
                                      <p:cBhvr>
                                        <p:cTn dur="1000"/>
                                        <p:tgtEl>
                                          <p:spTgt spid="88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11" st="11"/>
                                            </p:txEl>
                                          </p:spTgt>
                                        </p:tgtEl>
                                        <p:attrNameLst>
                                          <p:attrName>style.visibility</p:attrName>
                                        </p:attrNameLst>
                                      </p:cBhvr>
                                      <p:to>
                                        <p:strVal val="visible"/>
                                      </p:to>
                                    </p:set>
                                    <p:animEffect filter="fade" transition="in">
                                      <p:cBhvr>
                                        <p:cTn dur="1000"/>
                                        <p:tgtEl>
                                          <p:spTgt spid="88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12" st="12"/>
                                            </p:txEl>
                                          </p:spTgt>
                                        </p:tgtEl>
                                        <p:attrNameLst>
                                          <p:attrName>style.visibility</p:attrName>
                                        </p:attrNameLst>
                                      </p:cBhvr>
                                      <p:to>
                                        <p:strVal val="visible"/>
                                      </p:to>
                                    </p:set>
                                    <p:animEffect filter="fade" transition="in">
                                      <p:cBhvr>
                                        <p:cTn dur="1000"/>
                                        <p:tgtEl>
                                          <p:spTgt spid="88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xEl>
                                              <p:pRg end="13" st="13"/>
                                            </p:txEl>
                                          </p:spTgt>
                                        </p:tgtEl>
                                        <p:attrNameLst>
                                          <p:attrName>style.visibility</p:attrName>
                                        </p:attrNameLst>
                                      </p:cBhvr>
                                      <p:to>
                                        <p:strVal val="visible"/>
                                      </p:to>
                                    </p:set>
                                    <p:animEffect filter="fade" transition="in">
                                      <p:cBhvr>
                                        <p:cTn dur="1000"/>
                                        <p:tgtEl>
                                          <p:spTgt spid="881">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87"/>
          <p:cNvSpPr txBox="1"/>
          <p:nvPr/>
        </p:nvSpPr>
        <p:spPr>
          <a:xfrm>
            <a:off x="228600" y="1066800"/>
            <a:ext cx="11734800" cy="543225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C00000"/>
              </a:buClr>
              <a:buSzPts val="2800"/>
              <a:buFont typeface="Arial"/>
              <a:buChar char="•"/>
            </a:pPr>
            <a:r>
              <a:rPr b="1" lang="en-US" sz="2800">
                <a:solidFill>
                  <a:srgbClr val="C00000"/>
                </a:solidFill>
                <a:latin typeface="Times New Roman"/>
                <a:ea typeface="Times New Roman"/>
                <a:cs typeface="Times New Roman"/>
                <a:sym typeface="Times New Roman"/>
              </a:rPr>
              <a:t>ADDC</a:t>
            </a:r>
            <a:r>
              <a:rPr lang="en-US" sz="2800">
                <a:solidFill>
                  <a:srgbClr val="C00000"/>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cộng các số có nhớ</a:t>
            </a:r>
            <a:endParaRPr sz="2400">
              <a:solidFill>
                <a:schemeClr val="dk1"/>
              </a:solidFill>
              <a:latin typeface="Times New Roman"/>
              <a:ea typeface="Times New Roman"/>
              <a:cs typeface="Times New Roman"/>
              <a:sym typeface="Times New Roman"/>
            </a:endParaRPr>
          </a:p>
          <a:p>
            <a:pPr indent="0" lvl="1" marL="457200" marR="0" rtl="0" algn="l">
              <a:spcBef>
                <a:spcPts val="600"/>
              </a:spcBef>
              <a:spcAft>
                <a:spcPts val="0"/>
              </a:spcAft>
              <a:buNone/>
            </a:pPr>
            <a:r>
              <a:rPr b="1" i="0" lang="en-US" sz="2400" u="none" cap="none" strike="noStrike">
                <a:solidFill>
                  <a:schemeClr val="dk1"/>
                </a:solidFill>
                <a:latin typeface="Times New Roman"/>
                <a:ea typeface="Times New Roman"/>
                <a:cs typeface="Times New Roman"/>
                <a:sym typeface="Times New Roman"/>
              </a:rPr>
              <a:t>Cú pháp:  </a:t>
            </a:r>
            <a:r>
              <a:rPr b="0" i="0" lang="en-US" sz="2400" u="none" cap="none" strike="noStrike">
                <a:solidFill>
                  <a:schemeClr val="dk1"/>
                </a:solidFill>
                <a:latin typeface="Times New Roman"/>
                <a:ea typeface="Times New Roman"/>
                <a:cs typeface="Times New Roman"/>
                <a:sym typeface="Times New Roman"/>
              </a:rPr>
              <a:t>ADDC A, nguồn ; A = A + nguồn + CF</a:t>
            </a:r>
            <a:endParaRPr/>
          </a:p>
          <a:p>
            <a:pPr indent="-342900" lvl="0" marL="342900" marR="0" rtl="0" algn="l">
              <a:spcBef>
                <a:spcPts val="600"/>
              </a:spcBef>
              <a:spcAft>
                <a:spcPts val="0"/>
              </a:spcAft>
              <a:buClr>
                <a:schemeClr val="dk1"/>
              </a:buClr>
              <a:buSzPts val="2400"/>
              <a:buFont typeface="Noto Sans Symbols"/>
              <a:buChar char="⮚"/>
            </a:pPr>
            <a:r>
              <a:rPr b="1" i="1" lang="en-US" sz="2400">
                <a:solidFill>
                  <a:schemeClr val="dk1"/>
                </a:solidFill>
                <a:latin typeface="Times New Roman"/>
                <a:ea typeface="Times New Roman"/>
                <a:cs typeface="Times New Roman"/>
                <a:sym typeface="Times New Roman"/>
              </a:rPr>
              <a:t>Lưu ý: </a:t>
            </a:r>
            <a:endParaRPr/>
          </a:p>
          <a:p>
            <a:pPr indent="-342900" lvl="0" marL="342900" marR="0" rtl="0" algn="l">
              <a:spcBef>
                <a:spcPts val="600"/>
              </a:spcBef>
              <a:spcAft>
                <a:spcPts val="0"/>
              </a:spcAft>
              <a:buClr>
                <a:schemeClr val="dk1"/>
              </a:buClr>
              <a:buSzPts val="2400"/>
              <a:buFont typeface="Times New Roman"/>
              <a:buChar char="‑"/>
            </a:pPr>
            <a:r>
              <a:rPr i="1" lang="en-US" sz="2400">
                <a:solidFill>
                  <a:schemeClr val="dk1"/>
                </a:solidFill>
                <a:latin typeface="Times New Roman"/>
                <a:ea typeface="Times New Roman"/>
                <a:cs typeface="Times New Roman"/>
                <a:sym typeface="Times New Roman"/>
              </a:rPr>
              <a:t>Toán hạng đích luôn là thanh ghi A, toán hạng nguồn có thể là dữ liệu, thanh ghi hay ô nhớ</a:t>
            </a:r>
            <a:endParaRPr i="1" sz="2400">
              <a:solidFill>
                <a:schemeClr val="dk1"/>
              </a:solidFill>
              <a:latin typeface="Times New Roman"/>
              <a:ea typeface="Times New Roman"/>
              <a:cs typeface="Times New Roman"/>
              <a:sym typeface="Times New Roman"/>
            </a:endParaRPr>
          </a:p>
          <a:p>
            <a:pPr indent="-342900" lvl="0" marL="342900" marR="0" rtl="0" algn="l">
              <a:spcBef>
                <a:spcPts val="600"/>
              </a:spcBef>
              <a:spcAft>
                <a:spcPts val="0"/>
              </a:spcAft>
              <a:buClr>
                <a:schemeClr val="dk1"/>
              </a:buClr>
              <a:buSzPts val="2400"/>
              <a:buFont typeface="Times New Roman"/>
              <a:buChar char="‑"/>
            </a:pPr>
            <a:r>
              <a:rPr i="1" lang="en-US" sz="2400">
                <a:solidFill>
                  <a:schemeClr val="dk1"/>
                </a:solidFill>
                <a:latin typeface="Times New Roman"/>
                <a:ea typeface="Times New Roman"/>
                <a:cs typeface="Times New Roman"/>
                <a:sym typeface="Times New Roman"/>
              </a:rPr>
              <a:t>Ảnh hưởng tới các cờ: AF, CF, PF</a:t>
            </a:r>
            <a:endParaRPr/>
          </a:p>
          <a:p>
            <a:pPr indent="0" lvl="0" marL="0" marR="0" rtl="0" algn="l">
              <a:spcBef>
                <a:spcPts val="600"/>
              </a:spcBef>
              <a:spcAft>
                <a:spcPts val="0"/>
              </a:spcAft>
              <a:buNone/>
            </a:pPr>
            <a:r>
              <a:rPr b="1" lang="en-US" sz="2400">
                <a:solidFill>
                  <a:schemeClr val="dk1"/>
                </a:solidFill>
                <a:latin typeface="Times New Roman"/>
                <a:ea typeface="Times New Roman"/>
                <a:cs typeface="Times New Roman"/>
                <a:sym typeface="Times New Roman"/>
              </a:rPr>
              <a:t>Ví dụ 2.15: </a:t>
            </a:r>
            <a:r>
              <a:rPr lang="en-US" sz="2400">
                <a:solidFill>
                  <a:schemeClr val="dk1"/>
                </a:solidFill>
                <a:latin typeface="Times New Roman"/>
                <a:ea typeface="Times New Roman"/>
                <a:cs typeface="Times New Roman"/>
                <a:sym typeface="Times New Roman"/>
              </a:rPr>
              <a:t>cộng 2 số 16 bit  3CE7H + 3B8DH</a:t>
            </a:r>
            <a:endParaRPr/>
          </a:p>
          <a:p>
            <a:pPr indent="573088" lvl="0" marL="0" marR="0" rtl="0" algn="l">
              <a:spcBef>
                <a:spcPts val="600"/>
              </a:spcBef>
              <a:spcAft>
                <a:spcPts val="0"/>
              </a:spcAft>
              <a:buNone/>
            </a:pPr>
            <a:r>
              <a:rPr lang="en-US" sz="2400">
                <a:solidFill>
                  <a:schemeClr val="dk1"/>
                </a:solidFill>
                <a:latin typeface="Times New Roman"/>
                <a:ea typeface="Times New Roman"/>
                <a:cs typeface="Times New Roman"/>
                <a:sym typeface="Times New Roman"/>
              </a:rPr>
              <a:t>MOV	A, #0E7H	; nạp 0E7H (byte thấp) vào A</a:t>
            </a:r>
            <a:endParaRPr/>
          </a:p>
          <a:p>
            <a:pPr indent="573088" lvl="0" marL="0" marR="0" rtl="0" algn="l">
              <a:spcBef>
                <a:spcPts val="600"/>
              </a:spcBef>
              <a:spcAft>
                <a:spcPts val="0"/>
              </a:spcAft>
              <a:buNone/>
            </a:pPr>
            <a:r>
              <a:rPr lang="en-US" sz="2400">
                <a:solidFill>
                  <a:schemeClr val="dk1"/>
                </a:solidFill>
                <a:latin typeface="Times New Roman"/>
                <a:ea typeface="Times New Roman"/>
                <a:cs typeface="Times New Roman"/>
                <a:sym typeface="Times New Roman"/>
              </a:rPr>
              <a:t>ADD 	A, #8DH	; A = 0E7H+8DH=00H, CF=1</a:t>
            </a:r>
            <a:endParaRPr/>
          </a:p>
          <a:p>
            <a:pPr indent="573088" lvl="0" marL="0" marR="0" rtl="0" algn="l">
              <a:spcBef>
                <a:spcPts val="600"/>
              </a:spcBef>
              <a:spcAft>
                <a:spcPts val="0"/>
              </a:spcAft>
              <a:buNone/>
            </a:pPr>
            <a:r>
              <a:rPr lang="en-US" sz="2400">
                <a:solidFill>
                  <a:schemeClr val="dk1"/>
                </a:solidFill>
                <a:latin typeface="Times New Roman"/>
                <a:ea typeface="Times New Roman"/>
                <a:cs typeface="Times New Roman"/>
                <a:sym typeface="Times New Roman"/>
              </a:rPr>
              <a:t>MOV 	R6, A		; nạp A (byte thấp của tổng) vào R6</a:t>
            </a:r>
            <a:endParaRPr/>
          </a:p>
          <a:p>
            <a:pPr indent="573088" lvl="0" marL="0" marR="0" rtl="0" algn="l">
              <a:spcBef>
                <a:spcPts val="600"/>
              </a:spcBef>
              <a:spcAft>
                <a:spcPts val="0"/>
              </a:spcAft>
              <a:buNone/>
            </a:pPr>
            <a:r>
              <a:rPr lang="en-US" sz="2400">
                <a:solidFill>
                  <a:schemeClr val="dk1"/>
                </a:solidFill>
                <a:latin typeface="Times New Roman"/>
                <a:ea typeface="Times New Roman"/>
                <a:cs typeface="Times New Roman"/>
                <a:sym typeface="Times New Roman"/>
              </a:rPr>
              <a:t>MOV 	A, 3CH	; nạp 3CH (byte cao) vào A</a:t>
            </a:r>
            <a:endParaRPr/>
          </a:p>
          <a:p>
            <a:pPr indent="573088" lvl="0" marL="0" marR="0" rtl="0" algn="l">
              <a:spcBef>
                <a:spcPts val="600"/>
              </a:spcBef>
              <a:spcAft>
                <a:spcPts val="0"/>
              </a:spcAft>
              <a:buNone/>
            </a:pPr>
            <a:r>
              <a:rPr lang="en-US" sz="2400">
                <a:solidFill>
                  <a:schemeClr val="dk1"/>
                </a:solidFill>
                <a:latin typeface="Times New Roman"/>
                <a:ea typeface="Times New Roman"/>
                <a:cs typeface="Times New Roman"/>
                <a:sym typeface="Times New Roman"/>
              </a:rPr>
              <a:t>ADDC	A, 3BH	; A=3CH+3BH+CF=78H</a:t>
            </a:r>
            <a:endParaRPr/>
          </a:p>
          <a:p>
            <a:pPr indent="573088" lvl="0" marL="0" marR="0" rtl="0" algn="l">
              <a:spcBef>
                <a:spcPts val="600"/>
              </a:spcBef>
              <a:spcAft>
                <a:spcPts val="0"/>
              </a:spcAft>
              <a:buNone/>
            </a:pPr>
            <a:r>
              <a:rPr lang="en-US" sz="2400">
                <a:solidFill>
                  <a:schemeClr val="dk1"/>
                </a:solidFill>
                <a:latin typeface="Times New Roman"/>
                <a:ea typeface="Times New Roman"/>
                <a:cs typeface="Times New Roman"/>
                <a:sym typeface="Times New Roman"/>
              </a:rPr>
              <a:t>MOV	R7, A		; nạp A (byte cao của tổng) vào R6</a:t>
            </a:r>
            <a:endParaRPr/>
          </a:p>
        </p:txBody>
      </p:sp>
      <p:sp>
        <p:nvSpPr>
          <p:cNvPr id="889" name="Google Shape;889;p87"/>
          <p:cNvSpPr txBox="1"/>
          <p:nvPr>
            <p:ph type="title"/>
          </p:nvPr>
        </p:nvSpPr>
        <p:spPr>
          <a:xfrm>
            <a:off x="0" y="152400"/>
            <a:ext cx="8229600" cy="487362"/>
          </a:xfrm>
          <a:prstGeom prst="rect">
            <a:avLst/>
          </a:prstGeom>
          <a:noFill/>
          <a:ln>
            <a:noFill/>
          </a:ln>
        </p:spPr>
        <p:txBody>
          <a:bodyPr anchorCtr="0" anchor="ctr" bIns="45700" lIns="91425" spcFirstLastPara="1" rIns="91425" wrap="square" tIns="45700">
            <a:noAutofit/>
          </a:bodyPr>
          <a:lstStyle/>
          <a:p>
            <a:pPr indent="-457200" lvl="0" marL="45720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số học (2)</a:t>
            </a:r>
            <a:endParaRPr/>
          </a:p>
        </p:txBody>
      </p:sp>
      <p:sp>
        <p:nvSpPr>
          <p:cNvPr id="890" name="Google Shape;890;p8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0" st="0"/>
                                            </p:txEl>
                                          </p:spTgt>
                                        </p:tgtEl>
                                        <p:attrNameLst>
                                          <p:attrName>style.visibility</p:attrName>
                                        </p:attrNameLst>
                                      </p:cBhvr>
                                      <p:to>
                                        <p:strVal val="visible"/>
                                      </p:to>
                                    </p:set>
                                    <p:animEffect filter="fade" transition="in">
                                      <p:cBhvr>
                                        <p:cTn dur="1000"/>
                                        <p:tgtEl>
                                          <p:spTgt spid="8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1" st="1"/>
                                            </p:txEl>
                                          </p:spTgt>
                                        </p:tgtEl>
                                        <p:attrNameLst>
                                          <p:attrName>style.visibility</p:attrName>
                                        </p:attrNameLst>
                                      </p:cBhvr>
                                      <p:to>
                                        <p:strVal val="visible"/>
                                      </p:to>
                                    </p:set>
                                    <p:animEffect filter="fade" transition="in">
                                      <p:cBhvr>
                                        <p:cTn dur="1000"/>
                                        <p:tgtEl>
                                          <p:spTgt spid="8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2" st="2"/>
                                            </p:txEl>
                                          </p:spTgt>
                                        </p:tgtEl>
                                        <p:attrNameLst>
                                          <p:attrName>style.visibility</p:attrName>
                                        </p:attrNameLst>
                                      </p:cBhvr>
                                      <p:to>
                                        <p:strVal val="visible"/>
                                      </p:to>
                                    </p:set>
                                    <p:animEffect filter="fade" transition="in">
                                      <p:cBhvr>
                                        <p:cTn dur="1000"/>
                                        <p:tgtEl>
                                          <p:spTgt spid="8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3" st="3"/>
                                            </p:txEl>
                                          </p:spTgt>
                                        </p:tgtEl>
                                        <p:attrNameLst>
                                          <p:attrName>style.visibility</p:attrName>
                                        </p:attrNameLst>
                                      </p:cBhvr>
                                      <p:to>
                                        <p:strVal val="visible"/>
                                      </p:to>
                                    </p:set>
                                    <p:animEffect filter="fade" transition="in">
                                      <p:cBhvr>
                                        <p:cTn dur="1000"/>
                                        <p:tgtEl>
                                          <p:spTgt spid="8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4" st="4"/>
                                            </p:txEl>
                                          </p:spTgt>
                                        </p:tgtEl>
                                        <p:attrNameLst>
                                          <p:attrName>style.visibility</p:attrName>
                                        </p:attrNameLst>
                                      </p:cBhvr>
                                      <p:to>
                                        <p:strVal val="visible"/>
                                      </p:to>
                                    </p:set>
                                    <p:animEffect filter="fade" transition="in">
                                      <p:cBhvr>
                                        <p:cTn dur="1000"/>
                                        <p:tgtEl>
                                          <p:spTgt spid="8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5" st="5"/>
                                            </p:txEl>
                                          </p:spTgt>
                                        </p:tgtEl>
                                        <p:attrNameLst>
                                          <p:attrName>style.visibility</p:attrName>
                                        </p:attrNameLst>
                                      </p:cBhvr>
                                      <p:to>
                                        <p:strVal val="visible"/>
                                      </p:to>
                                    </p:set>
                                    <p:animEffect filter="fade" transition="in">
                                      <p:cBhvr>
                                        <p:cTn dur="1000"/>
                                        <p:tgtEl>
                                          <p:spTgt spid="88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6" st="6"/>
                                            </p:txEl>
                                          </p:spTgt>
                                        </p:tgtEl>
                                        <p:attrNameLst>
                                          <p:attrName>style.visibility</p:attrName>
                                        </p:attrNameLst>
                                      </p:cBhvr>
                                      <p:to>
                                        <p:strVal val="visible"/>
                                      </p:to>
                                    </p:set>
                                    <p:animEffect filter="fade" transition="in">
                                      <p:cBhvr>
                                        <p:cTn dur="1000"/>
                                        <p:tgtEl>
                                          <p:spTgt spid="88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7" st="7"/>
                                            </p:txEl>
                                          </p:spTgt>
                                        </p:tgtEl>
                                        <p:attrNameLst>
                                          <p:attrName>style.visibility</p:attrName>
                                        </p:attrNameLst>
                                      </p:cBhvr>
                                      <p:to>
                                        <p:strVal val="visible"/>
                                      </p:to>
                                    </p:set>
                                    <p:animEffect filter="fade" transition="in">
                                      <p:cBhvr>
                                        <p:cTn dur="1000"/>
                                        <p:tgtEl>
                                          <p:spTgt spid="88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8" st="8"/>
                                            </p:txEl>
                                          </p:spTgt>
                                        </p:tgtEl>
                                        <p:attrNameLst>
                                          <p:attrName>style.visibility</p:attrName>
                                        </p:attrNameLst>
                                      </p:cBhvr>
                                      <p:to>
                                        <p:strVal val="visible"/>
                                      </p:to>
                                    </p:set>
                                    <p:animEffect filter="fade" transition="in">
                                      <p:cBhvr>
                                        <p:cTn dur="1000"/>
                                        <p:tgtEl>
                                          <p:spTgt spid="88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9" st="9"/>
                                            </p:txEl>
                                          </p:spTgt>
                                        </p:tgtEl>
                                        <p:attrNameLst>
                                          <p:attrName>style.visibility</p:attrName>
                                        </p:attrNameLst>
                                      </p:cBhvr>
                                      <p:to>
                                        <p:strVal val="visible"/>
                                      </p:to>
                                    </p:set>
                                    <p:animEffect filter="fade" transition="in">
                                      <p:cBhvr>
                                        <p:cTn dur="1000"/>
                                        <p:tgtEl>
                                          <p:spTgt spid="88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10" st="10"/>
                                            </p:txEl>
                                          </p:spTgt>
                                        </p:tgtEl>
                                        <p:attrNameLst>
                                          <p:attrName>style.visibility</p:attrName>
                                        </p:attrNameLst>
                                      </p:cBhvr>
                                      <p:to>
                                        <p:strVal val="visible"/>
                                      </p:to>
                                    </p:set>
                                    <p:animEffect filter="fade" transition="in">
                                      <p:cBhvr>
                                        <p:cTn dur="1000"/>
                                        <p:tgtEl>
                                          <p:spTgt spid="88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xEl>
                                              <p:pRg end="11" st="11"/>
                                            </p:txEl>
                                          </p:spTgt>
                                        </p:tgtEl>
                                        <p:attrNameLst>
                                          <p:attrName>style.visibility</p:attrName>
                                        </p:attrNameLst>
                                      </p:cBhvr>
                                      <p:to>
                                        <p:strVal val="visible"/>
                                      </p:to>
                                    </p:set>
                                    <p:animEffect filter="fade" transition="in">
                                      <p:cBhvr>
                                        <p:cTn dur="1000"/>
                                        <p:tgtEl>
                                          <p:spTgt spid="88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88"/>
          <p:cNvSpPr txBox="1"/>
          <p:nvPr>
            <p:ph idx="1" type="body"/>
          </p:nvPr>
        </p:nvSpPr>
        <p:spPr>
          <a:xfrm>
            <a:off x="304800" y="838200"/>
            <a:ext cx="11506200" cy="1447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DA</a:t>
            </a:r>
            <a:r>
              <a:rPr lang="en-US" sz="28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hiệu chỉnh nội dung thanh ghi A sau khi cộng các số ở mã BCD</a:t>
            </a:r>
            <a:endParaRPr/>
          </a:p>
          <a:p>
            <a:pPr indent="-285750" lvl="1" marL="74295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Nếu giá trị 4 bit thấp &gt;9 hoặc AF=1, cộng 06H vào A</a:t>
            </a:r>
            <a:endParaRPr/>
          </a:p>
          <a:p>
            <a:pPr indent="-285750" lvl="1" marL="74295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Nếu giá trị 4 bit cao&gt;9 hoặc CF=1, cộng 60H vào A</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896" name="Google Shape;896;p88"/>
          <p:cNvSpPr txBox="1"/>
          <p:nvPr>
            <p:ph type="title"/>
          </p:nvPr>
        </p:nvSpPr>
        <p:spPr>
          <a:xfrm>
            <a:off x="0" y="152400"/>
            <a:ext cx="4267200" cy="487362"/>
          </a:xfrm>
          <a:prstGeom prst="rect">
            <a:avLst/>
          </a:prstGeom>
          <a:noFill/>
          <a:ln>
            <a:noFill/>
          </a:ln>
        </p:spPr>
        <p:txBody>
          <a:bodyPr anchorCtr="0" anchor="ctr" bIns="45700" lIns="91425" spcFirstLastPara="1" rIns="91425" wrap="square" tIns="45700">
            <a:noAutofit/>
          </a:bodyPr>
          <a:lstStyle/>
          <a:p>
            <a:pPr indent="-457200" lvl="0" marL="45720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số học (3)</a:t>
            </a:r>
            <a:endParaRPr/>
          </a:p>
        </p:txBody>
      </p:sp>
      <p:sp>
        <p:nvSpPr>
          <p:cNvPr id="897" name="Google Shape;897;p88"/>
          <p:cNvSpPr txBox="1"/>
          <p:nvPr/>
        </p:nvSpPr>
        <p:spPr>
          <a:xfrm>
            <a:off x="152400" y="2484438"/>
            <a:ext cx="5029200" cy="2011362"/>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Ví dụ 2.16:</a:t>
            </a:r>
            <a:endParaRPr/>
          </a:p>
          <a:p>
            <a:pPr indent="0" lvl="0" marL="0" marR="0" rtl="0" algn="l">
              <a:spcBef>
                <a:spcPts val="9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MOV A, #29H  ; A=0010 1001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ADD A, #18H   ; A=0010 1001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 +   0001 1000</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 =   0100 0001=41H, AF=1, CF=0</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DA	          ; A=A+06H=41h+06H=47H</a:t>
            </a:r>
            <a:endParaRPr/>
          </a:p>
        </p:txBody>
      </p:sp>
      <p:sp>
        <p:nvSpPr>
          <p:cNvPr id="898" name="Google Shape;898;p88"/>
          <p:cNvSpPr txBox="1"/>
          <p:nvPr/>
        </p:nvSpPr>
        <p:spPr>
          <a:xfrm>
            <a:off x="5334000" y="2389229"/>
            <a:ext cx="6629400" cy="210657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Ví dụ 2.17:</a:t>
            </a:r>
            <a:endParaRPr/>
          </a:p>
          <a:p>
            <a:pPr indent="0" lvl="0" marL="0" marR="0" rtl="0" algn="l">
              <a:spcBef>
                <a:spcPts val="9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MOV  A, #35H  ; A=0011 0101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ADD   A, #28H  ; A=0011 0101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 +   0010 1000</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 =   0101 1101=5DH, AF=0, 4 bit thấp = 0Dh=13&gt;9</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DA	           ; A=A+06H=5DH+06H=63H</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899" name="Google Shape;899;p88"/>
          <p:cNvSpPr txBox="1"/>
          <p:nvPr/>
        </p:nvSpPr>
        <p:spPr>
          <a:xfrm>
            <a:off x="1676400" y="4694238"/>
            <a:ext cx="9601200" cy="1939884"/>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chemeClr val="dk1"/>
              </a:buClr>
              <a:buSzPts val="1800"/>
              <a:buFont typeface="Arial"/>
              <a:buNone/>
            </a:pPr>
            <a:r>
              <a:rPr b="1" lang="en-US" sz="1800">
                <a:solidFill>
                  <a:schemeClr val="dk1"/>
                </a:solidFill>
                <a:latin typeface="Times New Roman"/>
                <a:ea typeface="Times New Roman"/>
                <a:cs typeface="Times New Roman"/>
                <a:sym typeface="Times New Roman"/>
              </a:rPr>
              <a:t>Ví dụ 2.18:</a:t>
            </a:r>
            <a:endParaRPr/>
          </a:p>
          <a:p>
            <a:pPr indent="0" lvl="0" marL="0" marR="0" rtl="0" algn="l">
              <a:spcBef>
                <a:spcPts val="9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MOV	A, #35H	; A=0011 0101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ADD	A, #78H	; A=0011 0101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 +   0111 1000</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 =   1010 1101=0ADH, 4 bit cao = 0A=10&gt;9 4 bit thấp = 0Dh=13&gt;9</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DA		; A=A+66H=0ADH+66H=13H, CF=1</a:t>
            </a:r>
            <a:endParaRPr/>
          </a:p>
          <a:p>
            <a:pPr indent="0" lvl="0" marL="0" marR="0" rtl="0" algn="l">
              <a:spcBef>
                <a:spcPts val="36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900" name="Google Shape;900;p8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xEl>
                                              <p:pRg end="0" st="0"/>
                                            </p:txEl>
                                          </p:spTgt>
                                        </p:tgtEl>
                                        <p:attrNameLst>
                                          <p:attrName>style.visibility</p:attrName>
                                        </p:attrNameLst>
                                      </p:cBhvr>
                                      <p:to>
                                        <p:strVal val="visible"/>
                                      </p:to>
                                    </p:set>
                                    <p:animEffect filter="fade" transition="in">
                                      <p:cBhvr>
                                        <p:cTn dur="1000"/>
                                        <p:tgtEl>
                                          <p:spTgt spid="8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xEl>
                                              <p:pRg end="1" st="1"/>
                                            </p:txEl>
                                          </p:spTgt>
                                        </p:tgtEl>
                                        <p:attrNameLst>
                                          <p:attrName>style.visibility</p:attrName>
                                        </p:attrNameLst>
                                      </p:cBhvr>
                                      <p:to>
                                        <p:strVal val="visible"/>
                                      </p:to>
                                    </p:set>
                                    <p:animEffect filter="fade" transition="in">
                                      <p:cBhvr>
                                        <p:cTn dur="1000"/>
                                        <p:tgtEl>
                                          <p:spTgt spid="8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xEl>
                                              <p:pRg end="2" st="2"/>
                                            </p:txEl>
                                          </p:spTgt>
                                        </p:tgtEl>
                                        <p:attrNameLst>
                                          <p:attrName>style.visibility</p:attrName>
                                        </p:attrNameLst>
                                      </p:cBhvr>
                                      <p:to>
                                        <p:strVal val="visible"/>
                                      </p:to>
                                    </p:set>
                                    <p:animEffect filter="fade" transition="in">
                                      <p:cBhvr>
                                        <p:cTn dur="1000"/>
                                        <p:tgtEl>
                                          <p:spTgt spid="8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xEl>
                                              <p:pRg end="3" st="3"/>
                                            </p:txEl>
                                          </p:spTgt>
                                        </p:tgtEl>
                                        <p:attrNameLst>
                                          <p:attrName>style.visibility</p:attrName>
                                        </p:attrNameLst>
                                      </p:cBhvr>
                                      <p:to>
                                        <p:strVal val="visible"/>
                                      </p:to>
                                    </p:set>
                                    <p:animEffect filter="fade" transition="in">
                                      <p:cBhvr>
                                        <p:cTn dur="1000"/>
                                        <p:tgtEl>
                                          <p:spTgt spid="8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1000"/>
                                        <p:tgtEl>
                                          <p:spTgt spid="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1000"/>
                                        <p:tgtEl>
                                          <p:spTgt spid="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89"/>
          <p:cNvSpPr txBox="1"/>
          <p:nvPr>
            <p:ph idx="1" type="body"/>
          </p:nvPr>
        </p:nvSpPr>
        <p:spPr>
          <a:xfrm>
            <a:off x="152400" y="762000"/>
            <a:ext cx="11734800" cy="2514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SUBB</a:t>
            </a:r>
            <a:r>
              <a:rPr lang="en-US" sz="28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trừ các số</a:t>
            </a:r>
            <a:endParaRPr sz="2400">
              <a:latin typeface="Times New Roman"/>
              <a:ea typeface="Times New Roman"/>
              <a:cs typeface="Times New Roman"/>
              <a:sym typeface="Times New Roman"/>
            </a:endParaRPr>
          </a:p>
          <a:p>
            <a:pPr indent="0" lvl="0" marL="0" rtl="0" algn="l">
              <a:spcBef>
                <a:spcPts val="600"/>
              </a:spcBef>
              <a:spcAft>
                <a:spcPts val="0"/>
              </a:spcAft>
              <a:buClr>
                <a:schemeClr val="dk1"/>
              </a:buClr>
              <a:buSzPts val="2400"/>
              <a:buNone/>
            </a:pPr>
            <a:r>
              <a:rPr b="1" lang="en-US" sz="2400">
                <a:latin typeface="Times New Roman"/>
                <a:ea typeface="Times New Roman"/>
                <a:cs typeface="Times New Roman"/>
                <a:sym typeface="Times New Roman"/>
              </a:rPr>
              <a:t>Cú pháp: </a:t>
            </a:r>
            <a:r>
              <a:rPr lang="en-US" sz="2400">
                <a:latin typeface="Times New Roman"/>
                <a:ea typeface="Times New Roman"/>
                <a:cs typeface="Times New Roman"/>
                <a:sym typeface="Times New Roman"/>
              </a:rPr>
              <a:t>SUBB A, nguồn	; A=A-nguồn-CF</a:t>
            </a:r>
            <a:endParaRPr/>
          </a:p>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Quá trình thực hiện:</a:t>
            </a:r>
            <a:endParaRPr/>
          </a:p>
          <a:p>
            <a:pPr indent="-342900" lvl="0" marL="34290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Lấy </a:t>
            </a:r>
            <a:r>
              <a:rPr b="1" lang="en-US" sz="2400">
                <a:latin typeface="Times New Roman"/>
                <a:ea typeface="Times New Roman"/>
                <a:cs typeface="Times New Roman"/>
                <a:sym typeface="Times New Roman"/>
              </a:rPr>
              <a:t>bù 2 </a:t>
            </a:r>
            <a:r>
              <a:rPr lang="en-US" sz="2400">
                <a:latin typeface="Times New Roman"/>
                <a:ea typeface="Times New Roman"/>
                <a:cs typeface="Times New Roman"/>
                <a:sym typeface="Times New Roman"/>
              </a:rPr>
              <a:t>của toán hạng nguồn</a:t>
            </a:r>
            <a:endParaRPr sz="2400">
              <a:latin typeface="Times New Roman"/>
              <a:ea typeface="Times New Roman"/>
              <a:cs typeface="Times New Roman"/>
              <a:sym typeface="Times New Roman"/>
            </a:endParaRPr>
          </a:p>
          <a:p>
            <a:pPr indent="-342900" lvl="0" marL="34290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Cộng nội dung của A với giá trị bù 2 vừa xác định </a:t>
            </a:r>
            <a:r>
              <a:rPr i="1" lang="en-US" sz="2400">
                <a:latin typeface="Times New Roman"/>
                <a:ea typeface="Times New Roman"/>
                <a:cs typeface="Times New Roman"/>
                <a:sym typeface="Times New Roman"/>
              </a:rPr>
              <a:t>(kết quả ở dạng bù 2)</a:t>
            </a:r>
            <a:endParaRPr/>
          </a:p>
          <a:p>
            <a:pPr indent="-342900" lvl="0" marL="34290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Đảo cờ nhớ (CF=0 số dương; CF=1 số âm)</a:t>
            </a:r>
            <a:endParaRPr/>
          </a:p>
          <a:p>
            <a:pPr indent="0" lvl="0" marL="0" rtl="0" algn="l">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906" name="Google Shape;906;p89"/>
          <p:cNvSpPr txBox="1"/>
          <p:nvPr>
            <p:ph type="title"/>
          </p:nvPr>
        </p:nvSpPr>
        <p:spPr>
          <a:xfrm>
            <a:off x="0" y="152400"/>
            <a:ext cx="4267200" cy="487362"/>
          </a:xfrm>
          <a:prstGeom prst="rect">
            <a:avLst/>
          </a:prstGeom>
          <a:noFill/>
          <a:ln>
            <a:noFill/>
          </a:ln>
        </p:spPr>
        <p:txBody>
          <a:bodyPr anchorCtr="0" anchor="ctr" bIns="45700" lIns="91425" spcFirstLastPara="1" rIns="91425" wrap="square" tIns="45700">
            <a:noAutofit/>
          </a:bodyPr>
          <a:lstStyle/>
          <a:p>
            <a:pPr indent="-457200" lvl="0" marL="45720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số học (4)</a:t>
            </a:r>
            <a:endParaRPr/>
          </a:p>
        </p:txBody>
      </p:sp>
      <p:sp>
        <p:nvSpPr>
          <p:cNvPr id="907" name="Google Shape;907;p89"/>
          <p:cNvSpPr txBox="1"/>
          <p:nvPr/>
        </p:nvSpPr>
        <p:spPr>
          <a:xfrm>
            <a:off x="76200" y="3422901"/>
            <a:ext cx="6172200" cy="2673099"/>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b="1" lang="en-US" sz="2000">
                <a:solidFill>
                  <a:schemeClr val="dk1"/>
                </a:solidFill>
                <a:latin typeface="Times New Roman"/>
                <a:ea typeface="Times New Roman"/>
                <a:cs typeface="Times New Roman"/>
                <a:sym typeface="Times New Roman"/>
              </a:rPr>
              <a:t>Ví dụ 2.19:</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MOV	A, #3Fh	 ; A	= 0011 1111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MOV	R3, #23h ; R3	= 0010 0011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SUBB	A, R3	 ; A	= 0011 1111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1101 1101 (bù 2 của 23h)</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a:t>
            </a:r>
            <a:r>
              <a:rPr b="1" lang="en-US" sz="2000">
                <a:solidFill>
                  <a:schemeClr val="dk1"/>
                </a:solidFill>
                <a:latin typeface="Times New Roman"/>
                <a:ea typeface="Times New Roman"/>
                <a:cs typeface="Times New Roman"/>
                <a:sym typeface="Times New Roman"/>
              </a:rPr>
              <a:t>   0001 1100  </a:t>
            </a:r>
            <a:r>
              <a:rPr lang="en-US" sz="2000">
                <a:solidFill>
                  <a:schemeClr val="dk1"/>
                </a:solidFill>
                <a:latin typeface="Times New Roman"/>
                <a:ea typeface="Times New Roman"/>
                <a:cs typeface="Times New Roman"/>
                <a:sym typeface="Times New Roman"/>
              </a:rPr>
              <a:t>(bù 2), CF=1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CF=0 (đảo cờ nhớ), số dương</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kết quả </a:t>
            </a:r>
            <a:r>
              <a:rPr b="1" lang="en-US" sz="2000">
                <a:solidFill>
                  <a:schemeClr val="dk1"/>
                </a:solidFill>
                <a:latin typeface="Times New Roman"/>
                <a:ea typeface="Times New Roman"/>
                <a:cs typeface="Times New Roman"/>
                <a:sym typeface="Times New Roman"/>
              </a:rPr>
              <a:t>A=0001 1100 = 1Ch</a:t>
            </a:r>
            <a:endParaRPr/>
          </a:p>
        </p:txBody>
      </p:sp>
      <p:sp>
        <p:nvSpPr>
          <p:cNvPr id="908" name="Google Shape;908;p89"/>
          <p:cNvSpPr txBox="1"/>
          <p:nvPr/>
        </p:nvSpPr>
        <p:spPr>
          <a:xfrm>
            <a:off x="6172200" y="3505200"/>
            <a:ext cx="6019800" cy="2819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b="1" lang="en-US" sz="2000">
                <a:solidFill>
                  <a:schemeClr val="dk1"/>
                </a:solidFill>
                <a:latin typeface="Times New Roman"/>
                <a:ea typeface="Times New Roman"/>
                <a:cs typeface="Times New Roman"/>
                <a:sym typeface="Times New Roman"/>
              </a:rPr>
              <a:t>Ví dụ 2.20:</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MOV	A, #15h	  ; A	= 0001 0101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MOV	R3, #27h  ; R3	= 0010 0111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SUBB	A, R3	  ; A	= 0001 0101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1101 1001 (bù 2 của 27h)</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a:t>
            </a:r>
            <a:r>
              <a:rPr b="1" lang="en-US" sz="2000">
                <a:solidFill>
                  <a:schemeClr val="dk1"/>
                </a:solidFill>
                <a:latin typeface="Times New Roman"/>
                <a:ea typeface="Times New Roman"/>
                <a:cs typeface="Times New Roman"/>
                <a:sym typeface="Times New Roman"/>
              </a:rPr>
              <a:t>   1110 1110  </a:t>
            </a:r>
            <a:r>
              <a:rPr lang="en-US" sz="2000">
                <a:solidFill>
                  <a:schemeClr val="dk1"/>
                </a:solidFill>
                <a:latin typeface="Times New Roman"/>
                <a:ea typeface="Times New Roman"/>
                <a:cs typeface="Times New Roman"/>
                <a:sym typeface="Times New Roman"/>
              </a:rPr>
              <a:t>(bù 2), CF=0</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CF=1 (đảo cờ nhớ), số âm</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kết quả </a:t>
            </a:r>
            <a:r>
              <a:rPr b="1" lang="en-US" sz="2000">
                <a:solidFill>
                  <a:schemeClr val="dk1"/>
                </a:solidFill>
                <a:latin typeface="Times New Roman"/>
                <a:ea typeface="Times New Roman"/>
                <a:cs typeface="Times New Roman"/>
                <a:sym typeface="Times New Roman"/>
              </a:rPr>
              <a:t>A=0001 0010 = -12h</a:t>
            </a:r>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sp>
        <p:nvSpPr>
          <p:cNvPr id="909" name="Google Shape;909;p8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10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1000"/>
                                        <p:tgtEl>
                                          <p:spTgt spid="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90"/>
          <p:cNvSpPr txBox="1"/>
          <p:nvPr>
            <p:ph idx="1" type="body"/>
          </p:nvPr>
        </p:nvSpPr>
        <p:spPr>
          <a:xfrm>
            <a:off x="212558" y="914400"/>
            <a:ext cx="11201400" cy="990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MUL</a:t>
            </a:r>
            <a:r>
              <a:rPr lang="en-US" sz="2800">
                <a:solidFill>
                  <a:srgbClr val="C00000"/>
                </a:solidFill>
                <a:latin typeface="Times New Roman"/>
                <a:ea typeface="Times New Roman"/>
                <a:cs typeface="Times New Roman"/>
                <a:sym typeface="Times New Roman"/>
              </a:rPr>
              <a:t>: </a:t>
            </a:r>
            <a:r>
              <a:rPr lang="en-US" sz="2400">
                <a:latin typeface="Times New Roman"/>
                <a:ea typeface="Times New Roman"/>
                <a:cs typeface="Times New Roman"/>
                <a:sym typeface="Times New Roman"/>
              </a:rPr>
              <a:t>nhân 2 số 8 bit</a:t>
            </a:r>
            <a:endParaRPr/>
          </a:p>
          <a:p>
            <a:pPr indent="0" lvl="0" marL="0" rtl="0" algn="l">
              <a:spcBef>
                <a:spcPts val="480"/>
              </a:spcBef>
              <a:spcAft>
                <a:spcPts val="0"/>
              </a:spcAft>
              <a:buClr>
                <a:schemeClr val="dk1"/>
              </a:buClr>
              <a:buSzPts val="2400"/>
              <a:buNone/>
            </a:pPr>
            <a:r>
              <a:rPr b="1" lang="en-US" sz="2400">
                <a:latin typeface="Times New Roman"/>
                <a:ea typeface="Times New Roman"/>
                <a:cs typeface="Times New Roman"/>
                <a:sym typeface="Times New Roman"/>
              </a:rPr>
              <a:t>Cú pháp: </a:t>
            </a:r>
            <a:r>
              <a:rPr lang="en-US" sz="2400">
                <a:latin typeface="Times New Roman"/>
                <a:ea typeface="Times New Roman"/>
                <a:cs typeface="Times New Roman"/>
                <a:sym typeface="Times New Roman"/>
              </a:rPr>
              <a:t>MUL AB ; A*B kết quả 16 bit, B chưa byte cao, A chứa byte thấp</a:t>
            </a:r>
            <a:endParaRPr sz="2400">
              <a:latin typeface="Times New Roman"/>
              <a:ea typeface="Times New Roman"/>
              <a:cs typeface="Times New Roman"/>
              <a:sym typeface="Times New Roman"/>
            </a:endParaRPr>
          </a:p>
        </p:txBody>
      </p:sp>
      <p:sp>
        <p:nvSpPr>
          <p:cNvPr id="915" name="Google Shape;915;p90"/>
          <p:cNvSpPr txBox="1"/>
          <p:nvPr>
            <p:ph type="title"/>
          </p:nvPr>
        </p:nvSpPr>
        <p:spPr>
          <a:xfrm>
            <a:off x="0" y="152400"/>
            <a:ext cx="4267200" cy="487362"/>
          </a:xfrm>
          <a:prstGeom prst="rect">
            <a:avLst/>
          </a:prstGeom>
          <a:noFill/>
          <a:ln>
            <a:noFill/>
          </a:ln>
        </p:spPr>
        <p:txBody>
          <a:bodyPr anchorCtr="0" anchor="ctr" bIns="45700" lIns="91425" spcFirstLastPara="1" rIns="91425" wrap="square" tIns="45700">
            <a:noAutofit/>
          </a:bodyPr>
          <a:lstStyle/>
          <a:p>
            <a:pPr indent="-457200" lvl="0" marL="45720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số học (5)</a:t>
            </a:r>
            <a:endParaRPr/>
          </a:p>
        </p:txBody>
      </p:sp>
      <p:sp>
        <p:nvSpPr>
          <p:cNvPr id="916" name="Google Shape;916;p90"/>
          <p:cNvSpPr txBox="1"/>
          <p:nvPr/>
        </p:nvSpPr>
        <p:spPr>
          <a:xfrm>
            <a:off x="228600" y="2179638"/>
            <a:ext cx="11201400" cy="17065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lang="en-US" sz="2400">
                <a:solidFill>
                  <a:schemeClr val="dk1"/>
                </a:solidFill>
                <a:latin typeface="Times New Roman"/>
                <a:ea typeface="Times New Roman"/>
                <a:cs typeface="Times New Roman"/>
                <a:sym typeface="Times New Roman"/>
              </a:rPr>
              <a:t>Ví dụ 2.21:</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MOV A, #25H</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MOV B, #65H</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MUL AB ; 25H*56H=0E99h, B=0EH, A=99H</a:t>
            </a:r>
            <a:endParaRPr/>
          </a:p>
        </p:txBody>
      </p:sp>
      <p:sp>
        <p:nvSpPr>
          <p:cNvPr id="917" name="Google Shape;917;p90"/>
          <p:cNvSpPr txBox="1"/>
          <p:nvPr/>
        </p:nvSpPr>
        <p:spPr>
          <a:xfrm>
            <a:off x="228600" y="4420395"/>
            <a:ext cx="11201400" cy="2011362"/>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400"/>
              <a:buFont typeface="Arial"/>
              <a:buNone/>
            </a:pPr>
            <a:r>
              <a:rPr b="1" lang="en-US" sz="2400">
                <a:solidFill>
                  <a:schemeClr val="dk1"/>
                </a:solidFill>
                <a:latin typeface="Times New Roman"/>
                <a:ea typeface="Times New Roman"/>
                <a:cs typeface="Times New Roman"/>
                <a:sym typeface="Times New Roman"/>
              </a:rPr>
              <a:t>Ví dụ 2.22: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MOV A, #95</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MOV B, #10</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DIV AB		;  A=09 (thương số), B=05 (số dư)</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918" name="Google Shape;918;p9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0" st="0"/>
                                            </p:txEl>
                                          </p:spTgt>
                                        </p:tgtEl>
                                        <p:attrNameLst>
                                          <p:attrName>style.visibility</p:attrName>
                                        </p:attrNameLst>
                                      </p:cBhvr>
                                      <p:to>
                                        <p:strVal val="visible"/>
                                      </p:to>
                                    </p:set>
                                    <p:animEffect filter="fade" transition="in">
                                      <p:cBhvr>
                                        <p:cTn dur="1000"/>
                                        <p:tgtEl>
                                          <p:spTgt spid="9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1" st="1"/>
                                            </p:txEl>
                                          </p:spTgt>
                                        </p:tgtEl>
                                        <p:attrNameLst>
                                          <p:attrName>style.visibility</p:attrName>
                                        </p:attrNameLst>
                                      </p:cBhvr>
                                      <p:to>
                                        <p:strVal val="visible"/>
                                      </p:to>
                                    </p:set>
                                    <p:animEffect filter="fade" transition="in">
                                      <p:cBhvr>
                                        <p:cTn dur="1000"/>
                                        <p:tgtEl>
                                          <p:spTgt spid="9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10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1000"/>
                                        <p:tgtEl>
                                          <p:spTgt spid="9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91"/>
          <p:cNvSpPr txBox="1"/>
          <p:nvPr>
            <p:ph type="title"/>
          </p:nvPr>
        </p:nvSpPr>
        <p:spPr>
          <a:xfrm>
            <a:off x="152400" y="95713"/>
            <a:ext cx="8229600" cy="563562"/>
          </a:xfrm>
          <a:prstGeom prst="rect">
            <a:avLst/>
          </a:prstGeom>
          <a:noFill/>
          <a:ln>
            <a:noFill/>
          </a:ln>
        </p:spPr>
        <p:txBody>
          <a:bodyPr anchorCtr="0" anchor="ctr" bIns="45700" lIns="91425" spcFirstLastPara="1" rIns="91425" wrap="square" tIns="45700">
            <a:normAutofit fontScale="90000"/>
          </a:bodyPr>
          <a:lstStyle/>
          <a:p>
            <a:pPr indent="-571500" lvl="0" marL="571500" rtl="0" algn="l">
              <a:spcBef>
                <a:spcPts val="0"/>
              </a:spcBef>
              <a:spcAft>
                <a:spcPts val="0"/>
              </a:spcAft>
              <a:buClr>
                <a:schemeClr val="dk2"/>
              </a:buClr>
              <a:buSzPct val="100000"/>
              <a:buFont typeface="Noto Sans Symbols"/>
              <a:buChar char="❖"/>
            </a:pPr>
            <a:r>
              <a:rPr b="1" lang="en-US" sz="3600">
                <a:solidFill>
                  <a:schemeClr val="dk2"/>
                </a:solidFill>
                <a:latin typeface="Times New Roman"/>
                <a:ea typeface="Times New Roman"/>
                <a:cs typeface="Times New Roman"/>
                <a:sym typeface="Times New Roman"/>
              </a:rPr>
              <a:t>Lệnh logic</a:t>
            </a:r>
            <a:endParaRPr/>
          </a:p>
        </p:txBody>
      </p:sp>
      <p:sp>
        <p:nvSpPr>
          <p:cNvPr id="924" name="Google Shape;924;p91"/>
          <p:cNvSpPr txBox="1"/>
          <p:nvPr>
            <p:ph idx="1" type="body"/>
          </p:nvPr>
        </p:nvSpPr>
        <p:spPr>
          <a:xfrm>
            <a:off x="152400" y="2722356"/>
            <a:ext cx="6309335" cy="4059444"/>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Ví dụ 2.23:</a:t>
            </a:r>
            <a:endParaRPr/>
          </a:p>
          <a:p>
            <a:pPr indent="0" lvl="0" marL="0" rtl="0" algn="l">
              <a:spcBef>
                <a:spcPts val="600"/>
              </a:spcBef>
              <a:spcAft>
                <a:spcPts val="0"/>
              </a:spcAft>
              <a:buClr>
                <a:schemeClr val="dk1"/>
              </a:buClr>
              <a:buSzPts val="2400"/>
              <a:buNone/>
            </a:pPr>
            <a:r>
              <a:rPr lang="en-US" sz="2400">
                <a:latin typeface="Times New Roman"/>
                <a:ea typeface="Times New Roman"/>
                <a:cs typeface="Times New Roman"/>
                <a:sym typeface="Times New Roman"/>
              </a:rPr>
              <a:t>MOV	A, #55h ; A = 0101 0101B</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CPL	A	; A = 1010 1010B</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RR	A	; quay phải A đi 01 bit</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RL	A	; quay trái A đi 01 bit</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RRC	A	; quay phải A 01 bit quan cờ CF</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RLC	A	; quay trái A 01 bit quan cờ CF </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SWAP A	; hoán đổi nội dung thanh ghi A</a:t>
            </a:r>
            <a:endParaRPr/>
          </a:p>
          <a:p>
            <a:pPr indent="0" lvl="0" marL="0" rtl="0" algn="l">
              <a:spcBef>
                <a:spcPts val="1000"/>
              </a:spcBef>
              <a:spcAft>
                <a:spcPts val="0"/>
              </a:spcAft>
              <a:buClr>
                <a:schemeClr val="dk1"/>
              </a:buClr>
              <a:buSzPts val="2000"/>
              <a:buNone/>
            </a:pPr>
            <a:r>
              <a:t/>
            </a:r>
            <a:endParaRPr b="1" sz="2000">
              <a:latin typeface="Times New Roman"/>
              <a:ea typeface="Times New Roman"/>
              <a:cs typeface="Times New Roman"/>
              <a:sym typeface="Times New Roman"/>
            </a:endParaRPr>
          </a:p>
        </p:txBody>
      </p:sp>
      <p:pic>
        <p:nvPicPr>
          <p:cNvPr id="925" name="Google Shape;925;p91"/>
          <p:cNvPicPr preferRelativeResize="0"/>
          <p:nvPr/>
        </p:nvPicPr>
        <p:blipFill rotWithShape="1">
          <a:blip r:embed="rId3">
            <a:alphaModFix/>
          </a:blip>
          <a:srcRect b="0" l="0" r="0" t="0"/>
          <a:stretch/>
        </p:blipFill>
        <p:spPr>
          <a:xfrm>
            <a:off x="6535468" y="3962400"/>
            <a:ext cx="2209800" cy="649584"/>
          </a:xfrm>
          <a:prstGeom prst="rect">
            <a:avLst/>
          </a:prstGeom>
          <a:noFill/>
          <a:ln>
            <a:noFill/>
          </a:ln>
        </p:spPr>
      </p:pic>
      <p:pic>
        <p:nvPicPr>
          <p:cNvPr id="926" name="Google Shape;926;p91"/>
          <p:cNvPicPr preferRelativeResize="0"/>
          <p:nvPr/>
        </p:nvPicPr>
        <p:blipFill rotWithShape="1">
          <a:blip r:embed="rId4">
            <a:alphaModFix/>
          </a:blip>
          <a:srcRect b="0" l="0" r="0" t="0"/>
          <a:stretch/>
        </p:blipFill>
        <p:spPr>
          <a:xfrm>
            <a:off x="9372600" y="4416552"/>
            <a:ext cx="2133600" cy="688848"/>
          </a:xfrm>
          <a:prstGeom prst="rect">
            <a:avLst/>
          </a:prstGeom>
          <a:noFill/>
          <a:ln>
            <a:noFill/>
          </a:ln>
        </p:spPr>
      </p:pic>
      <p:pic>
        <p:nvPicPr>
          <p:cNvPr id="927" name="Google Shape;927;p91"/>
          <p:cNvPicPr preferRelativeResize="0"/>
          <p:nvPr/>
        </p:nvPicPr>
        <p:blipFill rotWithShape="1">
          <a:blip r:embed="rId5">
            <a:alphaModFix/>
          </a:blip>
          <a:srcRect b="0" l="0" r="0" t="0"/>
          <a:stretch/>
        </p:blipFill>
        <p:spPr>
          <a:xfrm>
            <a:off x="9296400" y="5393185"/>
            <a:ext cx="2390009" cy="626615"/>
          </a:xfrm>
          <a:prstGeom prst="rect">
            <a:avLst/>
          </a:prstGeom>
          <a:noFill/>
          <a:ln>
            <a:noFill/>
          </a:ln>
        </p:spPr>
      </p:pic>
      <p:pic>
        <p:nvPicPr>
          <p:cNvPr id="928" name="Google Shape;928;p91"/>
          <p:cNvPicPr preferRelativeResize="0"/>
          <p:nvPr/>
        </p:nvPicPr>
        <p:blipFill rotWithShape="1">
          <a:blip r:embed="rId6">
            <a:alphaModFix/>
          </a:blip>
          <a:srcRect b="0" l="0" r="0" t="0"/>
          <a:stretch/>
        </p:blipFill>
        <p:spPr>
          <a:xfrm>
            <a:off x="6491352" y="4953000"/>
            <a:ext cx="2347848" cy="616444"/>
          </a:xfrm>
          <a:prstGeom prst="rect">
            <a:avLst/>
          </a:prstGeom>
          <a:noFill/>
          <a:ln>
            <a:noFill/>
          </a:ln>
        </p:spPr>
      </p:pic>
      <p:pic>
        <p:nvPicPr>
          <p:cNvPr id="929" name="Google Shape;929;p91"/>
          <p:cNvPicPr preferRelativeResize="0"/>
          <p:nvPr/>
        </p:nvPicPr>
        <p:blipFill rotWithShape="1">
          <a:blip r:embed="rId7">
            <a:alphaModFix/>
          </a:blip>
          <a:srcRect b="0" l="0" r="0" t="0"/>
          <a:stretch/>
        </p:blipFill>
        <p:spPr>
          <a:xfrm>
            <a:off x="6610124" y="5867400"/>
            <a:ext cx="2229076" cy="878518"/>
          </a:xfrm>
          <a:prstGeom prst="rect">
            <a:avLst/>
          </a:prstGeom>
          <a:noFill/>
          <a:ln>
            <a:noFill/>
          </a:ln>
        </p:spPr>
      </p:pic>
      <p:sp>
        <p:nvSpPr>
          <p:cNvPr id="930" name="Google Shape;930;p91"/>
          <p:cNvSpPr txBox="1"/>
          <p:nvPr/>
        </p:nvSpPr>
        <p:spPr>
          <a:xfrm>
            <a:off x="152400" y="735991"/>
            <a:ext cx="11201400" cy="175724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00000"/>
              </a:buClr>
              <a:buSzPts val="2400"/>
              <a:buFont typeface="Arial"/>
              <a:buNone/>
            </a:pPr>
            <a:r>
              <a:rPr b="1" lang="en-US" sz="2400">
                <a:solidFill>
                  <a:srgbClr val="C00000"/>
                </a:solidFill>
                <a:latin typeface="Times New Roman"/>
                <a:ea typeface="Times New Roman"/>
                <a:cs typeface="Times New Roman"/>
                <a:sym typeface="Times New Roman"/>
              </a:rPr>
              <a:t>ANL</a:t>
            </a:r>
            <a:r>
              <a:rPr lang="en-US" sz="2400">
                <a:solidFill>
                  <a:schemeClr val="dk1"/>
                </a:solidFill>
                <a:latin typeface="Times New Roman"/>
                <a:ea typeface="Times New Roman"/>
                <a:cs typeface="Times New Roman"/>
                <a:sym typeface="Times New Roman"/>
              </a:rPr>
              <a:t>	đích, nguồn	; đích = đích  AND nguồn</a:t>
            </a:r>
            <a:endParaRPr sz="2400">
              <a:solidFill>
                <a:schemeClr val="dk1"/>
              </a:solidFill>
              <a:latin typeface="Times New Roman"/>
              <a:ea typeface="Times New Roman"/>
              <a:cs typeface="Times New Roman"/>
              <a:sym typeface="Times New Roman"/>
            </a:endParaRPr>
          </a:p>
          <a:p>
            <a:pPr indent="0" lvl="0" marL="0" marR="0" rtl="0" algn="l">
              <a:spcBef>
                <a:spcPts val="480"/>
              </a:spcBef>
              <a:spcAft>
                <a:spcPts val="0"/>
              </a:spcAft>
              <a:buClr>
                <a:srgbClr val="C00000"/>
              </a:buClr>
              <a:buSzPts val="2400"/>
              <a:buFont typeface="Arial"/>
              <a:buNone/>
            </a:pPr>
            <a:r>
              <a:rPr b="1" lang="en-US" sz="2400">
                <a:solidFill>
                  <a:srgbClr val="C00000"/>
                </a:solidFill>
                <a:latin typeface="Times New Roman"/>
                <a:ea typeface="Times New Roman"/>
                <a:cs typeface="Times New Roman"/>
                <a:sym typeface="Times New Roman"/>
              </a:rPr>
              <a:t>ORL</a:t>
            </a:r>
            <a:r>
              <a:rPr lang="en-US" sz="2400">
                <a:solidFill>
                  <a:schemeClr val="dk1"/>
                </a:solidFill>
                <a:latin typeface="Times New Roman"/>
                <a:ea typeface="Times New Roman"/>
                <a:cs typeface="Times New Roman"/>
                <a:sym typeface="Times New Roman"/>
              </a:rPr>
              <a:t>	đích, nguồn	; đích = đích OR nguồn</a:t>
            </a:r>
            <a:endParaRPr sz="2400">
              <a:solidFill>
                <a:schemeClr val="dk1"/>
              </a:solidFill>
              <a:latin typeface="Times New Roman"/>
              <a:ea typeface="Times New Roman"/>
              <a:cs typeface="Times New Roman"/>
              <a:sym typeface="Times New Roman"/>
            </a:endParaRPr>
          </a:p>
          <a:p>
            <a:pPr indent="0" lvl="0" marL="0" marR="0" rtl="0" algn="l">
              <a:spcBef>
                <a:spcPts val="480"/>
              </a:spcBef>
              <a:spcAft>
                <a:spcPts val="0"/>
              </a:spcAft>
              <a:buClr>
                <a:srgbClr val="C00000"/>
              </a:buClr>
              <a:buSzPts val="2400"/>
              <a:buFont typeface="Arial"/>
              <a:buNone/>
            </a:pPr>
            <a:r>
              <a:rPr b="1" lang="en-US" sz="2400">
                <a:solidFill>
                  <a:srgbClr val="C00000"/>
                </a:solidFill>
                <a:latin typeface="Times New Roman"/>
                <a:ea typeface="Times New Roman"/>
                <a:cs typeface="Times New Roman"/>
                <a:sym typeface="Times New Roman"/>
              </a:rPr>
              <a:t>XRL</a:t>
            </a:r>
            <a:r>
              <a:rPr lang="en-US" sz="2400">
                <a:solidFill>
                  <a:schemeClr val="dk1"/>
                </a:solidFill>
                <a:latin typeface="Times New Roman"/>
                <a:ea typeface="Times New Roman"/>
                <a:cs typeface="Times New Roman"/>
                <a:sym typeface="Times New Roman"/>
              </a:rPr>
              <a:t>	A, nguồn 	; đích = A XOR nguồn (nguồn: thanh ghi, ô nhớ, giá trị) </a:t>
            </a:r>
            <a:endParaRPr/>
          </a:p>
          <a:p>
            <a:pPr indent="0" lvl="0" marL="0" marR="0" rtl="0" algn="l">
              <a:spcBef>
                <a:spcPts val="480"/>
              </a:spcBef>
              <a:spcAft>
                <a:spcPts val="0"/>
              </a:spcAft>
              <a:buClr>
                <a:srgbClr val="C00000"/>
              </a:buClr>
              <a:buSzPts val="2400"/>
              <a:buFont typeface="Arial"/>
              <a:buNone/>
            </a:pPr>
            <a:r>
              <a:rPr b="1" lang="en-US" sz="2400">
                <a:solidFill>
                  <a:srgbClr val="C00000"/>
                </a:solidFill>
                <a:latin typeface="Times New Roman"/>
                <a:ea typeface="Times New Roman"/>
                <a:cs typeface="Times New Roman"/>
                <a:sym typeface="Times New Roman"/>
              </a:rPr>
              <a:t>CPL</a:t>
            </a:r>
            <a:r>
              <a:rPr lang="en-US" sz="2400">
                <a:solidFill>
                  <a:schemeClr val="dk1"/>
                </a:solidFill>
                <a:latin typeface="Times New Roman"/>
                <a:ea typeface="Times New Roman"/>
                <a:cs typeface="Times New Roman"/>
                <a:sym typeface="Times New Roman"/>
              </a:rPr>
              <a:t>	A		; lấy bù nội dung của A</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931" name="Google Shape;931;p9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xEl>
                                              <p:pRg end="0" st="0"/>
                                            </p:txEl>
                                          </p:spTgt>
                                        </p:tgtEl>
                                        <p:attrNameLst>
                                          <p:attrName>style.visibility</p:attrName>
                                        </p:attrNameLst>
                                      </p:cBhvr>
                                      <p:to>
                                        <p:strVal val="visible"/>
                                      </p:to>
                                    </p:set>
                                    <p:animEffect filter="fade" transition="in">
                                      <p:cBhvr>
                                        <p:cTn dur="1000"/>
                                        <p:tgtEl>
                                          <p:spTgt spid="9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xEl>
                                              <p:pRg end="1" st="1"/>
                                            </p:txEl>
                                          </p:spTgt>
                                        </p:tgtEl>
                                        <p:attrNameLst>
                                          <p:attrName>style.visibility</p:attrName>
                                        </p:attrNameLst>
                                      </p:cBhvr>
                                      <p:to>
                                        <p:strVal val="visible"/>
                                      </p:to>
                                    </p:set>
                                    <p:animEffect filter="fade" transition="in">
                                      <p:cBhvr>
                                        <p:cTn dur="1000"/>
                                        <p:tgtEl>
                                          <p:spTgt spid="9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xEl>
                                              <p:pRg end="2" st="2"/>
                                            </p:txEl>
                                          </p:spTgt>
                                        </p:tgtEl>
                                        <p:attrNameLst>
                                          <p:attrName>style.visibility</p:attrName>
                                        </p:attrNameLst>
                                      </p:cBhvr>
                                      <p:to>
                                        <p:strVal val="visible"/>
                                      </p:to>
                                    </p:set>
                                    <p:animEffect filter="fade" transition="in">
                                      <p:cBhvr>
                                        <p:cTn dur="1000"/>
                                        <p:tgtEl>
                                          <p:spTgt spid="9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xEl>
                                              <p:pRg end="3" st="3"/>
                                            </p:txEl>
                                          </p:spTgt>
                                        </p:tgtEl>
                                        <p:attrNameLst>
                                          <p:attrName>style.visibility</p:attrName>
                                        </p:attrNameLst>
                                      </p:cBhvr>
                                      <p:to>
                                        <p:strVal val="visible"/>
                                      </p:to>
                                    </p:set>
                                    <p:animEffect filter="fade" transition="in">
                                      <p:cBhvr>
                                        <p:cTn dur="1000"/>
                                        <p:tgtEl>
                                          <p:spTgt spid="9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xEl>
                                              <p:pRg end="4" st="4"/>
                                            </p:txEl>
                                          </p:spTgt>
                                        </p:tgtEl>
                                        <p:attrNameLst>
                                          <p:attrName>style.visibility</p:attrName>
                                        </p:attrNameLst>
                                      </p:cBhvr>
                                      <p:to>
                                        <p:strVal val="visible"/>
                                      </p:to>
                                    </p:set>
                                    <p:animEffect filter="fade" transition="in">
                                      <p:cBhvr>
                                        <p:cTn dur="1000"/>
                                        <p:tgtEl>
                                          <p:spTgt spid="9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0" st="0"/>
                                            </p:txEl>
                                          </p:spTgt>
                                        </p:tgtEl>
                                        <p:attrNameLst>
                                          <p:attrName>style.visibility</p:attrName>
                                        </p:attrNameLst>
                                      </p:cBhvr>
                                      <p:to>
                                        <p:strVal val="visible"/>
                                      </p:to>
                                    </p:set>
                                    <p:animEffect filter="fade" transition="in">
                                      <p:cBhvr>
                                        <p:cTn dur="1000"/>
                                        <p:tgtEl>
                                          <p:spTgt spid="9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1" st="1"/>
                                            </p:txEl>
                                          </p:spTgt>
                                        </p:tgtEl>
                                        <p:attrNameLst>
                                          <p:attrName>style.visibility</p:attrName>
                                        </p:attrNameLst>
                                      </p:cBhvr>
                                      <p:to>
                                        <p:strVal val="visible"/>
                                      </p:to>
                                    </p:set>
                                    <p:animEffect filter="fade" transition="in">
                                      <p:cBhvr>
                                        <p:cTn dur="1000"/>
                                        <p:tgtEl>
                                          <p:spTgt spid="9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2" st="2"/>
                                            </p:txEl>
                                          </p:spTgt>
                                        </p:tgtEl>
                                        <p:attrNameLst>
                                          <p:attrName>style.visibility</p:attrName>
                                        </p:attrNameLst>
                                      </p:cBhvr>
                                      <p:to>
                                        <p:strVal val="visible"/>
                                      </p:to>
                                    </p:set>
                                    <p:animEffect filter="fade" transition="in">
                                      <p:cBhvr>
                                        <p:cTn dur="1000"/>
                                        <p:tgtEl>
                                          <p:spTgt spid="9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3" st="3"/>
                                            </p:txEl>
                                          </p:spTgt>
                                        </p:tgtEl>
                                        <p:attrNameLst>
                                          <p:attrName>style.visibility</p:attrName>
                                        </p:attrNameLst>
                                      </p:cBhvr>
                                      <p:to>
                                        <p:strVal val="visible"/>
                                      </p:to>
                                    </p:set>
                                    <p:animEffect filter="fade" transition="in">
                                      <p:cBhvr>
                                        <p:cTn dur="1000"/>
                                        <p:tgtEl>
                                          <p:spTgt spid="9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4" st="4"/>
                                            </p:txEl>
                                          </p:spTgt>
                                        </p:tgtEl>
                                        <p:attrNameLst>
                                          <p:attrName>style.visibility</p:attrName>
                                        </p:attrNameLst>
                                      </p:cBhvr>
                                      <p:to>
                                        <p:strVal val="visible"/>
                                      </p:to>
                                    </p:set>
                                    <p:animEffect filter="fade" transition="in">
                                      <p:cBhvr>
                                        <p:cTn dur="1000"/>
                                        <p:tgtEl>
                                          <p:spTgt spid="9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5" st="5"/>
                                            </p:txEl>
                                          </p:spTgt>
                                        </p:tgtEl>
                                        <p:attrNameLst>
                                          <p:attrName>style.visibility</p:attrName>
                                        </p:attrNameLst>
                                      </p:cBhvr>
                                      <p:to>
                                        <p:strVal val="visible"/>
                                      </p:to>
                                    </p:set>
                                    <p:animEffect filter="fade" transition="in">
                                      <p:cBhvr>
                                        <p:cTn dur="1000"/>
                                        <p:tgtEl>
                                          <p:spTgt spid="9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6" st="6"/>
                                            </p:txEl>
                                          </p:spTgt>
                                        </p:tgtEl>
                                        <p:attrNameLst>
                                          <p:attrName>style.visibility</p:attrName>
                                        </p:attrNameLst>
                                      </p:cBhvr>
                                      <p:to>
                                        <p:strVal val="visible"/>
                                      </p:to>
                                    </p:set>
                                    <p:animEffect filter="fade" transition="in">
                                      <p:cBhvr>
                                        <p:cTn dur="1000"/>
                                        <p:tgtEl>
                                          <p:spTgt spid="9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7" st="7"/>
                                            </p:txEl>
                                          </p:spTgt>
                                        </p:tgtEl>
                                        <p:attrNameLst>
                                          <p:attrName>style.visibility</p:attrName>
                                        </p:attrNameLst>
                                      </p:cBhvr>
                                      <p:to>
                                        <p:strVal val="visible"/>
                                      </p:to>
                                    </p:set>
                                    <p:animEffect filter="fade" transition="in">
                                      <p:cBhvr>
                                        <p:cTn dur="1000"/>
                                        <p:tgtEl>
                                          <p:spTgt spid="9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xEl>
                                              <p:pRg end="8" st="8"/>
                                            </p:txEl>
                                          </p:spTgt>
                                        </p:tgtEl>
                                        <p:attrNameLst>
                                          <p:attrName>style.visibility</p:attrName>
                                        </p:attrNameLst>
                                      </p:cBhvr>
                                      <p:to>
                                        <p:strVal val="visible"/>
                                      </p:to>
                                    </p:set>
                                    <p:animEffect filter="fade" transition="in">
                                      <p:cBhvr>
                                        <p:cTn dur="1000"/>
                                        <p:tgtEl>
                                          <p:spTgt spid="92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1000"/>
                                        <p:tgtEl>
                                          <p:spTgt spid="9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1000"/>
                                        <p:tgtEl>
                                          <p:spTgt spid="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1000"/>
                                        <p:tgtEl>
                                          <p:spTgt spid="9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1000"/>
                                        <p:tgtEl>
                                          <p:spTgt spid="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1000"/>
                                        <p:tgtEl>
                                          <p:spTgt spid="9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92"/>
          <p:cNvSpPr txBox="1"/>
          <p:nvPr/>
        </p:nvSpPr>
        <p:spPr>
          <a:xfrm>
            <a:off x="152400" y="228600"/>
            <a:ext cx="4114800" cy="584775"/>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xử lý bit (1)</a:t>
            </a:r>
            <a:endParaRPr/>
          </a:p>
        </p:txBody>
      </p:sp>
      <p:graphicFrame>
        <p:nvGraphicFramePr>
          <p:cNvPr id="937" name="Google Shape;937;p92"/>
          <p:cNvGraphicFramePr/>
          <p:nvPr/>
        </p:nvGraphicFramePr>
        <p:xfrm>
          <a:off x="685800" y="1600200"/>
          <a:ext cx="3000000" cy="3000000"/>
        </p:xfrm>
        <a:graphic>
          <a:graphicData uri="http://schemas.openxmlformats.org/drawingml/2006/table">
            <a:tbl>
              <a:tblPr bandRow="1" firstRow="1">
                <a:noFill/>
                <a:tableStyleId>{A4A541D9-23D5-4180-BFA4-B58C0BD4C685}</a:tableStyleId>
              </a:tblPr>
              <a:tblGrid>
                <a:gridCol w="3981100"/>
                <a:gridCol w="6839300"/>
              </a:tblGrid>
              <a:tr h="653150">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Lệnh</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Chức</a:t>
                      </a:r>
                      <a:r>
                        <a:rPr lang="en-US" sz="2800">
                          <a:solidFill>
                            <a:schemeClr val="dk1"/>
                          </a:solidFill>
                          <a:latin typeface="Times New Roman"/>
                          <a:ea typeface="Times New Roman"/>
                          <a:cs typeface="Times New Roman"/>
                          <a:sym typeface="Times New Roman"/>
                        </a:rPr>
                        <a:t> năng</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3150">
                <a:tc>
                  <a:txBody>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SETB</a:t>
                      </a:r>
                      <a:r>
                        <a:rPr lang="en-US" sz="2800">
                          <a:solidFill>
                            <a:schemeClr val="dk1"/>
                          </a:solidFill>
                          <a:latin typeface="Times New Roman"/>
                          <a:ea typeface="Times New Roman"/>
                          <a:cs typeface="Times New Roman"/>
                          <a:sym typeface="Times New Roman"/>
                        </a:rPr>
                        <a:t>  bit</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Thiết</a:t>
                      </a:r>
                      <a:r>
                        <a:rPr lang="en-US" sz="2800">
                          <a:solidFill>
                            <a:schemeClr val="dk1"/>
                          </a:solidFill>
                          <a:latin typeface="Times New Roman"/>
                          <a:ea typeface="Times New Roman"/>
                          <a:cs typeface="Times New Roman"/>
                          <a:sym typeface="Times New Roman"/>
                        </a:rPr>
                        <a:t> lập bit (bit = 1)</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3150">
                <a:tc>
                  <a:txBody>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CLR</a:t>
                      </a:r>
                      <a:r>
                        <a:rPr lang="en-US" sz="2800">
                          <a:solidFill>
                            <a:schemeClr val="dk1"/>
                          </a:solidFill>
                          <a:latin typeface="Times New Roman"/>
                          <a:ea typeface="Times New Roman"/>
                          <a:cs typeface="Times New Roman"/>
                          <a:sym typeface="Times New Roman"/>
                        </a:rPr>
                        <a:t>    bit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Xóa</a:t>
                      </a:r>
                      <a:r>
                        <a:rPr lang="en-US" sz="2800">
                          <a:solidFill>
                            <a:schemeClr val="dk1"/>
                          </a:solidFill>
                          <a:latin typeface="Times New Roman"/>
                          <a:ea typeface="Times New Roman"/>
                          <a:cs typeface="Times New Roman"/>
                          <a:sym typeface="Times New Roman"/>
                        </a:rPr>
                        <a:t> bit về 0 (bit = 0)</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3150">
                <a:tc>
                  <a:txBody>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CPL</a:t>
                      </a:r>
                      <a:r>
                        <a:rPr lang="en-US" sz="2800">
                          <a:solidFill>
                            <a:schemeClr val="dk1"/>
                          </a:solidFill>
                          <a:latin typeface="Times New Roman"/>
                          <a:ea typeface="Times New Roman"/>
                          <a:cs typeface="Times New Roman"/>
                          <a:sym typeface="Times New Roman"/>
                        </a:rPr>
                        <a:t>    bit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Bù</a:t>
                      </a:r>
                      <a:r>
                        <a:rPr lang="en-US" sz="2800">
                          <a:solidFill>
                            <a:schemeClr val="dk1"/>
                          </a:solidFill>
                          <a:latin typeface="Times New Roman"/>
                          <a:ea typeface="Times New Roman"/>
                          <a:cs typeface="Times New Roman"/>
                          <a:sym typeface="Times New Roman"/>
                        </a:rPr>
                        <a:t> bit (bit = NOT bit)</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3150">
                <a:tc>
                  <a:txBody>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JB</a:t>
                      </a:r>
                      <a:r>
                        <a:rPr lang="en-US" sz="2800">
                          <a:solidFill>
                            <a:schemeClr val="dk1"/>
                          </a:solidFill>
                          <a:latin typeface="Times New Roman"/>
                          <a:ea typeface="Times New Roman"/>
                          <a:cs typeface="Times New Roman"/>
                          <a:sym typeface="Times New Roman"/>
                        </a:rPr>
                        <a:t>       bit,</a:t>
                      </a:r>
                      <a:r>
                        <a:rPr lang="en-US" sz="2800">
                          <a:solidFill>
                            <a:schemeClr val="dk1"/>
                          </a:solidFill>
                          <a:latin typeface="Times New Roman"/>
                          <a:ea typeface="Times New Roman"/>
                          <a:cs typeface="Times New Roman"/>
                          <a:sym typeface="Times New Roman"/>
                        </a:rPr>
                        <a:t> label</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Nhảy</a:t>
                      </a:r>
                      <a:r>
                        <a:rPr lang="en-US" sz="2800">
                          <a:solidFill>
                            <a:schemeClr val="dk1"/>
                          </a:solidFill>
                          <a:latin typeface="Times New Roman"/>
                          <a:ea typeface="Times New Roman"/>
                          <a:cs typeface="Times New Roman"/>
                          <a:sym typeface="Times New Roman"/>
                        </a:rPr>
                        <a:t> tới label nếu bit =1</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3150">
                <a:tc>
                  <a:txBody>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JNB</a:t>
                      </a:r>
                      <a:r>
                        <a:rPr lang="en-US" sz="2800">
                          <a:solidFill>
                            <a:schemeClr val="dk1"/>
                          </a:solidFill>
                          <a:latin typeface="Times New Roman"/>
                          <a:ea typeface="Times New Roman"/>
                          <a:cs typeface="Times New Roman"/>
                          <a:sym typeface="Times New Roman"/>
                        </a:rPr>
                        <a:t>    bit, 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Nhảy</a:t>
                      </a:r>
                      <a:r>
                        <a:rPr lang="en-US" sz="2800">
                          <a:solidFill>
                            <a:schemeClr val="dk1"/>
                          </a:solidFill>
                          <a:latin typeface="Times New Roman"/>
                          <a:ea typeface="Times New Roman"/>
                          <a:cs typeface="Times New Roman"/>
                          <a:sym typeface="Times New Roman"/>
                        </a:rPr>
                        <a:t> tới label nếu bit = 0</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3150">
                <a:tc>
                  <a:txBody>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JBC</a:t>
                      </a:r>
                      <a:r>
                        <a:rPr lang="en-US" sz="2800">
                          <a:solidFill>
                            <a:schemeClr val="dk1"/>
                          </a:solidFill>
                          <a:latin typeface="Times New Roman"/>
                          <a:ea typeface="Times New Roman"/>
                          <a:cs typeface="Times New Roman"/>
                          <a:sym typeface="Times New Roman"/>
                        </a:rPr>
                        <a:t>    bit,</a:t>
                      </a:r>
                      <a:r>
                        <a:rPr lang="en-US" sz="2800">
                          <a:solidFill>
                            <a:schemeClr val="dk1"/>
                          </a:solidFill>
                          <a:latin typeface="Times New Roman"/>
                          <a:ea typeface="Times New Roman"/>
                          <a:cs typeface="Times New Roman"/>
                          <a:sym typeface="Times New Roman"/>
                        </a:rPr>
                        <a:t> label</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Nhảy</a:t>
                      </a:r>
                      <a:r>
                        <a:rPr lang="en-US" sz="2800">
                          <a:solidFill>
                            <a:schemeClr val="dk1"/>
                          </a:solidFill>
                          <a:latin typeface="Times New Roman"/>
                          <a:ea typeface="Times New Roman"/>
                          <a:cs typeface="Times New Roman"/>
                          <a:sym typeface="Times New Roman"/>
                        </a:rPr>
                        <a:t> tới label nếu bit = 1 và sau đó xóa bit</a:t>
                      </a:r>
                      <a:endParaRPr sz="28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38" name="Google Shape;938;p9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93"/>
          <p:cNvSpPr txBox="1"/>
          <p:nvPr/>
        </p:nvSpPr>
        <p:spPr>
          <a:xfrm>
            <a:off x="381000" y="914401"/>
            <a:ext cx="1143000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Ví dụ 2.24: </a:t>
            </a:r>
            <a:r>
              <a:rPr lang="en-US" sz="2000">
                <a:solidFill>
                  <a:schemeClr val="dk1"/>
                </a:solidFill>
                <a:latin typeface="Times New Roman"/>
                <a:ea typeface="Times New Roman"/>
                <a:cs typeface="Times New Roman"/>
                <a:sym typeface="Times New Roman"/>
              </a:rPr>
              <a:t>tạo dãy xung vuông tại P1.0</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HERE: 	SETB	P1.0	; thiết lập P1.0 lên 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ACALL	DELAY</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CLR	P1.0</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SJMP	HERE</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Hoặc có thể viết</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HERE: 	CPL	P1.0	; lấy bù bit 0 của P1.0</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ACALL	DELAY</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SJMP	HERE</a:t>
            </a:r>
            <a:endParaRPr/>
          </a:p>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Ví dụ 2.25: </a:t>
            </a:r>
            <a:r>
              <a:rPr lang="en-US" sz="2000">
                <a:solidFill>
                  <a:schemeClr val="dk1"/>
                </a:solidFill>
                <a:latin typeface="Times New Roman"/>
                <a:ea typeface="Times New Roman"/>
                <a:cs typeface="Times New Roman"/>
                <a:sym typeface="Times New Roman"/>
              </a:rPr>
              <a:t>Nhận dữ liệu từ cổng P1 và kiểm tra bit P1.0. Nếu P1.0 = 0 gửi nội dung thanh ghi R0 ra cổng P2, nếu  P1.0 = 1 gửi nội dung thanh ghi R1 ra cổng P2</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MOV 	A, P1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JNB	ACC.0, NEXT1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MOV	P2, R1</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SJMP	NEXT2</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NEXT1: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MOV	P2, R0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NEXT2:</a:t>
            </a:r>
            <a:endParaRPr sz="2000">
              <a:solidFill>
                <a:schemeClr val="dk1"/>
              </a:solidFill>
              <a:latin typeface="Calibri"/>
              <a:ea typeface="Calibri"/>
              <a:cs typeface="Calibri"/>
              <a:sym typeface="Calibri"/>
            </a:endParaRPr>
          </a:p>
        </p:txBody>
      </p:sp>
      <p:sp>
        <p:nvSpPr>
          <p:cNvPr id="944" name="Google Shape;944;p93">
            <a:hlinkClick r:id="rId3"/>
          </p:cNvPr>
          <p:cNvSpPr/>
          <p:nvPr/>
        </p:nvSpPr>
        <p:spPr>
          <a:xfrm>
            <a:off x="8382000" y="4724400"/>
            <a:ext cx="548640" cy="36576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 name="Google Shape;945;p93"/>
          <p:cNvSpPr txBox="1"/>
          <p:nvPr/>
        </p:nvSpPr>
        <p:spPr>
          <a:xfrm>
            <a:off x="152400" y="228600"/>
            <a:ext cx="4114800" cy="584775"/>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xử lý bit (2)</a:t>
            </a:r>
            <a:endParaRPr/>
          </a:p>
        </p:txBody>
      </p:sp>
      <p:sp>
        <p:nvSpPr>
          <p:cNvPr id="946" name="Google Shape;946;p93"/>
          <p:cNvSpPr txBox="1"/>
          <p:nvPr/>
        </p:nvSpPr>
        <p:spPr>
          <a:xfrm>
            <a:off x="6934200" y="4720828"/>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mềm</a:t>
            </a:r>
            <a:endParaRPr sz="1800">
              <a:solidFill>
                <a:schemeClr val="dk1"/>
              </a:solidFill>
              <a:latin typeface="Times New Roman"/>
              <a:ea typeface="Times New Roman"/>
              <a:cs typeface="Times New Roman"/>
              <a:sym typeface="Times New Roman"/>
            </a:endParaRPr>
          </a:p>
        </p:txBody>
      </p:sp>
      <p:sp>
        <p:nvSpPr>
          <p:cNvPr id="947" name="Google Shape;947;p93">
            <a:hlinkClick r:id="rId4"/>
          </p:cNvPr>
          <p:cNvSpPr/>
          <p:nvPr/>
        </p:nvSpPr>
        <p:spPr>
          <a:xfrm>
            <a:off x="8398042" y="5542075"/>
            <a:ext cx="548640" cy="36576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8" name="Google Shape;948;p93"/>
          <p:cNvSpPr txBox="1"/>
          <p:nvPr/>
        </p:nvSpPr>
        <p:spPr>
          <a:xfrm>
            <a:off x="6934200" y="5527274"/>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cứng</a:t>
            </a:r>
            <a:endParaRPr sz="1800">
              <a:solidFill>
                <a:schemeClr val="dk1"/>
              </a:solidFill>
              <a:latin typeface="Times New Roman"/>
              <a:ea typeface="Times New Roman"/>
              <a:cs typeface="Times New Roman"/>
              <a:sym typeface="Times New Roman"/>
            </a:endParaRPr>
          </a:p>
        </p:txBody>
      </p:sp>
      <p:sp>
        <p:nvSpPr>
          <p:cNvPr id="949" name="Google Shape;949;p9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0" st="0"/>
                                            </p:txEl>
                                          </p:spTgt>
                                        </p:tgtEl>
                                        <p:attrNameLst>
                                          <p:attrName>style.visibility</p:attrName>
                                        </p:attrNameLst>
                                      </p:cBhvr>
                                      <p:to>
                                        <p:strVal val="visible"/>
                                      </p:to>
                                    </p:set>
                                    <p:animEffect filter="fade" transition="in">
                                      <p:cBhvr>
                                        <p:cTn dur="1000"/>
                                        <p:tgtEl>
                                          <p:spTgt spid="9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 st="1"/>
                                            </p:txEl>
                                          </p:spTgt>
                                        </p:tgtEl>
                                        <p:attrNameLst>
                                          <p:attrName>style.visibility</p:attrName>
                                        </p:attrNameLst>
                                      </p:cBhvr>
                                      <p:to>
                                        <p:strVal val="visible"/>
                                      </p:to>
                                    </p:set>
                                    <p:animEffect filter="fade" transition="in">
                                      <p:cBhvr>
                                        <p:cTn dur="1000"/>
                                        <p:tgtEl>
                                          <p:spTgt spid="9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2" st="2"/>
                                            </p:txEl>
                                          </p:spTgt>
                                        </p:tgtEl>
                                        <p:attrNameLst>
                                          <p:attrName>style.visibility</p:attrName>
                                        </p:attrNameLst>
                                      </p:cBhvr>
                                      <p:to>
                                        <p:strVal val="visible"/>
                                      </p:to>
                                    </p:set>
                                    <p:animEffect filter="fade" transition="in">
                                      <p:cBhvr>
                                        <p:cTn dur="1000"/>
                                        <p:tgtEl>
                                          <p:spTgt spid="9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3" st="3"/>
                                            </p:txEl>
                                          </p:spTgt>
                                        </p:tgtEl>
                                        <p:attrNameLst>
                                          <p:attrName>style.visibility</p:attrName>
                                        </p:attrNameLst>
                                      </p:cBhvr>
                                      <p:to>
                                        <p:strVal val="visible"/>
                                      </p:to>
                                    </p:set>
                                    <p:animEffect filter="fade" transition="in">
                                      <p:cBhvr>
                                        <p:cTn dur="1000"/>
                                        <p:tgtEl>
                                          <p:spTgt spid="9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4" st="4"/>
                                            </p:txEl>
                                          </p:spTgt>
                                        </p:tgtEl>
                                        <p:attrNameLst>
                                          <p:attrName>style.visibility</p:attrName>
                                        </p:attrNameLst>
                                      </p:cBhvr>
                                      <p:to>
                                        <p:strVal val="visible"/>
                                      </p:to>
                                    </p:set>
                                    <p:animEffect filter="fade" transition="in">
                                      <p:cBhvr>
                                        <p:cTn dur="1000"/>
                                        <p:tgtEl>
                                          <p:spTgt spid="9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5" st="5"/>
                                            </p:txEl>
                                          </p:spTgt>
                                        </p:tgtEl>
                                        <p:attrNameLst>
                                          <p:attrName>style.visibility</p:attrName>
                                        </p:attrNameLst>
                                      </p:cBhvr>
                                      <p:to>
                                        <p:strVal val="visible"/>
                                      </p:to>
                                    </p:set>
                                    <p:animEffect filter="fade" transition="in">
                                      <p:cBhvr>
                                        <p:cTn dur="1000"/>
                                        <p:tgtEl>
                                          <p:spTgt spid="9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6" st="6"/>
                                            </p:txEl>
                                          </p:spTgt>
                                        </p:tgtEl>
                                        <p:attrNameLst>
                                          <p:attrName>style.visibility</p:attrName>
                                        </p:attrNameLst>
                                      </p:cBhvr>
                                      <p:to>
                                        <p:strVal val="visible"/>
                                      </p:to>
                                    </p:set>
                                    <p:animEffect filter="fade" transition="in">
                                      <p:cBhvr>
                                        <p:cTn dur="1000"/>
                                        <p:tgtEl>
                                          <p:spTgt spid="9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7" st="7"/>
                                            </p:txEl>
                                          </p:spTgt>
                                        </p:tgtEl>
                                        <p:attrNameLst>
                                          <p:attrName>style.visibility</p:attrName>
                                        </p:attrNameLst>
                                      </p:cBhvr>
                                      <p:to>
                                        <p:strVal val="visible"/>
                                      </p:to>
                                    </p:set>
                                    <p:animEffect filter="fade" transition="in">
                                      <p:cBhvr>
                                        <p:cTn dur="1000"/>
                                        <p:tgtEl>
                                          <p:spTgt spid="9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8" st="8"/>
                                            </p:txEl>
                                          </p:spTgt>
                                        </p:tgtEl>
                                        <p:attrNameLst>
                                          <p:attrName>style.visibility</p:attrName>
                                        </p:attrNameLst>
                                      </p:cBhvr>
                                      <p:to>
                                        <p:strVal val="visible"/>
                                      </p:to>
                                    </p:set>
                                    <p:animEffect filter="fade" transition="in">
                                      <p:cBhvr>
                                        <p:cTn dur="1000"/>
                                        <p:tgtEl>
                                          <p:spTgt spid="9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9" st="9"/>
                                            </p:txEl>
                                          </p:spTgt>
                                        </p:tgtEl>
                                        <p:attrNameLst>
                                          <p:attrName>style.visibility</p:attrName>
                                        </p:attrNameLst>
                                      </p:cBhvr>
                                      <p:to>
                                        <p:strVal val="visible"/>
                                      </p:to>
                                    </p:set>
                                    <p:animEffect filter="fade" transition="in">
                                      <p:cBhvr>
                                        <p:cTn dur="1000"/>
                                        <p:tgtEl>
                                          <p:spTgt spid="94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0" st="10"/>
                                            </p:txEl>
                                          </p:spTgt>
                                        </p:tgtEl>
                                        <p:attrNameLst>
                                          <p:attrName>style.visibility</p:attrName>
                                        </p:attrNameLst>
                                      </p:cBhvr>
                                      <p:to>
                                        <p:strVal val="visible"/>
                                      </p:to>
                                    </p:set>
                                    <p:animEffect filter="fade" transition="in">
                                      <p:cBhvr>
                                        <p:cTn dur="1000"/>
                                        <p:tgtEl>
                                          <p:spTgt spid="94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1" st="11"/>
                                            </p:txEl>
                                          </p:spTgt>
                                        </p:tgtEl>
                                        <p:attrNameLst>
                                          <p:attrName>style.visibility</p:attrName>
                                        </p:attrNameLst>
                                      </p:cBhvr>
                                      <p:to>
                                        <p:strVal val="visible"/>
                                      </p:to>
                                    </p:set>
                                    <p:animEffect filter="fade" transition="in">
                                      <p:cBhvr>
                                        <p:cTn dur="1000"/>
                                        <p:tgtEl>
                                          <p:spTgt spid="94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2" st="12"/>
                                            </p:txEl>
                                          </p:spTgt>
                                        </p:tgtEl>
                                        <p:attrNameLst>
                                          <p:attrName>style.visibility</p:attrName>
                                        </p:attrNameLst>
                                      </p:cBhvr>
                                      <p:to>
                                        <p:strVal val="visible"/>
                                      </p:to>
                                    </p:set>
                                    <p:animEffect filter="fade" transition="in">
                                      <p:cBhvr>
                                        <p:cTn dur="1000"/>
                                        <p:tgtEl>
                                          <p:spTgt spid="94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3" st="13"/>
                                            </p:txEl>
                                          </p:spTgt>
                                        </p:tgtEl>
                                        <p:attrNameLst>
                                          <p:attrName>style.visibility</p:attrName>
                                        </p:attrNameLst>
                                      </p:cBhvr>
                                      <p:to>
                                        <p:strVal val="visible"/>
                                      </p:to>
                                    </p:set>
                                    <p:animEffect filter="fade" transition="in">
                                      <p:cBhvr>
                                        <p:cTn dur="1000"/>
                                        <p:tgtEl>
                                          <p:spTgt spid="94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4" st="14"/>
                                            </p:txEl>
                                          </p:spTgt>
                                        </p:tgtEl>
                                        <p:attrNameLst>
                                          <p:attrName>style.visibility</p:attrName>
                                        </p:attrNameLst>
                                      </p:cBhvr>
                                      <p:to>
                                        <p:strVal val="visible"/>
                                      </p:to>
                                    </p:set>
                                    <p:animEffect filter="fade" transition="in">
                                      <p:cBhvr>
                                        <p:cTn dur="1000"/>
                                        <p:tgtEl>
                                          <p:spTgt spid="94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5" st="15"/>
                                            </p:txEl>
                                          </p:spTgt>
                                        </p:tgtEl>
                                        <p:attrNameLst>
                                          <p:attrName>style.visibility</p:attrName>
                                        </p:attrNameLst>
                                      </p:cBhvr>
                                      <p:to>
                                        <p:strVal val="visible"/>
                                      </p:to>
                                    </p:set>
                                    <p:animEffect filter="fade" transition="in">
                                      <p:cBhvr>
                                        <p:cTn dur="1000"/>
                                        <p:tgtEl>
                                          <p:spTgt spid="94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xEl>
                                              <p:pRg end="16" st="16"/>
                                            </p:txEl>
                                          </p:spTgt>
                                        </p:tgtEl>
                                        <p:attrNameLst>
                                          <p:attrName>style.visibility</p:attrName>
                                        </p:attrNameLst>
                                      </p:cBhvr>
                                      <p:to>
                                        <p:strVal val="visible"/>
                                      </p:to>
                                    </p:set>
                                    <p:animEffect filter="fade" transition="in">
                                      <p:cBhvr>
                                        <p:cTn dur="1000"/>
                                        <p:tgtEl>
                                          <p:spTgt spid="943">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1000"/>
                                        <p:tgtEl>
                                          <p:spTgt spid="946"/>
                                        </p:tgtEl>
                                      </p:cBhvr>
                                    </p:animEffect>
                                  </p:childTnLst>
                                </p:cTn>
                              </p:par>
                              <p:par>
                                <p:cTn fill="hold" nodeType="with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1000"/>
                                        <p:tgtEl>
                                          <p:spTgt spid="944"/>
                                        </p:tgtEl>
                                      </p:cBhvr>
                                    </p:animEffect>
                                  </p:childTnLst>
                                </p:cTn>
                              </p:par>
                              <p:par>
                                <p:cTn fill="hold" nodeType="withEffect" presetClass="entr" presetID="10" presetSubtype="0">
                                  <p:stCondLst>
                                    <p:cond delay="0"/>
                                  </p:stCondLst>
                                  <p:childTnLst>
                                    <p:set>
                                      <p:cBhvr>
                                        <p:cTn dur="1" fill="hold">
                                          <p:stCondLst>
                                            <p:cond delay="0"/>
                                          </p:stCondLst>
                                        </p:cTn>
                                        <p:tgtEl>
                                          <p:spTgt spid="948"/>
                                        </p:tgtEl>
                                        <p:attrNameLst>
                                          <p:attrName>style.visibility</p:attrName>
                                        </p:attrNameLst>
                                      </p:cBhvr>
                                      <p:to>
                                        <p:strVal val="visible"/>
                                      </p:to>
                                    </p:set>
                                    <p:animEffect filter="fade" transition="in">
                                      <p:cBhvr>
                                        <p:cTn dur="1000"/>
                                        <p:tgtEl>
                                          <p:spTgt spid="948"/>
                                        </p:tgtEl>
                                      </p:cBhvr>
                                    </p:animEffect>
                                  </p:childTnLst>
                                </p:cTn>
                              </p:par>
                              <p:par>
                                <p:cTn fill="hold" nodeType="withEffect" presetClass="entr" presetID="10" presetSubtype="0">
                                  <p:stCondLst>
                                    <p:cond delay="0"/>
                                  </p:stCondLst>
                                  <p:childTnLst>
                                    <p:set>
                                      <p:cBhvr>
                                        <p:cTn dur="1" fill="hold">
                                          <p:stCondLst>
                                            <p:cond delay="0"/>
                                          </p:stCondLst>
                                        </p:cTn>
                                        <p:tgtEl>
                                          <p:spTgt spid="947"/>
                                        </p:tgtEl>
                                        <p:attrNameLst>
                                          <p:attrName>style.visibility</p:attrName>
                                        </p:attrNameLst>
                                      </p:cBhvr>
                                      <p:to>
                                        <p:strVal val="visible"/>
                                      </p:to>
                                    </p:set>
                                    <p:animEffect filter="fade" transition="in">
                                      <p:cBhvr>
                                        <p:cTn dur="1000"/>
                                        <p:tgtEl>
                                          <p:spTgt spid="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94"/>
          <p:cNvSpPr txBox="1"/>
          <p:nvPr/>
        </p:nvSpPr>
        <p:spPr>
          <a:xfrm>
            <a:off x="28074" y="228600"/>
            <a:ext cx="4953000" cy="584775"/>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rẽ nhánh (1)</a:t>
            </a:r>
            <a:endParaRPr/>
          </a:p>
        </p:txBody>
      </p:sp>
      <p:graphicFrame>
        <p:nvGraphicFramePr>
          <p:cNvPr id="955" name="Google Shape;955;p94"/>
          <p:cNvGraphicFramePr/>
          <p:nvPr/>
        </p:nvGraphicFramePr>
        <p:xfrm>
          <a:off x="609600" y="1143000"/>
          <a:ext cx="3000000" cy="3000000"/>
        </p:xfrm>
        <a:graphic>
          <a:graphicData uri="http://schemas.openxmlformats.org/drawingml/2006/table">
            <a:tbl>
              <a:tblPr bandRow="1" firstRow="1">
                <a:noFill/>
                <a:tableStyleId>{A4A541D9-23D5-4180-BFA4-B58C0BD4C685}</a:tableStyleId>
              </a:tblPr>
              <a:tblGrid>
                <a:gridCol w="3453175"/>
                <a:gridCol w="7824425"/>
              </a:tblGrid>
              <a:tr h="33060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Lệnh</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Ý</a:t>
                      </a:r>
                      <a:r>
                        <a:rPr lang="en-US" sz="2400">
                          <a:solidFill>
                            <a:schemeClr val="dk1"/>
                          </a:solidFill>
                          <a:latin typeface="Times New Roman"/>
                          <a:ea typeface="Times New Roman"/>
                          <a:cs typeface="Times New Roman"/>
                          <a:sym typeface="Times New Roman"/>
                        </a:rPr>
                        <a:t> nghĩa</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60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JZ</a:t>
                      </a:r>
                      <a:r>
                        <a:rPr lang="en-US" sz="2400">
                          <a:solidFill>
                            <a:schemeClr val="dk1"/>
                          </a:solidFill>
                          <a:latin typeface="Times New Roman"/>
                          <a:ea typeface="Times New Roman"/>
                          <a:cs typeface="Times New Roman"/>
                          <a:sym typeface="Times New Roman"/>
                        </a:rPr>
                        <a:t>        </a:t>
                      </a:r>
                      <a:r>
                        <a:rPr i="0" lang="en-US" sz="2400">
                          <a:solidFill>
                            <a:schemeClr val="dk1"/>
                          </a:solidFill>
                          <a:latin typeface="Times New Roman"/>
                          <a:ea typeface="Times New Roman"/>
                          <a:cs typeface="Times New Roman"/>
                          <a:sym typeface="Times New Roman"/>
                        </a:rPr>
                        <a:t>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A = 0</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60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JNZ</a:t>
                      </a:r>
                      <a:r>
                        <a:rPr lang="en-US" sz="2400">
                          <a:solidFill>
                            <a:schemeClr val="dk1"/>
                          </a:solidFill>
                          <a:latin typeface="Times New Roman"/>
                          <a:ea typeface="Times New Roman"/>
                          <a:cs typeface="Times New Roman"/>
                          <a:sym typeface="Times New Roman"/>
                        </a:rPr>
                        <a:t>     </a:t>
                      </a:r>
                      <a:r>
                        <a:rPr i="0" lang="en-US" sz="2400">
                          <a:solidFill>
                            <a:schemeClr val="dk1"/>
                          </a:solidFill>
                          <a:latin typeface="Times New Roman"/>
                          <a:ea typeface="Times New Roman"/>
                          <a:cs typeface="Times New Roman"/>
                          <a:sym typeface="Times New Roman"/>
                        </a:rPr>
                        <a:t>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A ≠ 0</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60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DJNZ</a:t>
                      </a:r>
                      <a:r>
                        <a:rPr lang="en-US" sz="2400">
                          <a:solidFill>
                            <a:schemeClr val="dk1"/>
                          </a:solidFill>
                          <a:latin typeface="Times New Roman"/>
                          <a:ea typeface="Times New Roman"/>
                          <a:cs typeface="Times New Roman"/>
                          <a:sym typeface="Times New Roman"/>
                        </a:rPr>
                        <a:t>  </a:t>
                      </a:r>
                      <a:r>
                        <a:rPr i="0" lang="en-US" sz="2400">
                          <a:solidFill>
                            <a:schemeClr val="dk1"/>
                          </a:solidFill>
                          <a:latin typeface="Times New Roman"/>
                          <a:ea typeface="Times New Roman"/>
                          <a:cs typeface="Times New Roman"/>
                          <a:sym typeface="Times New Roman"/>
                        </a:rPr>
                        <a:t>Rn, 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nến Rn ≠ 0, Rn = Rn -1</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855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DJNZ</a:t>
                      </a:r>
                      <a:r>
                        <a:rPr lang="en-US" sz="2400">
                          <a:latin typeface="Times New Roman"/>
                          <a:ea typeface="Times New Roman"/>
                          <a:cs typeface="Times New Roman"/>
                          <a:sym typeface="Times New Roman"/>
                        </a:rPr>
                        <a:t>    </a:t>
                      </a:r>
                      <a:r>
                        <a:rPr i="0" lang="en-US" sz="2400">
                          <a:latin typeface="Times New Roman"/>
                          <a:ea typeface="Times New Roman"/>
                          <a:cs typeface="Times New Roman"/>
                          <a:sym typeface="Times New Roman"/>
                        </a:rPr>
                        <a:t>direct,</a:t>
                      </a:r>
                      <a:r>
                        <a:rPr i="0" lang="en-US" sz="2400">
                          <a:latin typeface="Times New Roman"/>
                          <a:ea typeface="Times New Roman"/>
                          <a:cs typeface="Times New Roman"/>
                          <a:sym typeface="Times New Roman"/>
                        </a:rPr>
                        <a:t> label</a:t>
                      </a:r>
                      <a:endParaRPr i="0" sz="2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nội dung ô nhớ có địa chỉ direct ≠ 0, [direct]=[direct]-1</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855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CJNE</a:t>
                      </a:r>
                      <a:r>
                        <a:rPr lang="en-US" sz="2400">
                          <a:solidFill>
                            <a:schemeClr val="dk1"/>
                          </a:solidFill>
                          <a:latin typeface="Times New Roman"/>
                          <a:ea typeface="Times New Roman"/>
                          <a:cs typeface="Times New Roman"/>
                          <a:sym typeface="Times New Roman"/>
                        </a:rPr>
                        <a:t>   </a:t>
                      </a:r>
                      <a:r>
                        <a:rPr i="0" lang="en-US" sz="2400">
                          <a:solidFill>
                            <a:schemeClr val="dk1"/>
                          </a:solidFill>
                          <a:latin typeface="Times New Roman"/>
                          <a:ea typeface="Times New Roman"/>
                          <a:cs typeface="Times New Roman"/>
                          <a:sym typeface="Times New Roman"/>
                        </a:rPr>
                        <a:t>A, direct, 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nội dung của A ≠ [direct], CF=0 nếu A≥[direct], CF=1 nếu A&lt;[direct]</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8550">
                <a:tc>
                  <a:txBody>
                    <a:bodyPr/>
                    <a:lstStyle/>
                    <a:p>
                      <a:pPr indent="0" lvl="0" marL="0" marR="0" rtl="0" algn="l">
                        <a:lnSpc>
                          <a:spcPct val="100000"/>
                        </a:lnSpc>
                        <a:spcBef>
                          <a:spcPts val="0"/>
                        </a:spcBef>
                        <a:spcAft>
                          <a:spcPts val="0"/>
                        </a:spcAft>
                        <a:buClr>
                          <a:srgbClr val="C00000"/>
                        </a:buClr>
                        <a:buSzPts val="2400"/>
                        <a:buFont typeface="Times New Roman"/>
                        <a:buNone/>
                      </a:pPr>
                      <a:r>
                        <a:rPr b="1" lang="en-US" sz="2400">
                          <a:solidFill>
                            <a:srgbClr val="C00000"/>
                          </a:solidFill>
                          <a:latin typeface="Times New Roman"/>
                          <a:ea typeface="Times New Roman"/>
                          <a:cs typeface="Times New Roman"/>
                          <a:sym typeface="Times New Roman"/>
                        </a:rPr>
                        <a:t>CJNE</a:t>
                      </a:r>
                      <a:r>
                        <a:rPr lang="en-US" sz="2400">
                          <a:solidFill>
                            <a:schemeClr val="dk1"/>
                          </a:solidFill>
                          <a:latin typeface="Times New Roman"/>
                          <a:ea typeface="Times New Roman"/>
                          <a:cs typeface="Times New Roman"/>
                          <a:sym typeface="Times New Roman"/>
                        </a:rPr>
                        <a:t>   </a:t>
                      </a:r>
                      <a:r>
                        <a:rPr i="0" lang="en-US" sz="2400">
                          <a:solidFill>
                            <a:schemeClr val="dk1"/>
                          </a:solidFill>
                          <a:latin typeface="Times New Roman"/>
                          <a:ea typeface="Times New Roman"/>
                          <a:cs typeface="Times New Roman"/>
                          <a:sym typeface="Times New Roman"/>
                        </a:rPr>
                        <a:t>Reg, #data, label</a:t>
                      </a:r>
                      <a:endParaRPr/>
                    </a:p>
                    <a:p>
                      <a:pPr indent="0" lvl="0" marL="0" marR="0" rtl="0" algn="l">
                        <a:lnSpc>
                          <a:spcPct val="100000"/>
                        </a:lnSpc>
                        <a:spcBef>
                          <a:spcPts val="0"/>
                        </a:spcBef>
                        <a:spcAft>
                          <a:spcPts val="0"/>
                        </a:spcAft>
                        <a:buClr>
                          <a:schemeClr val="dk1"/>
                        </a:buClr>
                        <a:buSzPts val="2400"/>
                        <a:buFont typeface="Times New Roman"/>
                        <a:buNone/>
                      </a:pPr>
                      <a:r>
                        <a:rPr i="0" lang="en-US" sz="2400">
                          <a:solidFill>
                            <a:schemeClr val="dk1"/>
                          </a:solidFill>
                          <a:latin typeface="Times New Roman"/>
                          <a:ea typeface="Times New Roman"/>
                          <a:cs typeface="Times New Roman"/>
                          <a:sym typeface="Times New Roman"/>
                        </a:rPr>
                        <a:t>(Reg: A, Rn)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nội dung của Reg ≠ dulieu, CF=0 nếu Reg≥dulieu, CF=1 nếu Reg&lt;dulieu</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060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JC</a:t>
                      </a:r>
                      <a:r>
                        <a:rPr lang="en-US" sz="2400">
                          <a:solidFill>
                            <a:schemeClr val="dk1"/>
                          </a:solidFill>
                          <a:latin typeface="Times New Roman"/>
                          <a:ea typeface="Times New Roman"/>
                          <a:cs typeface="Times New Roman"/>
                          <a:sym typeface="Times New Roman"/>
                        </a:rPr>
                        <a:t>        </a:t>
                      </a:r>
                      <a:r>
                        <a:rPr i="0" lang="en-US" sz="2400">
                          <a:solidFill>
                            <a:schemeClr val="dk1"/>
                          </a:solidFill>
                          <a:latin typeface="Times New Roman"/>
                          <a:ea typeface="Times New Roman"/>
                          <a:cs typeface="Times New Roman"/>
                          <a:sym typeface="Times New Roman"/>
                        </a:rPr>
                        <a:t>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CF=1</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400">
                <a:tc>
                  <a:txBody>
                    <a:bodyPr/>
                    <a:lstStyle/>
                    <a:p>
                      <a:pPr indent="0" lvl="0" marL="0" marR="0" rtl="0" algn="l">
                        <a:spcBef>
                          <a:spcPts val="0"/>
                        </a:spcBef>
                        <a:spcAft>
                          <a:spcPts val="0"/>
                        </a:spcAft>
                        <a:buNone/>
                      </a:pPr>
                      <a:r>
                        <a:rPr b="1" lang="en-US" sz="2400">
                          <a:solidFill>
                            <a:srgbClr val="C00000"/>
                          </a:solidFill>
                          <a:latin typeface="Times New Roman"/>
                          <a:ea typeface="Times New Roman"/>
                          <a:cs typeface="Times New Roman"/>
                          <a:sym typeface="Times New Roman"/>
                        </a:rPr>
                        <a:t>JNC</a:t>
                      </a:r>
                      <a:r>
                        <a:rPr lang="en-US" sz="2400">
                          <a:solidFill>
                            <a:schemeClr val="dk1"/>
                          </a:solidFill>
                          <a:latin typeface="Times New Roman"/>
                          <a:ea typeface="Times New Roman"/>
                          <a:cs typeface="Times New Roman"/>
                          <a:sym typeface="Times New Roman"/>
                        </a:rPr>
                        <a:t>     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tới </a:t>
                      </a:r>
                      <a:r>
                        <a:rPr i="1" lang="en-US" sz="2400">
                          <a:solidFill>
                            <a:schemeClr val="dk1"/>
                          </a:solidFill>
                          <a:latin typeface="Times New Roman"/>
                          <a:ea typeface="Times New Roman"/>
                          <a:cs typeface="Times New Roman"/>
                          <a:sym typeface="Times New Roman"/>
                        </a:rPr>
                        <a:t>label</a:t>
                      </a:r>
                      <a:r>
                        <a:rPr lang="en-US" sz="2400">
                          <a:solidFill>
                            <a:schemeClr val="dk1"/>
                          </a:solidFill>
                          <a:latin typeface="Times New Roman"/>
                          <a:ea typeface="Times New Roman"/>
                          <a:cs typeface="Times New Roman"/>
                          <a:sym typeface="Times New Roman"/>
                        </a:rPr>
                        <a:t> nếu CF≠0</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56" name="Google Shape;956;p9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graphicFrame>
        <p:nvGraphicFramePr>
          <p:cNvPr id="961" name="Google Shape;961;p95"/>
          <p:cNvGraphicFramePr/>
          <p:nvPr/>
        </p:nvGraphicFramePr>
        <p:xfrm>
          <a:off x="685800" y="1676401"/>
          <a:ext cx="3000000" cy="3000000"/>
        </p:xfrm>
        <a:graphic>
          <a:graphicData uri="http://schemas.openxmlformats.org/drawingml/2006/table">
            <a:tbl>
              <a:tblPr bandRow="1" firstRow="1">
                <a:noFill/>
                <a:tableStyleId>{A4A541D9-23D5-4180-BFA4-B58C0BD4C685}</a:tableStyleId>
              </a:tblPr>
              <a:tblGrid>
                <a:gridCol w="3289850"/>
                <a:gridCol w="7454350"/>
              </a:tblGrid>
              <a:tr h="30480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Lệnh</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Ý</a:t>
                      </a:r>
                      <a:r>
                        <a:rPr lang="en-US" sz="2400">
                          <a:solidFill>
                            <a:schemeClr val="dk1"/>
                          </a:solidFill>
                          <a:latin typeface="Times New Roman"/>
                          <a:ea typeface="Times New Roman"/>
                          <a:cs typeface="Times New Roman"/>
                          <a:sym typeface="Times New Roman"/>
                        </a:rPr>
                        <a:t> nghĩa</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SJMP</a:t>
                      </a:r>
                      <a:r>
                        <a:rPr i="0" lang="en-US" sz="2400">
                          <a:solidFill>
                            <a:schemeClr val="dk1"/>
                          </a:solidFill>
                          <a:latin typeface="Times New Roman"/>
                          <a:ea typeface="Times New Roman"/>
                          <a:cs typeface="Times New Roman"/>
                          <a:sym typeface="Times New Roman"/>
                        </a:rPr>
                        <a:t>    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không điều kiện tới label (trong không gian 128 byte)</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LJMP</a:t>
                      </a:r>
                      <a:r>
                        <a:rPr i="0" lang="en-US" sz="2400">
                          <a:solidFill>
                            <a:schemeClr val="dk1"/>
                          </a:solidFill>
                          <a:latin typeface="Times New Roman"/>
                          <a:ea typeface="Times New Roman"/>
                          <a:cs typeface="Times New Roman"/>
                          <a:sym typeface="Times New Roman"/>
                        </a:rPr>
                        <a:t>    label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Nhảy</a:t>
                      </a:r>
                      <a:r>
                        <a:rPr lang="en-US" sz="2400">
                          <a:solidFill>
                            <a:schemeClr val="dk1"/>
                          </a:solidFill>
                          <a:latin typeface="Times New Roman"/>
                          <a:ea typeface="Times New Roman"/>
                          <a:cs typeface="Times New Roman"/>
                          <a:sym typeface="Times New Roman"/>
                        </a:rPr>
                        <a:t> không điều kiện tới label (trong không gian 64 KB)</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ACALL</a:t>
                      </a:r>
                      <a:r>
                        <a:rPr i="0" lang="en-US" sz="2400">
                          <a:solidFill>
                            <a:schemeClr val="dk1"/>
                          </a:solidFill>
                          <a:latin typeface="Times New Roman"/>
                          <a:ea typeface="Times New Roman"/>
                          <a:cs typeface="Times New Roman"/>
                          <a:sym typeface="Times New Roman"/>
                        </a:rPr>
                        <a:t> ctc</a:t>
                      </a:r>
                      <a:endParaRPr i="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Gọi</a:t>
                      </a:r>
                      <a:r>
                        <a:rPr lang="en-US" sz="2400">
                          <a:solidFill>
                            <a:schemeClr val="dk1"/>
                          </a:solidFill>
                          <a:latin typeface="Times New Roman"/>
                          <a:ea typeface="Times New Roman"/>
                          <a:cs typeface="Times New Roman"/>
                          <a:sym typeface="Times New Roman"/>
                        </a:rPr>
                        <a:t> chương trình con trong phạm vi 2KB</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4800">
                <a:tc>
                  <a:txBody>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LCALL</a:t>
                      </a:r>
                      <a:r>
                        <a:rPr i="0" lang="en-US" sz="2400">
                          <a:latin typeface="Times New Roman"/>
                          <a:ea typeface="Times New Roman"/>
                          <a:cs typeface="Times New Roman"/>
                          <a:sym typeface="Times New Roman"/>
                        </a:rPr>
                        <a:t> ctc</a:t>
                      </a:r>
                      <a:endParaRPr i="0" sz="2400">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Gọi</a:t>
                      </a:r>
                      <a:r>
                        <a:rPr lang="en-US" sz="2400">
                          <a:solidFill>
                            <a:schemeClr val="dk1"/>
                          </a:solidFill>
                          <a:latin typeface="Times New Roman"/>
                          <a:ea typeface="Times New Roman"/>
                          <a:cs typeface="Times New Roman"/>
                          <a:sym typeface="Times New Roman"/>
                        </a:rPr>
                        <a:t> chương trình con trong phạm vi 64KB</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9350">
                <a:tc>
                  <a:txBody>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RET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Kết</a:t>
                      </a:r>
                      <a:r>
                        <a:rPr lang="en-US" sz="2400">
                          <a:solidFill>
                            <a:schemeClr val="dk1"/>
                          </a:solidFill>
                          <a:latin typeface="Times New Roman"/>
                          <a:ea typeface="Times New Roman"/>
                          <a:cs typeface="Times New Roman"/>
                          <a:sym typeface="Times New Roman"/>
                        </a:rPr>
                        <a:t> thúc chương trình con</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62" name="Google Shape;962;p95"/>
          <p:cNvSpPr txBox="1"/>
          <p:nvPr/>
        </p:nvSpPr>
        <p:spPr>
          <a:xfrm>
            <a:off x="152400" y="228600"/>
            <a:ext cx="4953000" cy="584775"/>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2"/>
              </a:buClr>
              <a:buSzPts val="3200"/>
              <a:buFont typeface="Noto Sans Symbols"/>
              <a:buChar char="❖"/>
            </a:pPr>
            <a:r>
              <a:rPr b="1" lang="en-US" sz="3200">
                <a:solidFill>
                  <a:schemeClr val="dk2"/>
                </a:solidFill>
                <a:latin typeface="Times New Roman"/>
                <a:ea typeface="Times New Roman"/>
                <a:cs typeface="Times New Roman"/>
                <a:sym typeface="Times New Roman"/>
              </a:rPr>
              <a:t>Lệnh rẽ nhánh (2)</a:t>
            </a:r>
            <a:endParaRPr/>
          </a:p>
        </p:txBody>
      </p:sp>
      <p:sp>
        <p:nvSpPr>
          <p:cNvPr id="963" name="Google Shape;963;p9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96"/>
          <p:cNvSpPr txBox="1"/>
          <p:nvPr>
            <p:ph idx="1" type="body"/>
          </p:nvPr>
        </p:nvSpPr>
        <p:spPr>
          <a:xfrm>
            <a:off x="381000" y="1143001"/>
            <a:ext cx="11430000" cy="548639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Font typeface="Noto Sans Symbols"/>
              <a:buChar char="❖"/>
            </a:pPr>
            <a:r>
              <a:rPr b="1" lang="en-US" sz="2800">
                <a:latin typeface="Times New Roman"/>
                <a:ea typeface="Times New Roman"/>
                <a:cs typeface="Times New Roman"/>
                <a:sym typeface="Times New Roman"/>
              </a:rPr>
              <a:t>Một số chỉ dẫn</a:t>
            </a:r>
            <a:endParaRPr b="1" sz="2800">
              <a:latin typeface="Times New Roman"/>
              <a:ea typeface="Times New Roman"/>
              <a:cs typeface="Times New Roman"/>
              <a:sym typeface="Times New Roman"/>
            </a:endParaRPr>
          </a:p>
          <a:p>
            <a:pPr indent="-285750" lvl="1" marL="742950" rtl="0" algn="l">
              <a:spcBef>
                <a:spcPts val="480"/>
              </a:spcBef>
              <a:spcAft>
                <a:spcPts val="0"/>
              </a:spcAft>
              <a:buClr>
                <a:schemeClr val="dk1"/>
              </a:buClr>
              <a:buSzPts val="2400"/>
              <a:buChar char="–"/>
            </a:pPr>
            <a:r>
              <a:rPr b="1" lang="en-US" sz="2400">
                <a:latin typeface="Times New Roman"/>
                <a:ea typeface="Times New Roman"/>
                <a:cs typeface="Times New Roman"/>
                <a:sym typeface="Times New Roman"/>
              </a:rPr>
              <a:t>ORG</a:t>
            </a:r>
            <a:r>
              <a:rPr lang="en-US" sz="2400">
                <a:latin typeface="Times New Roman"/>
                <a:ea typeface="Times New Roman"/>
                <a:cs typeface="Times New Roman"/>
                <a:sym typeface="Times New Roman"/>
              </a:rPr>
              <a:t> (origin): bắt đầu chương trình, Ví dụ: </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ORG 0000h</a:t>
            </a:r>
            <a:endParaRPr/>
          </a:p>
          <a:p>
            <a:pPr indent="-285750" lvl="1" marL="742950" rtl="0" algn="l">
              <a:spcBef>
                <a:spcPts val="480"/>
              </a:spcBef>
              <a:spcAft>
                <a:spcPts val="0"/>
              </a:spcAft>
              <a:buClr>
                <a:schemeClr val="dk1"/>
              </a:buClr>
              <a:buSzPts val="2400"/>
              <a:buChar char="–"/>
            </a:pPr>
            <a:r>
              <a:rPr b="1" lang="en-US" sz="2400">
                <a:latin typeface="Times New Roman"/>
                <a:ea typeface="Times New Roman"/>
                <a:cs typeface="Times New Roman"/>
                <a:sym typeface="Times New Roman"/>
              </a:rPr>
              <a:t>EQU</a:t>
            </a:r>
            <a:r>
              <a:rPr lang="en-US" sz="2400">
                <a:latin typeface="Times New Roman"/>
                <a:ea typeface="Times New Roman"/>
                <a:cs typeface="Times New Roman"/>
                <a:sym typeface="Times New Roman"/>
              </a:rPr>
              <a:t> (Equate): được sử dụng định nghĩa một hằng số,  Ví dụ: </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count  EQU  	25 </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R3, 	count</a:t>
            </a:r>
            <a:endParaRPr/>
          </a:p>
          <a:p>
            <a:pPr indent="-285750" lvl="1" marL="742950" rtl="0" algn="l">
              <a:spcBef>
                <a:spcPts val="480"/>
              </a:spcBef>
              <a:spcAft>
                <a:spcPts val="0"/>
              </a:spcAft>
              <a:buClr>
                <a:schemeClr val="dk1"/>
              </a:buClr>
              <a:buSzPts val="2400"/>
              <a:buChar char="–"/>
            </a:pPr>
            <a:r>
              <a:rPr b="1" lang="en-US" sz="2400">
                <a:latin typeface="Times New Roman"/>
                <a:ea typeface="Times New Roman"/>
                <a:cs typeface="Times New Roman"/>
                <a:sym typeface="Times New Roman"/>
              </a:rPr>
              <a:t>BIT</a:t>
            </a:r>
            <a:r>
              <a:rPr lang="en-US" sz="2400">
                <a:latin typeface="Times New Roman"/>
                <a:ea typeface="Times New Roman"/>
                <a:cs typeface="Times New Roman"/>
                <a:sym typeface="Times New Roman"/>
              </a:rPr>
              <a:t>: được sử dụng định nghĩa một bit, Ví dụ:</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WR 	BIT  	P2.2</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a:t>
            </a:r>
            <a:endParaRPr/>
          </a:p>
          <a:p>
            <a:pPr indent="0" lvl="1" marL="45720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SETB	WR</a:t>
            </a:r>
            <a:endParaRPr/>
          </a:p>
          <a:p>
            <a:pPr indent="-285750" lvl="1" marL="742950" rtl="0" algn="l">
              <a:spcBef>
                <a:spcPts val="480"/>
              </a:spcBef>
              <a:spcAft>
                <a:spcPts val="0"/>
              </a:spcAft>
              <a:buClr>
                <a:schemeClr val="dk1"/>
              </a:buClr>
              <a:buSzPts val="2400"/>
              <a:buChar char="–"/>
            </a:pPr>
            <a:r>
              <a:rPr b="1" lang="en-US" sz="2400">
                <a:latin typeface="Times New Roman"/>
                <a:ea typeface="Times New Roman"/>
                <a:cs typeface="Times New Roman"/>
                <a:sym typeface="Times New Roman"/>
              </a:rPr>
              <a:t>END</a:t>
            </a:r>
            <a:r>
              <a:rPr lang="en-US" sz="2400">
                <a:latin typeface="Times New Roman"/>
                <a:ea typeface="Times New Roman"/>
                <a:cs typeface="Times New Roman"/>
                <a:sym typeface="Times New Roman"/>
              </a:rPr>
              <a:t>: chỉ báo kết thúc trình hợp dịch</a:t>
            </a:r>
            <a:endParaRPr sz="2400">
              <a:latin typeface="Times New Roman"/>
              <a:ea typeface="Times New Roman"/>
              <a:cs typeface="Times New Roman"/>
              <a:sym typeface="Times New Roman"/>
            </a:endParaRPr>
          </a:p>
        </p:txBody>
      </p:sp>
      <p:sp>
        <p:nvSpPr>
          <p:cNvPr id="969" name="Google Shape;969;p96"/>
          <p:cNvSpPr txBox="1"/>
          <p:nvPr>
            <p:ph type="title"/>
          </p:nvPr>
        </p:nvSpPr>
        <p:spPr>
          <a:xfrm>
            <a:off x="152400" y="152400"/>
            <a:ext cx="8229600" cy="7159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2.5. Khung chương trình hợp ngữ 8051 (1)</a:t>
            </a:r>
            <a:endParaRPr/>
          </a:p>
        </p:txBody>
      </p:sp>
      <p:sp>
        <p:nvSpPr>
          <p:cNvPr id="970" name="Google Shape;970;p9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0" st="0"/>
                                            </p:txEl>
                                          </p:spTgt>
                                        </p:tgtEl>
                                        <p:attrNameLst>
                                          <p:attrName>style.visibility</p:attrName>
                                        </p:attrNameLst>
                                      </p:cBhvr>
                                      <p:to>
                                        <p:strVal val="visible"/>
                                      </p:to>
                                    </p:set>
                                    <p:animEffect filter="fade" transition="in">
                                      <p:cBhvr>
                                        <p:cTn dur="1000"/>
                                        <p:tgtEl>
                                          <p:spTgt spid="9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1" st="1"/>
                                            </p:txEl>
                                          </p:spTgt>
                                        </p:tgtEl>
                                        <p:attrNameLst>
                                          <p:attrName>style.visibility</p:attrName>
                                        </p:attrNameLst>
                                      </p:cBhvr>
                                      <p:to>
                                        <p:strVal val="visible"/>
                                      </p:to>
                                    </p:set>
                                    <p:animEffect filter="fade" transition="in">
                                      <p:cBhvr>
                                        <p:cTn dur="1000"/>
                                        <p:tgtEl>
                                          <p:spTgt spid="9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2" st="2"/>
                                            </p:txEl>
                                          </p:spTgt>
                                        </p:tgtEl>
                                        <p:attrNameLst>
                                          <p:attrName>style.visibility</p:attrName>
                                        </p:attrNameLst>
                                      </p:cBhvr>
                                      <p:to>
                                        <p:strVal val="visible"/>
                                      </p:to>
                                    </p:set>
                                    <p:animEffect filter="fade" transition="in">
                                      <p:cBhvr>
                                        <p:cTn dur="1000"/>
                                        <p:tgtEl>
                                          <p:spTgt spid="9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3" st="3"/>
                                            </p:txEl>
                                          </p:spTgt>
                                        </p:tgtEl>
                                        <p:attrNameLst>
                                          <p:attrName>style.visibility</p:attrName>
                                        </p:attrNameLst>
                                      </p:cBhvr>
                                      <p:to>
                                        <p:strVal val="visible"/>
                                      </p:to>
                                    </p:set>
                                    <p:animEffect filter="fade" transition="in">
                                      <p:cBhvr>
                                        <p:cTn dur="1000"/>
                                        <p:tgtEl>
                                          <p:spTgt spid="9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4" st="4"/>
                                            </p:txEl>
                                          </p:spTgt>
                                        </p:tgtEl>
                                        <p:attrNameLst>
                                          <p:attrName>style.visibility</p:attrName>
                                        </p:attrNameLst>
                                      </p:cBhvr>
                                      <p:to>
                                        <p:strVal val="visible"/>
                                      </p:to>
                                    </p:set>
                                    <p:animEffect filter="fade" transition="in">
                                      <p:cBhvr>
                                        <p:cTn dur="1000"/>
                                        <p:tgtEl>
                                          <p:spTgt spid="9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5" st="5"/>
                                            </p:txEl>
                                          </p:spTgt>
                                        </p:tgtEl>
                                        <p:attrNameLst>
                                          <p:attrName>style.visibility</p:attrName>
                                        </p:attrNameLst>
                                      </p:cBhvr>
                                      <p:to>
                                        <p:strVal val="visible"/>
                                      </p:to>
                                    </p:set>
                                    <p:animEffect filter="fade" transition="in">
                                      <p:cBhvr>
                                        <p:cTn dur="1000"/>
                                        <p:tgtEl>
                                          <p:spTgt spid="9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6" st="6"/>
                                            </p:txEl>
                                          </p:spTgt>
                                        </p:tgtEl>
                                        <p:attrNameLst>
                                          <p:attrName>style.visibility</p:attrName>
                                        </p:attrNameLst>
                                      </p:cBhvr>
                                      <p:to>
                                        <p:strVal val="visible"/>
                                      </p:to>
                                    </p:set>
                                    <p:animEffect filter="fade" transition="in">
                                      <p:cBhvr>
                                        <p:cTn dur="1000"/>
                                        <p:tgtEl>
                                          <p:spTgt spid="9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7" st="7"/>
                                            </p:txEl>
                                          </p:spTgt>
                                        </p:tgtEl>
                                        <p:attrNameLst>
                                          <p:attrName>style.visibility</p:attrName>
                                        </p:attrNameLst>
                                      </p:cBhvr>
                                      <p:to>
                                        <p:strVal val="visible"/>
                                      </p:to>
                                    </p:set>
                                    <p:animEffect filter="fade" transition="in">
                                      <p:cBhvr>
                                        <p:cTn dur="1000"/>
                                        <p:tgtEl>
                                          <p:spTgt spid="96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8" st="8"/>
                                            </p:txEl>
                                          </p:spTgt>
                                        </p:tgtEl>
                                        <p:attrNameLst>
                                          <p:attrName>style.visibility</p:attrName>
                                        </p:attrNameLst>
                                      </p:cBhvr>
                                      <p:to>
                                        <p:strVal val="visible"/>
                                      </p:to>
                                    </p:set>
                                    <p:animEffect filter="fade" transition="in">
                                      <p:cBhvr>
                                        <p:cTn dur="1000"/>
                                        <p:tgtEl>
                                          <p:spTgt spid="96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9" st="9"/>
                                            </p:txEl>
                                          </p:spTgt>
                                        </p:tgtEl>
                                        <p:attrNameLst>
                                          <p:attrName>style.visibility</p:attrName>
                                        </p:attrNameLst>
                                      </p:cBhvr>
                                      <p:to>
                                        <p:strVal val="visible"/>
                                      </p:to>
                                    </p:set>
                                    <p:animEffect filter="fade" transition="in">
                                      <p:cBhvr>
                                        <p:cTn dur="1000"/>
                                        <p:tgtEl>
                                          <p:spTgt spid="96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10" st="10"/>
                                            </p:txEl>
                                          </p:spTgt>
                                        </p:tgtEl>
                                        <p:attrNameLst>
                                          <p:attrName>style.visibility</p:attrName>
                                        </p:attrNameLst>
                                      </p:cBhvr>
                                      <p:to>
                                        <p:strVal val="visible"/>
                                      </p:to>
                                    </p:set>
                                    <p:animEffect filter="fade" transition="in">
                                      <p:cBhvr>
                                        <p:cTn dur="1000"/>
                                        <p:tgtEl>
                                          <p:spTgt spid="96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xEl>
                                              <p:pRg end="11" st="11"/>
                                            </p:txEl>
                                          </p:spTgt>
                                        </p:tgtEl>
                                        <p:attrNameLst>
                                          <p:attrName>style.visibility</p:attrName>
                                        </p:attrNameLst>
                                      </p:cBhvr>
                                      <p:to>
                                        <p:strVal val="visible"/>
                                      </p:to>
                                    </p:set>
                                    <p:animEffect filter="fade" transition="in">
                                      <p:cBhvr>
                                        <p:cTn dur="1000"/>
                                        <p:tgtEl>
                                          <p:spTgt spid="96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97"/>
          <p:cNvSpPr txBox="1"/>
          <p:nvPr>
            <p:ph idx="1" type="body"/>
          </p:nvPr>
        </p:nvSpPr>
        <p:spPr>
          <a:xfrm>
            <a:off x="609600" y="673768"/>
            <a:ext cx="10820400" cy="6172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b="1" lang="en-US" sz="2000">
                <a:latin typeface="Times New Roman"/>
                <a:ea typeface="Times New Roman"/>
                <a:cs typeface="Times New Roman"/>
                <a:sym typeface="Times New Roman"/>
              </a:rPr>
              <a:t>Khung chương trình</a:t>
            </a:r>
            <a:endParaRPr b="1" sz="2000">
              <a:latin typeface="Times New Roman"/>
              <a:ea typeface="Times New Roman"/>
              <a:cs typeface="Times New Roman"/>
              <a:sym typeface="Times New Roman"/>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ORG</a:t>
            </a:r>
            <a:r>
              <a:rPr lang="en-US" sz="1800">
                <a:latin typeface="Times New Roman"/>
                <a:ea typeface="Times New Roman"/>
                <a:cs typeface="Times New Roman"/>
                <a:sym typeface="Times New Roman"/>
              </a:rPr>
              <a:t> 0000h</a:t>
            </a:r>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 khai báo hằng (nếu có)</a:t>
            </a:r>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 LJMP  địa_chỉ_ctrình_chính </a:t>
            </a:r>
            <a:endParaRPr/>
          </a:p>
          <a:p>
            <a:pPr indent="0" lvl="1" marL="53975"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t>
            </a:r>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ORG</a:t>
            </a:r>
            <a:r>
              <a:rPr lang="en-US" sz="1800">
                <a:latin typeface="Times New Roman"/>
                <a:ea typeface="Times New Roman"/>
                <a:cs typeface="Times New Roman"/>
                <a:sym typeface="Times New Roman"/>
              </a:rPr>
              <a:t> địa_chỉ_ngắt (nếu chương trình sử dụng ngắt)</a:t>
            </a:r>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 các câu lệnh</a:t>
            </a:r>
            <a:endParaRPr sz="1800">
              <a:latin typeface="Times New Roman"/>
              <a:ea typeface="Times New Roman"/>
              <a:cs typeface="Times New Roman"/>
              <a:sym typeface="Times New Roman"/>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RETI</a:t>
            </a:r>
            <a:endParaRPr/>
          </a:p>
          <a:p>
            <a:pPr indent="0" lvl="1"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t>
            </a:r>
            <a:endParaRPr/>
          </a:p>
          <a:p>
            <a:pPr indent="0" lvl="1"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ORG</a:t>
            </a:r>
            <a:r>
              <a:rPr lang="en-US" sz="1800">
                <a:latin typeface="Times New Roman"/>
                <a:ea typeface="Times New Roman"/>
                <a:cs typeface="Times New Roman"/>
                <a:sym typeface="Times New Roman"/>
              </a:rPr>
              <a:t>  địa_chỉ_ctrình_chính</a:t>
            </a:r>
            <a:endParaRPr sz="1800">
              <a:latin typeface="Times New Roman"/>
              <a:ea typeface="Times New Roman"/>
              <a:cs typeface="Times New Roman"/>
              <a:sym typeface="Times New Roman"/>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MAIN</a:t>
            </a:r>
            <a:r>
              <a:rPr lang="en-US" sz="1800">
                <a:latin typeface="Times New Roman"/>
                <a:ea typeface="Times New Roman"/>
                <a:cs typeface="Times New Roman"/>
                <a:sym typeface="Times New Roman"/>
              </a:rPr>
              <a:t>:  </a:t>
            </a:r>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;bắt đầu chương trình chính</a:t>
            </a:r>
            <a:endParaRPr sz="1800">
              <a:latin typeface="Times New Roman"/>
              <a:ea typeface="Times New Roman"/>
              <a:cs typeface="Times New Roman"/>
              <a:sym typeface="Times New Roman"/>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 các câu lệnh</a:t>
            </a:r>
            <a:endParaRPr sz="1800">
              <a:latin typeface="Times New Roman"/>
              <a:ea typeface="Times New Roman"/>
              <a:cs typeface="Times New Roman"/>
              <a:sym typeface="Times New Roman"/>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RET</a:t>
            </a:r>
            <a:endParaRPr/>
          </a:p>
          <a:p>
            <a:pPr indent="0" lvl="1" marL="53975"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t>
            </a:r>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Ct_con1</a:t>
            </a:r>
            <a:r>
              <a:rPr lang="en-US" sz="1800">
                <a:latin typeface="Times New Roman"/>
                <a:ea typeface="Times New Roman"/>
                <a:cs typeface="Times New Roman"/>
                <a:sym typeface="Times New Roman"/>
              </a:rPr>
              <a:t>:</a:t>
            </a:r>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a:t>
            </a:r>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Ret</a:t>
            </a:r>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CT_con2</a:t>
            </a:r>
            <a:r>
              <a:rPr lang="en-US" sz="1800">
                <a:latin typeface="Times New Roman"/>
                <a:ea typeface="Times New Roman"/>
                <a:cs typeface="Times New Roman"/>
                <a:sym typeface="Times New Roman"/>
              </a:rPr>
              <a:t>:</a:t>
            </a:r>
            <a:endParaRPr/>
          </a:p>
          <a:p>
            <a:pPr indent="0" lvl="1" marL="45720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	………..</a:t>
            </a:r>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Ret</a:t>
            </a:r>
            <a:endParaRPr/>
          </a:p>
          <a:p>
            <a:pPr indent="0" lvl="1" marL="457200" rtl="0" algn="l">
              <a:spcBef>
                <a:spcPts val="0"/>
              </a:spcBef>
              <a:spcAft>
                <a:spcPts val="0"/>
              </a:spcAft>
              <a:buClr>
                <a:schemeClr val="dk1"/>
              </a:buClr>
              <a:buSzPts val="1800"/>
              <a:buNone/>
            </a:pPr>
            <a:r>
              <a:rPr b="1" lang="en-US" sz="1800">
                <a:latin typeface="Times New Roman"/>
                <a:ea typeface="Times New Roman"/>
                <a:cs typeface="Times New Roman"/>
                <a:sym typeface="Times New Roman"/>
              </a:rPr>
              <a:t>END</a:t>
            </a:r>
            <a:endParaRPr/>
          </a:p>
        </p:txBody>
      </p:sp>
      <p:sp>
        <p:nvSpPr>
          <p:cNvPr id="976" name="Google Shape;976;p97"/>
          <p:cNvSpPr txBox="1"/>
          <p:nvPr>
            <p:ph type="title"/>
          </p:nvPr>
        </p:nvSpPr>
        <p:spPr>
          <a:xfrm>
            <a:off x="0" y="20053"/>
            <a:ext cx="8229600" cy="513347"/>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2.5. Khung chương trình hợp ngữ 8051 (1)</a:t>
            </a:r>
            <a:endParaRPr/>
          </a:p>
        </p:txBody>
      </p:sp>
      <p:sp>
        <p:nvSpPr>
          <p:cNvPr id="977" name="Google Shape;977;p9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98"/>
          <p:cNvSpPr txBox="1"/>
          <p:nvPr>
            <p:ph type="title"/>
          </p:nvPr>
        </p:nvSpPr>
        <p:spPr>
          <a:xfrm>
            <a:off x="1981200" y="274638"/>
            <a:ext cx="8229600" cy="4111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2"/>
              </a:buClr>
              <a:buSzPct val="100000"/>
              <a:buFont typeface="Times New Roman"/>
              <a:buNone/>
            </a:pPr>
            <a:r>
              <a:rPr b="1" lang="en-US" sz="2800">
                <a:solidFill>
                  <a:schemeClr val="dk2"/>
                </a:solidFill>
                <a:latin typeface="Times New Roman"/>
                <a:ea typeface="Times New Roman"/>
                <a:cs typeface="Times New Roman"/>
                <a:sym typeface="Times New Roman"/>
              </a:rPr>
              <a:t>MỘT SỐ VÍ DỤ LẬP TRÌNH HỢP NGỮ 8051</a:t>
            </a:r>
            <a:endParaRPr/>
          </a:p>
        </p:txBody>
      </p:sp>
      <p:sp>
        <p:nvSpPr>
          <p:cNvPr id="983" name="Google Shape;983;p98"/>
          <p:cNvSpPr txBox="1"/>
          <p:nvPr>
            <p:ph idx="1" type="body"/>
          </p:nvPr>
        </p:nvSpPr>
        <p:spPr>
          <a:xfrm>
            <a:off x="381000" y="838200"/>
            <a:ext cx="11582400" cy="6019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latin typeface="Times New Roman"/>
                <a:ea typeface="Times New Roman"/>
                <a:cs typeface="Times New Roman"/>
                <a:sym typeface="Times New Roman"/>
              </a:rPr>
              <a:t>Ví dụ 2.26: </a:t>
            </a:r>
            <a:r>
              <a:rPr lang="en-US" sz="2400">
                <a:latin typeface="Times New Roman"/>
                <a:ea typeface="Times New Roman"/>
                <a:cs typeface="Times New Roman"/>
                <a:sym typeface="Times New Roman"/>
              </a:rPr>
              <a:t>Ghép nối 8051 với LED đơn thông qua cổng P2, lập trình sáng tuần tự các LED</a:t>
            </a:r>
            <a:endParaRPr/>
          </a:p>
          <a:p>
            <a:pPr indent="-342900" lvl="0" marL="342900" rtl="0" algn="l">
              <a:spcBef>
                <a:spcPts val="6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Phần mềm:</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Phần cứng:</a:t>
            </a:r>
            <a:endParaRPr b="1" sz="2400">
              <a:latin typeface="Times New Roman"/>
              <a:ea typeface="Times New Roman"/>
              <a:cs typeface="Times New Roman"/>
              <a:sym typeface="Times New Roman"/>
            </a:endParaRPr>
          </a:p>
          <a:p>
            <a:pPr indent="0" lvl="0" marL="0" rtl="0" algn="l">
              <a:spcBef>
                <a:spcPts val="1080"/>
              </a:spcBef>
              <a:spcAft>
                <a:spcPts val="0"/>
              </a:spcAft>
              <a:buClr>
                <a:schemeClr val="dk1"/>
              </a:buClr>
              <a:buSzPts val="2400"/>
              <a:buNone/>
            </a:pPr>
            <a:r>
              <a:rPr b="1" lang="en-US" sz="2400">
                <a:latin typeface="Times New Roman"/>
                <a:ea typeface="Times New Roman"/>
                <a:cs typeface="Times New Roman"/>
                <a:sym typeface="Times New Roman"/>
              </a:rPr>
              <a:t>Ví dụ 2.27: </a:t>
            </a:r>
            <a:r>
              <a:rPr lang="en-US" sz="2400">
                <a:latin typeface="Times New Roman"/>
                <a:ea typeface="Times New Roman"/>
                <a:cs typeface="Times New Roman"/>
                <a:sym typeface="Times New Roman"/>
              </a:rPr>
              <a:t>Sử dụng cổng P2 của 8051 ghép nối với 01 LED 7 đoạn, lập trình hiển thị liên tục các số từ 0-9 </a:t>
            </a:r>
            <a:endParaRPr/>
          </a:p>
          <a:p>
            <a:pPr indent="-342900" lvl="0" marL="342900" rtl="0" algn="l">
              <a:spcBef>
                <a:spcPts val="6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Phần mềm:</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Phần cứng:</a:t>
            </a:r>
            <a:endParaRPr/>
          </a:p>
          <a:p>
            <a:pPr indent="0" lvl="0" marL="0" rtl="0" algn="l">
              <a:lnSpc>
                <a:spcPct val="150000"/>
              </a:lnSpc>
              <a:spcBef>
                <a:spcPts val="1080"/>
              </a:spcBef>
              <a:spcAft>
                <a:spcPts val="0"/>
              </a:spcAft>
              <a:buClr>
                <a:schemeClr val="dk1"/>
              </a:buClr>
              <a:buSzPts val="2400"/>
              <a:buNone/>
            </a:pPr>
            <a:r>
              <a:rPr b="1" lang="en-US" sz="2400">
                <a:latin typeface="Times New Roman"/>
                <a:ea typeface="Times New Roman"/>
                <a:cs typeface="Times New Roman"/>
                <a:sym typeface="Times New Roman"/>
              </a:rPr>
              <a:t>Ví dụ 2.28: </a:t>
            </a:r>
            <a:r>
              <a:rPr lang="en-US" sz="2400">
                <a:latin typeface="Times New Roman"/>
                <a:ea typeface="Times New Roman"/>
                <a:cs typeface="Times New Roman"/>
                <a:sym typeface="Times New Roman"/>
              </a:rPr>
              <a:t>Sử dụng cổng P2 của 8051 ghép nối với 02 LED 7 đoạn, lập trình hiển thị liên tục các số từ 00-99.</a:t>
            </a:r>
            <a:endParaRPr/>
          </a:p>
          <a:p>
            <a:pPr indent="-342900" lvl="0" marL="342900" rtl="0" algn="l">
              <a:spcBef>
                <a:spcPts val="6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Phần mềm:</a:t>
            </a:r>
            <a:endParaRPr/>
          </a:p>
          <a:p>
            <a:pPr indent="-342900" lvl="0" marL="34290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Phần cứng:</a:t>
            </a:r>
            <a:endParaRPr/>
          </a:p>
        </p:txBody>
      </p:sp>
      <p:sp>
        <p:nvSpPr>
          <p:cNvPr id="984" name="Google Shape;984;p98">
            <a:hlinkClick r:id="rId3"/>
          </p:cNvPr>
          <p:cNvSpPr/>
          <p:nvPr/>
        </p:nvSpPr>
        <p:spPr>
          <a:xfrm>
            <a:off x="2883108" y="1927287"/>
            <a:ext cx="533400" cy="3048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5" name="Google Shape;985;p98">
            <a:hlinkClick r:id="rId4"/>
          </p:cNvPr>
          <p:cNvSpPr/>
          <p:nvPr/>
        </p:nvSpPr>
        <p:spPr>
          <a:xfrm>
            <a:off x="2882483" y="3733800"/>
            <a:ext cx="533400" cy="3048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6" name="Google Shape;986;p98">
            <a:hlinkClick r:id="rId5"/>
          </p:cNvPr>
          <p:cNvSpPr/>
          <p:nvPr/>
        </p:nvSpPr>
        <p:spPr>
          <a:xfrm>
            <a:off x="2835015" y="5926111"/>
            <a:ext cx="533400" cy="3048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7" name="Google Shape;987;p98">
            <a:hlinkClick r:id="rId6"/>
          </p:cNvPr>
          <p:cNvSpPr/>
          <p:nvPr/>
        </p:nvSpPr>
        <p:spPr>
          <a:xfrm>
            <a:off x="2882483" y="1466269"/>
            <a:ext cx="533400" cy="3048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8" name="Google Shape;988;p98">
            <a:hlinkClick r:id="rId7"/>
          </p:cNvPr>
          <p:cNvSpPr/>
          <p:nvPr/>
        </p:nvSpPr>
        <p:spPr>
          <a:xfrm>
            <a:off x="2882483" y="3287743"/>
            <a:ext cx="533400" cy="3048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9" name="Google Shape;989;p98">
            <a:hlinkClick r:id="rId8"/>
          </p:cNvPr>
          <p:cNvSpPr/>
          <p:nvPr/>
        </p:nvSpPr>
        <p:spPr>
          <a:xfrm>
            <a:off x="2835015" y="5468911"/>
            <a:ext cx="533400" cy="3048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0" name="Google Shape;990;p9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99"/>
          <p:cNvSpPr txBox="1"/>
          <p:nvPr/>
        </p:nvSpPr>
        <p:spPr>
          <a:xfrm>
            <a:off x="685800" y="2438400"/>
            <a:ext cx="6858000" cy="1828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Chương 3.</a:t>
            </a:r>
            <a:endParaRPr/>
          </a:p>
          <a:p>
            <a:pPr indent="0" lvl="0" marL="0" marR="0" rtl="0" algn="ctr">
              <a:spcBef>
                <a:spcPts val="120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BỘ ĐẾM/ĐỊNH THỜI VÀ TRUYỀN TIN NỐI TIẾP TRONG 8051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graphicFrame>
        <p:nvGraphicFramePr>
          <p:cNvPr id="1003" name="Google Shape;1003;p100"/>
          <p:cNvGraphicFramePr/>
          <p:nvPr/>
        </p:nvGraphicFramePr>
        <p:xfrm>
          <a:off x="291152" y="2082307"/>
          <a:ext cx="3000000" cy="3000000"/>
        </p:xfrm>
        <a:graphic>
          <a:graphicData uri="http://schemas.openxmlformats.org/drawingml/2006/table">
            <a:tbl>
              <a:tblPr>
                <a:noFill/>
                <a:tableStyleId>{A4A541D9-23D5-4180-BFA4-B58C0BD4C685}</a:tableStyleId>
              </a:tblPr>
              <a:tblGrid>
                <a:gridCol w="11201400"/>
              </a:tblGrid>
              <a:tr h="751800">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nguyên lý làm việc của bộ đếm/bộ định thời, lập trình bộ đếm/bộ định thời.</a:t>
                      </a:r>
                      <a:endParaRPr/>
                    </a:p>
                  </a:txBody>
                  <a:tcPr marT="0" marB="0" marR="114300" marL="114300"/>
                </a:tc>
              </a:tr>
              <a:tr h="290100">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
        <p:nvSpPr>
          <p:cNvPr id="1004" name="Google Shape;1004;p100"/>
          <p:cNvSpPr txBox="1"/>
          <p:nvPr>
            <p:ph type="title"/>
          </p:nvPr>
        </p:nvSpPr>
        <p:spPr>
          <a:xfrm>
            <a:off x="304800" y="228600"/>
            <a:ext cx="8458200" cy="4873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MỤC TIÊU</a:t>
            </a:r>
            <a:endParaRPr/>
          </a:p>
        </p:txBody>
      </p:sp>
      <p:sp>
        <p:nvSpPr>
          <p:cNvPr id="1005" name="Google Shape;1005;p10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006" name="Google Shape;1006;p100"/>
          <p:cNvGraphicFramePr/>
          <p:nvPr/>
        </p:nvGraphicFramePr>
        <p:xfrm>
          <a:off x="287740" y="3448652"/>
          <a:ext cx="3000000" cy="3000000"/>
        </p:xfrm>
        <a:graphic>
          <a:graphicData uri="http://schemas.openxmlformats.org/drawingml/2006/table">
            <a:tbl>
              <a:tblPr>
                <a:noFill/>
                <a:tableStyleId>{A4A541D9-23D5-4180-BFA4-B58C0BD4C685}</a:tableStyleId>
              </a:tblPr>
              <a:tblGrid>
                <a:gridCol w="11201400"/>
              </a:tblGrid>
              <a:tr h="637625">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nguyên lý truyền thông nối tiếp UART, lập trình truyền thông nối tiếp qua UART</a:t>
                      </a:r>
                      <a:endParaRPr/>
                    </a:p>
                  </a:txBody>
                  <a:tcPr marT="0" marB="0" marR="114300" marL="114300"/>
                </a:tc>
              </a:tr>
              <a:tr h="276775">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01"/>
          <p:cNvSpPr txBox="1"/>
          <p:nvPr>
            <p:ph idx="1" type="body"/>
          </p:nvPr>
        </p:nvSpPr>
        <p:spPr>
          <a:xfrm>
            <a:off x="838200" y="1447800"/>
            <a:ext cx="9906000" cy="3810000"/>
          </a:xfrm>
          <a:prstGeom prst="rect">
            <a:avLst/>
          </a:prstGeom>
          <a:noFill/>
          <a:ln>
            <a:noFill/>
          </a:ln>
        </p:spPr>
        <p:txBody>
          <a:bodyPr anchorCtr="0" anchor="t" bIns="45700" lIns="91425" spcFirstLastPara="1" rIns="91425" wrap="square" tIns="45700">
            <a:noAutofit/>
          </a:bodyPr>
          <a:lstStyle/>
          <a:p>
            <a:pPr indent="0" lvl="0" marL="0" marR="10795" rtl="0" algn="l">
              <a:lnSpc>
                <a:spcPct val="150000"/>
              </a:lnSpc>
              <a:spcBef>
                <a:spcPts val="0"/>
              </a:spcBef>
              <a:spcAft>
                <a:spcPts val="0"/>
              </a:spcAft>
              <a:buClr>
                <a:srgbClr val="17365D"/>
              </a:buClr>
              <a:buSzPts val="2800"/>
              <a:buNone/>
            </a:pPr>
            <a:r>
              <a:rPr b="1" lang="en-US" sz="2800">
                <a:solidFill>
                  <a:srgbClr val="17365D"/>
                </a:solidFill>
                <a:latin typeface="Times New Roman"/>
                <a:ea typeface="Times New Roman"/>
                <a:cs typeface="Times New Roman"/>
                <a:sym typeface="Times New Roman"/>
              </a:rPr>
              <a:t>3.1. Nguyên lý hoạt động cơ bản của bộ định thời/bộ đếm</a:t>
            </a:r>
            <a:endParaRPr b="1" sz="2800">
              <a:solidFill>
                <a:srgbClr val="17365D"/>
              </a:solidFill>
              <a:latin typeface="Times New Roman"/>
              <a:ea typeface="Times New Roman"/>
              <a:cs typeface="Times New Roman"/>
              <a:sym typeface="Times New Roman"/>
            </a:endParaRPr>
          </a:p>
          <a:p>
            <a:pPr indent="0" lvl="0" marL="0" marR="10795" rtl="0" algn="l">
              <a:lnSpc>
                <a:spcPct val="150000"/>
              </a:lnSpc>
              <a:spcBef>
                <a:spcPts val="560"/>
              </a:spcBef>
              <a:spcAft>
                <a:spcPts val="0"/>
              </a:spcAft>
              <a:buClr>
                <a:srgbClr val="17365D"/>
              </a:buClr>
              <a:buSzPts val="2800"/>
              <a:buNone/>
            </a:pPr>
            <a:r>
              <a:rPr b="1" lang="en-US" sz="2800">
                <a:solidFill>
                  <a:srgbClr val="17365D"/>
                </a:solidFill>
                <a:latin typeface="Times New Roman"/>
                <a:ea typeface="Times New Roman"/>
                <a:cs typeface="Times New Roman"/>
                <a:sym typeface="Times New Roman"/>
              </a:rPr>
              <a:t>3.2. Các thanh ghi dùng cho bộ định thời/bộ đếm </a:t>
            </a:r>
            <a:endParaRPr/>
          </a:p>
          <a:p>
            <a:pPr indent="0" lvl="0" marL="0" marR="10795" rtl="0" algn="l">
              <a:lnSpc>
                <a:spcPct val="150000"/>
              </a:lnSpc>
              <a:spcBef>
                <a:spcPts val="560"/>
              </a:spcBef>
              <a:spcAft>
                <a:spcPts val="0"/>
              </a:spcAft>
              <a:buClr>
                <a:srgbClr val="17365D"/>
              </a:buClr>
              <a:buSzPts val="2800"/>
              <a:buNone/>
            </a:pPr>
            <a:r>
              <a:rPr b="1" lang="en-US" sz="2800">
                <a:solidFill>
                  <a:srgbClr val="17365D"/>
                </a:solidFill>
                <a:latin typeface="Times New Roman"/>
                <a:ea typeface="Times New Roman"/>
                <a:cs typeface="Times New Roman"/>
                <a:sym typeface="Times New Roman"/>
              </a:rPr>
              <a:t>3.3. Các chế độ định thời</a:t>
            </a:r>
            <a:endParaRPr b="1" sz="2800">
              <a:solidFill>
                <a:srgbClr val="17365D"/>
              </a:solidFill>
              <a:latin typeface="Times New Roman"/>
              <a:ea typeface="Times New Roman"/>
              <a:cs typeface="Times New Roman"/>
              <a:sym typeface="Times New Roman"/>
            </a:endParaRPr>
          </a:p>
          <a:p>
            <a:pPr indent="0" lvl="0" marL="0" marR="10795" rtl="0" algn="l">
              <a:lnSpc>
                <a:spcPct val="150000"/>
              </a:lnSpc>
              <a:spcBef>
                <a:spcPts val="560"/>
              </a:spcBef>
              <a:spcAft>
                <a:spcPts val="0"/>
              </a:spcAft>
              <a:buClr>
                <a:srgbClr val="17365D"/>
              </a:buClr>
              <a:buSzPts val="2800"/>
              <a:buNone/>
            </a:pPr>
            <a:r>
              <a:rPr b="1" lang="en-US" sz="2800">
                <a:solidFill>
                  <a:srgbClr val="17365D"/>
                </a:solidFill>
                <a:latin typeface="Times New Roman"/>
                <a:ea typeface="Times New Roman"/>
                <a:cs typeface="Times New Roman"/>
                <a:sym typeface="Times New Roman"/>
              </a:rPr>
              <a:t>3.4. Lập trình cho bộ định thời/bộ đếm</a:t>
            </a:r>
            <a:endParaRPr b="1" sz="2800">
              <a:solidFill>
                <a:srgbClr val="17365D"/>
              </a:solidFill>
              <a:latin typeface="Times New Roman"/>
              <a:ea typeface="Times New Roman"/>
              <a:cs typeface="Times New Roman"/>
              <a:sym typeface="Times New Roman"/>
            </a:endParaRPr>
          </a:p>
          <a:p>
            <a:pPr indent="0" lvl="0" marL="0" marR="10795" rtl="0" algn="l">
              <a:lnSpc>
                <a:spcPct val="150000"/>
              </a:lnSpc>
              <a:spcBef>
                <a:spcPts val="560"/>
              </a:spcBef>
              <a:spcAft>
                <a:spcPts val="0"/>
              </a:spcAft>
              <a:buClr>
                <a:srgbClr val="17365D"/>
              </a:buClr>
              <a:buSzPts val="2800"/>
              <a:buNone/>
            </a:pPr>
            <a:r>
              <a:rPr b="1" lang="en-US" sz="2800">
                <a:solidFill>
                  <a:srgbClr val="17365D"/>
                </a:solidFill>
                <a:latin typeface="Times New Roman"/>
                <a:ea typeface="Times New Roman"/>
                <a:cs typeface="Times New Roman"/>
                <a:sym typeface="Times New Roman"/>
              </a:rPr>
              <a:t>3.5. Truyền thông nối tiếp trong 8051</a:t>
            </a:r>
            <a:endParaRPr b="1" sz="2800">
              <a:solidFill>
                <a:srgbClr val="17365D"/>
              </a:solidFill>
              <a:latin typeface="Times New Roman"/>
              <a:ea typeface="Times New Roman"/>
              <a:cs typeface="Times New Roman"/>
              <a:sym typeface="Times New Roman"/>
            </a:endParaRPr>
          </a:p>
        </p:txBody>
      </p:sp>
      <p:sp>
        <p:nvSpPr>
          <p:cNvPr id="1012" name="Google Shape;1012;p101"/>
          <p:cNvSpPr txBox="1"/>
          <p:nvPr>
            <p:ph type="title"/>
          </p:nvPr>
        </p:nvSpPr>
        <p:spPr>
          <a:xfrm>
            <a:off x="152400" y="228600"/>
            <a:ext cx="8686800" cy="6096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NỘI DUNG</a:t>
            </a:r>
            <a:endParaRPr b="1" sz="3200">
              <a:solidFill>
                <a:srgbClr val="C00000"/>
              </a:solidFill>
            </a:endParaRPr>
          </a:p>
        </p:txBody>
      </p:sp>
      <p:sp>
        <p:nvSpPr>
          <p:cNvPr id="1013" name="Google Shape;1013;p10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0" st="0"/>
                                            </p:txEl>
                                          </p:spTgt>
                                        </p:tgtEl>
                                        <p:attrNameLst>
                                          <p:attrName>style.visibility</p:attrName>
                                        </p:attrNameLst>
                                      </p:cBhvr>
                                      <p:to>
                                        <p:strVal val="visible"/>
                                      </p:to>
                                    </p:set>
                                    <p:animEffect filter="fade" transition="in">
                                      <p:cBhvr>
                                        <p:cTn dur="1000"/>
                                        <p:tgtEl>
                                          <p:spTgt spid="10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1" st="1"/>
                                            </p:txEl>
                                          </p:spTgt>
                                        </p:tgtEl>
                                        <p:attrNameLst>
                                          <p:attrName>style.visibility</p:attrName>
                                        </p:attrNameLst>
                                      </p:cBhvr>
                                      <p:to>
                                        <p:strVal val="visible"/>
                                      </p:to>
                                    </p:set>
                                    <p:animEffect filter="fade" transition="in">
                                      <p:cBhvr>
                                        <p:cTn dur="1000"/>
                                        <p:tgtEl>
                                          <p:spTgt spid="10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2" st="2"/>
                                            </p:txEl>
                                          </p:spTgt>
                                        </p:tgtEl>
                                        <p:attrNameLst>
                                          <p:attrName>style.visibility</p:attrName>
                                        </p:attrNameLst>
                                      </p:cBhvr>
                                      <p:to>
                                        <p:strVal val="visible"/>
                                      </p:to>
                                    </p:set>
                                    <p:animEffect filter="fade" transition="in">
                                      <p:cBhvr>
                                        <p:cTn dur="1000"/>
                                        <p:tgtEl>
                                          <p:spTgt spid="10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3" st="3"/>
                                            </p:txEl>
                                          </p:spTgt>
                                        </p:tgtEl>
                                        <p:attrNameLst>
                                          <p:attrName>style.visibility</p:attrName>
                                        </p:attrNameLst>
                                      </p:cBhvr>
                                      <p:to>
                                        <p:strVal val="visible"/>
                                      </p:to>
                                    </p:set>
                                    <p:animEffect filter="fade" transition="in">
                                      <p:cBhvr>
                                        <p:cTn dur="1000"/>
                                        <p:tgtEl>
                                          <p:spTgt spid="10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xEl>
                                              <p:pRg end="4" st="4"/>
                                            </p:txEl>
                                          </p:spTgt>
                                        </p:tgtEl>
                                        <p:attrNameLst>
                                          <p:attrName>style.visibility</p:attrName>
                                        </p:attrNameLst>
                                      </p:cBhvr>
                                      <p:to>
                                        <p:strVal val="visible"/>
                                      </p:to>
                                    </p:set>
                                    <p:animEffect filter="fade" transition="in">
                                      <p:cBhvr>
                                        <p:cTn dur="1000"/>
                                        <p:tgtEl>
                                          <p:spTgt spid="101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02"/>
          <p:cNvSpPr txBox="1"/>
          <p:nvPr>
            <p:ph type="title"/>
          </p:nvPr>
        </p:nvSpPr>
        <p:spPr>
          <a:xfrm>
            <a:off x="88232" y="76200"/>
            <a:ext cx="103632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3.1. Nguyên lý hoạt động cơ bản của bộ định thời/bộ đếm</a:t>
            </a:r>
            <a:endParaRPr sz="3200"/>
          </a:p>
        </p:txBody>
      </p:sp>
      <p:sp>
        <p:nvSpPr>
          <p:cNvPr id="1020" name="Google Shape;1020;p102"/>
          <p:cNvSpPr txBox="1"/>
          <p:nvPr>
            <p:ph idx="1" type="body"/>
          </p:nvPr>
        </p:nvSpPr>
        <p:spPr>
          <a:xfrm>
            <a:off x="381000" y="5334000"/>
            <a:ext cx="11430000" cy="914400"/>
          </a:xfrm>
          <a:prstGeom prst="rect">
            <a:avLst/>
          </a:prstGeom>
          <a:noFill/>
          <a:ln>
            <a:noFill/>
          </a:ln>
        </p:spPr>
        <p:txBody>
          <a:bodyPr anchorCtr="0" anchor="t" bIns="45700" lIns="91425" spcFirstLastPara="1" rIns="91425" wrap="square" tIns="45700">
            <a:noAutofit/>
          </a:bodyPr>
          <a:lstStyle/>
          <a:p>
            <a:pPr indent="406400" lvl="0" marL="0" rtl="0" algn="just">
              <a:spcBef>
                <a:spcPts val="0"/>
              </a:spcBef>
              <a:spcAft>
                <a:spcPts val="0"/>
              </a:spcAft>
              <a:buClr>
                <a:schemeClr val="dk1"/>
              </a:buClr>
              <a:buSzPts val="2400"/>
              <a:buNone/>
            </a:pPr>
            <a:r>
              <a:rPr lang="en-US" sz="2400">
                <a:latin typeface="Times New Roman"/>
                <a:ea typeface="Times New Roman"/>
                <a:cs typeface="Times New Roman"/>
                <a:sym typeface="Times New Roman"/>
              </a:rPr>
              <a:t>8051 có 02 bộ định thời/bộ đếm (Timer/Counter 0, Timer/Counter 1). Chúng được sử dụng bộ đếm để đếm các sự kiện hoặc làm bộ định thời để tạo trễ thời gian.</a:t>
            </a:r>
            <a:endParaRPr/>
          </a:p>
        </p:txBody>
      </p:sp>
      <p:sp>
        <p:nvSpPr>
          <p:cNvPr id="1021" name="Google Shape;1021;p102"/>
          <p:cNvSpPr txBox="1"/>
          <p:nvPr/>
        </p:nvSpPr>
        <p:spPr>
          <a:xfrm>
            <a:off x="381000" y="1143000"/>
            <a:ext cx="11430000" cy="2514600"/>
          </a:xfrm>
          <a:prstGeom prst="rect">
            <a:avLst/>
          </a:prstGeom>
          <a:noFill/>
          <a:ln>
            <a:noFill/>
          </a:ln>
        </p:spPr>
        <p:txBody>
          <a:bodyPr anchorCtr="0" anchor="t" bIns="45700" lIns="91425" spcFirstLastPara="1" rIns="91425" wrap="square" tIns="45700">
            <a:normAutofit/>
          </a:bodyPr>
          <a:lstStyle/>
          <a:p>
            <a:pPr indent="406400" lvl="0" marL="0" marR="0" rtl="0" algn="just">
              <a:spcBef>
                <a:spcPts val="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Một bộ định thời là một chuỗi các Flip-Flop, với mỗi Flip-Flop là mạch chia 2. Chuỗi này nhận một tín hiệu ngõ vào làm nguồn xung </a:t>
            </a:r>
            <a:r>
              <a:rPr i="1" lang="en-US" sz="2400">
                <a:solidFill>
                  <a:schemeClr val="dk1"/>
                </a:solidFill>
                <a:latin typeface="Times New Roman"/>
                <a:ea typeface="Times New Roman"/>
                <a:cs typeface="Times New Roman"/>
                <a:sym typeface="Times New Roman"/>
              </a:rPr>
              <a:t>clock</a:t>
            </a:r>
            <a:r>
              <a:rPr lang="en-US" sz="2400">
                <a:solidFill>
                  <a:schemeClr val="dk1"/>
                </a:solidFill>
                <a:latin typeface="Times New Roman"/>
                <a:ea typeface="Times New Roman"/>
                <a:cs typeface="Times New Roman"/>
                <a:sym typeface="Times New Roman"/>
              </a:rPr>
              <a:t>. Xung </a:t>
            </a:r>
            <a:r>
              <a:rPr i="1" lang="en-US" sz="2400">
                <a:solidFill>
                  <a:schemeClr val="dk1"/>
                </a:solidFill>
                <a:latin typeface="Times New Roman"/>
                <a:ea typeface="Times New Roman"/>
                <a:cs typeface="Times New Roman"/>
                <a:sym typeface="Times New Roman"/>
              </a:rPr>
              <a:t>clock</a:t>
            </a:r>
            <a:r>
              <a:rPr lang="en-US" sz="2400">
                <a:solidFill>
                  <a:schemeClr val="dk1"/>
                </a:solidFill>
                <a:latin typeface="Times New Roman"/>
                <a:ea typeface="Times New Roman"/>
                <a:cs typeface="Times New Roman"/>
                <a:sym typeface="Times New Roman"/>
              </a:rPr>
              <a:t> đặt vào Flip-Flop thứ nhất, Flip-Flop chia đôi tần số xung </a:t>
            </a:r>
            <a:r>
              <a:rPr i="1" lang="en-US" sz="2400">
                <a:solidFill>
                  <a:schemeClr val="dk1"/>
                </a:solidFill>
                <a:latin typeface="Times New Roman"/>
                <a:ea typeface="Times New Roman"/>
                <a:cs typeface="Times New Roman"/>
                <a:sym typeface="Times New Roman"/>
              </a:rPr>
              <a:t>clock</a:t>
            </a:r>
            <a:r>
              <a:rPr lang="en-US" sz="2400">
                <a:solidFill>
                  <a:schemeClr val="dk1"/>
                </a:solidFill>
                <a:latin typeface="Times New Roman"/>
                <a:ea typeface="Times New Roman"/>
                <a:cs typeface="Times New Roman"/>
                <a:sym typeface="Times New Roman"/>
              </a:rPr>
              <a:t>. Ngõ ra của Flip-Flop thứ nhất là nguồn xung </a:t>
            </a:r>
            <a:r>
              <a:rPr i="1" lang="en-US" sz="2400">
                <a:solidFill>
                  <a:schemeClr val="dk1"/>
                </a:solidFill>
                <a:latin typeface="Times New Roman"/>
                <a:ea typeface="Times New Roman"/>
                <a:cs typeface="Times New Roman"/>
                <a:sym typeface="Times New Roman"/>
              </a:rPr>
              <a:t>clock</a:t>
            </a:r>
            <a:r>
              <a:rPr lang="en-US" sz="2400">
                <a:solidFill>
                  <a:schemeClr val="dk1"/>
                </a:solidFill>
                <a:latin typeface="Times New Roman"/>
                <a:ea typeface="Times New Roman"/>
                <a:cs typeface="Times New Roman"/>
                <a:sym typeface="Times New Roman"/>
              </a:rPr>
              <a:t> cho Flip-Flop thứ 2, nguồn xung này cũng được chia cho 2,…Vì mỗi một tầng kế tiếp nhau đều chia cho 2 nên một bộ định thời có </a:t>
            </a:r>
            <a:r>
              <a:rPr i="1" lang="en-US" sz="2400">
                <a:solidFill>
                  <a:schemeClr val="dk1"/>
                </a:solidFill>
                <a:latin typeface="Times New Roman"/>
                <a:ea typeface="Times New Roman"/>
                <a:cs typeface="Times New Roman"/>
                <a:sym typeface="Times New Roman"/>
              </a:rPr>
              <a:t>n</a:t>
            </a:r>
            <a:r>
              <a:rPr lang="en-US" sz="2400">
                <a:solidFill>
                  <a:schemeClr val="dk1"/>
                </a:solidFill>
                <a:latin typeface="Times New Roman"/>
                <a:ea typeface="Times New Roman"/>
                <a:cs typeface="Times New Roman"/>
                <a:sym typeface="Times New Roman"/>
              </a:rPr>
              <a:t> tầng sẽ chia tần số xung clock ở ngõ vào của bộ định thời này cho </a:t>
            </a:r>
            <a:r>
              <a:rPr i="1" lang="en-US" sz="2400">
                <a:solidFill>
                  <a:schemeClr val="dk1"/>
                </a:solidFill>
                <a:latin typeface="Times New Roman"/>
                <a:ea typeface="Times New Roman"/>
                <a:cs typeface="Times New Roman"/>
                <a:sym typeface="Times New Roman"/>
              </a:rPr>
              <a:t>2</a:t>
            </a:r>
            <a:r>
              <a:rPr baseline="30000" i="1" lang="en-US" sz="2400">
                <a:solidFill>
                  <a:schemeClr val="dk1"/>
                </a:solidFill>
                <a:latin typeface="Times New Roman"/>
                <a:ea typeface="Times New Roman"/>
                <a:cs typeface="Times New Roman"/>
                <a:sym typeface="Times New Roman"/>
              </a:rPr>
              <a:t>n</a:t>
            </a:r>
            <a:endParaRPr i="1" sz="2400">
              <a:solidFill>
                <a:schemeClr val="dk1"/>
              </a:solidFill>
              <a:latin typeface="Times New Roman"/>
              <a:ea typeface="Times New Roman"/>
              <a:cs typeface="Times New Roman"/>
              <a:sym typeface="Times New Roman"/>
            </a:endParaRPr>
          </a:p>
          <a:p>
            <a:pPr indent="-190500" lvl="0" marL="342900" marR="0" rtl="0" algn="just">
              <a:spcBef>
                <a:spcPts val="48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
        <p:nvSpPr>
          <p:cNvPr id="1022" name="Google Shape;1022;p102"/>
          <p:cNvSpPr txBox="1"/>
          <p:nvPr/>
        </p:nvSpPr>
        <p:spPr>
          <a:xfrm>
            <a:off x="381000" y="3657600"/>
            <a:ext cx="11430000" cy="1562100"/>
          </a:xfrm>
          <a:prstGeom prst="rect">
            <a:avLst/>
          </a:prstGeom>
          <a:noFill/>
          <a:ln>
            <a:noFill/>
          </a:ln>
        </p:spPr>
        <p:txBody>
          <a:bodyPr anchorCtr="0" anchor="t" bIns="45700" lIns="91425" spcFirstLastPara="1" rIns="91425" wrap="square" tIns="45700">
            <a:noAutofit/>
          </a:bodyPr>
          <a:lstStyle/>
          <a:p>
            <a:pPr indent="406400" lvl="0" marL="0" marR="0" rtl="0" algn="just">
              <a:spcBef>
                <a:spcPts val="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Ngõ ra của tầng cuối cùng làm xung </a:t>
            </a:r>
            <a:r>
              <a:rPr i="1" lang="en-US" sz="2400">
                <a:solidFill>
                  <a:schemeClr val="dk1"/>
                </a:solidFill>
                <a:latin typeface="Times New Roman"/>
                <a:ea typeface="Times New Roman"/>
                <a:cs typeface="Times New Roman"/>
                <a:sym typeface="Times New Roman"/>
              </a:rPr>
              <a:t>clock</a:t>
            </a:r>
            <a:r>
              <a:rPr lang="en-US" sz="2400">
                <a:solidFill>
                  <a:schemeClr val="dk1"/>
                </a:solidFill>
                <a:latin typeface="Times New Roman"/>
                <a:ea typeface="Times New Roman"/>
                <a:cs typeface="Times New Roman"/>
                <a:sym typeface="Times New Roman"/>
              </a:rPr>
              <a:t> cho một Flip-Flop báo tràn bộ định thời (cờ tràn – OF). OF được kiểm tra bằng phần mềm, hoặc tạo ra một ngắt. Giá trị nhị phân trong các Flip-Flop của bộ định thời là số đếm của các xung </a:t>
            </a:r>
            <a:r>
              <a:rPr i="1" lang="en-US" sz="2400">
                <a:solidFill>
                  <a:schemeClr val="dk1"/>
                </a:solidFill>
                <a:latin typeface="Times New Roman"/>
                <a:ea typeface="Times New Roman"/>
                <a:cs typeface="Times New Roman"/>
                <a:sym typeface="Times New Roman"/>
              </a:rPr>
              <a:t>clock</a:t>
            </a:r>
            <a:r>
              <a:rPr lang="en-US" sz="2400">
                <a:solidFill>
                  <a:schemeClr val="dk1"/>
                </a:solidFill>
                <a:latin typeface="Times New Roman"/>
                <a:ea typeface="Times New Roman"/>
                <a:cs typeface="Times New Roman"/>
                <a:sym typeface="Times New Roman"/>
              </a:rPr>
              <a:t> từ khi bộ định thời bắt đầu đếm.</a:t>
            </a:r>
            <a:endParaRPr/>
          </a:p>
          <a:p>
            <a:pPr indent="-190500" lvl="0" marL="342900" marR="0" rtl="0" algn="just">
              <a:spcBef>
                <a:spcPts val="48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sp>
        <p:nvSpPr>
          <p:cNvPr id="1023" name="Google Shape;1023;p10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1000"/>
                                        <p:tgtEl>
                                          <p:spTgt spid="1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0">
                                            <p:txEl>
                                              <p:pRg end="0" st="0"/>
                                            </p:txEl>
                                          </p:spTgt>
                                        </p:tgtEl>
                                        <p:attrNameLst>
                                          <p:attrName>style.visibility</p:attrName>
                                        </p:attrNameLst>
                                      </p:cBhvr>
                                      <p:to>
                                        <p:strVal val="visible"/>
                                      </p:to>
                                    </p:set>
                                    <p:animEffect filter="fade" transition="in">
                                      <p:cBhvr>
                                        <p:cTn dur="1000"/>
                                        <p:tgtEl>
                                          <p:spTgt spid="102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03"/>
          <p:cNvSpPr txBox="1"/>
          <p:nvPr>
            <p:ph type="title"/>
          </p:nvPr>
        </p:nvSpPr>
        <p:spPr>
          <a:xfrm>
            <a:off x="-7883" y="104675"/>
            <a:ext cx="121920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3.2. Các thanh ghi dùng cho bộ định thời/bộ đếm </a:t>
            </a:r>
            <a:r>
              <a:rPr b="1" lang="en-US" sz="2800">
                <a:solidFill>
                  <a:srgbClr val="C00000"/>
                </a:solidFill>
                <a:latin typeface="Times New Roman"/>
                <a:ea typeface="Times New Roman"/>
                <a:cs typeface="Times New Roman"/>
                <a:sym typeface="Times New Roman"/>
              </a:rPr>
              <a:t>- Thanh ghi chứa giá trị đếm </a:t>
            </a:r>
            <a:endParaRPr sz="2800">
              <a:solidFill>
                <a:srgbClr val="C00000"/>
              </a:solidFill>
            </a:endParaRPr>
          </a:p>
        </p:txBody>
      </p:sp>
      <p:sp>
        <p:nvSpPr>
          <p:cNvPr id="1030" name="Google Shape;1030;p103"/>
          <p:cNvSpPr txBox="1"/>
          <p:nvPr>
            <p:ph idx="1" type="body"/>
          </p:nvPr>
        </p:nvSpPr>
        <p:spPr>
          <a:xfrm>
            <a:off x="304800" y="1219200"/>
            <a:ext cx="11658600" cy="5499431"/>
          </a:xfrm>
          <a:prstGeom prst="rect">
            <a:avLst/>
          </a:prstGeom>
          <a:noFill/>
          <a:ln>
            <a:noFill/>
          </a:ln>
        </p:spPr>
        <p:txBody>
          <a:bodyPr anchorCtr="0" anchor="t" bIns="45700" lIns="91425" spcFirstLastPara="1" rIns="91425" wrap="square" tIns="45700">
            <a:noAutofit/>
          </a:bodyPr>
          <a:lstStyle/>
          <a:p>
            <a:pPr indent="406400" lvl="0" marL="0" rtl="0" algn="just">
              <a:spcBef>
                <a:spcPts val="0"/>
              </a:spcBef>
              <a:spcAft>
                <a:spcPts val="0"/>
              </a:spcAft>
              <a:buClr>
                <a:schemeClr val="dk1"/>
              </a:buClr>
              <a:buSzPts val="2400"/>
              <a:buNone/>
            </a:pPr>
            <a:r>
              <a:rPr lang="en-US" sz="2400">
                <a:latin typeface="Times New Roman"/>
                <a:ea typeface="Times New Roman"/>
                <a:cs typeface="Times New Roman"/>
                <a:sym typeface="Times New Roman"/>
              </a:rPr>
              <a:t>Mỗi bộ định thời/bộ đếm trong 8051 có 1 thanh ghi 16 bit chứa giá trị đếm, được truy cập (đọc/ghi) dưới 2 thanh ghi 8 bit độc lập gọi là byte thấp (TLx), byte cao (THx), Hình 3.1. Các thanh ghi này được truy cập như các thanh ghi khác (A, B, R0, R1,….). Ví dụ:</a:t>
            </a:r>
            <a:endParaRPr/>
          </a:p>
          <a:p>
            <a:pPr indent="0" lvl="0" marL="0" rtl="0" algn="just">
              <a:spcBef>
                <a:spcPts val="600"/>
              </a:spcBef>
              <a:spcAft>
                <a:spcPts val="0"/>
              </a:spcAft>
              <a:buClr>
                <a:schemeClr val="dk1"/>
              </a:buClr>
              <a:buSzPts val="2400"/>
              <a:buNone/>
            </a:pPr>
            <a:r>
              <a:rPr lang="en-US" sz="2400">
                <a:latin typeface="Times New Roman"/>
                <a:ea typeface="Times New Roman"/>
                <a:cs typeface="Times New Roman"/>
                <a:sym typeface="Times New Roman"/>
              </a:rPr>
              <a:t>	MOV 	TL0, #4Fh</a:t>
            </a:r>
            <a:endParaRPr/>
          </a:p>
          <a:p>
            <a:pPr indent="0" lvl="0" marL="0" rtl="0" algn="just">
              <a:spcBef>
                <a:spcPts val="0"/>
              </a:spcBef>
              <a:spcAft>
                <a:spcPts val="0"/>
              </a:spcAft>
              <a:buClr>
                <a:schemeClr val="dk1"/>
              </a:buClr>
              <a:buSzPts val="2400"/>
              <a:buNone/>
            </a:pPr>
            <a:r>
              <a:rPr lang="en-US" sz="2400">
                <a:latin typeface="Times New Roman"/>
                <a:ea typeface="Times New Roman"/>
                <a:cs typeface="Times New Roman"/>
                <a:sym typeface="Times New Roman"/>
              </a:rPr>
              <a:t>	MOV 	R5, TH0</a:t>
            </a:r>
            <a:endParaRPr/>
          </a:p>
          <a:p>
            <a:pPr indent="-190500" lvl="0" marL="342900" rtl="0" algn="just">
              <a:spcBef>
                <a:spcPts val="60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400"/>
              <a:buNone/>
            </a:pPr>
            <a:r>
              <a:t/>
            </a:r>
            <a:endParaRPr i="1"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600"/>
              </a:spcBef>
              <a:spcAft>
                <a:spcPts val="0"/>
              </a:spcAft>
              <a:buClr>
                <a:schemeClr val="dk1"/>
              </a:buClr>
              <a:buSzPts val="2000"/>
              <a:buNone/>
            </a:pPr>
            <a:r>
              <a:rPr i="1" lang="en-US" sz="2000">
                <a:latin typeface="Times New Roman"/>
                <a:ea typeface="Times New Roman"/>
                <a:cs typeface="Times New Roman"/>
                <a:sym typeface="Times New Roman"/>
              </a:rPr>
              <a:t>Hình 3.1. Thanh ghi của bộ định thời/bộ đếm</a:t>
            </a:r>
            <a:endParaRPr i="1" sz="2000">
              <a:latin typeface="Times New Roman"/>
              <a:ea typeface="Times New Roman"/>
              <a:cs typeface="Times New Roman"/>
              <a:sym typeface="Times New Roman"/>
            </a:endParaRPr>
          </a:p>
        </p:txBody>
      </p:sp>
      <p:pic>
        <p:nvPicPr>
          <p:cNvPr id="1031" name="Google Shape;1031;p103"/>
          <p:cNvPicPr preferRelativeResize="0"/>
          <p:nvPr/>
        </p:nvPicPr>
        <p:blipFill rotWithShape="1">
          <a:blip r:embed="rId3">
            <a:alphaModFix/>
          </a:blip>
          <a:srcRect b="0" l="0" r="0" t="0"/>
          <a:stretch/>
        </p:blipFill>
        <p:spPr>
          <a:xfrm>
            <a:off x="2476500" y="3124200"/>
            <a:ext cx="7315200" cy="2822806"/>
          </a:xfrm>
          <a:prstGeom prst="rect">
            <a:avLst/>
          </a:prstGeom>
          <a:noFill/>
          <a:ln>
            <a:noFill/>
          </a:ln>
        </p:spPr>
      </p:pic>
      <p:sp>
        <p:nvSpPr>
          <p:cNvPr id="1032" name="Google Shape;1032;p10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04"/>
          <p:cNvSpPr txBox="1"/>
          <p:nvPr>
            <p:ph type="title"/>
          </p:nvPr>
        </p:nvSpPr>
        <p:spPr>
          <a:xfrm>
            <a:off x="34159" y="215238"/>
            <a:ext cx="11321296" cy="61140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3.2. Các thanh ghi dùng cho bộ định thời/bộ đếm </a:t>
            </a:r>
            <a:r>
              <a:rPr b="1" lang="en-US" sz="3200">
                <a:solidFill>
                  <a:srgbClr val="C00000"/>
                </a:solidFill>
                <a:latin typeface="Times New Roman"/>
                <a:ea typeface="Times New Roman"/>
                <a:cs typeface="Times New Roman"/>
                <a:sym typeface="Times New Roman"/>
              </a:rPr>
              <a:t>–TMOD (1)</a:t>
            </a:r>
            <a:endParaRPr sz="3200">
              <a:solidFill>
                <a:srgbClr val="C00000"/>
              </a:solidFill>
            </a:endParaRPr>
          </a:p>
        </p:txBody>
      </p:sp>
      <p:sp>
        <p:nvSpPr>
          <p:cNvPr id="1038" name="Google Shape;1038;p104"/>
          <p:cNvSpPr txBox="1"/>
          <p:nvPr>
            <p:ph idx="1" type="body"/>
          </p:nvPr>
        </p:nvSpPr>
        <p:spPr>
          <a:xfrm>
            <a:off x="82428" y="4572000"/>
            <a:ext cx="11887200" cy="2133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b="1" lang="en-US" sz="2400">
                <a:latin typeface="Times New Roman"/>
                <a:ea typeface="Times New Roman"/>
                <a:cs typeface="Times New Roman"/>
                <a:sym typeface="Times New Roman"/>
              </a:rPr>
              <a:t>C/T: bit chọn chức năng đếm hoặc định thời</a:t>
            </a:r>
            <a:endParaRPr b="1" sz="2400">
              <a:latin typeface="Times New Roman"/>
              <a:ea typeface="Times New Roman"/>
              <a:cs typeface="Times New Roman"/>
              <a:sym typeface="Times New Roman"/>
            </a:endParaRPr>
          </a:p>
          <a:p>
            <a:pPr indent="-285750" lvl="1" marL="512763" rtl="0" algn="just">
              <a:spcBef>
                <a:spcPts val="1200"/>
              </a:spcBef>
              <a:spcAft>
                <a:spcPts val="0"/>
              </a:spcAft>
              <a:buClr>
                <a:schemeClr val="dk1"/>
              </a:buClr>
              <a:buSzPts val="2200"/>
              <a:buChar char="–"/>
            </a:pPr>
            <a:r>
              <a:rPr lang="en-US" sz="2200">
                <a:latin typeface="Times New Roman"/>
                <a:ea typeface="Times New Roman"/>
                <a:cs typeface="Times New Roman"/>
                <a:sym typeface="Times New Roman"/>
              </a:rPr>
              <a:t>C/T =0 định thời, hoạt động dựa vào xung clock nội bên trong chip. Tần số clock của bộ định thời = 1/12 của tần số thạch anh.</a:t>
            </a:r>
            <a:endParaRPr/>
          </a:p>
          <a:p>
            <a:pPr indent="-285750" lvl="1" marL="512763" rtl="0" algn="just">
              <a:spcBef>
                <a:spcPts val="1200"/>
              </a:spcBef>
              <a:spcAft>
                <a:spcPts val="0"/>
              </a:spcAft>
              <a:buClr>
                <a:schemeClr val="dk1"/>
              </a:buClr>
              <a:buSzPts val="2200"/>
              <a:buChar char="–"/>
            </a:pPr>
            <a:r>
              <a:rPr lang="en-US" sz="2200">
                <a:latin typeface="Times New Roman"/>
                <a:ea typeface="Times New Roman"/>
                <a:cs typeface="Times New Roman"/>
                <a:sym typeface="Times New Roman"/>
              </a:rPr>
              <a:t>C/T = 1 đếm sự kiện. bộ định thời/bộ đếm hoạt động dựa vào xung clock cấp từ bên ngoài đưa vào trên chân T0 (với bộ định thời/bộ đếm 0), chân T1 (với bộ định thời/bộ đếm 1).</a:t>
            </a:r>
            <a:endParaRPr sz="2200">
              <a:latin typeface="Times New Roman"/>
              <a:ea typeface="Times New Roman"/>
              <a:cs typeface="Times New Roman"/>
              <a:sym typeface="Times New Roman"/>
            </a:endParaRPr>
          </a:p>
        </p:txBody>
      </p:sp>
      <p:pic>
        <p:nvPicPr>
          <p:cNvPr id="1039" name="Google Shape;1039;p104"/>
          <p:cNvPicPr preferRelativeResize="0"/>
          <p:nvPr/>
        </p:nvPicPr>
        <p:blipFill rotWithShape="1">
          <a:blip r:embed="rId3">
            <a:alphaModFix/>
          </a:blip>
          <a:srcRect b="0" l="0" r="0" t="0"/>
          <a:stretch/>
        </p:blipFill>
        <p:spPr>
          <a:xfrm>
            <a:off x="2320158" y="2698791"/>
            <a:ext cx="8076318" cy="1145276"/>
          </a:xfrm>
          <a:prstGeom prst="rect">
            <a:avLst/>
          </a:prstGeom>
          <a:noFill/>
          <a:ln>
            <a:noFill/>
          </a:ln>
        </p:spPr>
      </p:pic>
      <p:sp>
        <p:nvSpPr>
          <p:cNvPr id="1040" name="Google Shape;1040;p104"/>
          <p:cNvSpPr txBox="1"/>
          <p:nvPr/>
        </p:nvSpPr>
        <p:spPr>
          <a:xfrm>
            <a:off x="55180" y="926839"/>
            <a:ext cx="11887200" cy="1387892"/>
          </a:xfrm>
          <a:prstGeom prst="rect">
            <a:avLst/>
          </a:prstGeom>
          <a:noFill/>
          <a:ln>
            <a:noFill/>
          </a:ln>
        </p:spPr>
        <p:txBody>
          <a:bodyPr anchorCtr="0" anchor="t" bIns="45700" lIns="91425" spcFirstLastPara="1" rIns="91425" wrap="square" tIns="45700">
            <a:noAutofit/>
          </a:bodyPr>
          <a:lstStyle/>
          <a:p>
            <a:pPr indent="520700" lvl="0" marL="0" marR="0" rtl="0" algn="just">
              <a:spcBef>
                <a:spcPts val="0"/>
              </a:spcBef>
              <a:spcAft>
                <a:spcPts val="0"/>
              </a:spcAft>
              <a:buClr>
                <a:schemeClr val="dk1"/>
              </a:buClr>
              <a:buSzPts val="2200"/>
              <a:buFont typeface="Arial"/>
              <a:buNone/>
            </a:pPr>
            <a:r>
              <a:rPr lang="en-US" sz="2200">
                <a:solidFill>
                  <a:schemeClr val="dk1"/>
                </a:solidFill>
                <a:latin typeface="Times New Roman"/>
                <a:ea typeface="Times New Roman"/>
                <a:cs typeface="Times New Roman"/>
                <a:sym typeface="Times New Roman"/>
              </a:rPr>
              <a:t>Cả hai bộ đếm/định thời đều dung chung một thanh ghi chế độ định thời (TMOD - timer mode register) để thiết lập các chế độ làm việc khác nhau. TMOD là thanh ghi 8 bit, 4 bit thấp sử dụng để thiết lập chế độ cho bộ định thời/bộ đếm 0; 4 bit cao được sử dụng để thiết lập chế độ hoạt động cho bộ định thời/bộ đếm 1, Hình 3.2</a:t>
            </a:r>
            <a:endParaRPr/>
          </a:p>
        </p:txBody>
      </p:sp>
      <p:sp>
        <p:nvSpPr>
          <p:cNvPr id="1041" name="Google Shape;1041;p104"/>
          <p:cNvSpPr/>
          <p:nvPr/>
        </p:nvSpPr>
        <p:spPr>
          <a:xfrm>
            <a:off x="4615976" y="3930134"/>
            <a:ext cx="276229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Hình 3.2. Thanh ghi TMOD</a:t>
            </a:r>
            <a:endParaRPr/>
          </a:p>
        </p:txBody>
      </p:sp>
      <p:sp>
        <p:nvSpPr>
          <p:cNvPr id="1042" name="Google Shape;1042;p10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10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0" st="0"/>
                                            </p:txEl>
                                          </p:spTgt>
                                        </p:tgtEl>
                                        <p:attrNameLst>
                                          <p:attrName>style.visibility</p:attrName>
                                        </p:attrNameLst>
                                      </p:cBhvr>
                                      <p:to>
                                        <p:strVal val="visible"/>
                                      </p:to>
                                    </p:set>
                                    <p:animEffect filter="fade" transition="in">
                                      <p:cBhvr>
                                        <p:cTn dur="1000"/>
                                        <p:tgtEl>
                                          <p:spTgt spid="10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1" st="1"/>
                                            </p:txEl>
                                          </p:spTgt>
                                        </p:tgtEl>
                                        <p:attrNameLst>
                                          <p:attrName>style.visibility</p:attrName>
                                        </p:attrNameLst>
                                      </p:cBhvr>
                                      <p:to>
                                        <p:strVal val="visible"/>
                                      </p:to>
                                    </p:set>
                                    <p:animEffect filter="fade" transition="in">
                                      <p:cBhvr>
                                        <p:cTn dur="1000"/>
                                        <p:tgtEl>
                                          <p:spTgt spid="10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8">
                                            <p:txEl>
                                              <p:pRg end="2" st="2"/>
                                            </p:txEl>
                                          </p:spTgt>
                                        </p:tgtEl>
                                        <p:attrNameLst>
                                          <p:attrName>style.visibility</p:attrName>
                                        </p:attrNameLst>
                                      </p:cBhvr>
                                      <p:to>
                                        <p:strVal val="visible"/>
                                      </p:to>
                                    </p:set>
                                    <p:animEffect filter="fade" transition="in">
                                      <p:cBhvr>
                                        <p:cTn dur="1000"/>
                                        <p:tgtEl>
                                          <p:spTgt spid="103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05"/>
          <p:cNvSpPr txBox="1"/>
          <p:nvPr>
            <p:ph idx="1" type="body"/>
          </p:nvPr>
        </p:nvSpPr>
        <p:spPr>
          <a:xfrm>
            <a:off x="532633" y="3581400"/>
            <a:ext cx="11201400" cy="26670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400"/>
              <a:buNone/>
            </a:pPr>
            <a:r>
              <a:rPr b="1" lang="en-US" sz="2400">
                <a:latin typeface="Times New Roman"/>
                <a:ea typeface="Times New Roman"/>
                <a:cs typeface="Times New Roman"/>
                <a:sym typeface="Times New Roman"/>
              </a:rPr>
              <a:t>GATE: </a:t>
            </a:r>
            <a:r>
              <a:rPr lang="en-US" sz="2400">
                <a:latin typeface="Times New Roman"/>
                <a:ea typeface="Times New Roman"/>
                <a:cs typeface="Times New Roman"/>
                <a:sym typeface="Times New Roman"/>
              </a:rPr>
              <a:t>Điều khiển khởi động/dừng hoạt động của bộ định thời/bộ đếm</a:t>
            </a:r>
            <a:endParaRPr sz="2400">
              <a:latin typeface="Times New Roman"/>
              <a:ea typeface="Times New Roman"/>
              <a:cs typeface="Times New Roman"/>
              <a:sym typeface="Times New Roman"/>
            </a:endParaRPr>
          </a:p>
          <a:p>
            <a:pPr indent="-285750" lvl="1" marL="742950"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GATE = 0. Khởi động bộ định thời/bộ đếm bằng phần mềm bằng cách set bit TRx lên 1. (TR0 cho bộ đêm/bộ định thời 0, TR1 cho bộ định thời/bộ đếm 1). bộ định thời/bộ đếm dừng hoạt động nếu bit TRx được xóa về 0.</a:t>
            </a:r>
            <a:endParaRPr/>
          </a:p>
          <a:p>
            <a:pPr indent="-285750" lvl="1" marL="742950" rtl="0" algn="just">
              <a:spcBef>
                <a:spcPts val="1200"/>
              </a:spcBef>
              <a:spcAft>
                <a:spcPts val="0"/>
              </a:spcAft>
              <a:buClr>
                <a:schemeClr val="dk1"/>
              </a:buClr>
              <a:buSzPts val="2400"/>
              <a:buChar char="–"/>
            </a:pPr>
            <a:r>
              <a:rPr lang="en-US" sz="2400">
                <a:latin typeface="Times New Roman"/>
                <a:ea typeface="Times New Roman"/>
                <a:cs typeface="Times New Roman"/>
                <a:sym typeface="Times New Roman"/>
              </a:rPr>
              <a:t>GATE = 1. Khởi động bộ định thời/bộ đếm bằng phần cứng (đề cập trong nội dung về ngắt) </a:t>
            </a:r>
            <a:endParaRPr sz="24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p:txBody>
      </p:sp>
      <p:pic>
        <p:nvPicPr>
          <p:cNvPr id="1048" name="Google Shape;1048;p105"/>
          <p:cNvPicPr preferRelativeResize="0"/>
          <p:nvPr/>
        </p:nvPicPr>
        <p:blipFill rotWithShape="1">
          <a:blip r:embed="rId3">
            <a:alphaModFix/>
          </a:blip>
          <a:srcRect b="0" l="0" r="0" t="0"/>
          <a:stretch/>
        </p:blipFill>
        <p:spPr>
          <a:xfrm>
            <a:off x="1834523" y="1288257"/>
            <a:ext cx="8597619" cy="1219200"/>
          </a:xfrm>
          <a:prstGeom prst="rect">
            <a:avLst/>
          </a:prstGeom>
          <a:noFill/>
          <a:ln>
            <a:noFill/>
          </a:ln>
        </p:spPr>
      </p:pic>
      <p:sp>
        <p:nvSpPr>
          <p:cNvPr id="1049" name="Google Shape;1049;p105"/>
          <p:cNvSpPr txBox="1"/>
          <p:nvPr/>
        </p:nvSpPr>
        <p:spPr>
          <a:xfrm>
            <a:off x="3504434" y="2713038"/>
            <a:ext cx="52578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rPr i="1" lang="en-US" sz="2000">
                <a:solidFill>
                  <a:schemeClr val="dk1"/>
                </a:solidFill>
                <a:latin typeface="Times New Roman"/>
                <a:ea typeface="Times New Roman"/>
                <a:cs typeface="Times New Roman"/>
                <a:sym typeface="Times New Roman"/>
              </a:rPr>
              <a:t>Hình 3.2. Thanh ghi TMOD</a:t>
            </a:r>
            <a:endParaRPr/>
          </a:p>
          <a:p>
            <a:pPr indent="0" lvl="0" marL="0" marR="0" rtl="0" algn="just">
              <a:spcBef>
                <a:spcPts val="1200"/>
              </a:spcBef>
              <a:spcAft>
                <a:spcPts val="0"/>
              </a:spcAft>
              <a:buClr>
                <a:schemeClr val="dk1"/>
              </a:buClr>
              <a:buSzPts val="2000"/>
              <a:buFont typeface="Arial"/>
              <a:buNone/>
            </a:pPr>
            <a:r>
              <a:t/>
            </a:r>
            <a:endParaRPr b="1" sz="2000">
              <a:solidFill>
                <a:schemeClr val="dk1"/>
              </a:solidFill>
              <a:latin typeface="Times New Roman"/>
              <a:ea typeface="Times New Roman"/>
              <a:cs typeface="Times New Roman"/>
              <a:sym typeface="Times New Roman"/>
            </a:endParaRPr>
          </a:p>
        </p:txBody>
      </p:sp>
      <p:sp>
        <p:nvSpPr>
          <p:cNvPr id="1050" name="Google Shape;1050;p105"/>
          <p:cNvSpPr txBox="1"/>
          <p:nvPr>
            <p:ph type="title"/>
          </p:nvPr>
        </p:nvSpPr>
        <p:spPr>
          <a:xfrm>
            <a:off x="34159" y="215238"/>
            <a:ext cx="11321296" cy="61140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3.2. Các thanh ghi dùng cho bộ định thời/bộ đếm </a:t>
            </a:r>
            <a:r>
              <a:rPr b="1" lang="en-US" sz="3200">
                <a:solidFill>
                  <a:srgbClr val="C00000"/>
                </a:solidFill>
                <a:latin typeface="Times New Roman"/>
                <a:ea typeface="Times New Roman"/>
                <a:cs typeface="Times New Roman"/>
                <a:sym typeface="Times New Roman"/>
              </a:rPr>
              <a:t>–TMOD (2)</a:t>
            </a:r>
            <a:endParaRPr sz="3200">
              <a:solidFill>
                <a:srgbClr val="C00000"/>
              </a:solidFill>
            </a:endParaRPr>
          </a:p>
        </p:txBody>
      </p:sp>
      <p:sp>
        <p:nvSpPr>
          <p:cNvPr id="1051" name="Google Shape;1051;p10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06"/>
          <p:cNvSpPr txBox="1"/>
          <p:nvPr>
            <p:ph idx="1" type="body"/>
          </p:nvPr>
        </p:nvSpPr>
        <p:spPr>
          <a:xfrm>
            <a:off x="228600" y="3243501"/>
            <a:ext cx="9067800" cy="490299"/>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b="1" lang="en-US" sz="2400">
                <a:latin typeface="Times New Roman"/>
                <a:ea typeface="Times New Roman"/>
                <a:cs typeface="Times New Roman"/>
                <a:sym typeface="Times New Roman"/>
              </a:rPr>
              <a:t>M1, M0: </a:t>
            </a:r>
            <a:r>
              <a:rPr lang="en-US" sz="2200">
                <a:latin typeface="Times New Roman"/>
                <a:ea typeface="Times New Roman"/>
                <a:cs typeface="Times New Roman"/>
                <a:sym typeface="Times New Roman"/>
              </a:rPr>
              <a:t>thiết lập chế độ hoạt động cho các bộ định thời/bộ đếm, Bảng 3.</a:t>
            </a:r>
            <a:endParaRPr/>
          </a:p>
        </p:txBody>
      </p:sp>
      <p:pic>
        <p:nvPicPr>
          <p:cNvPr id="1057" name="Google Shape;1057;p106"/>
          <p:cNvPicPr preferRelativeResize="0"/>
          <p:nvPr/>
        </p:nvPicPr>
        <p:blipFill rotWithShape="1">
          <a:blip r:embed="rId3">
            <a:alphaModFix/>
          </a:blip>
          <a:srcRect b="0" l="0" r="0" t="0"/>
          <a:stretch/>
        </p:blipFill>
        <p:spPr>
          <a:xfrm>
            <a:off x="1618206" y="4419600"/>
            <a:ext cx="8818756" cy="2286000"/>
          </a:xfrm>
          <a:prstGeom prst="rect">
            <a:avLst/>
          </a:prstGeom>
          <a:noFill/>
          <a:ln>
            <a:noFill/>
          </a:ln>
        </p:spPr>
      </p:pic>
      <p:pic>
        <p:nvPicPr>
          <p:cNvPr id="1058" name="Google Shape;1058;p106"/>
          <p:cNvPicPr preferRelativeResize="0"/>
          <p:nvPr/>
        </p:nvPicPr>
        <p:blipFill rotWithShape="1">
          <a:blip r:embed="rId4">
            <a:alphaModFix/>
          </a:blip>
          <a:srcRect b="0" l="0" r="0" t="0"/>
          <a:stretch/>
        </p:blipFill>
        <p:spPr>
          <a:xfrm>
            <a:off x="1041199" y="1168765"/>
            <a:ext cx="9403646" cy="1333500"/>
          </a:xfrm>
          <a:prstGeom prst="rect">
            <a:avLst/>
          </a:prstGeom>
          <a:noFill/>
          <a:ln>
            <a:noFill/>
          </a:ln>
        </p:spPr>
      </p:pic>
      <p:sp>
        <p:nvSpPr>
          <p:cNvPr id="1059" name="Google Shape;1059;p106"/>
          <p:cNvSpPr txBox="1"/>
          <p:nvPr/>
        </p:nvSpPr>
        <p:spPr>
          <a:xfrm>
            <a:off x="3076022" y="2532681"/>
            <a:ext cx="5334000" cy="45969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rPr i="1" lang="en-US" sz="2000">
                <a:solidFill>
                  <a:schemeClr val="dk1"/>
                </a:solidFill>
                <a:latin typeface="Times New Roman"/>
                <a:ea typeface="Times New Roman"/>
                <a:cs typeface="Times New Roman"/>
                <a:sym typeface="Times New Roman"/>
              </a:rPr>
              <a:t>Hình 3.2. Thanh ghi TMOD</a:t>
            </a:r>
            <a:endParaRPr/>
          </a:p>
        </p:txBody>
      </p:sp>
      <p:sp>
        <p:nvSpPr>
          <p:cNvPr id="1060" name="Google Shape;1060;p106"/>
          <p:cNvSpPr txBox="1"/>
          <p:nvPr/>
        </p:nvSpPr>
        <p:spPr>
          <a:xfrm>
            <a:off x="2483309" y="3903793"/>
            <a:ext cx="7088549" cy="51580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200"/>
              <a:buFont typeface="Arial"/>
              <a:buNone/>
            </a:pPr>
            <a:r>
              <a:rPr i="1" lang="en-US" sz="2200">
                <a:solidFill>
                  <a:schemeClr val="dk1"/>
                </a:solidFill>
                <a:latin typeface="Times New Roman"/>
                <a:ea typeface="Times New Roman"/>
                <a:cs typeface="Times New Roman"/>
                <a:sym typeface="Times New Roman"/>
              </a:rPr>
              <a:t>Bảng 3.1. Các chế độ định thời của 8051.</a:t>
            </a:r>
            <a:endParaRPr/>
          </a:p>
        </p:txBody>
      </p:sp>
      <p:sp>
        <p:nvSpPr>
          <p:cNvPr id="1061" name="Google Shape;1061;p106"/>
          <p:cNvSpPr txBox="1"/>
          <p:nvPr>
            <p:ph type="title"/>
          </p:nvPr>
        </p:nvSpPr>
        <p:spPr>
          <a:xfrm>
            <a:off x="34159" y="215238"/>
            <a:ext cx="11321296" cy="61140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3.2. Các thanh ghi dùng cho bộ định thời/bộ đếm </a:t>
            </a:r>
            <a:r>
              <a:rPr b="1" lang="en-US" sz="3200">
                <a:solidFill>
                  <a:srgbClr val="C00000"/>
                </a:solidFill>
                <a:latin typeface="Times New Roman"/>
                <a:ea typeface="Times New Roman"/>
                <a:cs typeface="Times New Roman"/>
                <a:sym typeface="Times New Roman"/>
              </a:rPr>
              <a:t>–TMOD (3)</a:t>
            </a:r>
            <a:endParaRPr sz="3200">
              <a:solidFill>
                <a:srgbClr val="C00000"/>
              </a:solidFill>
            </a:endParaRPr>
          </a:p>
        </p:txBody>
      </p:sp>
      <p:sp>
        <p:nvSpPr>
          <p:cNvPr id="1062" name="Google Shape;1062;p10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0" st="0"/>
                                            </p:txEl>
                                          </p:spTgt>
                                        </p:tgtEl>
                                        <p:attrNameLst>
                                          <p:attrName>style.visibility</p:attrName>
                                        </p:attrNameLst>
                                      </p:cBhvr>
                                      <p:to>
                                        <p:strVal val="visible"/>
                                      </p:to>
                                    </p:set>
                                    <p:animEffect filter="fade" transition="in">
                                      <p:cBhvr>
                                        <p:cTn dur="1000"/>
                                        <p:tgtEl>
                                          <p:spTgt spid="105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1000"/>
                                        <p:tgtEl>
                                          <p:spTgt spid="1060"/>
                                        </p:tgtEl>
                                      </p:cBhvr>
                                    </p:animEffect>
                                  </p:childTnLst>
                                </p:cTn>
                              </p:par>
                              <p:par>
                                <p:cTn fill="hold" nodeType="with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1000"/>
                                        <p:tgtEl>
                                          <p:spTgt spid="10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07"/>
          <p:cNvSpPr txBox="1"/>
          <p:nvPr>
            <p:ph type="title"/>
          </p:nvPr>
        </p:nvSpPr>
        <p:spPr>
          <a:xfrm>
            <a:off x="31230" y="154051"/>
            <a:ext cx="11246370" cy="487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3.2. Các thanh ghi dùng cho bộ định thời/bộ đếm </a:t>
            </a:r>
            <a:r>
              <a:rPr b="1" lang="en-US" sz="3200">
                <a:solidFill>
                  <a:srgbClr val="C00000"/>
                </a:solidFill>
                <a:latin typeface="Times New Roman"/>
                <a:ea typeface="Times New Roman"/>
                <a:cs typeface="Times New Roman"/>
                <a:sym typeface="Times New Roman"/>
              </a:rPr>
              <a:t>– TCON </a:t>
            </a:r>
            <a:endParaRPr sz="3200">
              <a:solidFill>
                <a:srgbClr val="C00000"/>
              </a:solidFill>
            </a:endParaRPr>
          </a:p>
        </p:txBody>
      </p:sp>
      <p:sp>
        <p:nvSpPr>
          <p:cNvPr id="1068" name="Google Shape;1068;p107"/>
          <p:cNvSpPr txBox="1"/>
          <p:nvPr>
            <p:ph idx="1" type="body"/>
          </p:nvPr>
        </p:nvSpPr>
        <p:spPr>
          <a:xfrm>
            <a:off x="381000" y="1812917"/>
            <a:ext cx="11430000" cy="1387483"/>
          </a:xfrm>
          <a:prstGeom prst="rect">
            <a:avLst/>
          </a:prstGeom>
          <a:noFill/>
          <a:ln>
            <a:noFill/>
          </a:ln>
        </p:spPr>
        <p:txBody>
          <a:bodyPr anchorCtr="0" anchor="t" bIns="45700" lIns="91425" spcFirstLastPara="1" rIns="91425" wrap="square" tIns="45700">
            <a:noAutofit/>
          </a:bodyPr>
          <a:lstStyle/>
          <a:p>
            <a:pPr indent="40640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Thanh ghi điều khiển bộ định thời/bộ đếm (TCON) chứa các bit điều khiển và trạng thái của bộ định thời/bộ đếm 0 và 1. Bốn bit cao (TCON.4 đến TCON.7) được sử dụng để điều khiển khởi động/dừng  hoặc báo các tràn đối bộ định thời/bộ đếm, </a:t>
            </a:r>
            <a:r>
              <a:rPr i="1" lang="en-US" sz="2000">
                <a:latin typeface="Times New Roman"/>
                <a:ea typeface="Times New Roman"/>
                <a:cs typeface="Times New Roman"/>
                <a:sym typeface="Times New Roman"/>
              </a:rPr>
              <a:t>Bảng 3.2</a:t>
            </a:r>
            <a:r>
              <a:rPr lang="en-US" sz="2000">
                <a:latin typeface="Times New Roman"/>
                <a:ea typeface="Times New Roman"/>
                <a:cs typeface="Times New Roman"/>
                <a:sym typeface="Times New Roman"/>
              </a:rPr>
              <a:t>. Bốn bit thấp (TCON.0 đến TCON.3) không dùng cho bộ định thời/bộ đếm (</a:t>
            </a:r>
            <a:r>
              <a:rPr i="1" lang="en-US" sz="2000">
                <a:latin typeface="Times New Roman"/>
                <a:ea typeface="Times New Roman"/>
                <a:cs typeface="Times New Roman"/>
                <a:sym typeface="Times New Roman"/>
              </a:rPr>
              <a:t>đề cập tới trong nội dung ngắt</a:t>
            </a:r>
            <a:r>
              <a:rPr lang="en-US" sz="2000">
                <a:latin typeface="Times New Roman"/>
                <a:ea typeface="Times New Roman"/>
                <a:cs typeface="Times New Roman"/>
                <a:sym typeface="Times New Roman"/>
              </a:rPr>
              <a:t>)</a:t>
            </a:r>
            <a:endParaRPr/>
          </a:p>
        </p:txBody>
      </p:sp>
      <p:pic>
        <p:nvPicPr>
          <p:cNvPr id="1069" name="Google Shape;1069;p107"/>
          <p:cNvPicPr preferRelativeResize="0"/>
          <p:nvPr/>
        </p:nvPicPr>
        <p:blipFill rotWithShape="1">
          <a:blip r:embed="rId3">
            <a:alphaModFix/>
          </a:blip>
          <a:srcRect b="0" l="0" r="0" t="0"/>
          <a:stretch/>
        </p:blipFill>
        <p:spPr>
          <a:xfrm>
            <a:off x="1677827" y="859210"/>
            <a:ext cx="8229599" cy="877507"/>
          </a:xfrm>
          <a:prstGeom prst="rect">
            <a:avLst/>
          </a:prstGeom>
          <a:noFill/>
          <a:ln>
            <a:noFill/>
          </a:ln>
        </p:spPr>
      </p:pic>
      <p:graphicFrame>
        <p:nvGraphicFramePr>
          <p:cNvPr id="1070" name="Google Shape;1070;p107"/>
          <p:cNvGraphicFramePr/>
          <p:nvPr/>
        </p:nvGraphicFramePr>
        <p:xfrm>
          <a:off x="1709057" y="3733800"/>
          <a:ext cx="3000000" cy="3000000"/>
        </p:xfrm>
        <a:graphic>
          <a:graphicData uri="http://schemas.openxmlformats.org/drawingml/2006/table">
            <a:tbl>
              <a:tblPr bandRow="1" firstRow="1">
                <a:noFill/>
                <a:tableStyleId>{A4A541D9-23D5-4180-BFA4-B58C0BD4C685}</a:tableStyleId>
              </a:tblPr>
              <a:tblGrid>
                <a:gridCol w="1281700"/>
                <a:gridCol w="1271825"/>
                <a:gridCol w="1266325"/>
                <a:gridCol w="4943150"/>
              </a:tblGrid>
              <a:tr h="384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Bit</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Ký</a:t>
                      </a:r>
                      <a:r>
                        <a:rPr lang="en-US" sz="1800">
                          <a:latin typeface="Times New Roman"/>
                          <a:ea typeface="Times New Roman"/>
                          <a:cs typeface="Times New Roman"/>
                          <a:sym typeface="Times New Roman"/>
                        </a:rPr>
                        <a:t> hiệu</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Địa chỉ</a:t>
                      </a:r>
                      <a:r>
                        <a:rPr lang="en-US" sz="1800">
                          <a:latin typeface="Times New Roman"/>
                          <a:ea typeface="Times New Roman"/>
                          <a:cs typeface="Times New Roman"/>
                          <a:sym typeface="Times New Roman"/>
                        </a:rPr>
                        <a:t> bit</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Mô</a:t>
                      </a:r>
                      <a:r>
                        <a:rPr lang="en-US" sz="1800">
                          <a:latin typeface="Times New Roman"/>
                          <a:ea typeface="Times New Roman"/>
                          <a:cs typeface="Times New Roman"/>
                          <a:sym typeface="Times New Roman"/>
                        </a:rPr>
                        <a:t> tả</a:t>
                      </a:r>
                      <a:endParaRPr sz="1800">
                        <a:latin typeface="Times New Roman"/>
                        <a:ea typeface="Times New Roman"/>
                        <a:cs typeface="Times New Roman"/>
                        <a:sym typeface="Times New Roman"/>
                      </a:endParaRPr>
                    </a:p>
                  </a:txBody>
                  <a:tcPr marT="45725" marB="45725" marR="91450" marL="91450"/>
                </a:tc>
              </a:tr>
              <a:tr h="94752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TCON.7</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TF1</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8Fh</a:t>
                      </a:r>
                      <a:endParaRPr/>
                    </a:p>
                  </a:txBody>
                  <a:tcPr marT="45725" marB="45725" marR="91450" marL="91450"/>
                </a:tc>
                <a:tc>
                  <a:txBody>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Báo tràn cho bộ định</a:t>
                      </a:r>
                      <a:r>
                        <a:rPr lang="en-US" sz="1800">
                          <a:solidFill>
                            <a:schemeClr val="dk1"/>
                          </a:solidFill>
                          <a:latin typeface="Times New Roman"/>
                          <a:ea typeface="Times New Roman"/>
                          <a:cs typeface="Times New Roman"/>
                          <a:sym typeface="Times New Roman"/>
                        </a:rPr>
                        <a:t> thời/bộ đếm</a:t>
                      </a:r>
                      <a:r>
                        <a:rPr lang="en-US" sz="1800">
                          <a:solidFill>
                            <a:schemeClr val="dk1"/>
                          </a:solidFill>
                          <a:latin typeface="Times New Roman"/>
                          <a:ea typeface="Times New Roman"/>
                          <a:cs typeface="Times New Roman"/>
                          <a:sym typeface="Times New Roman"/>
                        </a:rPr>
                        <a:t> 1. Khi giá trị trong thi ghi chứa giá trị đếm TL1, TH1 bị tràn, thì bit TF1 sẽ được bật lên 1.</a:t>
                      </a:r>
                      <a:endParaRPr sz="1800">
                        <a:solidFill>
                          <a:schemeClr val="dk1"/>
                        </a:solidFill>
                        <a:latin typeface="Times New Roman"/>
                        <a:ea typeface="Times New Roman"/>
                        <a:cs typeface="Times New Roman"/>
                        <a:sym typeface="Times New Roman"/>
                      </a:endParaRPr>
                    </a:p>
                  </a:txBody>
                  <a:tcPr marT="45725" marB="45725" marR="91450" marL="91450"/>
                </a:tc>
              </a:tr>
              <a:tr h="663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TCON.6</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TR1</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8Eh</a:t>
                      </a:r>
                      <a:endParaRPr/>
                    </a:p>
                  </a:txBody>
                  <a:tcPr marT="45725" marB="45725" marR="91450" marL="91450"/>
                </a:tc>
                <a:tc>
                  <a:txBody>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Được</a:t>
                      </a:r>
                      <a:r>
                        <a:rPr lang="en-US" sz="1800">
                          <a:solidFill>
                            <a:schemeClr val="dk1"/>
                          </a:solidFill>
                          <a:latin typeface="Times New Roman"/>
                          <a:ea typeface="Times New Roman"/>
                          <a:cs typeface="Times New Roman"/>
                          <a:sym typeface="Times New Roman"/>
                        </a:rPr>
                        <a:t> sử dụng </a:t>
                      </a:r>
                      <a:r>
                        <a:rPr lang="en-US" sz="1800">
                          <a:solidFill>
                            <a:schemeClr val="dk1"/>
                          </a:solidFill>
                          <a:latin typeface="Times New Roman"/>
                          <a:ea typeface="Times New Roman"/>
                          <a:cs typeface="Times New Roman"/>
                          <a:sym typeface="Times New Roman"/>
                        </a:rPr>
                        <a:t>để khởi động</a:t>
                      </a:r>
                      <a:r>
                        <a:rPr lang="en-US" sz="1800">
                          <a:solidFill>
                            <a:schemeClr val="dk1"/>
                          </a:solidFill>
                          <a:latin typeface="Times New Roman"/>
                          <a:ea typeface="Times New Roman"/>
                          <a:cs typeface="Times New Roman"/>
                          <a:sym typeface="Times New Roman"/>
                        </a:rPr>
                        <a:t> hay </a:t>
                      </a:r>
                      <a:r>
                        <a:rPr lang="en-US" sz="1800">
                          <a:solidFill>
                            <a:schemeClr val="dk1"/>
                          </a:solidFill>
                          <a:latin typeface="Times New Roman"/>
                          <a:ea typeface="Times New Roman"/>
                          <a:cs typeface="Times New Roman"/>
                          <a:sym typeface="Times New Roman"/>
                        </a:rPr>
                        <a:t>dừng bộ</a:t>
                      </a:r>
                      <a:r>
                        <a:rPr lang="en-US" sz="1800">
                          <a:solidFill>
                            <a:schemeClr val="dk1"/>
                          </a:solidFill>
                          <a:latin typeface="Times New Roman"/>
                          <a:ea typeface="Times New Roman"/>
                          <a:cs typeface="Times New Roman"/>
                          <a:sym typeface="Times New Roman"/>
                        </a:rPr>
                        <a:t> định thời/bộ đếm</a:t>
                      </a:r>
                      <a:r>
                        <a:rPr lang="en-US" sz="1800">
                          <a:solidFill>
                            <a:schemeClr val="dk1"/>
                          </a:solidFill>
                          <a:latin typeface="Times New Roman"/>
                          <a:ea typeface="Times New Roman"/>
                          <a:cs typeface="Times New Roman"/>
                          <a:sym typeface="Times New Roman"/>
                        </a:rPr>
                        <a:t> 1. TR1 =1: khởi động. TR1 = 0: dừng</a:t>
                      </a:r>
                      <a:endParaRPr sz="1800">
                        <a:solidFill>
                          <a:schemeClr val="dk1"/>
                        </a:solidFill>
                        <a:latin typeface="Times New Roman"/>
                        <a:ea typeface="Times New Roman"/>
                        <a:cs typeface="Times New Roman"/>
                        <a:sym typeface="Times New Roman"/>
                      </a:endParaRPr>
                    </a:p>
                  </a:txBody>
                  <a:tcPr marT="45725" marB="45725" marR="91450" marL="91450"/>
                </a:tc>
              </a:tr>
              <a:tr h="384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TCON.5</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TF0</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8Dh</a:t>
                      </a:r>
                      <a:endParaRPr/>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Báo tràn cho bộ định</a:t>
                      </a:r>
                      <a:r>
                        <a:rPr lang="en-US" sz="1800">
                          <a:solidFill>
                            <a:schemeClr val="dk1"/>
                          </a:solidFill>
                          <a:latin typeface="Times New Roman"/>
                          <a:ea typeface="Times New Roman"/>
                          <a:cs typeface="Times New Roman"/>
                          <a:sym typeface="Times New Roman"/>
                        </a:rPr>
                        <a:t> thời/bộ đếm</a:t>
                      </a:r>
                      <a:r>
                        <a:rPr lang="en-US" sz="1800">
                          <a:solidFill>
                            <a:schemeClr val="dk1"/>
                          </a:solidFill>
                          <a:latin typeface="Times New Roman"/>
                          <a:ea typeface="Times New Roman"/>
                          <a:cs typeface="Times New Roman"/>
                          <a:sym typeface="Times New Roman"/>
                        </a:rPr>
                        <a:t> 0</a:t>
                      </a:r>
                      <a:endParaRPr sz="1800">
                        <a:latin typeface="Times New Roman"/>
                        <a:ea typeface="Times New Roman"/>
                        <a:cs typeface="Times New Roman"/>
                        <a:sym typeface="Times New Roman"/>
                      </a:endParaRPr>
                    </a:p>
                  </a:txBody>
                  <a:tcPr marT="45725" marB="45725" marR="91450" marL="91450"/>
                </a:tc>
              </a:tr>
              <a:tr h="663275">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TCON.4</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TR0</a:t>
                      </a:r>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8Ch</a:t>
                      </a:r>
                      <a:endParaRPr/>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Được</a:t>
                      </a:r>
                      <a:r>
                        <a:rPr lang="en-US" sz="1800">
                          <a:solidFill>
                            <a:schemeClr val="dk1"/>
                          </a:solidFill>
                          <a:latin typeface="Times New Roman"/>
                          <a:ea typeface="Times New Roman"/>
                          <a:cs typeface="Times New Roman"/>
                          <a:sym typeface="Times New Roman"/>
                        </a:rPr>
                        <a:t> sử dụng </a:t>
                      </a:r>
                      <a:r>
                        <a:rPr lang="en-US" sz="1800">
                          <a:solidFill>
                            <a:schemeClr val="dk1"/>
                          </a:solidFill>
                          <a:latin typeface="Times New Roman"/>
                          <a:ea typeface="Times New Roman"/>
                          <a:cs typeface="Times New Roman"/>
                          <a:sym typeface="Times New Roman"/>
                        </a:rPr>
                        <a:t>để khởi động hay dừng bộ</a:t>
                      </a:r>
                      <a:r>
                        <a:rPr lang="en-US" sz="1800">
                          <a:solidFill>
                            <a:schemeClr val="dk1"/>
                          </a:solidFill>
                          <a:latin typeface="Times New Roman"/>
                          <a:ea typeface="Times New Roman"/>
                          <a:cs typeface="Times New Roman"/>
                          <a:sym typeface="Times New Roman"/>
                        </a:rPr>
                        <a:t> định thời/bộ đếm</a:t>
                      </a:r>
                      <a:r>
                        <a:rPr lang="en-US" sz="1800">
                          <a:solidFill>
                            <a:schemeClr val="dk1"/>
                          </a:solidFill>
                          <a:latin typeface="Times New Roman"/>
                          <a:ea typeface="Times New Roman"/>
                          <a:cs typeface="Times New Roman"/>
                          <a:sym typeface="Times New Roman"/>
                        </a:rPr>
                        <a:t> 0. </a:t>
                      </a:r>
                      <a:endParaRPr sz="1800">
                        <a:latin typeface="Times New Roman"/>
                        <a:ea typeface="Times New Roman"/>
                        <a:cs typeface="Times New Roman"/>
                        <a:sym typeface="Times New Roman"/>
                      </a:endParaRPr>
                    </a:p>
                  </a:txBody>
                  <a:tcPr marT="45725" marB="45725" marR="91450" marL="91450"/>
                </a:tc>
              </a:tr>
            </a:tbl>
          </a:graphicData>
        </a:graphic>
      </p:graphicFrame>
      <p:sp>
        <p:nvSpPr>
          <p:cNvPr id="1071" name="Google Shape;1071;p107"/>
          <p:cNvSpPr txBox="1"/>
          <p:nvPr/>
        </p:nvSpPr>
        <p:spPr>
          <a:xfrm>
            <a:off x="3118756" y="3217890"/>
            <a:ext cx="5410200" cy="439710"/>
          </a:xfrm>
          <a:prstGeom prst="rect">
            <a:avLst/>
          </a:prstGeom>
          <a:noFill/>
          <a:ln>
            <a:noFill/>
          </a:ln>
        </p:spPr>
        <p:txBody>
          <a:bodyPr anchorCtr="0" anchor="t" bIns="45700" lIns="91425" spcFirstLastPara="1" rIns="91425" wrap="square" tIns="45700">
            <a:noAutofit/>
          </a:bodyPr>
          <a:lstStyle/>
          <a:p>
            <a:pPr indent="406400" lvl="0" marL="0" marR="0" rtl="0" algn="ctr">
              <a:spcBef>
                <a:spcPts val="0"/>
              </a:spcBef>
              <a:spcAft>
                <a:spcPts val="0"/>
              </a:spcAft>
              <a:buClr>
                <a:schemeClr val="dk1"/>
              </a:buClr>
              <a:buSzPts val="1800"/>
              <a:buFont typeface="Arial"/>
              <a:buNone/>
            </a:pPr>
            <a:r>
              <a:rPr i="1" lang="en-US" sz="1800">
                <a:solidFill>
                  <a:schemeClr val="dk1"/>
                </a:solidFill>
                <a:latin typeface="Times New Roman"/>
                <a:ea typeface="Times New Roman"/>
                <a:cs typeface="Times New Roman"/>
                <a:sym typeface="Times New Roman"/>
              </a:rPr>
              <a:t>Bảng 3.2. Bốn bit cao thanh ghi TCON</a:t>
            </a:r>
            <a:endParaRPr i="1" sz="1800">
              <a:solidFill>
                <a:schemeClr val="dk1"/>
              </a:solidFill>
              <a:latin typeface="Times New Roman"/>
              <a:ea typeface="Times New Roman"/>
              <a:cs typeface="Times New Roman"/>
              <a:sym typeface="Times New Roman"/>
            </a:endParaRPr>
          </a:p>
        </p:txBody>
      </p:sp>
      <p:sp>
        <p:nvSpPr>
          <p:cNvPr id="1072" name="Google Shape;1072;p10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1000"/>
                                        <p:tgtEl>
                                          <p:spTgt spid="1069"/>
                                        </p:tgtEl>
                                      </p:cBhvr>
                                    </p:animEffect>
                                  </p:childTnLst>
                                </p:cTn>
                              </p:par>
                              <p:par>
                                <p:cTn fill="hold" nodeType="withEffect" presetClass="entr" presetID="10" presetSubtype="0">
                                  <p:stCondLst>
                                    <p:cond delay="0"/>
                                  </p:stCondLst>
                                  <p:childTnLst>
                                    <p:set>
                                      <p:cBhvr>
                                        <p:cTn dur="1" fill="hold">
                                          <p:stCondLst>
                                            <p:cond delay="0"/>
                                          </p:stCondLst>
                                        </p:cTn>
                                        <p:tgtEl>
                                          <p:spTgt spid="1068">
                                            <p:txEl>
                                              <p:pRg end="0" st="0"/>
                                            </p:txEl>
                                          </p:spTgt>
                                        </p:tgtEl>
                                        <p:attrNameLst>
                                          <p:attrName>style.visibility</p:attrName>
                                        </p:attrNameLst>
                                      </p:cBhvr>
                                      <p:to>
                                        <p:strVal val="visible"/>
                                      </p:to>
                                    </p:set>
                                    <p:animEffect filter="fade" transition="in">
                                      <p:cBhvr>
                                        <p:cTn dur="1000"/>
                                        <p:tgtEl>
                                          <p:spTgt spid="10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1000"/>
                                        <p:tgtEl>
                                          <p:spTgt spid="1071"/>
                                        </p:tgtEl>
                                      </p:cBhvr>
                                    </p:animEffect>
                                  </p:childTnLst>
                                </p:cTn>
                              </p:par>
                              <p:par>
                                <p:cTn fill="hold" nodeType="with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1000"/>
                                        <p:tgtEl>
                                          <p:spTgt spid="10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08"/>
          <p:cNvSpPr txBox="1"/>
          <p:nvPr>
            <p:ph type="title"/>
          </p:nvPr>
        </p:nvSpPr>
        <p:spPr>
          <a:xfrm>
            <a:off x="152400" y="152400"/>
            <a:ext cx="8534400" cy="487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3.3. Các chế độ định thời</a:t>
            </a:r>
            <a:endParaRPr sz="3200"/>
          </a:p>
        </p:txBody>
      </p:sp>
      <p:sp>
        <p:nvSpPr>
          <p:cNvPr id="1079" name="Google Shape;1079;p108"/>
          <p:cNvSpPr txBox="1"/>
          <p:nvPr>
            <p:ph idx="1" type="body"/>
          </p:nvPr>
        </p:nvSpPr>
        <p:spPr>
          <a:xfrm>
            <a:off x="410980" y="1219200"/>
            <a:ext cx="11811000" cy="1066800"/>
          </a:xfrm>
          <a:prstGeom prst="rect">
            <a:avLst/>
          </a:prstGeom>
          <a:noFill/>
          <a:ln>
            <a:noFill/>
          </a:ln>
        </p:spPr>
        <p:txBody>
          <a:bodyPr anchorCtr="0" anchor="t" bIns="45700" lIns="91425" spcFirstLastPara="1" rIns="91425" wrap="square" tIns="45700">
            <a:noAutofit/>
          </a:bodyPr>
          <a:lstStyle/>
          <a:p>
            <a:pPr indent="465138" lvl="0" marL="0" rtl="0" algn="just">
              <a:spcBef>
                <a:spcPts val="0"/>
              </a:spcBef>
              <a:spcAft>
                <a:spcPts val="0"/>
              </a:spcAft>
              <a:buClr>
                <a:schemeClr val="dk1"/>
              </a:buClr>
              <a:buSzPts val="2400"/>
              <a:buNone/>
            </a:pPr>
            <a:r>
              <a:rPr lang="en-US" sz="2400">
                <a:latin typeface="Times New Roman"/>
                <a:ea typeface="Times New Roman"/>
                <a:cs typeface="Times New Roman"/>
                <a:sym typeface="Times New Roman"/>
              </a:rPr>
              <a:t>Có 4 chế độ định thời (Bảng 3.1). Chúng ta chỉ tập trung và các chế độ được sử dụng rộng rãi là chế độ 1 và 2.</a:t>
            </a:r>
            <a:endParaRPr sz="2400">
              <a:latin typeface="Times New Roman"/>
              <a:ea typeface="Times New Roman"/>
              <a:cs typeface="Times New Roman"/>
              <a:sym typeface="Times New Roman"/>
            </a:endParaRPr>
          </a:p>
        </p:txBody>
      </p:sp>
      <p:pic>
        <p:nvPicPr>
          <p:cNvPr id="1080" name="Google Shape;1080;p108"/>
          <p:cNvPicPr preferRelativeResize="0"/>
          <p:nvPr/>
        </p:nvPicPr>
        <p:blipFill rotWithShape="1">
          <a:blip r:embed="rId3">
            <a:alphaModFix/>
          </a:blip>
          <a:srcRect b="0" l="0" r="0" t="0"/>
          <a:stretch/>
        </p:blipFill>
        <p:spPr>
          <a:xfrm>
            <a:off x="1524000" y="3276600"/>
            <a:ext cx="8818756" cy="2286000"/>
          </a:xfrm>
          <a:prstGeom prst="rect">
            <a:avLst/>
          </a:prstGeom>
          <a:noFill/>
          <a:ln>
            <a:noFill/>
          </a:ln>
        </p:spPr>
      </p:pic>
      <p:sp>
        <p:nvSpPr>
          <p:cNvPr id="1081" name="Google Shape;1081;p108"/>
          <p:cNvSpPr txBox="1"/>
          <p:nvPr/>
        </p:nvSpPr>
        <p:spPr>
          <a:xfrm>
            <a:off x="2362200" y="2607534"/>
            <a:ext cx="7088549" cy="51580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200"/>
              <a:buFont typeface="Arial"/>
              <a:buNone/>
            </a:pPr>
            <a:r>
              <a:rPr i="1" lang="en-US" sz="2200">
                <a:solidFill>
                  <a:schemeClr val="dk1"/>
                </a:solidFill>
                <a:latin typeface="Times New Roman"/>
                <a:ea typeface="Times New Roman"/>
                <a:cs typeface="Times New Roman"/>
                <a:sym typeface="Times New Roman"/>
              </a:rPr>
              <a:t>Bảng 3.1. Các chế độ định thời của 8051.</a:t>
            </a:r>
            <a:endParaRPr/>
          </a:p>
        </p:txBody>
      </p:sp>
      <p:sp>
        <p:nvSpPr>
          <p:cNvPr id="1082" name="Google Shape;1082;p10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09"/>
          <p:cNvSpPr txBox="1"/>
          <p:nvPr>
            <p:ph type="title"/>
          </p:nvPr>
        </p:nvSpPr>
        <p:spPr>
          <a:xfrm>
            <a:off x="1248" y="31524"/>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1 (1)</a:t>
            </a:r>
            <a:endParaRPr sz="2800"/>
          </a:p>
        </p:txBody>
      </p:sp>
      <p:sp>
        <p:nvSpPr>
          <p:cNvPr id="1088" name="Google Shape;1088;p109"/>
          <p:cNvSpPr txBox="1"/>
          <p:nvPr>
            <p:ph idx="1" type="body"/>
          </p:nvPr>
        </p:nvSpPr>
        <p:spPr>
          <a:xfrm>
            <a:off x="228600" y="2851718"/>
            <a:ext cx="11582400" cy="3504633"/>
          </a:xfrm>
          <a:prstGeom prst="rect">
            <a:avLst/>
          </a:prstGeom>
          <a:noFill/>
          <a:ln>
            <a:noFill/>
          </a:ln>
        </p:spPr>
        <p:txBody>
          <a:bodyPr anchorCtr="0" anchor="t" bIns="45700" lIns="91425" spcFirstLastPara="1" rIns="91425" wrap="square" tIns="45700">
            <a:noAutofit/>
          </a:bodyPr>
          <a:lstStyle/>
          <a:p>
            <a:pPr indent="465138" lvl="0" marL="0" rtl="0" algn="just">
              <a:spcBef>
                <a:spcPts val="0"/>
              </a:spcBef>
              <a:spcAft>
                <a:spcPts val="0"/>
              </a:spcAft>
              <a:buClr>
                <a:schemeClr val="dk1"/>
              </a:buClr>
              <a:buSzPts val="2200"/>
              <a:buNone/>
            </a:pPr>
            <a:r>
              <a:rPr lang="en-US" sz="2200">
                <a:latin typeface="Times New Roman"/>
                <a:ea typeface="Times New Roman"/>
                <a:cs typeface="Times New Roman"/>
                <a:sym typeface="Times New Roman"/>
              </a:rPr>
              <a:t>Bộ định thời 16 bit, các giá trị trong khoảng từ 0000h đến FFFFh có thể được nạp vào TL và TH của bộ định thời</a:t>
            </a:r>
            <a:endParaRPr sz="2200">
              <a:latin typeface="Times New Roman"/>
              <a:ea typeface="Times New Roman"/>
              <a:cs typeface="Times New Roman"/>
              <a:sym typeface="Times New Roman"/>
            </a:endParaRPr>
          </a:p>
          <a:p>
            <a:pPr indent="-347663" lvl="1" marL="347663" rtl="0" algn="just">
              <a:spcBef>
                <a:spcPts val="600"/>
              </a:spcBef>
              <a:spcAft>
                <a:spcPts val="0"/>
              </a:spcAft>
              <a:buClr>
                <a:schemeClr val="dk1"/>
              </a:buClr>
              <a:buSzPts val="2200"/>
              <a:buFont typeface="Calibri"/>
              <a:buAutoNum type="arabicParenR"/>
            </a:pPr>
            <a:r>
              <a:rPr lang="en-US" sz="2200">
                <a:latin typeface="Times New Roman"/>
                <a:ea typeface="Times New Roman"/>
                <a:cs typeface="Times New Roman"/>
                <a:sym typeface="Times New Roman"/>
              </a:rPr>
              <a:t>Sau khi TL và TH được nạp, thực hiện khởi động bộ định thời bằng lệnh “SETB TR0” cho bộ Timer 0 và “SETB TR1” cho Timer 1</a:t>
            </a:r>
            <a:endParaRPr/>
          </a:p>
          <a:p>
            <a:pPr indent="-347663" lvl="1" marL="347663" rtl="0" algn="just">
              <a:spcBef>
                <a:spcPts val="600"/>
              </a:spcBef>
              <a:spcAft>
                <a:spcPts val="0"/>
              </a:spcAft>
              <a:buClr>
                <a:schemeClr val="dk1"/>
              </a:buClr>
              <a:buSzPts val="2200"/>
              <a:buFont typeface="Calibri"/>
              <a:buAutoNum type="arabicParenR"/>
            </a:pPr>
            <a:r>
              <a:rPr lang="en-US" sz="2200">
                <a:latin typeface="Times New Roman"/>
                <a:ea typeface="Times New Roman"/>
                <a:cs typeface="Times New Roman"/>
                <a:sym typeface="Times New Roman"/>
              </a:rPr>
              <a:t>Sau khi được khởi động bắt đầu đếm tăng, sau khi đạt tời giá trị FFFFh bộ định thời sẽ quay về 0000h và lập cờ TF (Timer Flage) =1. Khi cờ bộ định thời được thiết lập, để dừng bộ định thời bằng phần mềm sử dụng lệnh “CLR TR0” cho Timer 0, “CLR TR1” cho Timer 1.</a:t>
            </a:r>
            <a:endParaRPr/>
          </a:p>
          <a:p>
            <a:pPr indent="-347663" lvl="1" marL="347663" rtl="0" algn="just">
              <a:spcBef>
                <a:spcPts val="600"/>
              </a:spcBef>
              <a:spcAft>
                <a:spcPts val="0"/>
              </a:spcAft>
              <a:buClr>
                <a:schemeClr val="dk1"/>
              </a:buClr>
              <a:buSzPts val="2200"/>
              <a:buFont typeface="Calibri"/>
              <a:buAutoNum type="arabicParenR"/>
            </a:pPr>
            <a:r>
              <a:rPr lang="en-US" sz="2200">
                <a:latin typeface="Times New Roman"/>
                <a:ea typeface="Times New Roman"/>
                <a:cs typeface="Times New Roman"/>
                <a:sym typeface="Times New Roman"/>
              </a:rPr>
              <a:t>Bộ định thời sau khi đạt giá trị giới hạn thì thực hiện quay vòng về 0. Để lặp lại quá trình đếm của bộ định thời, các thanh ghi TL, TH phải được nạp lại giá trị ban đầu và TF cần được xóa về 0.</a:t>
            </a:r>
            <a:endParaRPr/>
          </a:p>
          <a:p>
            <a:pPr indent="0" lvl="0" marL="0" rtl="0" algn="just">
              <a:spcBef>
                <a:spcPts val="600"/>
              </a:spcBef>
              <a:spcAft>
                <a:spcPts val="0"/>
              </a:spcAft>
              <a:buClr>
                <a:schemeClr val="dk1"/>
              </a:buClr>
              <a:buSzPts val="2200"/>
              <a:buNone/>
            </a:pPr>
            <a:r>
              <a:t/>
            </a:r>
            <a:endParaRPr sz="2200">
              <a:latin typeface="Times New Roman"/>
              <a:ea typeface="Times New Roman"/>
              <a:cs typeface="Times New Roman"/>
              <a:sym typeface="Times New Roman"/>
            </a:endParaRPr>
          </a:p>
          <a:p>
            <a:pPr indent="0" lvl="0" marL="0" rtl="0" algn="ctr">
              <a:spcBef>
                <a:spcPts val="600"/>
              </a:spcBef>
              <a:spcAft>
                <a:spcPts val="0"/>
              </a:spcAft>
              <a:buClr>
                <a:schemeClr val="dk1"/>
              </a:buClr>
              <a:buSzPts val="2200"/>
              <a:buNone/>
            </a:pPr>
            <a:r>
              <a:t/>
            </a:r>
            <a:endParaRPr i="1" sz="2200">
              <a:latin typeface="Times New Roman"/>
              <a:ea typeface="Times New Roman"/>
              <a:cs typeface="Times New Roman"/>
              <a:sym typeface="Times New Roman"/>
            </a:endParaRPr>
          </a:p>
        </p:txBody>
      </p:sp>
      <p:pic>
        <p:nvPicPr>
          <p:cNvPr id="1089" name="Google Shape;1089;p109"/>
          <p:cNvPicPr preferRelativeResize="0"/>
          <p:nvPr/>
        </p:nvPicPr>
        <p:blipFill rotWithShape="1">
          <a:blip r:embed="rId3">
            <a:alphaModFix/>
          </a:blip>
          <a:srcRect b="0" l="0" r="0" t="0"/>
          <a:stretch/>
        </p:blipFill>
        <p:spPr>
          <a:xfrm>
            <a:off x="1785019" y="969656"/>
            <a:ext cx="8469562" cy="1516937"/>
          </a:xfrm>
          <a:prstGeom prst="rect">
            <a:avLst/>
          </a:prstGeom>
          <a:noFill/>
          <a:ln>
            <a:noFill/>
          </a:ln>
        </p:spPr>
      </p:pic>
      <p:sp>
        <p:nvSpPr>
          <p:cNvPr id="1090" name="Google Shape;1090;p10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9"/>
                                        </p:tgtEl>
                                        <p:attrNameLst>
                                          <p:attrName>style.visibility</p:attrName>
                                        </p:attrNameLst>
                                      </p:cBhvr>
                                      <p:to>
                                        <p:strVal val="visible"/>
                                      </p:to>
                                    </p:set>
                                    <p:animEffect filter="fade" transition="in">
                                      <p:cBhvr>
                                        <p:cTn dur="1000"/>
                                        <p:tgtEl>
                                          <p:spTgt spid="10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xEl>
                                              <p:pRg end="0" st="0"/>
                                            </p:txEl>
                                          </p:spTgt>
                                        </p:tgtEl>
                                        <p:attrNameLst>
                                          <p:attrName>style.visibility</p:attrName>
                                        </p:attrNameLst>
                                      </p:cBhvr>
                                      <p:to>
                                        <p:strVal val="visible"/>
                                      </p:to>
                                    </p:set>
                                    <p:animEffect filter="fade" transition="in">
                                      <p:cBhvr>
                                        <p:cTn dur="1000"/>
                                        <p:tgtEl>
                                          <p:spTgt spid="10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xEl>
                                              <p:pRg end="1" st="1"/>
                                            </p:txEl>
                                          </p:spTgt>
                                        </p:tgtEl>
                                        <p:attrNameLst>
                                          <p:attrName>style.visibility</p:attrName>
                                        </p:attrNameLst>
                                      </p:cBhvr>
                                      <p:to>
                                        <p:strVal val="visible"/>
                                      </p:to>
                                    </p:set>
                                    <p:animEffect filter="fade" transition="in">
                                      <p:cBhvr>
                                        <p:cTn dur="1000"/>
                                        <p:tgtEl>
                                          <p:spTgt spid="10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xEl>
                                              <p:pRg end="2" st="2"/>
                                            </p:txEl>
                                          </p:spTgt>
                                        </p:tgtEl>
                                        <p:attrNameLst>
                                          <p:attrName>style.visibility</p:attrName>
                                        </p:attrNameLst>
                                      </p:cBhvr>
                                      <p:to>
                                        <p:strVal val="visible"/>
                                      </p:to>
                                    </p:set>
                                    <p:animEffect filter="fade" transition="in">
                                      <p:cBhvr>
                                        <p:cTn dur="1000"/>
                                        <p:tgtEl>
                                          <p:spTgt spid="10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xEl>
                                              <p:pRg end="3" st="3"/>
                                            </p:txEl>
                                          </p:spTgt>
                                        </p:tgtEl>
                                        <p:attrNameLst>
                                          <p:attrName>style.visibility</p:attrName>
                                        </p:attrNameLst>
                                      </p:cBhvr>
                                      <p:to>
                                        <p:strVal val="visible"/>
                                      </p:to>
                                    </p:set>
                                    <p:animEffect filter="fade" transition="in">
                                      <p:cBhvr>
                                        <p:cTn dur="1000"/>
                                        <p:tgtEl>
                                          <p:spTgt spid="10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xEl>
                                              <p:pRg end="4" st="4"/>
                                            </p:txEl>
                                          </p:spTgt>
                                        </p:tgtEl>
                                        <p:attrNameLst>
                                          <p:attrName>style.visibility</p:attrName>
                                        </p:attrNameLst>
                                      </p:cBhvr>
                                      <p:to>
                                        <p:strVal val="visible"/>
                                      </p:to>
                                    </p:set>
                                    <p:animEffect filter="fade" transition="in">
                                      <p:cBhvr>
                                        <p:cTn dur="1000"/>
                                        <p:tgtEl>
                                          <p:spTgt spid="108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xEl>
                                              <p:pRg end="5" st="5"/>
                                            </p:txEl>
                                          </p:spTgt>
                                        </p:tgtEl>
                                        <p:attrNameLst>
                                          <p:attrName>style.visibility</p:attrName>
                                        </p:attrNameLst>
                                      </p:cBhvr>
                                      <p:to>
                                        <p:strVal val="visible"/>
                                      </p:to>
                                    </p:set>
                                    <p:animEffect filter="fade" transition="in">
                                      <p:cBhvr>
                                        <p:cTn dur="1000"/>
                                        <p:tgtEl>
                                          <p:spTgt spid="108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110"/>
          <p:cNvSpPr txBox="1"/>
          <p:nvPr>
            <p:ph idx="1" type="body"/>
          </p:nvPr>
        </p:nvSpPr>
        <p:spPr>
          <a:xfrm>
            <a:off x="533400" y="1066800"/>
            <a:ext cx="11353800" cy="5181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17365D"/>
              </a:buClr>
              <a:buSzPts val="2800"/>
              <a:buFont typeface="Noto Sans Symbols"/>
              <a:buChar char="❖"/>
            </a:pPr>
            <a:r>
              <a:rPr b="1" lang="en-US" sz="2800">
                <a:solidFill>
                  <a:srgbClr val="17365D"/>
                </a:solidFill>
                <a:latin typeface="Times New Roman"/>
                <a:ea typeface="Times New Roman"/>
                <a:cs typeface="Times New Roman"/>
                <a:sym typeface="Times New Roman"/>
              </a:rPr>
              <a:t>Các bước lập trình</a:t>
            </a:r>
            <a:endParaRPr b="1" sz="2800">
              <a:solidFill>
                <a:srgbClr val="17365D"/>
              </a:solidFill>
              <a:latin typeface="Times New Roman"/>
              <a:ea typeface="Times New Roman"/>
              <a:cs typeface="Times New Roman"/>
              <a:sym typeface="Times New Roman"/>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Nạp giá trị cho thanh ghi TMOD xác định bộ Timer 0 hay Timer 1 và chế độ nào được chọn.</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Nạp giá trị đếm ban đầu cho các thanh ghi TL, TH</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Khởi động bộ định thời</a:t>
            </a:r>
            <a:endParaRPr sz="2400">
              <a:latin typeface="Times New Roman"/>
              <a:ea typeface="Times New Roman"/>
              <a:cs typeface="Times New Roman"/>
              <a:sym typeface="Times New Roman"/>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Kiểm tra trạng thái bật của bộ định thời TF bằng lệnh “JNB TFx, đích”. Thoát khỏi vòng lặp khi TF được bật lên cao</a:t>
            </a:r>
            <a:endParaRPr sz="2400">
              <a:latin typeface="Times New Roman"/>
              <a:ea typeface="Times New Roman"/>
              <a:cs typeface="Times New Roman"/>
              <a:sym typeface="Times New Roman"/>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Dừng bộ định thời</a:t>
            </a:r>
            <a:endParaRPr sz="2400">
              <a:latin typeface="Times New Roman"/>
              <a:ea typeface="Times New Roman"/>
              <a:cs typeface="Times New Roman"/>
              <a:sym typeface="Times New Roman"/>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Xóa cờ TF cho vòng kế tiếp.</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Quay trở lại bước 2 để nạp lại TL, TH</a:t>
            </a:r>
            <a:endParaRPr/>
          </a:p>
          <a:p>
            <a:pPr indent="-215900" lvl="1" marL="742950" rtl="0" algn="just">
              <a:spcBef>
                <a:spcPts val="1200"/>
              </a:spcBef>
              <a:spcAft>
                <a:spcPts val="0"/>
              </a:spcAft>
              <a:buClr>
                <a:schemeClr val="dk1"/>
              </a:buClr>
              <a:buSzPts val="2000"/>
              <a:buFont typeface="Calibri"/>
              <a:buNone/>
            </a:pPr>
            <a:r>
              <a:t/>
            </a:r>
            <a:endParaRPr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400"/>
              <a:buNone/>
            </a:pPr>
            <a:r>
              <a:t/>
            </a:r>
            <a:endParaRPr i="1" sz="2400">
              <a:latin typeface="Times New Roman"/>
              <a:ea typeface="Times New Roman"/>
              <a:cs typeface="Times New Roman"/>
              <a:sym typeface="Times New Roman"/>
            </a:endParaRPr>
          </a:p>
        </p:txBody>
      </p:sp>
      <p:sp>
        <p:nvSpPr>
          <p:cNvPr id="1096" name="Google Shape;1096;p110"/>
          <p:cNvSpPr txBox="1"/>
          <p:nvPr>
            <p:ph type="title"/>
          </p:nvPr>
        </p:nvSpPr>
        <p:spPr>
          <a:xfrm>
            <a:off x="28731" y="28731"/>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1 (2)</a:t>
            </a:r>
            <a:endParaRPr sz="2800"/>
          </a:p>
        </p:txBody>
      </p:sp>
      <p:sp>
        <p:nvSpPr>
          <p:cNvPr id="1097" name="Google Shape;1097;p1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11"/>
          <p:cNvSpPr txBox="1"/>
          <p:nvPr>
            <p:ph idx="1" type="body"/>
          </p:nvPr>
        </p:nvSpPr>
        <p:spPr>
          <a:xfrm>
            <a:off x="381000" y="914400"/>
            <a:ext cx="11430000" cy="939970"/>
          </a:xfrm>
          <a:prstGeom prst="rect">
            <a:avLst/>
          </a:prstGeom>
          <a:blipFill rotWithShape="1">
            <a:blip r:embed="rId3">
              <a:alphaModFix/>
            </a:blip>
            <a:stretch>
              <a:fillRect b="-487013" l="-853" r="-800" t="-5194"/>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 </a:t>
            </a:r>
            <a:endParaRPr/>
          </a:p>
        </p:txBody>
      </p:sp>
      <p:grpSp>
        <p:nvGrpSpPr>
          <p:cNvPr id="1103" name="Google Shape;1103;p111"/>
          <p:cNvGrpSpPr/>
          <p:nvPr/>
        </p:nvGrpSpPr>
        <p:grpSpPr>
          <a:xfrm>
            <a:off x="2624818" y="2057400"/>
            <a:ext cx="6866165" cy="718688"/>
            <a:chOff x="1596571" y="3403600"/>
            <a:chExt cx="6866165" cy="718688"/>
          </a:xfrm>
        </p:grpSpPr>
        <p:sp>
          <p:nvSpPr>
            <p:cNvPr id="1104" name="Google Shape;1104;p111"/>
            <p:cNvSpPr txBox="1"/>
            <p:nvPr/>
          </p:nvSpPr>
          <p:spPr>
            <a:xfrm>
              <a:off x="1596571" y="3403600"/>
              <a:ext cx="16002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XTAL </a:t>
              </a:r>
              <a:endParaRPr/>
            </a:p>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Bộ dao động</a:t>
              </a:r>
              <a:endParaRPr sz="1800">
                <a:solidFill>
                  <a:schemeClr val="dk1"/>
                </a:solidFill>
                <a:latin typeface="Times New Roman"/>
                <a:ea typeface="Times New Roman"/>
                <a:cs typeface="Times New Roman"/>
                <a:sym typeface="Times New Roman"/>
              </a:endParaRPr>
            </a:p>
          </p:txBody>
        </p:sp>
        <p:cxnSp>
          <p:nvCxnSpPr>
            <p:cNvPr id="1105" name="Google Shape;1105;p111"/>
            <p:cNvCxnSpPr>
              <a:stCxn id="1104" idx="3"/>
            </p:cNvCxnSpPr>
            <p:nvPr/>
          </p:nvCxnSpPr>
          <p:spPr>
            <a:xfrm>
              <a:off x="3196771" y="3726766"/>
              <a:ext cx="609600" cy="0"/>
            </a:xfrm>
            <a:prstGeom prst="straightConnector1">
              <a:avLst/>
            </a:prstGeom>
            <a:noFill/>
            <a:ln cap="flat" cmpd="sng" w="9525">
              <a:solidFill>
                <a:srgbClr val="345B8A"/>
              </a:solidFill>
              <a:prstDash val="solid"/>
              <a:round/>
              <a:headEnd len="sm" w="sm" type="none"/>
              <a:tailEnd len="med" w="med" type="triangle"/>
            </a:ln>
          </p:spPr>
        </p:cxnSp>
        <p:sp>
          <p:nvSpPr>
            <p:cNvPr id="1106" name="Google Shape;1106;p111"/>
            <p:cNvSpPr txBox="1"/>
            <p:nvPr/>
          </p:nvSpPr>
          <p:spPr>
            <a:xfrm>
              <a:off x="3659414" y="3497728"/>
              <a:ext cx="1600200"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÷12</a:t>
              </a:r>
              <a:endParaRPr/>
            </a:p>
          </p:txBody>
        </p:sp>
        <p:sp>
          <p:nvSpPr>
            <p:cNvPr id="1107" name="Google Shape;1107;p111"/>
            <p:cNvSpPr/>
            <p:nvPr/>
          </p:nvSpPr>
          <p:spPr>
            <a:xfrm>
              <a:off x="1676400" y="3429000"/>
              <a:ext cx="1524000" cy="6858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8" name="Google Shape;1108;p111"/>
            <p:cNvSpPr/>
            <p:nvPr/>
          </p:nvSpPr>
          <p:spPr>
            <a:xfrm>
              <a:off x="3799113" y="3429000"/>
              <a:ext cx="1524000" cy="6858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9" name="Google Shape;1109;p111"/>
            <p:cNvSpPr txBox="1"/>
            <p:nvPr/>
          </p:nvSpPr>
          <p:spPr>
            <a:xfrm>
              <a:off x="6104164" y="3475957"/>
              <a:ext cx="235857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Tần số đồng hồ của bộ đếm/bộ định thời</a:t>
              </a:r>
              <a:endParaRPr sz="1800">
                <a:solidFill>
                  <a:schemeClr val="dk1"/>
                </a:solidFill>
                <a:latin typeface="Times New Roman"/>
                <a:ea typeface="Times New Roman"/>
                <a:cs typeface="Times New Roman"/>
                <a:sym typeface="Times New Roman"/>
              </a:endParaRPr>
            </a:p>
          </p:txBody>
        </p:sp>
        <p:cxnSp>
          <p:nvCxnSpPr>
            <p:cNvPr id="1110" name="Google Shape;1110;p111"/>
            <p:cNvCxnSpPr/>
            <p:nvPr/>
          </p:nvCxnSpPr>
          <p:spPr>
            <a:xfrm>
              <a:off x="5323113" y="3733800"/>
              <a:ext cx="609600" cy="0"/>
            </a:xfrm>
            <a:prstGeom prst="straightConnector1">
              <a:avLst/>
            </a:prstGeom>
            <a:noFill/>
            <a:ln cap="flat" cmpd="sng" w="9525">
              <a:solidFill>
                <a:srgbClr val="345B8A"/>
              </a:solidFill>
              <a:prstDash val="solid"/>
              <a:round/>
              <a:headEnd len="sm" w="sm" type="none"/>
              <a:tailEnd len="med" w="med" type="triangle"/>
            </a:ln>
          </p:spPr>
        </p:cxnSp>
      </p:grpSp>
      <p:sp>
        <p:nvSpPr>
          <p:cNvPr id="1111" name="Google Shape;1111;p111"/>
          <p:cNvSpPr txBox="1"/>
          <p:nvPr>
            <p:ph type="title"/>
          </p:nvPr>
        </p:nvSpPr>
        <p:spPr>
          <a:xfrm>
            <a:off x="527" y="78021"/>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1 (3)</a:t>
            </a:r>
            <a:endParaRPr sz="2800"/>
          </a:p>
        </p:txBody>
      </p:sp>
      <p:sp>
        <p:nvSpPr>
          <p:cNvPr id="1112" name="Google Shape;1112;p1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xEl>
                                              <p:pRg end="0" st="0"/>
                                            </p:txEl>
                                          </p:spTgt>
                                        </p:tgtEl>
                                        <p:attrNameLst>
                                          <p:attrName>style.visibility</p:attrName>
                                        </p:attrNameLst>
                                      </p:cBhvr>
                                      <p:to>
                                        <p:strVal val="visible"/>
                                      </p:to>
                                    </p:set>
                                    <p:animEffect filter="fade" transition="in">
                                      <p:cBhvr>
                                        <p:cTn dur="1000"/>
                                        <p:tgtEl>
                                          <p:spTgt spid="1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1000"/>
                                        <p:tgtEl>
                                          <p:spTgt spid="1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12"/>
          <p:cNvSpPr txBox="1"/>
          <p:nvPr>
            <p:ph idx="1" type="body"/>
          </p:nvPr>
        </p:nvSpPr>
        <p:spPr>
          <a:xfrm>
            <a:off x="304800" y="944562"/>
            <a:ext cx="11658600" cy="5532438"/>
          </a:xfrm>
          <a:prstGeom prst="rect">
            <a:avLst/>
          </a:prstGeom>
          <a:blipFill rotWithShape="1">
            <a:blip r:embed="rId3">
              <a:alphaModFix/>
            </a:blip>
            <a:stretch>
              <a:fillRect b="0" l="-784" r="-627" t="-881"/>
            </a:stretch>
          </a:blip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3200"/>
              <a:buChar char="•"/>
            </a:pPr>
            <a:r>
              <a:rPr lang="en-US"/>
              <a:t> </a:t>
            </a:r>
            <a:endParaRPr/>
          </a:p>
        </p:txBody>
      </p:sp>
      <p:sp>
        <p:nvSpPr>
          <p:cNvPr id="1118" name="Google Shape;1118;p112"/>
          <p:cNvSpPr txBox="1"/>
          <p:nvPr>
            <p:ph type="title"/>
          </p:nvPr>
        </p:nvSpPr>
        <p:spPr>
          <a:xfrm>
            <a:off x="0" y="28731"/>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1 (4)</a:t>
            </a:r>
            <a:endParaRPr sz="2800"/>
          </a:p>
        </p:txBody>
      </p:sp>
      <p:sp>
        <p:nvSpPr>
          <p:cNvPr id="1119" name="Google Shape;1119;p1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7">
                                            <p:txEl>
                                              <p:pRg end="0" st="0"/>
                                            </p:txEl>
                                          </p:spTgt>
                                        </p:tgtEl>
                                        <p:attrNameLst>
                                          <p:attrName>style.visibility</p:attrName>
                                        </p:attrNameLst>
                                      </p:cBhvr>
                                      <p:to>
                                        <p:strVal val="visible"/>
                                      </p:to>
                                    </p:set>
                                    <p:animEffect filter="fade" transition="in">
                                      <p:cBhvr>
                                        <p:cTn dur="1000"/>
                                        <p:tgtEl>
                                          <p:spTgt spid="111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25" name="Google Shape;1125;p113"/>
          <p:cNvSpPr txBox="1"/>
          <p:nvPr/>
        </p:nvSpPr>
        <p:spPr>
          <a:xfrm>
            <a:off x="2286000" y="1524000"/>
            <a:ext cx="6096000" cy="28623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MOV	TMOD, #</a:t>
            </a:r>
            <a:r>
              <a:rPr lang="en-US" sz="2000">
                <a:solidFill>
                  <a:srgbClr val="000000"/>
                </a:solidFill>
                <a:latin typeface="Times New Roman"/>
                <a:ea typeface="Times New Roman"/>
                <a:cs typeface="Times New Roman"/>
                <a:sym typeface="Times New Roman"/>
              </a:rPr>
              <a:t>10</a:t>
            </a:r>
            <a:r>
              <a:rPr b="0" i="0" lang="en-US" sz="2000" u="none" cap="none" strike="noStrike">
                <a:solidFill>
                  <a:srgbClr val="000000"/>
                </a:solidFill>
                <a:latin typeface="Times New Roman"/>
                <a:ea typeface="Times New Roman"/>
                <a:cs typeface="Times New Roman"/>
                <a:sym typeface="Times New Roman"/>
              </a:rPr>
              <a:t>	;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MOV	TL1, #0A0h</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MOV	TH1,#0FFh</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DELAY:</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SETB	TR1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AGAIN: JNB	TF1, AGAIN	;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CLR	TR1		;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CLR	TF1		; </a:t>
            </a:r>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RET</a:t>
            </a:r>
            <a:endParaRPr/>
          </a:p>
        </p:txBody>
      </p:sp>
      <p:sp>
        <p:nvSpPr>
          <p:cNvPr id="1126" name="Google Shape;1126;p113"/>
          <p:cNvSpPr txBox="1"/>
          <p:nvPr/>
        </p:nvSpPr>
        <p:spPr>
          <a:xfrm>
            <a:off x="1524000" y="533400"/>
            <a:ext cx="9296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Tính thời gian trễ trong đoạn chương trình sau,  giả thiết tần số của 8051 XTAL = 12MHz</a:t>
            </a:r>
            <a:endParaRPr sz="1800">
              <a:solidFill>
                <a:schemeClr val="dk1"/>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14"/>
          <p:cNvSpPr txBox="1"/>
          <p:nvPr>
            <p:ph idx="1" type="body"/>
          </p:nvPr>
        </p:nvSpPr>
        <p:spPr>
          <a:xfrm>
            <a:off x="77449" y="685800"/>
            <a:ext cx="11504951" cy="6019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200"/>
              <a:buNone/>
            </a:pPr>
            <a:r>
              <a:rPr b="1" lang="en-US" sz="2200">
                <a:solidFill>
                  <a:srgbClr val="C00000"/>
                </a:solidFill>
                <a:latin typeface="Times New Roman"/>
                <a:ea typeface="Times New Roman"/>
                <a:cs typeface="Times New Roman"/>
                <a:sym typeface="Times New Roman"/>
              </a:rPr>
              <a:t>Ví dụ 3.3. </a:t>
            </a:r>
            <a:r>
              <a:rPr lang="en-US" sz="2200">
                <a:latin typeface="Times New Roman"/>
                <a:ea typeface="Times New Roman"/>
                <a:cs typeface="Times New Roman"/>
                <a:sym typeface="Times New Roman"/>
              </a:rPr>
              <a:t>Tạo trễ có thời gian 1ms cho 8051 có XTAL = 12Hz</a:t>
            </a:r>
            <a:endParaRPr/>
          </a:p>
          <a:p>
            <a:pPr indent="-342900" lvl="0" marL="342900" rtl="0" algn="just">
              <a:spcBef>
                <a:spcPts val="0"/>
              </a:spcBef>
              <a:spcAft>
                <a:spcPts val="0"/>
              </a:spcAft>
              <a:buClr>
                <a:schemeClr val="dk1"/>
              </a:buClr>
              <a:buSzPts val="2400"/>
              <a:buChar char="•"/>
            </a:pPr>
            <a:r>
              <a:rPr b="1" lang="en-US" sz="2400">
                <a:latin typeface="Times New Roman"/>
                <a:ea typeface="Times New Roman"/>
                <a:cs typeface="Times New Roman"/>
                <a:sym typeface="Times New Roman"/>
              </a:rPr>
              <a:t>Xác định nội dung của TL, TH:</a:t>
            </a:r>
            <a:endParaRPr/>
          </a:p>
          <a:p>
            <a:pPr indent="0" lvl="0" marL="0" rtl="0" algn="l">
              <a:spcBef>
                <a:spcPts val="400"/>
              </a:spcBef>
              <a:spcAft>
                <a:spcPts val="0"/>
              </a:spcAft>
              <a:buClr>
                <a:schemeClr val="dk1"/>
              </a:buClr>
              <a:buSzPts val="2000"/>
              <a:buNone/>
            </a:pPr>
            <a:r>
              <a:rPr b="1" lang="en-US" sz="2000">
                <a:latin typeface="Times New Roman"/>
                <a:ea typeface="Times New Roman"/>
                <a:cs typeface="Times New Roman"/>
                <a:sym typeface="Times New Roman"/>
              </a:rPr>
              <a:t>Thời gian trễ </a:t>
            </a:r>
            <a:r>
              <a:rPr lang="en-US" sz="2000">
                <a:latin typeface="Times New Roman"/>
                <a:ea typeface="Times New Roman"/>
                <a:cs typeface="Times New Roman"/>
                <a:sym typeface="Times New Roman"/>
              </a:rPr>
              <a:t>= 1ms = 1000µS = (</a:t>
            </a:r>
            <a:r>
              <a:rPr b="1" lang="en-US" sz="2000">
                <a:latin typeface="Times New Roman"/>
                <a:ea typeface="Times New Roman"/>
                <a:cs typeface="Times New Roman"/>
                <a:sym typeface="Times New Roman"/>
              </a:rPr>
              <a:t>Số đếm +1) </a:t>
            </a:r>
            <a:r>
              <a:rPr lang="en-US" sz="2000">
                <a:latin typeface="Times New Roman"/>
                <a:ea typeface="Times New Roman"/>
                <a:cs typeface="Times New Roman"/>
                <a:sym typeface="Times New Roman"/>
              </a:rPr>
              <a:t>* 1µs = ((65535 – THTL)+1) * 1µs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→1000 = 65536 – THTL</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 THTL = 64536 = FC18h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 TH = FCh, TL = 18h</a:t>
            </a:r>
            <a:endParaRPr/>
          </a:p>
          <a:p>
            <a:pPr indent="-342900" lvl="0" marL="342900" rtl="0" algn="just">
              <a:spcBef>
                <a:spcPts val="0"/>
              </a:spcBef>
              <a:spcAft>
                <a:spcPts val="0"/>
              </a:spcAft>
              <a:buClr>
                <a:schemeClr val="dk1"/>
              </a:buClr>
              <a:buSzPts val="2400"/>
              <a:buChar char="•"/>
            </a:pPr>
            <a:r>
              <a:rPr b="1" lang="en-US" sz="2400">
                <a:latin typeface="Times New Roman"/>
                <a:ea typeface="Times New Roman"/>
                <a:cs typeface="Times New Roman"/>
                <a:sym typeface="Times New Roman"/>
              </a:rPr>
              <a:t>Chương trình:</a:t>
            </a:r>
            <a:endParaRPr/>
          </a:p>
          <a:p>
            <a:pPr indent="0" lvl="0" marL="0" rtl="0" algn="l">
              <a:spcBef>
                <a:spcPts val="1000"/>
              </a:spcBef>
              <a:spcAft>
                <a:spcPts val="0"/>
              </a:spcAft>
              <a:buClr>
                <a:schemeClr val="dk1"/>
              </a:buClr>
              <a:buSzPts val="2000"/>
              <a:buNone/>
            </a:pPr>
            <a:r>
              <a:rPr lang="en-US" sz="2000">
                <a:latin typeface="Times New Roman"/>
                <a:ea typeface="Times New Roman"/>
                <a:cs typeface="Times New Roman"/>
                <a:sym typeface="Times New Roman"/>
              </a:rPr>
              <a:t>DELAY: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MOV TMOD, #01h 	; chọn Timer 0, chế độ 1</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MOV TH0, #0FCh</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MOV TL0, #018H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SETB TR0 		; khởi động Timer 0</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HERE: 	JNB TF0, HERE 		; kiểm tra cờ Timer 0</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CLR TR0 		; xóa TR0 (dừng Timer 0)</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CLR TF0 		; Xóa TF0</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RET</a:t>
            </a:r>
            <a:endParaRPr/>
          </a:p>
          <a:p>
            <a:pPr indent="-215900" lvl="0" marL="34290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215900" lvl="0" marL="342900" rtl="0" algn="just">
              <a:spcBef>
                <a:spcPts val="600"/>
              </a:spcBef>
              <a:spcAft>
                <a:spcPts val="0"/>
              </a:spcAft>
              <a:buClr>
                <a:schemeClr val="dk1"/>
              </a:buClr>
              <a:buSzPts val="2000"/>
              <a:buNone/>
            </a:pPr>
            <a:r>
              <a:t/>
            </a:r>
            <a:endParaRPr b="1"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p:txBody>
      </p:sp>
      <p:sp>
        <p:nvSpPr>
          <p:cNvPr id="1132" name="Google Shape;1132;p114"/>
          <p:cNvSpPr txBox="1"/>
          <p:nvPr>
            <p:ph type="title"/>
          </p:nvPr>
        </p:nvSpPr>
        <p:spPr>
          <a:xfrm>
            <a:off x="77449" y="-45243"/>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1 (5)</a:t>
            </a:r>
            <a:endParaRPr sz="2800"/>
          </a:p>
        </p:txBody>
      </p:sp>
      <p:sp>
        <p:nvSpPr>
          <p:cNvPr id="1133" name="Google Shape;1133;p1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0" st="0"/>
                                            </p:txEl>
                                          </p:spTgt>
                                        </p:tgtEl>
                                        <p:attrNameLst>
                                          <p:attrName>style.visibility</p:attrName>
                                        </p:attrNameLst>
                                      </p:cBhvr>
                                      <p:to>
                                        <p:strVal val="visible"/>
                                      </p:to>
                                    </p:set>
                                    <p:animEffect filter="fade" transition="in">
                                      <p:cBhvr>
                                        <p:cTn dur="1000"/>
                                        <p:tgtEl>
                                          <p:spTgt spid="1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 st="1"/>
                                            </p:txEl>
                                          </p:spTgt>
                                        </p:tgtEl>
                                        <p:attrNameLst>
                                          <p:attrName>style.visibility</p:attrName>
                                        </p:attrNameLst>
                                      </p:cBhvr>
                                      <p:to>
                                        <p:strVal val="visible"/>
                                      </p:to>
                                    </p:set>
                                    <p:animEffect filter="fade" transition="in">
                                      <p:cBhvr>
                                        <p:cTn dur="1000"/>
                                        <p:tgtEl>
                                          <p:spTgt spid="1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2" st="2"/>
                                            </p:txEl>
                                          </p:spTgt>
                                        </p:tgtEl>
                                        <p:attrNameLst>
                                          <p:attrName>style.visibility</p:attrName>
                                        </p:attrNameLst>
                                      </p:cBhvr>
                                      <p:to>
                                        <p:strVal val="visible"/>
                                      </p:to>
                                    </p:set>
                                    <p:animEffect filter="fade" transition="in">
                                      <p:cBhvr>
                                        <p:cTn dur="1000"/>
                                        <p:tgtEl>
                                          <p:spTgt spid="1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3" st="3"/>
                                            </p:txEl>
                                          </p:spTgt>
                                        </p:tgtEl>
                                        <p:attrNameLst>
                                          <p:attrName>style.visibility</p:attrName>
                                        </p:attrNameLst>
                                      </p:cBhvr>
                                      <p:to>
                                        <p:strVal val="visible"/>
                                      </p:to>
                                    </p:set>
                                    <p:animEffect filter="fade" transition="in">
                                      <p:cBhvr>
                                        <p:cTn dur="1000"/>
                                        <p:tgtEl>
                                          <p:spTgt spid="11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4" st="4"/>
                                            </p:txEl>
                                          </p:spTgt>
                                        </p:tgtEl>
                                        <p:attrNameLst>
                                          <p:attrName>style.visibility</p:attrName>
                                        </p:attrNameLst>
                                      </p:cBhvr>
                                      <p:to>
                                        <p:strVal val="visible"/>
                                      </p:to>
                                    </p:set>
                                    <p:animEffect filter="fade" transition="in">
                                      <p:cBhvr>
                                        <p:cTn dur="1000"/>
                                        <p:tgtEl>
                                          <p:spTgt spid="11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5" st="5"/>
                                            </p:txEl>
                                          </p:spTgt>
                                        </p:tgtEl>
                                        <p:attrNameLst>
                                          <p:attrName>style.visibility</p:attrName>
                                        </p:attrNameLst>
                                      </p:cBhvr>
                                      <p:to>
                                        <p:strVal val="visible"/>
                                      </p:to>
                                    </p:set>
                                    <p:animEffect filter="fade" transition="in">
                                      <p:cBhvr>
                                        <p:cTn dur="1000"/>
                                        <p:tgtEl>
                                          <p:spTgt spid="11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6" st="6"/>
                                            </p:txEl>
                                          </p:spTgt>
                                        </p:tgtEl>
                                        <p:attrNameLst>
                                          <p:attrName>style.visibility</p:attrName>
                                        </p:attrNameLst>
                                      </p:cBhvr>
                                      <p:to>
                                        <p:strVal val="visible"/>
                                      </p:to>
                                    </p:set>
                                    <p:animEffect filter="fade" transition="in">
                                      <p:cBhvr>
                                        <p:cTn dur="1000"/>
                                        <p:tgtEl>
                                          <p:spTgt spid="11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7" st="7"/>
                                            </p:txEl>
                                          </p:spTgt>
                                        </p:tgtEl>
                                        <p:attrNameLst>
                                          <p:attrName>style.visibility</p:attrName>
                                        </p:attrNameLst>
                                      </p:cBhvr>
                                      <p:to>
                                        <p:strVal val="visible"/>
                                      </p:to>
                                    </p:set>
                                    <p:animEffect filter="fade" transition="in">
                                      <p:cBhvr>
                                        <p:cTn dur="1000"/>
                                        <p:tgtEl>
                                          <p:spTgt spid="11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8" st="8"/>
                                            </p:txEl>
                                          </p:spTgt>
                                        </p:tgtEl>
                                        <p:attrNameLst>
                                          <p:attrName>style.visibility</p:attrName>
                                        </p:attrNameLst>
                                      </p:cBhvr>
                                      <p:to>
                                        <p:strVal val="visible"/>
                                      </p:to>
                                    </p:set>
                                    <p:animEffect filter="fade" transition="in">
                                      <p:cBhvr>
                                        <p:cTn dur="1000"/>
                                        <p:tgtEl>
                                          <p:spTgt spid="11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9" st="9"/>
                                            </p:txEl>
                                          </p:spTgt>
                                        </p:tgtEl>
                                        <p:attrNameLst>
                                          <p:attrName>style.visibility</p:attrName>
                                        </p:attrNameLst>
                                      </p:cBhvr>
                                      <p:to>
                                        <p:strVal val="visible"/>
                                      </p:to>
                                    </p:set>
                                    <p:animEffect filter="fade" transition="in">
                                      <p:cBhvr>
                                        <p:cTn dur="1000"/>
                                        <p:tgtEl>
                                          <p:spTgt spid="113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0" st="10"/>
                                            </p:txEl>
                                          </p:spTgt>
                                        </p:tgtEl>
                                        <p:attrNameLst>
                                          <p:attrName>style.visibility</p:attrName>
                                        </p:attrNameLst>
                                      </p:cBhvr>
                                      <p:to>
                                        <p:strVal val="visible"/>
                                      </p:to>
                                    </p:set>
                                    <p:animEffect filter="fade" transition="in">
                                      <p:cBhvr>
                                        <p:cTn dur="1000"/>
                                        <p:tgtEl>
                                          <p:spTgt spid="113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1" st="11"/>
                                            </p:txEl>
                                          </p:spTgt>
                                        </p:tgtEl>
                                        <p:attrNameLst>
                                          <p:attrName>style.visibility</p:attrName>
                                        </p:attrNameLst>
                                      </p:cBhvr>
                                      <p:to>
                                        <p:strVal val="visible"/>
                                      </p:to>
                                    </p:set>
                                    <p:animEffect filter="fade" transition="in">
                                      <p:cBhvr>
                                        <p:cTn dur="1000"/>
                                        <p:tgtEl>
                                          <p:spTgt spid="113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2" st="12"/>
                                            </p:txEl>
                                          </p:spTgt>
                                        </p:tgtEl>
                                        <p:attrNameLst>
                                          <p:attrName>style.visibility</p:attrName>
                                        </p:attrNameLst>
                                      </p:cBhvr>
                                      <p:to>
                                        <p:strVal val="visible"/>
                                      </p:to>
                                    </p:set>
                                    <p:animEffect filter="fade" transition="in">
                                      <p:cBhvr>
                                        <p:cTn dur="1000"/>
                                        <p:tgtEl>
                                          <p:spTgt spid="113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3" st="13"/>
                                            </p:txEl>
                                          </p:spTgt>
                                        </p:tgtEl>
                                        <p:attrNameLst>
                                          <p:attrName>style.visibility</p:attrName>
                                        </p:attrNameLst>
                                      </p:cBhvr>
                                      <p:to>
                                        <p:strVal val="visible"/>
                                      </p:to>
                                    </p:set>
                                    <p:animEffect filter="fade" transition="in">
                                      <p:cBhvr>
                                        <p:cTn dur="1000"/>
                                        <p:tgtEl>
                                          <p:spTgt spid="113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4" st="14"/>
                                            </p:txEl>
                                          </p:spTgt>
                                        </p:tgtEl>
                                        <p:attrNameLst>
                                          <p:attrName>style.visibility</p:attrName>
                                        </p:attrNameLst>
                                      </p:cBhvr>
                                      <p:to>
                                        <p:strVal val="visible"/>
                                      </p:to>
                                    </p:set>
                                    <p:animEffect filter="fade" transition="in">
                                      <p:cBhvr>
                                        <p:cTn dur="1000"/>
                                        <p:tgtEl>
                                          <p:spTgt spid="113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5" st="15"/>
                                            </p:txEl>
                                          </p:spTgt>
                                        </p:tgtEl>
                                        <p:attrNameLst>
                                          <p:attrName>style.visibility</p:attrName>
                                        </p:attrNameLst>
                                      </p:cBhvr>
                                      <p:to>
                                        <p:strVal val="visible"/>
                                      </p:to>
                                    </p:set>
                                    <p:animEffect filter="fade" transition="in">
                                      <p:cBhvr>
                                        <p:cTn dur="1000"/>
                                        <p:tgtEl>
                                          <p:spTgt spid="113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6" st="16"/>
                                            </p:txEl>
                                          </p:spTgt>
                                        </p:tgtEl>
                                        <p:attrNameLst>
                                          <p:attrName>style.visibility</p:attrName>
                                        </p:attrNameLst>
                                      </p:cBhvr>
                                      <p:to>
                                        <p:strVal val="visible"/>
                                      </p:to>
                                    </p:set>
                                    <p:animEffect filter="fade" transition="in">
                                      <p:cBhvr>
                                        <p:cTn dur="1000"/>
                                        <p:tgtEl>
                                          <p:spTgt spid="1131">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7" st="17"/>
                                            </p:txEl>
                                          </p:spTgt>
                                        </p:tgtEl>
                                        <p:attrNameLst>
                                          <p:attrName>style.visibility</p:attrName>
                                        </p:attrNameLst>
                                      </p:cBhvr>
                                      <p:to>
                                        <p:strVal val="visible"/>
                                      </p:to>
                                    </p:set>
                                    <p:animEffect filter="fade" transition="in">
                                      <p:cBhvr>
                                        <p:cTn dur="1000"/>
                                        <p:tgtEl>
                                          <p:spTgt spid="1131">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8" st="18"/>
                                            </p:txEl>
                                          </p:spTgt>
                                        </p:tgtEl>
                                        <p:attrNameLst>
                                          <p:attrName>style.visibility</p:attrName>
                                        </p:attrNameLst>
                                      </p:cBhvr>
                                      <p:to>
                                        <p:strVal val="visible"/>
                                      </p:to>
                                    </p:set>
                                    <p:animEffect filter="fade" transition="in">
                                      <p:cBhvr>
                                        <p:cTn dur="1000"/>
                                        <p:tgtEl>
                                          <p:spTgt spid="1131">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19" st="19"/>
                                            </p:txEl>
                                          </p:spTgt>
                                        </p:tgtEl>
                                        <p:attrNameLst>
                                          <p:attrName>style.visibility</p:attrName>
                                        </p:attrNameLst>
                                      </p:cBhvr>
                                      <p:to>
                                        <p:strVal val="visible"/>
                                      </p:to>
                                    </p:set>
                                    <p:animEffect filter="fade" transition="in">
                                      <p:cBhvr>
                                        <p:cTn dur="1000"/>
                                        <p:tgtEl>
                                          <p:spTgt spid="1131">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xEl>
                                              <p:pRg end="20" st="20"/>
                                            </p:txEl>
                                          </p:spTgt>
                                        </p:tgtEl>
                                        <p:attrNameLst>
                                          <p:attrName>style.visibility</p:attrName>
                                        </p:attrNameLst>
                                      </p:cBhvr>
                                      <p:to>
                                        <p:strVal val="visible"/>
                                      </p:to>
                                    </p:set>
                                    <p:animEffect filter="fade" transition="in">
                                      <p:cBhvr>
                                        <p:cTn dur="1000"/>
                                        <p:tgtEl>
                                          <p:spTgt spid="1131">
                                            <p:txEl>
                                              <p:pRg end="20" st="2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15"/>
          <p:cNvSpPr txBox="1"/>
          <p:nvPr>
            <p:ph idx="1" type="body"/>
          </p:nvPr>
        </p:nvSpPr>
        <p:spPr>
          <a:xfrm>
            <a:off x="6246" y="838200"/>
            <a:ext cx="12192000" cy="6019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000"/>
              <a:buNone/>
            </a:pPr>
            <a:r>
              <a:rPr b="1" lang="en-US" sz="2000">
                <a:solidFill>
                  <a:srgbClr val="C00000"/>
                </a:solidFill>
                <a:latin typeface="Times New Roman"/>
                <a:ea typeface="Times New Roman"/>
                <a:cs typeface="Times New Roman"/>
                <a:sym typeface="Times New Roman"/>
              </a:rPr>
              <a:t>Ví dụ 3.4. </a:t>
            </a:r>
            <a:r>
              <a:rPr lang="en-US" sz="2000">
                <a:latin typeface="Times New Roman"/>
                <a:ea typeface="Times New Roman"/>
                <a:cs typeface="Times New Roman"/>
                <a:sym typeface="Times New Roman"/>
              </a:rPr>
              <a:t>Tạo xung vuông T = 2 ms trên chân P2.0 của 8051 (XTAL=12 MHz), sử dụng Timer 0 để tạo trễ thời gian.</a:t>
            </a:r>
            <a:endParaRPr/>
          </a:p>
          <a:p>
            <a:pPr indent="-215900" lvl="0" marL="342900" rtl="0" algn="just">
              <a:spcBef>
                <a:spcPts val="1200"/>
              </a:spcBef>
              <a:spcAft>
                <a:spcPts val="0"/>
              </a:spcAft>
              <a:buClr>
                <a:schemeClr val="dk1"/>
              </a:buClr>
              <a:buSzPts val="2000"/>
              <a:buNone/>
            </a:pPr>
            <a:r>
              <a:t/>
            </a:r>
            <a:endParaRPr b="1" sz="2000">
              <a:latin typeface="Times New Roman"/>
              <a:ea typeface="Times New Roman"/>
              <a:cs typeface="Times New Roman"/>
              <a:sym typeface="Times New Roman"/>
            </a:endParaRPr>
          </a:p>
          <a:p>
            <a:pPr indent="-215900" lvl="0" marL="342900" rtl="0" algn="just">
              <a:spcBef>
                <a:spcPts val="1200"/>
              </a:spcBef>
              <a:spcAft>
                <a:spcPts val="0"/>
              </a:spcAft>
              <a:buClr>
                <a:schemeClr val="dk1"/>
              </a:buClr>
              <a:buSzPts val="2000"/>
              <a:buNone/>
            </a:pPr>
            <a:r>
              <a:t/>
            </a:r>
            <a:endParaRPr b="1" sz="2000">
              <a:latin typeface="Times New Roman"/>
              <a:ea typeface="Times New Roman"/>
              <a:cs typeface="Times New Roman"/>
              <a:sym typeface="Times New Roman"/>
            </a:endParaRPr>
          </a:p>
          <a:p>
            <a:pPr indent="465138" lvl="0" marL="0" rtl="0" algn="just">
              <a:spcBef>
                <a:spcPts val="1200"/>
              </a:spcBef>
              <a:spcAft>
                <a:spcPts val="0"/>
              </a:spcAft>
              <a:buClr>
                <a:schemeClr val="dk1"/>
              </a:buClr>
              <a:buSzPts val="2000"/>
              <a:buNone/>
            </a:pPr>
            <a:r>
              <a:rPr lang="en-US" sz="2000">
                <a:latin typeface="Times New Roman"/>
                <a:ea typeface="Times New Roman"/>
                <a:cs typeface="Times New Roman"/>
                <a:sym typeface="Times New Roman"/>
              </a:rPr>
              <a:t>Theo </a:t>
            </a:r>
            <a:r>
              <a:rPr b="1" lang="en-US" sz="2000">
                <a:solidFill>
                  <a:srgbClr val="C00000"/>
                </a:solidFill>
                <a:latin typeface="Times New Roman"/>
                <a:ea typeface="Times New Roman"/>
                <a:cs typeface="Times New Roman"/>
                <a:sym typeface="Times New Roman"/>
              </a:rPr>
              <a:t>Ví dụ 3.3</a:t>
            </a:r>
            <a:r>
              <a:rPr lang="en-US" sz="2000">
                <a:latin typeface="Times New Roman"/>
                <a:ea typeface="Times New Roman"/>
                <a:cs typeface="Times New Roman"/>
                <a:sym typeface="Times New Roman"/>
              </a:rPr>
              <a:t>, để tạo trễ 1ms sử dụng 8051 có XTAL = 12 MHz, nội dung TH = FCh, TL = 18h. </a:t>
            </a:r>
            <a:endParaRPr/>
          </a:p>
          <a:p>
            <a:pPr indent="465138" lvl="0" marL="0" rtl="0" algn="just">
              <a:spcBef>
                <a:spcPts val="1200"/>
              </a:spcBef>
              <a:spcAft>
                <a:spcPts val="0"/>
              </a:spcAft>
              <a:buClr>
                <a:schemeClr val="dk1"/>
              </a:buClr>
              <a:buSzPts val="2000"/>
              <a:buNone/>
            </a:pPr>
            <a:r>
              <a:rPr b="1" lang="en-US" sz="2000">
                <a:latin typeface="Times New Roman"/>
                <a:ea typeface="Times New Roman"/>
                <a:cs typeface="Times New Roman"/>
                <a:sym typeface="Times New Roman"/>
              </a:rPr>
              <a:t>Chương trình:</a:t>
            </a:r>
            <a:endParaRPr/>
          </a:p>
          <a:p>
            <a:pPr indent="0" lvl="0" marL="0" rtl="0" algn="l">
              <a:spcBef>
                <a:spcPts val="600"/>
              </a:spcBef>
              <a:spcAft>
                <a:spcPts val="0"/>
              </a:spcAft>
              <a:buClr>
                <a:schemeClr val="dk1"/>
              </a:buClr>
              <a:buSzPts val="2000"/>
              <a:buNone/>
            </a:pPr>
            <a:r>
              <a:rPr lang="en-US" sz="2000">
                <a:latin typeface="Times New Roman"/>
                <a:ea typeface="Times New Roman"/>
                <a:cs typeface="Times New Roman"/>
                <a:sym typeface="Times New Roman"/>
              </a:rPr>
              <a:t>		MOV 	TMOD, #01h 	; chọn Timer 0, chế độ 1</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HERE:		MOV 	TH0, #0FCh</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MOV 	TL0, #18h</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CPL	P2.0</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ACALL	DELAY</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SJMP	HERE		; nạp lại TH, TL</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DELAY: </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SETB 	TR0 		; khởi động Timer 0</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AGAIN: 	JNB 	TF0, AGAIN 	; kiểm tra cờ Timer 0</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CLR 	TR0 		; xóa TR0 (dừng Timer 0)</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CLR 	TF0 		; Xóa TF0</a:t>
            </a:r>
            <a:endParaRPr/>
          </a:p>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		RET</a:t>
            </a:r>
            <a:endParaRPr/>
          </a:p>
        </p:txBody>
      </p:sp>
      <p:pic>
        <p:nvPicPr>
          <p:cNvPr id="1139" name="Google Shape;1139;p115"/>
          <p:cNvPicPr preferRelativeResize="0"/>
          <p:nvPr/>
        </p:nvPicPr>
        <p:blipFill rotWithShape="1">
          <a:blip r:embed="rId3">
            <a:alphaModFix/>
          </a:blip>
          <a:srcRect b="0" l="0" r="0" t="0"/>
          <a:stretch/>
        </p:blipFill>
        <p:spPr>
          <a:xfrm>
            <a:off x="5264046" y="1295400"/>
            <a:ext cx="838200" cy="719992"/>
          </a:xfrm>
          <a:prstGeom prst="rect">
            <a:avLst/>
          </a:prstGeom>
          <a:noFill/>
          <a:ln>
            <a:noFill/>
          </a:ln>
        </p:spPr>
      </p:pic>
      <p:sp>
        <p:nvSpPr>
          <p:cNvPr id="1140" name="Google Shape;1140;p115">
            <a:hlinkClick r:id="rId4"/>
          </p:cNvPr>
          <p:cNvSpPr/>
          <p:nvPr/>
        </p:nvSpPr>
        <p:spPr>
          <a:xfrm>
            <a:off x="9506887" y="4038600"/>
            <a:ext cx="685800" cy="3810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1" name="Google Shape;1141;p115"/>
          <p:cNvSpPr txBox="1"/>
          <p:nvPr>
            <p:ph type="title"/>
          </p:nvPr>
        </p:nvSpPr>
        <p:spPr>
          <a:xfrm>
            <a:off x="0" y="28731"/>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1 (6)</a:t>
            </a:r>
            <a:endParaRPr sz="2800"/>
          </a:p>
        </p:txBody>
      </p:sp>
      <p:sp>
        <p:nvSpPr>
          <p:cNvPr id="1142" name="Google Shape;1142;p115"/>
          <p:cNvSpPr txBox="1"/>
          <p:nvPr/>
        </p:nvSpPr>
        <p:spPr>
          <a:xfrm>
            <a:off x="7520066" y="4038600"/>
            <a:ext cx="156647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Phần mềm</a:t>
            </a:r>
            <a:endParaRPr sz="1800">
              <a:solidFill>
                <a:schemeClr val="dk1"/>
              </a:solidFill>
              <a:latin typeface="Times New Roman"/>
              <a:ea typeface="Times New Roman"/>
              <a:cs typeface="Times New Roman"/>
              <a:sym typeface="Times New Roman"/>
            </a:endParaRPr>
          </a:p>
        </p:txBody>
      </p:sp>
      <p:sp>
        <p:nvSpPr>
          <p:cNvPr id="1143" name="Google Shape;1143;p115"/>
          <p:cNvSpPr txBox="1"/>
          <p:nvPr/>
        </p:nvSpPr>
        <p:spPr>
          <a:xfrm>
            <a:off x="7558790" y="4834952"/>
            <a:ext cx="156647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Phần cứng</a:t>
            </a:r>
            <a:endParaRPr sz="1800">
              <a:solidFill>
                <a:schemeClr val="dk1"/>
              </a:solidFill>
              <a:latin typeface="Times New Roman"/>
              <a:ea typeface="Times New Roman"/>
              <a:cs typeface="Times New Roman"/>
              <a:sym typeface="Times New Roman"/>
            </a:endParaRPr>
          </a:p>
        </p:txBody>
      </p:sp>
      <p:sp>
        <p:nvSpPr>
          <p:cNvPr id="1144" name="Google Shape;1144;p115">
            <a:hlinkClick r:id="rId5"/>
          </p:cNvPr>
          <p:cNvSpPr/>
          <p:nvPr/>
        </p:nvSpPr>
        <p:spPr>
          <a:xfrm>
            <a:off x="9506887" y="4834952"/>
            <a:ext cx="685800" cy="369332"/>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5" name="Google Shape;1145;p1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animEffect filter="fade" transition="in">
                                      <p:cBhvr>
                                        <p:cTn dur="1000"/>
                                        <p:tgtEl>
                                          <p:spTgt spid="1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animEffect filter="fade" transition="in">
                                      <p:cBhvr>
                                        <p:cTn dur="1000"/>
                                        <p:tgtEl>
                                          <p:spTgt spid="1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animEffect filter="fade" transition="in">
                                      <p:cBhvr>
                                        <p:cTn dur="1000"/>
                                        <p:tgtEl>
                                          <p:spTgt spid="11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3" st="3"/>
                                            </p:txEl>
                                          </p:spTgt>
                                        </p:tgtEl>
                                        <p:attrNameLst>
                                          <p:attrName>style.visibility</p:attrName>
                                        </p:attrNameLst>
                                      </p:cBhvr>
                                      <p:to>
                                        <p:strVal val="visible"/>
                                      </p:to>
                                    </p:set>
                                    <p:animEffect filter="fade" transition="in">
                                      <p:cBhvr>
                                        <p:cTn dur="1000"/>
                                        <p:tgtEl>
                                          <p:spTgt spid="11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4" st="4"/>
                                            </p:txEl>
                                          </p:spTgt>
                                        </p:tgtEl>
                                        <p:attrNameLst>
                                          <p:attrName>style.visibility</p:attrName>
                                        </p:attrNameLst>
                                      </p:cBhvr>
                                      <p:to>
                                        <p:strVal val="visible"/>
                                      </p:to>
                                    </p:set>
                                    <p:animEffect filter="fade" transition="in">
                                      <p:cBhvr>
                                        <p:cTn dur="1000"/>
                                        <p:tgtEl>
                                          <p:spTgt spid="11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5" st="5"/>
                                            </p:txEl>
                                          </p:spTgt>
                                        </p:tgtEl>
                                        <p:attrNameLst>
                                          <p:attrName>style.visibility</p:attrName>
                                        </p:attrNameLst>
                                      </p:cBhvr>
                                      <p:to>
                                        <p:strVal val="visible"/>
                                      </p:to>
                                    </p:set>
                                    <p:animEffect filter="fade" transition="in">
                                      <p:cBhvr>
                                        <p:cTn dur="1000"/>
                                        <p:tgtEl>
                                          <p:spTgt spid="11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6" st="6"/>
                                            </p:txEl>
                                          </p:spTgt>
                                        </p:tgtEl>
                                        <p:attrNameLst>
                                          <p:attrName>style.visibility</p:attrName>
                                        </p:attrNameLst>
                                      </p:cBhvr>
                                      <p:to>
                                        <p:strVal val="visible"/>
                                      </p:to>
                                    </p:set>
                                    <p:animEffect filter="fade" transition="in">
                                      <p:cBhvr>
                                        <p:cTn dur="1000"/>
                                        <p:tgtEl>
                                          <p:spTgt spid="11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7" st="7"/>
                                            </p:txEl>
                                          </p:spTgt>
                                        </p:tgtEl>
                                        <p:attrNameLst>
                                          <p:attrName>style.visibility</p:attrName>
                                        </p:attrNameLst>
                                      </p:cBhvr>
                                      <p:to>
                                        <p:strVal val="visible"/>
                                      </p:to>
                                    </p:set>
                                    <p:animEffect filter="fade" transition="in">
                                      <p:cBhvr>
                                        <p:cTn dur="1000"/>
                                        <p:tgtEl>
                                          <p:spTgt spid="11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8" st="8"/>
                                            </p:txEl>
                                          </p:spTgt>
                                        </p:tgtEl>
                                        <p:attrNameLst>
                                          <p:attrName>style.visibility</p:attrName>
                                        </p:attrNameLst>
                                      </p:cBhvr>
                                      <p:to>
                                        <p:strVal val="visible"/>
                                      </p:to>
                                    </p:set>
                                    <p:animEffect filter="fade" transition="in">
                                      <p:cBhvr>
                                        <p:cTn dur="1000"/>
                                        <p:tgtEl>
                                          <p:spTgt spid="11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9" st="9"/>
                                            </p:txEl>
                                          </p:spTgt>
                                        </p:tgtEl>
                                        <p:attrNameLst>
                                          <p:attrName>style.visibility</p:attrName>
                                        </p:attrNameLst>
                                      </p:cBhvr>
                                      <p:to>
                                        <p:strVal val="visible"/>
                                      </p:to>
                                    </p:set>
                                    <p:animEffect filter="fade" transition="in">
                                      <p:cBhvr>
                                        <p:cTn dur="1000"/>
                                        <p:tgtEl>
                                          <p:spTgt spid="11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0" st="10"/>
                                            </p:txEl>
                                          </p:spTgt>
                                        </p:tgtEl>
                                        <p:attrNameLst>
                                          <p:attrName>style.visibility</p:attrName>
                                        </p:attrNameLst>
                                      </p:cBhvr>
                                      <p:to>
                                        <p:strVal val="visible"/>
                                      </p:to>
                                    </p:set>
                                    <p:animEffect filter="fade" transition="in">
                                      <p:cBhvr>
                                        <p:cTn dur="1000"/>
                                        <p:tgtEl>
                                          <p:spTgt spid="11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1" st="11"/>
                                            </p:txEl>
                                          </p:spTgt>
                                        </p:tgtEl>
                                        <p:attrNameLst>
                                          <p:attrName>style.visibility</p:attrName>
                                        </p:attrNameLst>
                                      </p:cBhvr>
                                      <p:to>
                                        <p:strVal val="visible"/>
                                      </p:to>
                                    </p:set>
                                    <p:animEffect filter="fade" transition="in">
                                      <p:cBhvr>
                                        <p:cTn dur="1000"/>
                                        <p:tgtEl>
                                          <p:spTgt spid="11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2" st="12"/>
                                            </p:txEl>
                                          </p:spTgt>
                                        </p:tgtEl>
                                        <p:attrNameLst>
                                          <p:attrName>style.visibility</p:attrName>
                                        </p:attrNameLst>
                                      </p:cBhvr>
                                      <p:to>
                                        <p:strVal val="visible"/>
                                      </p:to>
                                    </p:set>
                                    <p:animEffect filter="fade" transition="in">
                                      <p:cBhvr>
                                        <p:cTn dur="1000"/>
                                        <p:tgtEl>
                                          <p:spTgt spid="113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3" st="13"/>
                                            </p:txEl>
                                          </p:spTgt>
                                        </p:tgtEl>
                                        <p:attrNameLst>
                                          <p:attrName>style.visibility</p:attrName>
                                        </p:attrNameLst>
                                      </p:cBhvr>
                                      <p:to>
                                        <p:strVal val="visible"/>
                                      </p:to>
                                    </p:set>
                                    <p:animEffect filter="fade" transition="in">
                                      <p:cBhvr>
                                        <p:cTn dur="1000"/>
                                        <p:tgtEl>
                                          <p:spTgt spid="113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4" st="14"/>
                                            </p:txEl>
                                          </p:spTgt>
                                        </p:tgtEl>
                                        <p:attrNameLst>
                                          <p:attrName>style.visibility</p:attrName>
                                        </p:attrNameLst>
                                      </p:cBhvr>
                                      <p:to>
                                        <p:strVal val="visible"/>
                                      </p:to>
                                    </p:set>
                                    <p:animEffect filter="fade" transition="in">
                                      <p:cBhvr>
                                        <p:cTn dur="1000"/>
                                        <p:tgtEl>
                                          <p:spTgt spid="113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5" st="15"/>
                                            </p:txEl>
                                          </p:spTgt>
                                        </p:tgtEl>
                                        <p:attrNameLst>
                                          <p:attrName>style.visibility</p:attrName>
                                        </p:attrNameLst>
                                      </p:cBhvr>
                                      <p:to>
                                        <p:strVal val="visible"/>
                                      </p:to>
                                    </p:set>
                                    <p:animEffect filter="fade" transition="in">
                                      <p:cBhvr>
                                        <p:cTn dur="1000"/>
                                        <p:tgtEl>
                                          <p:spTgt spid="113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6" st="16"/>
                                            </p:txEl>
                                          </p:spTgt>
                                        </p:tgtEl>
                                        <p:attrNameLst>
                                          <p:attrName>style.visibility</p:attrName>
                                        </p:attrNameLst>
                                      </p:cBhvr>
                                      <p:to>
                                        <p:strVal val="visible"/>
                                      </p:to>
                                    </p:set>
                                    <p:animEffect filter="fade" transition="in">
                                      <p:cBhvr>
                                        <p:cTn dur="1000"/>
                                        <p:tgtEl>
                                          <p:spTgt spid="1138">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1000"/>
                                        <p:tgtEl>
                                          <p:spTgt spid="1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1000"/>
                                        <p:tgtEl>
                                          <p:spTgt spid="1142"/>
                                        </p:tgtEl>
                                      </p:cBhvr>
                                    </p:animEffect>
                                  </p:childTnLst>
                                </p:cTn>
                              </p:par>
                              <p:par>
                                <p:cTn fill="hold" nodeType="with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1000"/>
                                        <p:tgtEl>
                                          <p:spTgt spid="1140"/>
                                        </p:tgtEl>
                                      </p:cBhvr>
                                    </p:animEffect>
                                  </p:childTnLst>
                                </p:cTn>
                              </p:par>
                              <p:par>
                                <p:cTn fill="hold" nodeType="with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1000"/>
                                        <p:tgtEl>
                                          <p:spTgt spid="1143"/>
                                        </p:tgtEl>
                                      </p:cBhvr>
                                    </p:animEffect>
                                  </p:childTnLst>
                                </p:cTn>
                              </p:par>
                              <p:par>
                                <p:cTn fill="hold" nodeType="with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1000"/>
                                        <p:tgtEl>
                                          <p:spTgt spid="1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16"/>
          <p:cNvSpPr txBox="1"/>
          <p:nvPr>
            <p:ph idx="1" type="body"/>
          </p:nvPr>
        </p:nvSpPr>
        <p:spPr>
          <a:xfrm>
            <a:off x="152400" y="3037146"/>
            <a:ext cx="11430000" cy="3657034"/>
          </a:xfrm>
          <a:prstGeom prst="rect">
            <a:avLst/>
          </a:prstGeom>
          <a:noFill/>
          <a:ln>
            <a:noFill/>
          </a:ln>
        </p:spPr>
        <p:txBody>
          <a:bodyPr anchorCtr="0" anchor="t" bIns="45700" lIns="91425" spcFirstLastPara="1" rIns="91425" wrap="square" tIns="45700">
            <a:noAutofit/>
          </a:bodyPr>
          <a:lstStyle/>
          <a:p>
            <a:pPr indent="-347663" lvl="1" marL="347663" rtl="0" algn="just">
              <a:spcBef>
                <a:spcPts val="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Bộ định thời 8 bit, nạp các giá trị từ 00h đến FFh vào thanh ghi TH của bộ định thời.</a:t>
            </a:r>
            <a:endParaRPr/>
          </a:p>
          <a:p>
            <a:pPr indent="-347663" lvl="1" marL="347663" rtl="0" algn="just">
              <a:spcBef>
                <a:spcPts val="6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Sau khi TH được nạp, 8051 sao nội dung của TH vào TL và bộ định thời được khởi động bằng lệnh “SETB TR0” đối với Timer 0, “SETB TR1” đối với Timer 1.</a:t>
            </a:r>
            <a:endParaRPr/>
          </a:p>
          <a:p>
            <a:pPr indent="-347663" lvl="1" marL="347663" rtl="0" algn="just">
              <a:spcBef>
                <a:spcPts val="6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Sau khi được khởi động bộ định thười bắt đầu đếm tăng nội dung TL cho tới khi đạt giá trị giới hạn FFh. Khi quay vòng từ FFh về 00h cờ TF0 (Timer 0) hoặc TF1 (Timer 1) được lập bằng 1. </a:t>
            </a:r>
            <a:endParaRPr/>
          </a:p>
          <a:p>
            <a:pPr indent="-347663" lvl="1" marL="347663" rtl="0" algn="just">
              <a:spcBef>
                <a:spcPts val="6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Khi TF = 1, TL  được tự động nạp lại với giá trị ban đầu đang được lưu ở TH. Để lặp lại quá trình chỉ cần xóa cờ TF và bộ định thời tự làm việc mà không cần nạp lại giá trị ban đầu (chế độ tự nạp – khác với chế độ 1 phải nạp lại các thanh ghi TH và TL)</a:t>
            </a:r>
            <a:endParaRPr/>
          </a:p>
          <a:p>
            <a:pPr indent="0" lvl="0" marL="0" rtl="0" algn="just">
              <a:spcBef>
                <a:spcPts val="6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spcBef>
                <a:spcPts val="600"/>
              </a:spcBef>
              <a:spcAft>
                <a:spcPts val="0"/>
              </a:spcAft>
              <a:buClr>
                <a:schemeClr val="dk1"/>
              </a:buClr>
              <a:buSzPts val="2400"/>
              <a:buNone/>
            </a:pPr>
            <a:r>
              <a:t/>
            </a:r>
            <a:endParaRPr i="1" sz="2400">
              <a:latin typeface="Times New Roman"/>
              <a:ea typeface="Times New Roman"/>
              <a:cs typeface="Times New Roman"/>
              <a:sym typeface="Times New Roman"/>
            </a:endParaRPr>
          </a:p>
        </p:txBody>
      </p:sp>
      <p:pic>
        <p:nvPicPr>
          <p:cNvPr id="1151" name="Google Shape;1151;p116"/>
          <p:cNvPicPr preferRelativeResize="0"/>
          <p:nvPr/>
        </p:nvPicPr>
        <p:blipFill rotWithShape="1">
          <a:blip r:embed="rId3">
            <a:alphaModFix/>
          </a:blip>
          <a:srcRect b="0" l="0" r="0" t="0"/>
          <a:stretch/>
        </p:blipFill>
        <p:spPr>
          <a:xfrm>
            <a:off x="2340483" y="1044300"/>
            <a:ext cx="6978881" cy="1782196"/>
          </a:xfrm>
          <a:prstGeom prst="rect">
            <a:avLst/>
          </a:prstGeom>
          <a:noFill/>
          <a:ln>
            <a:noFill/>
          </a:ln>
        </p:spPr>
      </p:pic>
      <p:sp>
        <p:nvSpPr>
          <p:cNvPr id="1152" name="Google Shape;1152;p116"/>
          <p:cNvSpPr txBox="1"/>
          <p:nvPr>
            <p:ph type="title"/>
          </p:nvPr>
        </p:nvSpPr>
        <p:spPr>
          <a:xfrm>
            <a:off x="77449" y="107157"/>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2 (1)</a:t>
            </a:r>
            <a:endParaRPr sz="2800"/>
          </a:p>
        </p:txBody>
      </p:sp>
      <p:sp>
        <p:nvSpPr>
          <p:cNvPr id="1153" name="Google Shape;1153;p1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1000"/>
                                        <p:tgtEl>
                                          <p:spTgt spid="1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xEl>
                                              <p:pRg end="0" st="0"/>
                                            </p:txEl>
                                          </p:spTgt>
                                        </p:tgtEl>
                                        <p:attrNameLst>
                                          <p:attrName>style.visibility</p:attrName>
                                        </p:attrNameLst>
                                      </p:cBhvr>
                                      <p:to>
                                        <p:strVal val="visible"/>
                                      </p:to>
                                    </p:set>
                                    <p:animEffect filter="fade" transition="in">
                                      <p:cBhvr>
                                        <p:cTn dur="1000"/>
                                        <p:tgtEl>
                                          <p:spTgt spid="1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xEl>
                                              <p:pRg end="1" st="1"/>
                                            </p:txEl>
                                          </p:spTgt>
                                        </p:tgtEl>
                                        <p:attrNameLst>
                                          <p:attrName>style.visibility</p:attrName>
                                        </p:attrNameLst>
                                      </p:cBhvr>
                                      <p:to>
                                        <p:strVal val="visible"/>
                                      </p:to>
                                    </p:set>
                                    <p:animEffect filter="fade" transition="in">
                                      <p:cBhvr>
                                        <p:cTn dur="1000"/>
                                        <p:tgtEl>
                                          <p:spTgt spid="1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xEl>
                                              <p:pRg end="2" st="2"/>
                                            </p:txEl>
                                          </p:spTgt>
                                        </p:tgtEl>
                                        <p:attrNameLst>
                                          <p:attrName>style.visibility</p:attrName>
                                        </p:attrNameLst>
                                      </p:cBhvr>
                                      <p:to>
                                        <p:strVal val="visible"/>
                                      </p:to>
                                    </p:set>
                                    <p:animEffect filter="fade" transition="in">
                                      <p:cBhvr>
                                        <p:cTn dur="1000"/>
                                        <p:tgtEl>
                                          <p:spTgt spid="1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xEl>
                                              <p:pRg end="3" st="3"/>
                                            </p:txEl>
                                          </p:spTgt>
                                        </p:tgtEl>
                                        <p:attrNameLst>
                                          <p:attrName>style.visibility</p:attrName>
                                        </p:attrNameLst>
                                      </p:cBhvr>
                                      <p:to>
                                        <p:strVal val="visible"/>
                                      </p:to>
                                    </p:set>
                                    <p:animEffect filter="fade" transition="in">
                                      <p:cBhvr>
                                        <p:cTn dur="1000"/>
                                        <p:tgtEl>
                                          <p:spTgt spid="1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xEl>
                                              <p:pRg end="4" st="4"/>
                                            </p:txEl>
                                          </p:spTgt>
                                        </p:tgtEl>
                                        <p:attrNameLst>
                                          <p:attrName>style.visibility</p:attrName>
                                        </p:attrNameLst>
                                      </p:cBhvr>
                                      <p:to>
                                        <p:strVal val="visible"/>
                                      </p:to>
                                    </p:set>
                                    <p:animEffect filter="fade" transition="in">
                                      <p:cBhvr>
                                        <p:cTn dur="1000"/>
                                        <p:tgtEl>
                                          <p:spTgt spid="1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xEl>
                                              <p:pRg end="5" st="5"/>
                                            </p:txEl>
                                          </p:spTgt>
                                        </p:tgtEl>
                                        <p:attrNameLst>
                                          <p:attrName>style.visibility</p:attrName>
                                        </p:attrNameLst>
                                      </p:cBhvr>
                                      <p:to>
                                        <p:strVal val="visible"/>
                                      </p:to>
                                    </p:set>
                                    <p:animEffect filter="fade" transition="in">
                                      <p:cBhvr>
                                        <p:cTn dur="1000"/>
                                        <p:tgtEl>
                                          <p:spTgt spid="115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17"/>
          <p:cNvSpPr txBox="1"/>
          <p:nvPr>
            <p:ph idx="1" type="body"/>
          </p:nvPr>
        </p:nvSpPr>
        <p:spPr>
          <a:xfrm>
            <a:off x="457200" y="1295400"/>
            <a:ext cx="11125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Các bước lập trình </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Nạp giá trị cho thanh ghi TMOD xác định bộ Timer 0 hay Timer 1 và chế độ nào được chọn.</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Nạp giá trị đếm ban đầu cho các thanh ghi TH</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Khởi động bộ định thời</a:t>
            </a:r>
            <a:endParaRPr sz="2400">
              <a:latin typeface="Times New Roman"/>
              <a:ea typeface="Times New Roman"/>
              <a:cs typeface="Times New Roman"/>
              <a:sym typeface="Times New Roman"/>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Kiểm tra trạng thái bật của bộ định thời TF bằng lệnh “JNB TFx, đích”. Thoát khỏi vòng lặp khi TF được bật lên cao</a:t>
            </a:r>
            <a:endParaRPr sz="2400">
              <a:latin typeface="Times New Roman"/>
              <a:ea typeface="Times New Roman"/>
              <a:cs typeface="Times New Roman"/>
              <a:sym typeface="Times New Roman"/>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Xóa cờ TF cho vòng kế tiếp.</a:t>
            </a:r>
            <a:endParaRPr/>
          </a:p>
          <a:p>
            <a:pPr indent="-457200" lvl="1" marL="914400" rtl="0" algn="just">
              <a:spcBef>
                <a:spcPts val="1200"/>
              </a:spcBef>
              <a:spcAft>
                <a:spcPts val="0"/>
              </a:spcAft>
              <a:buClr>
                <a:schemeClr val="dk1"/>
              </a:buClr>
              <a:buSzPts val="2400"/>
              <a:buFont typeface="Calibri"/>
              <a:buAutoNum type="arabicParenR"/>
            </a:pPr>
            <a:r>
              <a:rPr lang="en-US" sz="2400">
                <a:latin typeface="Times New Roman"/>
                <a:ea typeface="Times New Roman"/>
                <a:cs typeface="Times New Roman"/>
                <a:sym typeface="Times New Roman"/>
              </a:rPr>
              <a:t>Quay trở lại bước 4 vì chế độ 2 tự nạp lại</a:t>
            </a:r>
            <a:endParaRPr sz="2400">
              <a:latin typeface="Times New Roman"/>
              <a:ea typeface="Times New Roman"/>
              <a:cs typeface="Times New Roman"/>
              <a:sym typeface="Times New Roman"/>
            </a:endParaRPr>
          </a:p>
          <a:p>
            <a:pPr indent="-215900" lvl="1" marL="742950" rtl="0" algn="just">
              <a:spcBef>
                <a:spcPts val="1200"/>
              </a:spcBef>
              <a:spcAft>
                <a:spcPts val="0"/>
              </a:spcAft>
              <a:buClr>
                <a:schemeClr val="dk1"/>
              </a:buClr>
              <a:buSzPts val="2000"/>
              <a:buFont typeface="Calibri"/>
              <a:buNone/>
            </a:pPr>
            <a:r>
              <a:t/>
            </a:r>
            <a:endParaRPr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400"/>
              <a:buNone/>
            </a:pPr>
            <a:r>
              <a:t/>
            </a:r>
            <a:endParaRPr i="1" sz="2400">
              <a:latin typeface="Times New Roman"/>
              <a:ea typeface="Times New Roman"/>
              <a:cs typeface="Times New Roman"/>
              <a:sym typeface="Times New Roman"/>
            </a:endParaRPr>
          </a:p>
        </p:txBody>
      </p:sp>
      <p:sp>
        <p:nvSpPr>
          <p:cNvPr id="1159" name="Google Shape;1159;p117"/>
          <p:cNvSpPr txBox="1"/>
          <p:nvPr>
            <p:ph type="title"/>
          </p:nvPr>
        </p:nvSpPr>
        <p:spPr>
          <a:xfrm>
            <a:off x="77449" y="107157"/>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2 (2)</a:t>
            </a:r>
            <a:endParaRPr sz="2800"/>
          </a:p>
        </p:txBody>
      </p:sp>
      <p:sp>
        <p:nvSpPr>
          <p:cNvPr id="1160" name="Google Shape;1160;p1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0" st="0"/>
                                            </p:txEl>
                                          </p:spTgt>
                                        </p:tgtEl>
                                        <p:attrNameLst>
                                          <p:attrName>style.visibility</p:attrName>
                                        </p:attrNameLst>
                                      </p:cBhvr>
                                      <p:to>
                                        <p:strVal val="visible"/>
                                      </p:to>
                                    </p:set>
                                    <p:animEffect filter="fade" transition="in">
                                      <p:cBhvr>
                                        <p:cTn dur="1000"/>
                                        <p:tgtEl>
                                          <p:spTgt spid="1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1" st="1"/>
                                            </p:txEl>
                                          </p:spTgt>
                                        </p:tgtEl>
                                        <p:attrNameLst>
                                          <p:attrName>style.visibility</p:attrName>
                                        </p:attrNameLst>
                                      </p:cBhvr>
                                      <p:to>
                                        <p:strVal val="visible"/>
                                      </p:to>
                                    </p:set>
                                    <p:animEffect filter="fade" transition="in">
                                      <p:cBhvr>
                                        <p:cTn dur="1000"/>
                                        <p:tgtEl>
                                          <p:spTgt spid="1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2" st="2"/>
                                            </p:txEl>
                                          </p:spTgt>
                                        </p:tgtEl>
                                        <p:attrNameLst>
                                          <p:attrName>style.visibility</p:attrName>
                                        </p:attrNameLst>
                                      </p:cBhvr>
                                      <p:to>
                                        <p:strVal val="visible"/>
                                      </p:to>
                                    </p:set>
                                    <p:animEffect filter="fade" transition="in">
                                      <p:cBhvr>
                                        <p:cTn dur="1000"/>
                                        <p:tgtEl>
                                          <p:spTgt spid="1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3" st="3"/>
                                            </p:txEl>
                                          </p:spTgt>
                                        </p:tgtEl>
                                        <p:attrNameLst>
                                          <p:attrName>style.visibility</p:attrName>
                                        </p:attrNameLst>
                                      </p:cBhvr>
                                      <p:to>
                                        <p:strVal val="visible"/>
                                      </p:to>
                                    </p:set>
                                    <p:animEffect filter="fade" transition="in">
                                      <p:cBhvr>
                                        <p:cTn dur="1000"/>
                                        <p:tgtEl>
                                          <p:spTgt spid="1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4" st="4"/>
                                            </p:txEl>
                                          </p:spTgt>
                                        </p:tgtEl>
                                        <p:attrNameLst>
                                          <p:attrName>style.visibility</p:attrName>
                                        </p:attrNameLst>
                                      </p:cBhvr>
                                      <p:to>
                                        <p:strVal val="visible"/>
                                      </p:to>
                                    </p:set>
                                    <p:animEffect filter="fade" transition="in">
                                      <p:cBhvr>
                                        <p:cTn dur="1000"/>
                                        <p:tgtEl>
                                          <p:spTgt spid="11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5" st="5"/>
                                            </p:txEl>
                                          </p:spTgt>
                                        </p:tgtEl>
                                        <p:attrNameLst>
                                          <p:attrName>style.visibility</p:attrName>
                                        </p:attrNameLst>
                                      </p:cBhvr>
                                      <p:to>
                                        <p:strVal val="visible"/>
                                      </p:to>
                                    </p:set>
                                    <p:animEffect filter="fade" transition="in">
                                      <p:cBhvr>
                                        <p:cTn dur="1000"/>
                                        <p:tgtEl>
                                          <p:spTgt spid="11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6" st="6"/>
                                            </p:txEl>
                                          </p:spTgt>
                                        </p:tgtEl>
                                        <p:attrNameLst>
                                          <p:attrName>style.visibility</p:attrName>
                                        </p:attrNameLst>
                                      </p:cBhvr>
                                      <p:to>
                                        <p:strVal val="visible"/>
                                      </p:to>
                                    </p:set>
                                    <p:animEffect filter="fade" transition="in">
                                      <p:cBhvr>
                                        <p:cTn dur="1000"/>
                                        <p:tgtEl>
                                          <p:spTgt spid="11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7" st="7"/>
                                            </p:txEl>
                                          </p:spTgt>
                                        </p:tgtEl>
                                        <p:attrNameLst>
                                          <p:attrName>style.visibility</p:attrName>
                                        </p:attrNameLst>
                                      </p:cBhvr>
                                      <p:to>
                                        <p:strVal val="visible"/>
                                      </p:to>
                                    </p:set>
                                    <p:animEffect filter="fade" transition="in">
                                      <p:cBhvr>
                                        <p:cTn dur="1000"/>
                                        <p:tgtEl>
                                          <p:spTgt spid="11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8" st="8"/>
                                            </p:txEl>
                                          </p:spTgt>
                                        </p:tgtEl>
                                        <p:attrNameLst>
                                          <p:attrName>style.visibility</p:attrName>
                                        </p:attrNameLst>
                                      </p:cBhvr>
                                      <p:to>
                                        <p:strVal val="visible"/>
                                      </p:to>
                                    </p:set>
                                    <p:animEffect filter="fade" transition="in">
                                      <p:cBhvr>
                                        <p:cTn dur="1000"/>
                                        <p:tgtEl>
                                          <p:spTgt spid="11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xEl>
                                              <p:pRg end="9" st="9"/>
                                            </p:txEl>
                                          </p:spTgt>
                                        </p:tgtEl>
                                        <p:attrNameLst>
                                          <p:attrName>style.visibility</p:attrName>
                                        </p:attrNameLst>
                                      </p:cBhvr>
                                      <p:to>
                                        <p:strVal val="visible"/>
                                      </p:to>
                                    </p:set>
                                    <p:animEffect filter="fade" transition="in">
                                      <p:cBhvr>
                                        <p:cTn dur="1000"/>
                                        <p:tgtEl>
                                          <p:spTgt spid="115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118"/>
          <p:cNvSpPr txBox="1"/>
          <p:nvPr>
            <p:ph idx="1" type="body"/>
          </p:nvPr>
        </p:nvSpPr>
        <p:spPr>
          <a:xfrm>
            <a:off x="457200" y="1066800"/>
            <a:ext cx="11353800" cy="5562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Ví dụ 3.5. </a:t>
            </a:r>
            <a:r>
              <a:rPr lang="en-US" sz="2200">
                <a:latin typeface="Times New Roman"/>
                <a:ea typeface="Times New Roman"/>
                <a:cs typeface="Times New Roman"/>
                <a:sym typeface="Times New Roman"/>
              </a:rPr>
              <a:t>Xác định tần số sóng vuông được tạo ra trên chân P2.0 trong đoạn chương trình sau,  giả thiết tần số của 8051 XTAL = 12MHz</a:t>
            </a:r>
            <a:endParaRPr/>
          </a:p>
          <a:p>
            <a:pPr indent="0" lvl="0" marL="0" rtl="0" algn="just">
              <a:spcBef>
                <a:spcPts val="600"/>
              </a:spcBef>
              <a:spcAft>
                <a:spcPts val="0"/>
              </a:spcAft>
              <a:buClr>
                <a:schemeClr val="dk1"/>
              </a:buClr>
              <a:buSzPts val="2200"/>
              <a:buNone/>
            </a:pPr>
            <a:r>
              <a:rPr lang="en-US" sz="22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MOV	TMOD, #20h	; chọn Timer 1 chế độ 2 (8 bit, tự nạp lại)</a:t>
            </a:r>
            <a:endParaRPr/>
          </a:p>
          <a:p>
            <a:pPr indent="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	MOV	TH1, #5		; TH1 = 5</a:t>
            </a:r>
            <a:endParaRPr/>
          </a:p>
          <a:p>
            <a:pPr indent="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	SETB	TR1		; khởi động Timer 1</a:t>
            </a:r>
            <a:endParaRPr/>
          </a:p>
          <a:p>
            <a:pPr indent="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AGAIN: JNB	TF1, AGAIN	; kiểm tra cờ Timer 1</a:t>
            </a:r>
            <a:endParaRPr/>
          </a:p>
          <a:p>
            <a:pPr indent="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	CPL	P2.0		</a:t>
            </a:r>
            <a:endParaRPr/>
          </a:p>
          <a:p>
            <a:pPr indent="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	CLR	TF1		; xóa cờ Timer 1</a:t>
            </a:r>
            <a:endParaRPr/>
          </a:p>
          <a:p>
            <a:pPr indent="0" lvl="0" marL="0" rtl="0" algn="just">
              <a:spcBef>
                <a:spcPts val="0"/>
              </a:spcBef>
              <a:spcAft>
                <a:spcPts val="0"/>
              </a:spcAft>
              <a:buClr>
                <a:schemeClr val="dk1"/>
              </a:buClr>
              <a:buSzPts val="2000"/>
              <a:buNone/>
            </a:pPr>
            <a:r>
              <a:rPr lang="en-US" sz="2000">
                <a:latin typeface="Times New Roman"/>
                <a:ea typeface="Times New Roman"/>
                <a:cs typeface="Times New Roman"/>
                <a:sym typeface="Times New Roman"/>
              </a:rPr>
              <a:t>	SJMP	AGAIN</a:t>
            </a:r>
            <a:endParaRPr/>
          </a:p>
          <a:p>
            <a:pPr indent="0" lvl="0" marL="0" rtl="0" algn="just">
              <a:spcBef>
                <a:spcPts val="600"/>
              </a:spcBef>
              <a:spcAft>
                <a:spcPts val="0"/>
              </a:spcAft>
              <a:buClr>
                <a:schemeClr val="dk1"/>
              </a:buClr>
              <a:buSzPts val="2400"/>
              <a:buNone/>
            </a:pPr>
            <a:r>
              <a:rPr b="1" lang="en-US" sz="2400">
                <a:latin typeface="Times New Roman"/>
                <a:ea typeface="Times New Roman"/>
                <a:cs typeface="Times New Roman"/>
                <a:sym typeface="Times New Roman"/>
              </a:rPr>
              <a:t>Giải:</a:t>
            </a:r>
            <a:endParaRPr/>
          </a:p>
          <a:p>
            <a:pPr indent="-342900" lvl="0" marL="342900" rtl="0" algn="just">
              <a:spcBef>
                <a:spcPts val="120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Thời gian trễ (nửa chu kỳ) = (256 – 5) * 1µs = 251 µs. </a:t>
            </a:r>
            <a:endParaRPr/>
          </a:p>
          <a:p>
            <a:pPr indent="-342900" lvl="0" marL="342900" rtl="0" algn="just">
              <a:spcBef>
                <a:spcPts val="120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Cả chu kỳ xung T = 251 * 2 = 502 µs</a:t>
            </a:r>
            <a:endParaRPr/>
          </a:p>
          <a:p>
            <a:pPr indent="-342900" lvl="0" marL="342900" rtl="0" algn="just">
              <a:spcBef>
                <a:spcPts val="1200"/>
              </a:spcBef>
              <a:spcAft>
                <a:spcPts val="0"/>
              </a:spcAft>
              <a:buClr>
                <a:schemeClr val="dk1"/>
              </a:buClr>
              <a:buSzPts val="2200"/>
              <a:buFont typeface="Times New Roman"/>
              <a:buChar char="-"/>
            </a:pPr>
            <a:r>
              <a:rPr lang="en-US" sz="2200">
                <a:latin typeface="Times New Roman"/>
                <a:ea typeface="Times New Roman"/>
                <a:cs typeface="Times New Roman"/>
                <a:sym typeface="Times New Roman"/>
              </a:rPr>
              <a:t> Tần số = 1/T = 1,992kHz</a:t>
            </a:r>
            <a:endParaRPr/>
          </a:p>
          <a:p>
            <a:pPr indent="0" lvl="0" marL="0" rtl="0" algn="ctr">
              <a:spcBef>
                <a:spcPts val="1200"/>
              </a:spcBef>
              <a:spcAft>
                <a:spcPts val="0"/>
              </a:spcAft>
              <a:buClr>
                <a:schemeClr val="dk1"/>
              </a:buClr>
              <a:buSzPts val="2200"/>
              <a:buNone/>
            </a:pPr>
            <a:r>
              <a:t/>
            </a:r>
            <a:endParaRPr i="1" sz="22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200"/>
              <a:buNone/>
            </a:pPr>
            <a:r>
              <a:t/>
            </a:r>
            <a:endParaRPr i="1" sz="2200">
              <a:latin typeface="Times New Roman"/>
              <a:ea typeface="Times New Roman"/>
              <a:cs typeface="Times New Roman"/>
              <a:sym typeface="Times New Roman"/>
            </a:endParaRPr>
          </a:p>
        </p:txBody>
      </p:sp>
      <p:sp>
        <p:nvSpPr>
          <p:cNvPr id="1166" name="Google Shape;1166;p118">
            <a:hlinkClick r:id="rId3"/>
          </p:cNvPr>
          <p:cNvSpPr/>
          <p:nvPr/>
        </p:nvSpPr>
        <p:spPr>
          <a:xfrm>
            <a:off x="10287000" y="4918023"/>
            <a:ext cx="609600" cy="3810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7" name="Google Shape;1167;p118">
            <a:hlinkClick r:id="rId4"/>
          </p:cNvPr>
          <p:cNvSpPr/>
          <p:nvPr/>
        </p:nvSpPr>
        <p:spPr>
          <a:xfrm>
            <a:off x="10303864" y="5583211"/>
            <a:ext cx="609600" cy="3810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118"/>
          <p:cNvSpPr txBox="1"/>
          <p:nvPr/>
        </p:nvSpPr>
        <p:spPr>
          <a:xfrm>
            <a:off x="8534400" y="4929691"/>
            <a:ext cx="156647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Phần mềm</a:t>
            </a:r>
            <a:endParaRPr sz="1800">
              <a:solidFill>
                <a:schemeClr val="dk1"/>
              </a:solidFill>
              <a:latin typeface="Times New Roman"/>
              <a:ea typeface="Times New Roman"/>
              <a:cs typeface="Times New Roman"/>
              <a:sym typeface="Times New Roman"/>
            </a:endParaRPr>
          </a:p>
        </p:txBody>
      </p:sp>
      <p:sp>
        <p:nvSpPr>
          <p:cNvPr id="1169" name="Google Shape;1169;p118"/>
          <p:cNvSpPr txBox="1"/>
          <p:nvPr/>
        </p:nvSpPr>
        <p:spPr>
          <a:xfrm>
            <a:off x="8559384" y="5583211"/>
            <a:ext cx="156647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Phần cứng</a:t>
            </a:r>
            <a:endParaRPr sz="1800">
              <a:solidFill>
                <a:schemeClr val="dk1"/>
              </a:solidFill>
              <a:latin typeface="Times New Roman"/>
              <a:ea typeface="Times New Roman"/>
              <a:cs typeface="Times New Roman"/>
              <a:sym typeface="Times New Roman"/>
            </a:endParaRPr>
          </a:p>
        </p:txBody>
      </p:sp>
      <p:sp>
        <p:nvSpPr>
          <p:cNvPr id="1170" name="Google Shape;1170;p118"/>
          <p:cNvSpPr txBox="1"/>
          <p:nvPr>
            <p:ph type="title"/>
          </p:nvPr>
        </p:nvSpPr>
        <p:spPr>
          <a:xfrm>
            <a:off x="77449" y="107157"/>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2 (3)</a:t>
            </a:r>
            <a:endParaRPr sz="2800"/>
          </a:p>
        </p:txBody>
      </p:sp>
      <p:sp>
        <p:nvSpPr>
          <p:cNvPr id="1171" name="Google Shape;1171;p1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0" st="0"/>
                                            </p:txEl>
                                          </p:spTgt>
                                        </p:tgtEl>
                                        <p:attrNameLst>
                                          <p:attrName>style.visibility</p:attrName>
                                        </p:attrNameLst>
                                      </p:cBhvr>
                                      <p:to>
                                        <p:strVal val="visible"/>
                                      </p:to>
                                    </p:set>
                                    <p:animEffect filter="fade" transition="in">
                                      <p:cBhvr>
                                        <p:cTn dur="1000"/>
                                        <p:tgtEl>
                                          <p:spTgt spid="1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1" st="1"/>
                                            </p:txEl>
                                          </p:spTgt>
                                        </p:tgtEl>
                                        <p:attrNameLst>
                                          <p:attrName>style.visibility</p:attrName>
                                        </p:attrNameLst>
                                      </p:cBhvr>
                                      <p:to>
                                        <p:strVal val="visible"/>
                                      </p:to>
                                    </p:set>
                                    <p:animEffect filter="fade" transition="in">
                                      <p:cBhvr>
                                        <p:cTn dur="1000"/>
                                        <p:tgtEl>
                                          <p:spTgt spid="1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2" st="2"/>
                                            </p:txEl>
                                          </p:spTgt>
                                        </p:tgtEl>
                                        <p:attrNameLst>
                                          <p:attrName>style.visibility</p:attrName>
                                        </p:attrNameLst>
                                      </p:cBhvr>
                                      <p:to>
                                        <p:strVal val="visible"/>
                                      </p:to>
                                    </p:set>
                                    <p:animEffect filter="fade" transition="in">
                                      <p:cBhvr>
                                        <p:cTn dur="1000"/>
                                        <p:tgtEl>
                                          <p:spTgt spid="11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3" st="3"/>
                                            </p:txEl>
                                          </p:spTgt>
                                        </p:tgtEl>
                                        <p:attrNameLst>
                                          <p:attrName>style.visibility</p:attrName>
                                        </p:attrNameLst>
                                      </p:cBhvr>
                                      <p:to>
                                        <p:strVal val="visible"/>
                                      </p:to>
                                    </p:set>
                                    <p:animEffect filter="fade" transition="in">
                                      <p:cBhvr>
                                        <p:cTn dur="1000"/>
                                        <p:tgtEl>
                                          <p:spTgt spid="11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4" st="4"/>
                                            </p:txEl>
                                          </p:spTgt>
                                        </p:tgtEl>
                                        <p:attrNameLst>
                                          <p:attrName>style.visibility</p:attrName>
                                        </p:attrNameLst>
                                      </p:cBhvr>
                                      <p:to>
                                        <p:strVal val="visible"/>
                                      </p:to>
                                    </p:set>
                                    <p:animEffect filter="fade" transition="in">
                                      <p:cBhvr>
                                        <p:cTn dur="1000"/>
                                        <p:tgtEl>
                                          <p:spTgt spid="11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5" st="5"/>
                                            </p:txEl>
                                          </p:spTgt>
                                        </p:tgtEl>
                                        <p:attrNameLst>
                                          <p:attrName>style.visibility</p:attrName>
                                        </p:attrNameLst>
                                      </p:cBhvr>
                                      <p:to>
                                        <p:strVal val="visible"/>
                                      </p:to>
                                    </p:set>
                                    <p:animEffect filter="fade" transition="in">
                                      <p:cBhvr>
                                        <p:cTn dur="1000"/>
                                        <p:tgtEl>
                                          <p:spTgt spid="11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6" st="6"/>
                                            </p:txEl>
                                          </p:spTgt>
                                        </p:tgtEl>
                                        <p:attrNameLst>
                                          <p:attrName>style.visibility</p:attrName>
                                        </p:attrNameLst>
                                      </p:cBhvr>
                                      <p:to>
                                        <p:strVal val="visible"/>
                                      </p:to>
                                    </p:set>
                                    <p:animEffect filter="fade" transition="in">
                                      <p:cBhvr>
                                        <p:cTn dur="1000"/>
                                        <p:tgtEl>
                                          <p:spTgt spid="11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7" st="7"/>
                                            </p:txEl>
                                          </p:spTgt>
                                        </p:tgtEl>
                                        <p:attrNameLst>
                                          <p:attrName>style.visibility</p:attrName>
                                        </p:attrNameLst>
                                      </p:cBhvr>
                                      <p:to>
                                        <p:strVal val="visible"/>
                                      </p:to>
                                    </p:set>
                                    <p:animEffect filter="fade" transition="in">
                                      <p:cBhvr>
                                        <p:cTn dur="1000"/>
                                        <p:tgtEl>
                                          <p:spTgt spid="11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8" st="8"/>
                                            </p:txEl>
                                          </p:spTgt>
                                        </p:tgtEl>
                                        <p:attrNameLst>
                                          <p:attrName>style.visibility</p:attrName>
                                        </p:attrNameLst>
                                      </p:cBhvr>
                                      <p:to>
                                        <p:strVal val="visible"/>
                                      </p:to>
                                    </p:set>
                                    <p:animEffect filter="fade" transition="in">
                                      <p:cBhvr>
                                        <p:cTn dur="1000"/>
                                        <p:tgtEl>
                                          <p:spTgt spid="11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9" st="9"/>
                                            </p:txEl>
                                          </p:spTgt>
                                        </p:tgtEl>
                                        <p:attrNameLst>
                                          <p:attrName>style.visibility</p:attrName>
                                        </p:attrNameLst>
                                      </p:cBhvr>
                                      <p:to>
                                        <p:strVal val="visible"/>
                                      </p:to>
                                    </p:set>
                                    <p:animEffect filter="fade" transition="in">
                                      <p:cBhvr>
                                        <p:cTn dur="1000"/>
                                        <p:tgtEl>
                                          <p:spTgt spid="11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10" st="10"/>
                                            </p:txEl>
                                          </p:spTgt>
                                        </p:tgtEl>
                                        <p:attrNameLst>
                                          <p:attrName>style.visibility</p:attrName>
                                        </p:attrNameLst>
                                      </p:cBhvr>
                                      <p:to>
                                        <p:strVal val="visible"/>
                                      </p:to>
                                    </p:set>
                                    <p:animEffect filter="fade" transition="in">
                                      <p:cBhvr>
                                        <p:cTn dur="1000"/>
                                        <p:tgtEl>
                                          <p:spTgt spid="11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11" st="11"/>
                                            </p:txEl>
                                          </p:spTgt>
                                        </p:tgtEl>
                                        <p:attrNameLst>
                                          <p:attrName>style.visibility</p:attrName>
                                        </p:attrNameLst>
                                      </p:cBhvr>
                                      <p:to>
                                        <p:strVal val="visible"/>
                                      </p:to>
                                    </p:set>
                                    <p:animEffect filter="fade" transition="in">
                                      <p:cBhvr>
                                        <p:cTn dur="1000"/>
                                        <p:tgtEl>
                                          <p:spTgt spid="116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12" st="12"/>
                                            </p:txEl>
                                          </p:spTgt>
                                        </p:tgtEl>
                                        <p:attrNameLst>
                                          <p:attrName>style.visibility</p:attrName>
                                        </p:attrNameLst>
                                      </p:cBhvr>
                                      <p:to>
                                        <p:strVal val="visible"/>
                                      </p:to>
                                    </p:set>
                                    <p:animEffect filter="fade" transition="in">
                                      <p:cBhvr>
                                        <p:cTn dur="1000"/>
                                        <p:tgtEl>
                                          <p:spTgt spid="116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xEl>
                                              <p:pRg end="13" st="13"/>
                                            </p:txEl>
                                          </p:spTgt>
                                        </p:tgtEl>
                                        <p:attrNameLst>
                                          <p:attrName>style.visibility</p:attrName>
                                        </p:attrNameLst>
                                      </p:cBhvr>
                                      <p:to>
                                        <p:strVal val="visible"/>
                                      </p:to>
                                    </p:set>
                                    <p:animEffect filter="fade" transition="in">
                                      <p:cBhvr>
                                        <p:cTn dur="1000"/>
                                        <p:tgtEl>
                                          <p:spTgt spid="116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1000"/>
                                        <p:tgtEl>
                                          <p:spTgt spid="1168"/>
                                        </p:tgtEl>
                                      </p:cBhvr>
                                    </p:animEffect>
                                  </p:childTnLst>
                                </p:cTn>
                              </p:par>
                              <p:par>
                                <p:cTn fill="hold" nodeType="with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1000"/>
                                        <p:tgtEl>
                                          <p:spTgt spid="1166"/>
                                        </p:tgtEl>
                                      </p:cBhvr>
                                    </p:animEffect>
                                  </p:childTnLst>
                                </p:cTn>
                              </p:par>
                              <p:par>
                                <p:cTn fill="hold" nodeType="with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1000"/>
                                        <p:tgtEl>
                                          <p:spTgt spid="1169"/>
                                        </p:tgtEl>
                                      </p:cBhvr>
                                    </p:animEffect>
                                  </p:childTnLst>
                                </p:cTn>
                              </p:par>
                              <p:par>
                                <p:cTn fill="hold" nodeType="with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1000"/>
                                        <p:tgtEl>
                                          <p:spTgt spid="1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19"/>
          <p:cNvSpPr txBox="1"/>
          <p:nvPr>
            <p:ph idx="1" type="body"/>
          </p:nvPr>
        </p:nvSpPr>
        <p:spPr>
          <a:xfrm>
            <a:off x="304800" y="990600"/>
            <a:ext cx="11582400" cy="5638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2400"/>
              <a:buNone/>
            </a:pPr>
            <a:r>
              <a:rPr b="1" lang="en-US" sz="2400">
                <a:latin typeface="Times New Roman"/>
                <a:ea typeface="Times New Roman"/>
                <a:cs typeface="Times New Roman"/>
                <a:sym typeface="Times New Roman"/>
              </a:rPr>
              <a:t>Bài tập 3.1. </a:t>
            </a:r>
            <a:r>
              <a:rPr lang="en-US" sz="2400">
                <a:latin typeface="Times New Roman"/>
                <a:ea typeface="Times New Roman"/>
                <a:cs typeface="Times New Roman"/>
                <a:sym typeface="Times New Roman"/>
              </a:rPr>
              <a:t>Giả thiết nội dung của TH = 08Bh, TL = 3Eh của 8051 làm việc ở tần số 12 MHz. Tính thời gian trễ (sử dụng Timer 0 làm việc ở chế độ 1), từ đó viết đoạn chương trình tạo ra một dãy xung vuông tại chân P2.0 có chu kỳ bằng 4 lần thời gian trễ đã tính.</a:t>
            </a:r>
            <a:endParaRPr/>
          </a:p>
          <a:p>
            <a:pPr indent="0" lvl="0" marL="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400"/>
              <a:buNone/>
            </a:pPr>
            <a:r>
              <a:rPr b="1" lang="en-US" sz="2400">
                <a:latin typeface="Times New Roman"/>
                <a:ea typeface="Times New Roman"/>
                <a:cs typeface="Times New Roman"/>
                <a:sym typeface="Times New Roman"/>
              </a:rPr>
              <a:t>Bài tâp 3.2. </a:t>
            </a:r>
            <a:r>
              <a:rPr lang="en-US" sz="2400">
                <a:latin typeface="Times New Roman"/>
                <a:ea typeface="Times New Roman"/>
                <a:cs typeface="Times New Roman"/>
                <a:sym typeface="Times New Roman"/>
              </a:rPr>
              <a:t>Tính thời gian trễ lớn nhất sử dụng Timer của 8051 làm việc ở tần số 12MHz (sử dụng Timer 1 làm việc ở chế độ 2), từ đó viết đoạn chương trình tạo ra dãy xung vuông tại chân P2.0 có chu kỳ bằng 10 lần thời gian trễ đã tính.</a:t>
            </a:r>
            <a:endParaRPr/>
          </a:p>
          <a:p>
            <a:pPr indent="0" lvl="0" marL="0" rtl="0" algn="just">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a:p>
            <a:pPr indent="-215900" lvl="0" marL="342900" rtl="0" algn="just">
              <a:spcBef>
                <a:spcPts val="1200"/>
              </a:spcBef>
              <a:spcAft>
                <a:spcPts val="0"/>
              </a:spcAft>
              <a:buClr>
                <a:schemeClr val="dk1"/>
              </a:buClr>
              <a:buSzPts val="2000"/>
              <a:buNone/>
            </a:pPr>
            <a:r>
              <a:t/>
            </a:r>
            <a:endParaRPr b="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p:txBody>
      </p:sp>
      <p:sp>
        <p:nvSpPr>
          <p:cNvPr id="1177" name="Google Shape;1177;p119">
            <a:hlinkClick r:id="rId3"/>
          </p:cNvPr>
          <p:cNvSpPr/>
          <p:nvPr/>
        </p:nvSpPr>
        <p:spPr>
          <a:xfrm>
            <a:off x="2667000" y="2812643"/>
            <a:ext cx="762000" cy="3810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8" name="Google Shape;1178;p119">
            <a:hlinkClick r:id="rId4"/>
          </p:cNvPr>
          <p:cNvSpPr/>
          <p:nvPr/>
        </p:nvSpPr>
        <p:spPr>
          <a:xfrm>
            <a:off x="6400800" y="2812643"/>
            <a:ext cx="762000" cy="3810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9" name="Google Shape;1179;p119">
            <a:hlinkClick r:id="rId5"/>
          </p:cNvPr>
          <p:cNvSpPr/>
          <p:nvPr/>
        </p:nvSpPr>
        <p:spPr>
          <a:xfrm>
            <a:off x="2703226" y="5672362"/>
            <a:ext cx="762000" cy="3810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0" name="Google Shape;1180;p119">
            <a:hlinkClick r:id="rId6"/>
          </p:cNvPr>
          <p:cNvSpPr/>
          <p:nvPr/>
        </p:nvSpPr>
        <p:spPr>
          <a:xfrm>
            <a:off x="6410169" y="5730240"/>
            <a:ext cx="822960" cy="36576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1" name="Google Shape;1181;p119"/>
          <p:cNvSpPr txBox="1"/>
          <p:nvPr/>
        </p:nvSpPr>
        <p:spPr>
          <a:xfrm>
            <a:off x="2514600" y="2408134"/>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mềm</a:t>
            </a:r>
            <a:endParaRPr sz="1800">
              <a:solidFill>
                <a:schemeClr val="dk1"/>
              </a:solidFill>
              <a:latin typeface="Times New Roman"/>
              <a:ea typeface="Times New Roman"/>
              <a:cs typeface="Times New Roman"/>
              <a:sym typeface="Times New Roman"/>
            </a:endParaRPr>
          </a:p>
        </p:txBody>
      </p:sp>
      <p:sp>
        <p:nvSpPr>
          <p:cNvPr id="1182" name="Google Shape;1182;p119"/>
          <p:cNvSpPr txBox="1"/>
          <p:nvPr/>
        </p:nvSpPr>
        <p:spPr>
          <a:xfrm>
            <a:off x="6240905" y="2408134"/>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cứng</a:t>
            </a:r>
            <a:endParaRPr sz="1800">
              <a:solidFill>
                <a:schemeClr val="dk1"/>
              </a:solidFill>
              <a:latin typeface="Times New Roman"/>
              <a:ea typeface="Times New Roman"/>
              <a:cs typeface="Times New Roman"/>
              <a:sym typeface="Times New Roman"/>
            </a:endParaRPr>
          </a:p>
        </p:txBody>
      </p:sp>
      <p:sp>
        <p:nvSpPr>
          <p:cNvPr id="1183" name="Google Shape;1183;p119"/>
          <p:cNvSpPr txBox="1"/>
          <p:nvPr/>
        </p:nvSpPr>
        <p:spPr>
          <a:xfrm>
            <a:off x="2548328" y="5187275"/>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mềm</a:t>
            </a:r>
            <a:endParaRPr sz="1800">
              <a:solidFill>
                <a:schemeClr val="dk1"/>
              </a:solidFill>
              <a:latin typeface="Times New Roman"/>
              <a:ea typeface="Times New Roman"/>
              <a:cs typeface="Times New Roman"/>
              <a:sym typeface="Times New Roman"/>
            </a:endParaRPr>
          </a:p>
        </p:txBody>
      </p:sp>
      <p:sp>
        <p:nvSpPr>
          <p:cNvPr id="1184" name="Google Shape;1184;p119"/>
          <p:cNvSpPr txBox="1"/>
          <p:nvPr/>
        </p:nvSpPr>
        <p:spPr>
          <a:xfrm>
            <a:off x="6324600" y="5303030"/>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cứng</a:t>
            </a:r>
            <a:endParaRPr sz="1800">
              <a:solidFill>
                <a:schemeClr val="dk1"/>
              </a:solidFill>
              <a:latin typeface="Times New Roman"/>
              <a:ea typeface="Times New Roman"/>
              <a:cs typeface="Times New Roman"/>
              <a:sym typeface="Times New Roman"/>
            </a:endParaRPr>
          </a:p>
        </p:txBody>
      </p:sp>
      <p:sp>
        <p:nvSpPr>
          <p:cNvPr id="1185" name="Google Shape;1185;p119"/>
          <p:cNvSpPr txBox="1"/>
          <p:nvPr>
            <p:ph type="title"/>
          </p:nvPr>
        </p:nvSpPr>
        <p:spPr>
          <a:xfrm>
            <a:off x="77449" y="107157"/>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định thời Chế độ 2 (4)</a:t>
            </a:r>
            <a:endParaRPr sz="2800"/>
          </a:p>
        </p:txBody>
      </p:sp>
      <p:sp>
        <p:nvSpPr>
          <p:cNvPr id="1186" name="Google Shape;1186;p1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20"/>
          <p:cNvSpPr txBox="1"/>
          <p:nvPr>
            <p:ph idx="1" type="body"/>
          </p:nvPr>
        </p:nvSpPr>
        <p:spPr>
          <a:xfrm>
            <a:off x="609600" y="1447800"/>
            <a:ext cx="10820400" cy="3505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Khi Bộ định thời/bộ đếm thực hiện chức năng định thời sử dụng nguồn xung thạch anh của 8051, còn thực hiện chức năng bộ đếm thì sử dụng nguồn xung lấy từ bên ngoài của 8051 để tăng nội dung các thanh ghi TH, TL.</a:t>
            </a:r>
            <a:endParaRPr/>
          </a:p>
          <a:p>
            <a:pPr indent="-342900" lvl="0" marL="342900" rtl="0" algn="just">
              <a:spcBef>
                <a:spcPts val="12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Bit C/T của TMOD có nhiệm vụ xác định nguồn xung. Nếu C/T=0 bộ định thời nhận xung đồng hồ từ bộ dao động thạch anh của 8051, nếu C/T=1 bộ đếm nhận xung từ bên ngoài 8051.</a:t>
            </a:r>
            <a:endParaRPr/>
          </a:p>
          <a:p>
            <a:pPr indent="-342900" lvl="0" marL="342900" rtl="0" algn="just">
              <a:spcBef>
                <a:spcPts val="12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C/T=1 bộ đếm thự hiện đếm tăng khi có xung đông hồ đưa tới chân P3.4 (T0 – đầu vào của Timer 0) hoặc P3.5(T1 – đầu vào của Timer 1)</a:t>
            </a:r>
            <a:endParaRPr/>
          </a:p>
          <a:p>
            <a:pPr indent="-190500" lvl="0" marL="342900" rtl="0" algn="just">
              <a:spcBef>
                <a:spcPts val="1200"/>
              </a:spcBef>
              <a:spcAft>
                <a:spcPts val="0"/>
              </a:spcAft>
              <a:buClr>
                <a:schemeClr val="dk1"/>
              </a:buClr>
              <a:buSzPts val="2400"/>
              <a:buFont typeface="Noto Sans Symbols"/>
              <a:buNone/>
            </a:pPr>
            <a:r>
              <a:t/>
            </a:r>
            <a:endParaRPr sz="2400">
              <a:latin typeface="Times New Roman"/>
              <a:ea typeface="Times New Roman"/>
              <a:cs typeface="Times New Roman"/>
              <a:sym typeface="Times New Roman"/>
            </a:endParaRPr>
          </a:p>
        </p:txBody>
      </p:sp>
      <p:sp>
        <p:nvSpPr>
          <p:cNvPr id="1192" name="Google Shape;1192;p120"/>
          <p:cNvSpPr txBox="1"/>
          <p:nvPr>
            <p:ph type="title"/>
          </p:nvPr>
        </p:nvSpPr>
        <p:spPr>
          <a:xfrm>
            <a:off x="77449" y="107157"/>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bộ đếm (1)</a:t>
            </a:r>
            <a:endParaRPr sz="2800"/>
          </a:p>
        </p:txBody>
      </p:sp>
      <p:sp>
        <p:nvSpPr>
          <p:cNvPr id="1193" name="Google Shape;1193;p1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xEl>
                                              <p:pRg end="0" st="0"/>
                                            </p:txEl>
                                          </p:spTgt>
                                        </p:tgtEl>
                                        <p:attrNameLst>
                                          <p:attrName>style.visibility</p:attrName>
                                        </p:attrNameLst>
                                      </p:cBhvr>
                                      <p:to>
                                        <p:strVal val="visible"/>
                                      </p:to>
                                    </p:set>
                                    <p:animEffect filter="fade" transition="in">
                                      <p:cBhvr>
                                        <p:cTn dur="1000"/>
                                        <p:tgtEl>
                                          <p:spTgt spid="1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xEl>
                                              <p:pRg end="1" st="1"/>
                                            </p:txEl>
                                          </p:spTgt>
                                        </p:tgtEl>
                                        <p:attrNameLst>
                                          <p:attrName>style.visibility</p:attrName>
                                        </p:attrNameLst>
                                      </p:cBhvr>
                                      <p:to>
                                        <p:strVal val="visible"/>
                                      </p:to>
                                    </p:set>
                                    <p:animEffect filter="fade" transition="in">
                                      <p:cBhvr>
                                        <p:cTn dur="1000"/>
                                        <p:tgtEl>
                                          <p:spTgt spid="1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xEl>
                                              <p:pRg end="2" st="2"/>
                                            </p:txEl>
                                          </p:spTgt>
                                        </p:tgtEl>
                                        <p:attrNameLst>
                                          <p:attrName>style.visibility</p:attrName>
                                        </p:attrNameLst>
                                      </p:cBhvr>
                                      <p:to>
                                        <p:strVal val="visible"/>
                                      </p:to>
                                    </p:set>
                                    <p:animEffect filter="fade" transition="in">
                                      <p:cBhvr>
                                        <p:cTn dur="1000"/>
                                        <p:tgtEl>
                                          <p:spTgt spid="1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xEl>
                                              <p:pRg end="3" st="3"/>
                                            </p:txEl>
                                          </p:spTgt>
                                        </p:tgtEl>
                                        <p:attrNameLst>
                                          <p:attrName>style.visibility</p:attrName>
                                        </p:attrNameLst>
                                      </p:cBhvr>
                                      <p:to>
                                        <p:strVal val="visible"/>
                                      </p:to>
                                    </p:set>
                                    <p:animEffect filter="fade" transition="in">
                                      <p:cBhvr>
                                        <p:cTn dur="1000"/>
                                        <p:tgtEl>
                                          <p:spTgt spid="11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121"/>
          <p:cNvSpPr txBox="1"/>
          <p:nvPr>
            <p:ph idx="1" type="body"/>
          </p:nvPr>
        </p:nvSpPr>
        <p:spPr>
          <a:xfrm>
            <a:off x="381000" y="868362"/>
            <a:ext cx="11506200" cy="5684838"/>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2400"/>
              <a:buNone/>
            </a:pPr>
            <a:r>
              <a:rPr b="1" lang="en-US" sz="2400">
                <a:solidFill>
                  <a:srgbClr val="FF0000"/>
                </a:solidFill>
                <a:latin typeface="Times New Roman"/>
                <a:ea typeface="Times New Roman"/>
                <a:cs typeface="Times New Roman"/>
                <a:sym typeface="Times New Roman"/>
              </a:rPr>
              <a:t>Ví dụ 3.6. </a:t>
            </a:r>
            <a:r>
              <a:rPr lang="en-US" sz="2000">
                <a:latin typeface="Times New Roman"/>
                <a:ea typeface="Times New Roman"/>
                <a:cs typeface="Times New Roman"/>
                <a:sym typeface="Times New Roman"/>
              </a:rPr>
              <a:t>Giả sử xung đồng hồ được cấp tới chân T1. Viết chương trình cho bộ đếm 1 ở chế độ 2 để đếm các xung và hiển thị trạng thái của số đếm TL1 trên cổng P2</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MOV	    TMOD, #01100000B	; chọn bộ đếm 1, chế độ 2, </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 C/T=1 xung ngoài</a:t>
            </a:r>
            <a:endParaRPr sz="2000">
              <a:latin typeface="Times New Roman"/>
              <a:ea typeface="Times New Roman"/>
              <a:cs typeface="Times New Roman"/>
              <a:sym typeface="Times New Roman"/>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MOV     TH1, #0		; xóa TH1</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SETB	     P3.5			; lấy đầu vào T1</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AGAIN:  SETB	     TR1			; khởi động bộ đếm</a:t>
            </a:r>
            <a:endParaRPr sz="2000">
              <a:latin typeface="Times New Roman"/>
              <a:ea typeface="Times New Roman"/>
              <a:cs typeface="Times New Roman"/>
              <a:sym typeface="Times New Roman"/>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BACK:    MOV	     A, TL1		; lấy bản sao số đếm TL1</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MOV	     P2, A			; đưa TL1 hiển thị ra cổng P2</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JNB        TF1, BACK		; duy trì đếm nếu TF = 0</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CLR        TR1			; dung bộ đếm</a:t>
            </a:r>
            <a:endParaRPr sz="2000">
              <a:latin typeface="Times New Roman"/>
              <a:ea typeface="Times New Roman"/>
              <a:cs typeface="Times New Roman"/>
              <a:sym typeface="Times New Roman"/>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CLR        TF1			; xóa cờ  TF1</a:t>
            </a:r>
            <a:endParaRPr/>
          </a:p>
          <a:p>
            <a:pPr indent="0" lvl="0" marL="0" rtl="0" algn="just">
              <a:spcBef>
                <a:spcPts val="600"/>
              </a:spcBef>
              <a:spcAft>
                <a:spcPts val="0"/>
              </a:spcAft>
              <a:buClr>
                <a:schemeClr val="dk1"/>
              </a:buClr>
              <a:buSzPts val="2000"/>
              <a:buNone/>
            </a:pPr>
            <a:r>
              <a:rPr lang="en-US" sz="2000">
                <a:latin typeface="Times New Roman"/>
                <a:ea typeface="Times New Roman"/>
                <a:cs typeface="Times New Roman"/>
                <a:sym typeface="Times New Roman"/>
              </a:rPr>
              <a:t>	   SJMP       AGAIN		; tiếp tục thực hiện			</a:t>
            </a:r>
            <a:endParaRPr/>
          </a:p>
          <a:p>
            <a:pPr indent="-342900" lvl="0" marL="342900" rtl="0" algn="just">
              <a:spcBef>
                <a:spcPts val="600"/>
              </a:spcBef>
              <a:spcAft>
                <a:spcPts val="0"/>
              </a:spcAft>
              <a:buClr>
                <a:schemeClr val="dk1"/>
              </a:buClr>
              <a:buSzPts val="2000"/>
              <a:buFont typeface="Noto Sans Symbols"/>
              <a:buChar char="⮚"/>
            </a:pPr>
            <a:r>
              <a:rPr b="1" i="1" lang="en-US" sz="2000">
                <a:latin typeface="Times New Roman"/>
                <a:ea typeface="Times New Roman"/>
                <a:cs typeface="Times New Roman"/>
                <a:sym typeface="Times New Roman"/>
              </a:rPr>
              <a:t>Lưu ý: </a:t>
            </a:r>
            <a:r>
              <a:rPr lang="en-US" sz="2000">
                <a:latin typeface="Times New Roman"/>
                <a:ea typeface="Times New Roman"/>
                <a:cs typeface="Times New Roman"/>
                <a:sym typeface="Times New Roman"/>
              </a:rPr>
              <a:t>các cổng được thiết lập là cổng ra mỗi khi 8051 được cấp nguồn, do vậy để P3.5 là đầu vào phải chuyển nó lên mức cao bằng lệnh “SETB P3.5</a:t>
            </a:r>
            <a:endParaRPr/>
          </a:p>
        </p:txBody>
      </p:sp>
      <p:sp>
        <p:nvSpPr>
          <p:cNvPr id="1199" name="Google Shape;1199;p121">
            <a:hlinkClick r:id="rId3"/>
          </p:cNvPr>
          <p:cNvSpPr/>
          <p:nvPr/>
        </p:nvSpPr>
        <p:spPr>
          <a:xfrm>
            <a:off x="10894102" y="3200400"/>
            <a:ext cx="609600" cy="3048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0" name="Google Shape;1200;p121">
            <a:hlinkClick r:id="rId4"/>
          </p:cNvPr>
          <p:cNvSpPr/>
          <p:nvPr/>
        </p:nvSpPr>
        <p:spPr>
          <a:xfrm>
            <a:off x="10972800" y="3974434"/>
            <a:ext cx="533400" cy="341086"/>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1" name="Google Shape;1201;p121"/>
          <p:cNvSpPr txBox="1"/>
          <p:nvPr>
            <p:ph type="title"/>
          </p:nvPr>
        </p:nvSpPr>
        <p:spPr>
          <a:xfrm>
            <a:off x="77449" y="107157"/>
            <a:ext cx="11504951" cy="73104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Times New Roman"/>
              <a:buNone/>
            </a:pPr>
            <a:r>
              <a:rPr b="1" lang="en-US" sz="2800">
                <a:solidFill>
                  <a:srgbClr val="17365D"/>
                </a:solidFill>
                <a:latin typeface="Times New Roman"/>
                <a:ea typeface="Times New Roman"/>
                <a:cs typeface="Times New Roman"/>
                <a:sym typeface="Times New Roman"/>
              </a:rPr>
              <a:t>3.4. Lập trình cho bộ định thời/bộ đếm - </a:t>
            </a:r>
            <a:r>
              <a:rPr b="1" lang="en-US" sz="2800">
                <a:solidFill>
                  <a:srgbClr val="C00000"/>
                </a:solidFill>
                <a:latin typeface="Times New Roman"/>
                <a:ea typeface="Times New Roman"/>
                <a:cs typeface="Times New Roman"/>
                <a:sym typeface="Times New Roman"/>
              </a:rPr>
              <a:t>Lập trình bộ đếm (2)</a:t>
            </a:r>
            <a:endParaRPr sz="2800"/>
          </a:p>
        </p:txBody>
      </p:sp>
      <p:sp>
        <p:nvSpPr>
          <p:cNvPr id="1202" name="Google Shape;1202;p121"/>
          <p:cNvSpPr txBox="1"/>
          <p:nvPr/>
        </p:nvSpPr>
        <p:spPr>
          <a:xfrm>
            <a:off x="9328879" y="3135868"/>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mềm</a:t>
            </a:r>
            <a:endParaRPr sz="1800">
              <a:solidFill>
                <a:schemeClr val="dk1"/>
              </a:solidFill>
              <a:latin typeface="Times New Roman"/>
              <a:ea typeface="Times New Roman"/>
              <a:cs typeface="Times New Roman"/>
              <a:sym typeface="Times New Roman"/>
            </a:endParaRPr>
          </a:p>
        </p:txBody>
      </p:sp>
      <p:sp>
        <p:nvSpPr>
          <p:cNvPr id="1203" name="Google Shape;1203;p121"/>
          <p:cNvSpPr txBox="1"/>
          <p:nvPr/>
        </p:nvSpPr>
        <p:spPr>
          <a:xfrm>
            <a:off x="9328879" y="3907022"/>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Phần cứng</a:t>
            </a:r>
            <a:endParaRPr sz="1800">
              <a:solidFill>
                <a:schemeClr val="dk1"/>
              </a:solidFill>
              <a:latin typeface="Times New Roman"/>
              <a:ea typeface="Times New Roman"/>
              <a:cs typeface="Times New Roman"/>
              <a:sym typeface="Times New Roman"/>
            </a:endParaRPr>
          </a:p>
        </p:txBody>
      </p:sp>
      <p:sp>
        <p:nvSpPr>
          <p:cNvPr id="1204" name="Google Shape;1204;p1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0" st="0"/>
                                            </p:txEl>
                                          </p:spTgt>
                                        </p:tgtEl>
                                        <p:attrNameLst>
                                          <p:attrName>style.visibility</p:attrName>
                                        </p:attrNameLst>
                                      </p:cBhvr>
                                      <p:to>
                                        <p:strVal val="visible"/>
                                      </p:to>
                                    </p:set>
                                    <p:animEffect filter="fade" transition="in">
                                      <p:cBhvr>
                                        <p:cTn dur="1000"/>
                                        <p:tgtEl>
                                          <p:spTgt spid="1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 st="1"/>
                                            </p:txEl>
                                          </p:spTgt>
                                        </p:tgtEl>
                                        <p:attrNameLst>
                                          <p:attrName>style.visibility</p:attrName>
                                        </p:attrNameLst>
                                      </p:cBhvr>
                                      <p:to>
                                        <p:strVal val="visible"/>
                                      </p:to>
                                    </p:set>
                                    <p:animEffect filter="fade" transition="in">
                                      <p:cBhvr>
                                        <p:cTn dur="1000"/>
                                        <p:tgtEl>
                                          <p:spTgt spid="1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2" st="2"/>
                                            </p:txEl>
                                          </p:spTgt>
                                        </p:tgtEl>
                                        <p:attrNameLst>
                                          <p:attrName>style.visibility</p:attrName>
                                        </p:attrNameLst>
                                      </p:cBhvr>
                                      <p:to>
                                        <p:strVal val="visible"/>
                                      </p:to>
                                    </p:set>
                                    <p:animEffect filter="fade" transition="in">
                                      <p:cBhvr>
                                        <p:cTn dur="1000"/>
                                        <p:tgtEl>
                                          <p:spTgt spid="1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3" st="3"/>
                                            </p:txEl>
                                          </p:spTgt>
                                        </p:tgtEl>
                                        <p:attrNameLst>
                                          <p:attrName>style.visibility</p:attrName>
                                        </p:attrNameLst>
                                      </p:cBhvr>
                                      <p:to>
                                        <p:strVal val="visible"/>
                                      </p:to>
                                    </p:set>
                                    <p:animEffect filter="fade" transition="in">
                                      <p:cBhvr>
                                        <p:cTn dur="1000"/>
                                        <p:tgtEl>
                                          <p:spTgt spid="1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4" st="4"/>
                                            </p:txEl>
                                          </p:spTgt>
                                        </p:tgtEl>
                                        <p:attrNameLst>
                                          <p:attrName>style.visibility</p:attrName>
                                        </p:attrNameLst>
                                      </p:cBhvr>
                                      <p:to>
                                        <p:strVal val="visible"/>
                                      </p:to>
                                    </p:set>
                                    <p:animEffect filter="fade" transition="in">
                                      <p:cBhvr>
                                        <p:cTn dur="1000"/>
                                        <p:tgtEl>
                                          <p:spTgt spid="1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5" st="5"/>
                                            </p:txEl>
                                          </p:spTgt>
                                        </p:tgtEl>
                                        <p:attrNameLst>
                                          <p:attrName>style.visibility</p:attrName>
                                        </p:attrNameLst>
                                      </p:cBhvr>
                                      <p:to>
                                        <p:strVal val="visible"/>
                                      </p:to>
                                    </p:set>
                                    <p:animEffect filter="fade" transition="in">
                                      <p:cBhvr>
                                        <p:cTn dur="1000"/>
                                        <p:tgtEl>
                                          <p:spTgt spid="1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6" st="6"/>
                                            </p:txEl>
                                          </p:spTgt>
                                        </p:tgtEl>
                                        <p:attrNameLst>
                                          <p:attrName>style.visibility</p:attrName>
                                        </p:attrNameLst>
                                      </p:cBhvr>
                                      <p:to>
                                        <p:strVal val="visible"/>
                                      </p:to>
                                    </p:set>
                                    <p:animEffect filter="fade" transition="in">
                                      <p:cBhvr>
                                        <p:cTn dur="1000"/>
                                        <p:tgtEl>
                                          <p:spTgt spid="11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7" st="7"/>
                                            </p:txEl>
                                          </p:spTgt>
                                        </p:tgtEl>
                                        <p:attrNameLst>
                                          <p:attrName>style.visibility</p:attrName>
                                        </p:attrNameLst>
                                      </p:cBhvr>
                                      <p:to>
                                        <p:strVal val="visible"/>
                                      </p:to>
                                    </p:set>
                                    <p:animEffect filter="fade" transition="in">
                                      <p:cBhvr>
                                        <p:cTn dur="1000"/>
                                        <p:tgtEl>
                                          <p:spTgt spid="11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8" st="8"/>
                                            </p:txEl>
                                          </p:spTgt>
                                        </p:tgtEl>
                                        <p:attrNameLst>
                                          <p:attrName>style.visibility</p:attrName>
                                        </p:attrNameLst>
                                      </p:cBhvr>
                                      <p:to>
                                        <p:strVal val="visible"/>
                                      </p:to>
                                    </p:set>
                                    <p:animEffect filter="fade" transition="in">
                                      <p:cBhvr>
                                        <p:cTn dur="1000"/>
                                        <p:tgtEl>
                                          <p:spTgt spid="11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9" st="9"/>
                                            </p:txEl>
                                          </p:spTgt>
                                        </p:tgtEl>
                                        <p:attrNameLst>
                                          <p:attrName>style.visibility</p:attrName>
                                        </p:attrNameLst>
                                      </p:cBhvr>
                                      <p:to>
                                        <p:strVal val="visible"/>
                                      </p:to>
                                    </p:set>
                                    <p:animEffect filter="fade" transition="in">
                                      <p:cBhvr>
                                        <p:cTn dur="1000"/>
                                        <p:tgtEl>
                                          <p:spTgt spid="119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0" st="10"/>
                                            </p:txEl>
                                          </p:spTgt>
                                        </p:tgtEl>
                                        <p:attrNameLst>
                                          <p:attrName>style.visibility</p:attrName>
                                        </p:attrNameLst>
                                      </p:cBhvr>
                                      <p:to>
                                        <p:strVal val="visible"/>
                                      </p:to>
                                    </p:set>
                                    <p:animEffect filter="fade" transition="in">
                                      <p:cBhvr>
                                        <p:cTn dur="1000"/>
                                        <p:tgtEl>
                                          <p:spTgt spid="119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1" st="11"/>
                                            </p:txEl>
                                          </p:spTgt>
                                        </p:tgtEl>
                                        <p:attrNameLst>
                                          <p:attrName>style.visibility</p:attrName>
                                        </p:attrNameLst>
                                      </p:cBhvr>
                                      <p:to>
                                        <p:strVal val="visible"/>
                                      </p:to>
                                    </p:set>
                                    <p:animEffect filter="fade" transition="in">
                                      <p:cBhvr>
                                        <p:cTn dur="1000"/>
                                        <p:tgtEl>
                                          <p:spTgt spid="119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12" st="12"/>
                                            </p:txEl>
                                          </p:spTgt>
                                        </p:tgtEl>
                                        <p:attrNameLst>
                                          <p:attrName>style.visibility</p:attrName>
                                        </p:attrNameLst>
                                      </p:cBhvr>
                                      <p:to>
                                        <p:strVal val="visible"/>
                                      </p:to>
                                    </p:set>
                                    <p:animEffect filter="fade" transition="in">
                                      <p:cBhvr>
                                        <p:cTn dur="1000"/>
                                        <p:tgtEl>
                                          <p:spTgt spid="119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1000"/>
                                        <p:tgtEl>
                                          <p:spTgt spid="1202"/>
                                        </p:tgtEl>
                                      </p:cBhvr>
                                    </p:animEffect>
                                  </p:childTnLst>
                                </p:cTn>
                              </p:par>
                              <p:par>
                                <p:cTn fill="hold" nodeType="with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1000"/>
                                        <p:tgtEl>
                                          <p:spTgt spid="1199"/>
                                        </p:tgtEl>
                                      </p:cBhvr>
                                    </p:animEffect>
                                  </p:childTnLst>
                                </p:cTn>
                              </p:par>
                              <p:par>
                                <p:cTn fill="hold" nodeType="withEffect" presetClass="entr" presetID="10" presetSubtype="0">
                                  <p:stCondLst>
                                    <p:cond delay="0"/>
                                  </p:stCondLst>
                                  <p:childTnLst>
                                    <p:set>
                                      <p:cBhvr>
                                        <p:cTn dur="1" fill="hold">
                                          <p:stCondLst>
                                            <p:cond delay="0"/>
                                          </p:stCondLst>
                                        </p:cTn>
                                        <p:tgtEl>
                                          <p:spTgt spid="1203"/>
                                        </p:tgtEl>
                                        <p:attrNameLst>
                                          <p:attrName>style.visibility</p:attrName>
                                        </p:attrNameLst>
                                      </p:cBhvr>
                                      <p:to>
                                        <p:strVal val="visible"/>
                                      </p:to>
                                    </p:set>
                                    <p:animEffect filter="fade" transition="in">
                                      <p:cBhvr>
                                        <p:cTn dur="1000"/>
                                        <p:tgtEl>
                                          <p:spTgt spid="1203"/>
                                        </p:tgtEl>
                                      </p:cBhvr>
                                    </p:animEffect>
                                  </p:childTnLst>
                                </p:cTn>
                              </p:par>
                              <p:par>
                                <p:cTn fill="hold" nodeType="with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1000"/>
                                        <p:tgtEl>
                                          <p:spTgt spid="1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122"/>
          <p:cNvSpPr txBox="1"/>
          <p:nvPr>
            <p:ph idx="1" type="body"/>
          </p:nvPr>
        </p:nvSpPr>
        <p:spPr>
          <a:xfrm>
            <a:off x="262328" y="1219200"/>
            <a:ext cx="11353800" cy="4518472"/>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8051 có một cổng nối tiếp, chức năng cơ bản là thực hiện chuyển đổi dữ liệu song song sang nối tiếp khi phát và chuyển đổi nối tiếp sang song song khi thu.</a:t>
            </a:r>
            <a:endParaRPr/>
          </a:p>
          <a:p>
            <a:pPr indent="-342900" lvl="0" marL="342900" rtl="0" algn="just">
              <a:spcBef>
                <a:spcPts val="1200"/>
              </a:spcBef>
              <a:spcAft>
                <a:spcPts val="0"/>
              </a:spcAft>
              <a:buClr>
                <a:schemeClr val="dk1"/>
              </a:buClr>
              <a:buSzPts val="2800"/>
              <a:buChar char="•"/>
            </a:pPr>
            <a:r>
              <a:rPr lang="en-US" sz="2800">
                <a:latin typeface="Times New Roman"/>
                <a:ea typeface="Times New Roman"/>
                <a:cs typeface="Times New Roman"/>
                <a:sym typeface="Times New Roman"/>
              </a:rPr>
              <a:t>Các mạch phần cứng bên ngoài truy xuất cổng nối tiếp thông qua chân TxD (P3.1) – phát dữ liệu, chân RxD (P3.0) – thu dữ liệu.</a:t>
            </a:r>
            <a:endParaRPr/>
          </a:p>
          <a:p>
            <a:pPr indent="-342900" lvl="0" marL="342900" rtl="0" algn="just">
              <a:spcBef>
                <a:spcPts val="1200"/>
              </a:spcBef>
              <a:spcAft>
                <a:spcPts val="0"/>
              </a:spcAft>
              <a:buClr>
                <a:schemeClr val="dk1"/>
              </a:buClr>
              <a:buSzPts val="2800"/>
              <a:buChar char="•"/>
            </a:pPr>
            <a:r>
              <a:rPr lang="en-US" sz="2800">
                <a:latin typeface="Times New Roman"/>
                <a:ea typeface="Times New Roman"/>
                <a:cs typeface="Times New Roman"/>
                <a:sym typeface="Times New Roman"/>
              </a:rPr>
              <a:t>Cổng nối tiếp của 8051 hoạt động song công (full duplex), tức là có khả năng thu và phát đồng thời.</a:t>
            </a:r>
            <a:endParaRPr/>
          </a:p>
          <a:p>
            <a:pPr indent="-342900" lvl="0" marL="342900" rtl="0" algn="just">
              <a:spcBef>
                <a:spcPts val="1200"/>
              </a:spcBef>
              <a:spcAft>
                <a:spcPts val="0"/>
              </a:spcAft>
              <a:buClr>
                <a:schemeClr val="dk1"/>
              </a:buClr>
              <a:buSzPts val="2800"/>
              <a:buChar char="•"/>
            </a:pPr>
            <a:r>
              <a:rPr lang="en-US" sz="2800">
                <a:latin typeface="Times New Roman"/>
                <a:ea typeface="Times New Roman"/>
                <a:cs typeface="Times New Roman"/>
                <a:sym typeface="Times New Roman"/>
              </a:rPr>
              <a:t>Để truy xuất cổng nối tiếp 8051 sử dụng hai thanh ghi: SBUF (đệm dữ liệu) và SCON (cấu hình cổng nôi tiếp)</a:t>
            </a:r>
            <a:endParaRPr/>
          </a:p>
          <a:p>
            <a:pPr indent="0" lvl="0" marL="0" rtl="0" algn="just">
              <a:spcBef>
                <a:spcPts val="1200"/>
              </a:spcBef>
              <a:spcAft>
                <a:spcPts val="0"/>
              </a:spcAft>
              <a:buClr>
                <a:schemeClr val="dk1"/>
              </a:buClr>
              <a:buSzPts val="2800"/>
              <a:buNone/>
            </a:pPr>
            <a:r>
              <a:t/>
            </a:r>
            <a:endParaRPr sz="2800">
              <a:latin typeface="Times New Roman"/>
              <a:ea typeface="Times New Roman"/>
              <a:cs typeface="Times New Roman"/>
              <a:sym typeface="Times New Roman"/>
            </a:endParaRPr>
          </a:p>
        </p:txBody>
      </p:sp>
      <p:sp>
        <p:nvSpPr>
          <p:cNvPr id="1210" name="Google Shape;1210;p122"/>
          <p:cNvSpPr txBox="1"/>
          <p:nvPr>
            <p:ph type="title"/>
          </p:nvPr>
        </p:nvSpPr>
        <p:spPr>
          <a:xfrm>
            <a:off x="228600" y="152400"/>
            <a:ext cx="708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Mở đầu</a:t>
            </a:r>
            <a:endParaRPr sz="3200">
              <a:solidFill>
                <a:srgbClr val="FF0000"/>
              </a:solidFill>
            </a:endParaRPr>
          </a:p>
        </p:txBody>
      </p:sp>
      <p:sp>
        <p:nvSpPr>
          <p:cNvPr id="1211" name="Google Shape;1211;p1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xEl>
                                              <p:pRg end="0" st="0"/>
                                            </p:txEl>
                                          </p:spTgt>
                                        </p:tgtEl>
                                        <p:attrNameLst>
                                          <p:attrName>style.visibility</p:attrName>
                                        </p:attrNameLst>
                                      </p:cBhvr>
                                      <p:to>
                                        <p:strVal val="visible"/>
                                      </p:to>
                                    </p:set>
                                    <p:animEffect filter="fade" transition="in">
                                      <p:cBhvr>
                                        <p:cTn dur="1000"/>
                                        <p:tgtEl>
                                          <p:spTgt spid="1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xEl>
                                              <p:pRg end="1" st="1"/>
                                            </p:txEl>
                                          </p:spTgt>
                                        </p:tgtEl>
                                        <p:attrNameLst>
                                          <p:attrName>style.visibility</p:attrName>
                                        </p:attrNameLst>
                                      </p:cBhvr>
                                      <p:to>
                                        <p:strVal val="visible"/>
                                      </p:to>
                                    </p:set>
                                    <p:animEffect filter="fade" transition="in">
                                      <p:cBhvr>
                                        <p:cTn dur="1000"/>
                                        <p:tgtEl>
                                          <p:spTgt spid="1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xEl>
                                              <p:pRg end="2" st="2"/>
                                            </p:txEl>
                                          </p:spTgt>
                                        </p:tgtEl>
                                        <p:attrNameLst>
                                          <p:attrName>style.visibility</p:attrName>
                                        </p:attrNameLst>
                                      </p:cBhvr>
                                      <p:to>
                                        <p:strVal val="visible"/>
                                      </p:to>
                                    </p:set>
                                    <p:animEffect filter="fade" transition="in">
                                      <p:cBhvr>
                                        <p:cTn dur="1000"/>
                                        <p:tgtEl>
                                          <p:spTgt spid="1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xEl>
                                              <p:pRg end="3" st="3"/>
                                            </p:txEl>
                                          </p:spTgt>
                                        </p:tgtEl>
                                        <p:attrNameLst>
                                          <p:attrName>style.visibility</p:attrName>
                                        </p:attrNameLst>
                                      </p:cBhvr>
                                      <p:to>
                                        <p:strVal val="visible"/>
                                      </p:to>
                                    </p:set>
                                    <p:animEffect filter="fade" transition="in">
                                      <p:cBhvr>
                                        <p:cTn dur="1000"/>
                                        <p:tgtEl>
                                          <p:spTgt spid="1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xEl>
                                              <p:pRg end="4" st="4"/>
                                            </p:txEl>
                                          </p:spTgt>
                                        </p:tgtEl>
                                        <p:attrNameLst>
                                          <p:attrName>style.visibility</p:attrName>
                                        </p:attrNameLst>
                                      </p:cBhvr>
                                      <p:to>
                                        <p:strVal val="visible"/>
                                      </p:to>
                                    </p:set>
                                    <p:animEffect filter="fade" transition="in">
                                      <p:cBhvr>
                                        <p:cTn dur="1000"/>
                                        <p:tgtEl>
                                          <p:spTgt spid="120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23"/>
          <p:cNvSpPr txBox="1"/>
          <p:nvPr>
            <p:ph idx="1" type="body"/>
          </p:nvPr>
        </p:nvSpPr>
        <p:spPr>
          <a:xfrm>
            <a:off x="257331" y="1219200"/>
            <a:ext cx="11353800" cy="4876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Char char="•"/>
            </a:pPr>
            <a:r>
              <a:rPr lang="en-US" sz="2800">
                <a:latin typeface="Times New Roman"/>
                <a:ea typeface="Times New Roman"/>
                <a:cs typeface="Times New Roman"/>
                <a:sym typeface="Times New Roman"/>
              </a:rPr>
              <a:t>Tốc độ truyền tin nối tiếp được tính bằng bit/giây (</a:t>
            </a:r>
            <a:r>
              <a:rPr i="1" lang="en-US" sz="2800">
                <a:latin typeface="Times New Roman"/>
                <a:ea typeface="Times New Roman"/>
                <a:cs typeface="Times New Roman"/>
                <a:sym typeface="Times New Roman"/>
              </a:rPr>
              <a:t>bps</a:t>
            </a:r>
            <a:r>
              <a:rPr lang="en-US" sz="2800">
                <a:latin typeface="Times New Roman"/>
                <a:ea typeface="Times New Roman"/>
                <a:cs typeface="Times New Roman"/>
                <a:sym typeface="Times New Roman"/>
              </a:rPr>
              <a:t>).  Một thuật ngữ khác cũng thường được sử dụng là </a:t>
            </a:r>
            <a:r>
              <a:rPr i="1" lang="en-US" sz="2800">
                <a:latin typeface="Times New Roman"/>
                <a:ea typeface="Times New Roman"/>
                <a:cs typeface="Times New Roman"/>
                <a:sym typeface="Times New Roman"/>
              </a:rPr>
              <a:t>baud</a:t>
            </a:r>
            <a:r>
              <a:rPr lang="en-US" sz="2800">
                <a:latin typeface="Times New Roman"/>
                <a:ea typeface="Times New Roman"/>
                <a:cs typeface="Times New Roman"/>
                <a:sym typeface="Times New Roman"/>
              </a:rPr>
              <a:t>. Tuy nhiên, khái niệm </a:t>
            </a:r>
            <a:r>
              <a:rPr i="1" lang="en-US" sz="2800">
                <a:latin typeface="Times New Roman"/>
                <a:ea typeface="Times New Roman"/>
                <a:cs typeface="Times New Roman"/>
                <a:sym typeface="Times New Roman"/>
              </a:rPr>
              <a:t>bps</a:t>
            </a:r>
            <a:r>
              <a:rPr lang="en-US" sz="2800">
                <a:latin typeface="Times New Roman"/>
                <a:ea typeface="Times New Roman"/>
                <a:cs typeface="Times New Roman"/>
                <a:sym typeface="Times New Roman"/>
              </a:rPr>
              <a:t> và </a:t>
            </a:r>
            <a:r>
              <a:rPr i="1" lang="en-US" sz="2800">
                <a:latin typeface="Times New Roman"/>
                <a:ea typeface="Times New Roman"/>
                <a:cs typeface="Times New Roman"/>
                <a:sym typeface="Times New Roman"/>
              </a:rPr>
              <a:t>baud</a:t>
            </a:r>
            <a:r>
              <a:rPr lang="en-US" sz="2800">
                <a:latin typeface="Times New Roman"/>
                <a:ea typeface="Times New Roman"/>
                <a:cs typeface="Times New Roman"/>
                <a:sym typeface="Times New Roman"/>
              </a:rPr>
              <a:t> không hoàn toàn giống nhau. </a:t>
            </a:r>
            <a:r>
              <a:rPr i="1" lang="en-US" sz="2800">
                <a:latin typeface="Times New Roman"/>
                <a:ea typeface="Times New Roman"/>
                <a:cs typeface="Times New Roman"/>
                <a:sym typeface="Times New Roman"/>
              </a:rPr>
              <a:t>Baud</a:t>
            </a:r>
            <a:r>
              <a:rPr lang="en-US" sz="2800">
                <a:latin typeface="Times New Roman"/>
                <a:ea typeface="Times New Roman"/>
                <a:cs typeface="Times New Roman"/>
                <a:sym typeface="Times New Roman"/>
              </a:rPr>
              <a:t> là đơn vị đo dùng cho modem và được định nghĩa là số lần thay đổi tín hiệu trong một giây. Đối với modem, mỗi lần thay đổi tín hiệu có thể truyền được nhiều bit dữ liệu. Còn đối với đường truyền thì tốc độ </a:t>
            </a:r>
            <a:r>
              <a:rPr i="1" lang="en-US" sz="2800">
                <a:latin typeface="Times New Roman"/>
                <a:ea typeface="Times New Roman"/>
                <a:cs typeface="Times New Roman"/>
                <a:sym typeface="Times New Roman"/>
              </a:rPr>
              <a:t>baud</a:t>
            </a:r>
            <a:r>
              <a:rPr lang="en-US" sz="2800">
                <a:latin typeface="Times New Roman"/>
                <a:ea typeface="Times New Roman"/>
                <a:cs typeface="Times New Roman"/>
                <a:sym typeface="Times New Roman"/>
              </a:rPr>
              <a:t> và </a:t>
            </a:r>
            <a:r>
              <a:rPr i="1" lang="en-US" sz="2800">
                <a:latin typeface="Times New Roman"/>
                <a:ea typeface="Times New Roman"/>
                <a:cs typeface="Times New Roman"/>
                <a:sym typeface="Times New Roman"/>
              </a:rPr>
              <a:t>bps</a:t>
            </a:r>
            <a:r>
              <a:rPr lang="en-US" sz="2800">
                <a:latin typeface="Times New Roman"/>
                <a:ea typeface="Times New Roman"/>
                <a:cs typeface="Times New Roman"/>
                <a:sym typeface="Times New Roman"/>
              </a:rPr>
              <a:t> là một. Do vậy, ở đây sẽ không phân biệt hai thuật ngữ trên.</a:t>
            </a:r>
            <a:endParaRPr/>
          </a:p>
          <a:p>
            <a:pPr indent="-342900" lvl="0" marL="342900" rtl="0" algn="just">
              <a:spcBef>
                <a:spcPts val="1200"/>
              </a:spcBef>
              <a:spcAft>
                <a:spcPts val="0"/>
              </a:spcAft>
              <a:buClr>
                <a:schemeClr val="dk1"/>
              </a:buClr>
              <a:buSzPts val="2800"/>
              <a:buChar char="•"/>
            </a:pPr>
            <a:r>
              <a:rPr lang="en-US" sz="2800">
                <a:latin typeface="Times New Roman"/>
                <a:ea typeface="Times New Roman"/>
                <a:cs typeface="Times New Roman"/>
                <a:sym typeface="Times New Roman"/>
              </a:rPr>
              <a:t>Với 8051 thu/phát dữ liệu nối tiếp theo nhiều tốc độ khác nhau. Việc thay đổi tốc độ được lập trình qua bộ định thời Timer 1 và được lập trình về mode 2, chế độ thanh ghi 8 bit tự động nạp lại.</a:t>
            </a:r>
            <a:endParaRPr/>
          </a:p>
          <a:p>
            <a:pPr indent="-165100" lvl="0" marL="342900" rtl="0" algn="just">
              <a:spcBef>
                <a:spcPts val="1200"/>
              </a:spcBef>
              <a:spcAft>
                <a:spcPts val="0"/>
              </a:spcAft>
              <a:buClr>
                <a:schemeClr val="dk1"/>
              </a:buClr>
              <a:buSzPts val="2800"/>
              <a:buNone/>
            </a:pPr>
            <a:r>
              <a:t/>
            </a:r>
            <a:endParaRPr sz="2800">
              <a:latin typeface="Times New Roman"/>
              <a:ea typeface="Times New Roman"/>
              <a:cs typeface="Times New Roman"/>
              <a:sym typeface="Times New Roman"/>
            </a:endParaRPr>
          </a:p>
        </p:txBody>
      </p:sp>
      <p:sp>
        <p:nvSpPr>
          <p:cNvPr id="1217" name="Google Shape;1217;p123"/>
          <p:cNvSpPr txBox="1"/>
          <p:nvPr>
            <p:ph type="title"/>
          </p:nvPr>
        </p:nvSpPr>
        <p:spPr>
          <a:xfrm>
            <a:off x="228600" y="152400"/>
            <a:ext cx="95250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Tốc độ baud của 8051 (1)</a:t>
            </a:r>
            <a:endParaRPr sz="3200">
              <a:solidFill>
                <a:srgbClr val="FF0000"/>
              </a:solidFill>
            </a:endParaRPr>
          </a:p>
        </p:txBody>
      </p:sp>
      <p:sp>
        <p:nvSpPr>
          <p:cNvPr id="1218" name="Google Shape;1218;p1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6">
                                            <p:txEl>
                                              <p:pRg end="0" st="0"/>
                                            </p:txEl>
                                          </p:spTgt>
                                        </p:tgtEl>
                                        <p:attrNameLst>
                                          <p:attrName>style.visibility</p:attrName>
                                        </p:attrNameLst>
                                      </p:cBhvr>
                                      <p:to>
                                        <p:strVal val="visible"/>
                                      </p:to>
                                    </p:set>
                                    <p:animEffect filter="fade" transition="in">
                                      <p:cBhvr>
                                        <p:cTn dur="1000"/>
                                        <p:tgtEl>
                                          <p:spTgt spid="1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6">
                                            <p:txEl>
                                              <p:pRg end="1" st="1"/>
                                            </p:txEl>
                                          </p:spTgt>
                                        </p:tgtEl>
                                        <p:attrNameLst>
                                          <p:attrName>style.visibility</p:attrName>
                                        </p:attrNameLst>
                                      </p:cBhvr>
                                      <p:to>
                                        <p:strVal val="visible"/>
                                      </p:to>
                                    </p:set>
                                    <p:animEffect filter="fade" transition="in">
                                      <p:cBhvr>
                                        <p:cTn dur="1000"/>
                                        <p:tgtEl>
                                          <p:spTgt spid="1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6">
                                            <p:txEl>
                                              <p:pRg end="2" st="2"/>
                                            </p:txEl>
                                          </p:spTgt>
                                        </p:tgtEl>
                                        <p:attrNameLst>
                                          <p:attrName>style.visibility</p:attrName>
                                        </p:attrNameLst>
                                      </p:cBhvr>
                                      <p:to>
                                        <p:strVal val="visible"/>
                                      </p:to>
                                    </p:set>
                                    <p:animEffect filter="fade" transition="in">
                                      <p:cBhvr>
                                        <p:cTn dur="1000"/>
                                        <p:tgtEl>
                                          <p:spTgt spid="121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graphicFrame>
        <p:nvGraphicFramePr>
          <p:cNvPr id="1224" name="Google Shape;1224;p124"/>
          <p:cNvGraphicFramePr/>
          <p:nvPr/>
        </p:nvGraphicFramePr>
        <p:xfrm>
          <a:off x="1219200" y="1066800"/>
          <a:ext cx="3000000" cy="3000000"/>
        </p:xfrm>
        <a:graphic>
          <a:graphicData uri="http://schemas.openxmlformats.org/drawingml/2006/table">
            <a:tbl>
              <a:tblPr>
                <a:noFill/>
                <a:tableStyleId>{A4A541D9-23D5-4180-BFA4-B58C0BD4C685}</a:tableStyleId>
              </a:tblPr>
              <a:tblGrid>
                <a:gridCol w="1416875"/>
                <a:gridCol w="1271200"/>
                <a:gridCol w="1152025"/>
                <a:gridCol w="4012250"/>
                <a:gridCol w="829825"/>
                <a:gridCol w="1147625"/>
              </a:tblGrid>
              <a:tr h="658075">
                <a:tc>
                  <a:txBody>
                    <a:bodyPr/>
                    <a:lstStyle/>
                    <a:p>
                      <a:pPr indent="0" lvl="0" marL="0" marR="0" rtl="0" algn="ctr">
                        <a:spcBef>
                          <a:spcPts val="0"/>
                        </a:spcBef>
                        <a:spcAft>
                          <a:spcPts val="0"/>
                        </a:spcAft>
                        <a:buNone/>
                      </a:pPr>
                      <a:r>
                        <a:rPr b="1" lang="en-US" sz="2000" u="none" strike="noStrike"/>
                        <a:t>XTAL (MHz)</a:t>
                      </a:r>
                      <a:endParaRPr b="1" i="0" sz="20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XTAL (Hz)</a:t>
                      </a:r>
                      <a:endParaRPr b="1" i="0" sz="20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BAUD</a:t>
                      </a:r>
                      <a:endParaRPr b="1" i="0" sz="20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TH1=256 – ((XTAL / (12*32)) / Baud)</a:t>
                      </a:r>
                      <a:endParaRPr b="1" i="0" sz="20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HEX</a:t>
                      </a:r>
                      <a:endParaRPr b="1" i="0" sz="20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Thập phân</a:t>
                      </a:r>
                      <a:endParaRPr b="1" i="0" sz="2000" u="none" strike="noStrike">
                        <a:solidFill>
                          <a:srgbClr val="000000"/>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r">
                        <a:spcBef>
                          <a:spcPts val="0"/>
                        </a:spcBef>
                        <a:spcAft>
                          <a:spcPts val="0"/>
                        </a:spcAft>
                        <a:buNone/>
                      </a:pPr>
                      <a:r>
                        <a:rPr b="1" lang="en-US" sz="2000" u="none" strike="noStrike"/>
                        <a:t>11.0592</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11059200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9600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253</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FDh</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-3</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4800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250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FAh</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-6</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2400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244</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F4h</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-12</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1200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232</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E8h</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-24</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r">
                        <a:spcBef>
                          <a:spcPts val="0"/>
                        </a:spcBef>
                        <a:spcAft>
                          <a:spcPts val="0"/>
                        </a:spcAft>
                        <a:buNone/>
                      </a:pPr>
                      <a:r>
                        <a:rPr b="1" lang="en-US" sz="2000" u="none" strike="noStrike"/>
                        <a:t>12</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12000000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9600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252.7447917</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4800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249.4895833</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2400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242.9791667</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150">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spcBef>
                          <a:spcPts val="0"/>
                        </a:spcBef>
                        <a:spcAft>
                          <a:spcPts val="0"/>
                        </a:spcAft>
                        <a:buNone/>
                      </a:pPr>
                      <a:r>
                        <a:rPr b="1" lang="en-US" sz="2000" u="none" strike="noStrike"/>
                        <a:t>1200</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2000" u="none" strike="noStrike"/>
                        <a:t>229.9583333</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2000" u="none" strike="noStrike">
                        <a:solidFill>
                          <a:srgbClr val="000000"/>
                        </a:solidFill>
                        <a:latin typeface="Calibri"/>
                        <a:ea typeface="Calibri"/>
                        <a:cs typeface="Calibri"/>
                        <a:sym typeface="Calibri"/>
                      </a:endParaRPr>
                    </a:p>
                  </a:txBody>
                  <a:tcPr marT="9525" marB="0" marR="9525" marL="9525"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225" name="Google Shape;1225;p124"/>
          <p:cNvSpPr txBox="1"/>
          <p:nvPr>
            <p:ph type="title"/>
          </p:nvPr>
        </p:nvSpPr>
        <p:spPr>
          <a:xfrm>
            <a:off x="228600" y="152400"/>
            <a:ext cx="95250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Tốc độ baud của 8051 (2)</a:t>
            </a:r>
            <a:endParaRPr sz="3200">
              <a:solidFill>
                <a:srgbClr val="FF0000"/>
              </a:solidFill>
            </a:endParaRPr>
          </a:p>
        </p:txBody>
      </p:sp>
      <p:sp>
        <p:nvSpPr>
          <p:cNvPr id="1226" name="Google Shape;1226;p1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25"/>
          <p:cNvSpPr txBox="1"/>
          <p:nvPr>
            <p:ph idx="1" type="body"/>
          </p:nvPr>
        </p:nvSpPr>
        <p:spPr>
          <a:xfrm>
            <a:off x="1752600" y="1393372"/>
            <a:ext cx="8534400" cy="762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000"/>
              <a:buNone/>
            </a:pPr>
            <a:r>
              <a:rPr i="1" lang="en-US" sz="2000">
                <a:latin typeface="Times New Roman"/>
                <a:ea typeface="Times New Roman"/>
                <a:cs typeface="Times New Roman"/>
                <a:sym typeface="Times New Roman"/>
              </a:rPr>
              <a:t>Bảng 3.3. Giá trị thanh ghi TH1 của Timer1 với các tốc độ baud khác nhau</a:t>
            </a:r>
            <a:endParaRPr i="1" sz="2000">
              <a:latin typeface="Times New Roman"/>
              <a:ea typeface="Times New Roman"/>
              <a:cs typeface="Times New Roman"/>
              <a:sym typeface="Times New Roman"/>
            </a:endParaRPr>
          </a:p>
          <a:p>
            <a:pPr indent="0" lvl="0" marL="0" rtl="0" algn="ctr">
              <a:spcBef>
                <a:spcPts val="0"/>
              </a:spcBef>
              <a:spcAft>
                <a:spcPts val="0"/>
              </a:spcAft>
              <a:buClr>
                <a:schemeClr val="dk1"/>
              </a:buClr>
              <a:buSzPts val="2000"/>
              <a:buNone/>
            </a:pPr>
            <a:r>
              <a:rPr i="1" lang="en-US" sz="2000">
                <a:latin typeface="Times New Roman"/>
                <a:ea typeface="Times New Roman"/>
                <a:cs typeface="Times New Roman"/>
                <a:sym typeface="Times New Roman"/>
              </a:rPr>
              <a:t>(với XTAL = 11.0592)</a:t>
            </a:r>
            <a:endParaRPr/>
          </a:p>
          <a:p>
            <a:pPr indent="0" lvl="0" marL="0" rtl="0" algn="just">
              <a:spcBef>
                <a:spcPts val="600"/>
              </a:spcBef>
              <a:spcAft>
                <a:spcPts val="0"/>
              </a:spcAft>
              <a:buClr>
                <a:schemeClr val="dk1"/>
              </a:buClr>
              <a:buSzPts val="2400"/>
              <a:buNone/>
            </a:pPr>
            <a:r>
              <a:t/>
            </a:r>
            <a:endParaRPr sz="2400">
              <a:latin typeface="Times New Roman"/>
              <a:ea typeface="Times New Roman"/>
              <a:cs typeface="Times New Roman"/>
              <a:sym typeface="Times New Roman"/>
            </a:endParaRPr>
          </a:p>
        </p:txBody>
      </p:sp>
      <p:graphicFrame>
        <p:nvGraphicFramePr>
          <p:cNvPr id="1232" name="Google Shape;1232;p125"/>
          <p:cNvGraphicFramePr/>
          <p:nvPr/>
        </p:nvGraphicFramePr>
        <p:xfrm>
          <a:off x="2286000" y="2209800"/>
          <a:ext cx="3000000" cy="3000000"/>
        </p:xfrm>
        <a:graphic>
          <a:graphicData uri="http://schemas.openxmlformats.org/drawingml/2006/table">
            <a:tbl>
              <a:tblPr bandRow="1" firstRow="1">
                <a:noFill/>
                <a:tableStyleId>{A4A541D9-23D5-4180-BFA4-B58C0BD4C685}</a:tableStyleId>
              </a:tblPr>
              <a:tblGrid>
                <a:gridCol w="2474325"/>
                <a:gridCol w="2712300"/>
                <a:gridCol w="2474325"/>
              </a:tblGrid>
              <a:tr h="426725">
                <a:tc>
                  <a:txBody>
                    <a:bodyPr/>
                    <a:lstStyle/>
                    <a:p>
                      <a:pPr indent="0" lvl="0" marL="0" marR="0" rtl="0" algn="ctr">
                        <a:spcBef>
                          <a:spcPts val="0"/>
                        </a:spcBef>
                        <a:spcAft>
                          <a:spcPts val="0"/>
                        </a:spcAft>
                        <a:buNone/>
                      </a:pPr>
                      <a:r>
                        <a:rPr lang="en-US" sz="2400"/>
                        <a:t>Tốc độ</a:t>
                      </a:r>
                      <a:r>
                        <a:rPr lang="en-US" sz="2400"/>
                        <a:t> Baud</a:t>
                      </a:r>
                      <a:endParaRPr sz="2400"/>
                    </a:p>
                  </a:txBody>
                  <a:tcPr marT="45725" marB="45725" marR="91450" marL="91450"/>
                </a:tc>
                <a:tc>
                  <a:txBody>
                    <a:bodyPr/>
                    <a:lstStyle/>
                    <a:p>
                      <a:pPr indent="0" lvl="0" marL="0" marR="0" rtl="0" algn="ctr">
                        <a:spcBef>
                          <a:spcPts val="0"/>
                        </a:spcBef>
                        <a:spcAft>
                          <a:spcPts val="0"/>
                        </a:spcAft>
                        <a:buNone/>
                      </a:pPr>
                      <a:r>
                        <a:rPr lang="en-US" sz="2400"/>
                        <a:t>TH1 (thậ</a:t>
                      </a:r>
                      <a:r>
                        <a:rPr lang="en-US" sz="2400"/>
                        <a:t>p phân)</a:t>
                      </a:r>
                      <a:endParaRPr sz="2400"/>
                    </a:p>
                  </a:txBody>
                  <a:tcPr marT="45725" marB="45725" marR="91450" marL="91450"/>
                </a:tc>
                <a:tc>
                  <a:txBody>
                    <a:bodyPr/>
                    <a:lstStyle/>
                    <a:p>
                      <a:pPr indent="0" lvl="0" marL="0" marR="0" rtl="0" algn="ctr">
                        <a:spcBef>
                          <a:spcPts val="0"/>
                        </a:spcBef>
                        <a:spcAft>
                          <a:spcPts val="0"/>
                        </a:spcAft>
                        <a:buNone/>
                      </a:pPr>
                      <a:r>
                        <a:rPr lang="en-US" sz="2400"/>
                        <a:t>TH1 (số</a:t>
                      </a:r>
                      <a:r>
                        <a:rPr lang="en-US" sz="2400"/>
                        <a:t> hex)</a:t>
                      </a:r>
                      <a:endParaRPr sz="2400"/>
                    </a:p>
                  </a:txBody>
                  <a:tcPr marT="45725" marB="45725" marR="91450" marL="91450"/>
                </a:tc>
              </a:tr>
              <a:tr h="426725">
                <a:tc>
                  <a:txBody>
                    <a:bodyPr/>
                    <a:lstStyle/>
                    <a:p>
                      <a:pPr indent="0" lvl="0" marL="0" marR="0" rtl="0" algn="ctr">
                        <a:spcBef>
                          <a:spcPts val="0"/>
                        </a:spcBef>
                        <a:spcAft>
                          <a:spcPts val="0"/>
                        </a:spcAft>
                        <a:buNone/>
                      </a:pPr>
                      <a:r>
                        <a:rPr lang="en-US" sz="2400"/>
                        <a:t>9600</a:t>
                      </a:r>
                      <a:endParaRPr/>
                    </a:p>
                  </a:txBody>
                  <a:tcPr marT="45725" marB="45725" marR="91450" marL="91450"/>
                </a:tc>
                <a:tc>
                  <a:txBody>
                    <a:bodyPr/>
                    <a:lstStyle/>
                    <a:p>
                      <a:pPr indent="0" lvl="0" marL="0" marR="0" rtl="0" algn="ctr">
                        <a:spcBef>
                          <a:spcPts val="0"/>
                        </a:spcBef>
                        <a:spcAft>
                          <a:spcPts val="0"/>
                        </a:spcAft>
                        <a:buNone/>
                      </a:pPr>
                      <a:r>
                        <a:rPr lang="en-US" sz="2400"/>
                        <a:t>-3</a:t>
                      </a:r>
                      <a:endParaRPr/>
                    </a:p>
                  </a:txBody>
                  <a:tcPr marT="45725" marB="45725" marR="91450" marL="91450"/>
                </a:tc>
                <a:tc>
                  <a:txBody>
                    <a:bodyPr/>
                    <a:lstStyle/>
                    <a:p>
                      <a:pPr indent="0" lvl="0" marL="0" marR="0" rtl="0" algn="ctr">
                        <a:spcBef>
                          <a:spcPts val="0"/>
                        </a:spcBef>
                        <a:spcAft>
                          <a:spcPts val="0"/>
                        </a:spcAft>
                        <a:buNone/>
                      </a:pPr>
                      <a:r>
                        <a:rPr lang="en-US" sz="2400"/>
                        <a:t>ED</a:t>
                      </a:r>
                      <a:endParaRPr/>
                    </a:p>
                  </a:txBody>
                  <a:tcPr marT="45725" marB="45725" marR="91450" marL="91450"/>
                </a:tc>
              </a:tr>
              <a:tr h="426725">
                <a:tc>
                  <a:txBody>
                    <a:bodyPr/>
                    <a:lstStyle/>
                    <a:p>
                      <a:pPr indent="0" lvl="0" marL="0" marR="0" rtl="0" algn="ctr">
                        <a:spcBef>
                          <a:spcPts val="0"/>
                        </a:spcBef>
                        <a:spcAft>
                          <a:spcPts val="0"/>
                        </a:spcAft>
                        <a:buNone/>
                      </a:pPr>
                      <a:r>
                        <a:rPr lang="en-US" sz="2400"/>
                        <a:t>4800</a:t>
                      </a:r>
                      <a:endParaRPr/>
                    </a:p>
                  </a:txBody>
                  <a:tcPr marT="45725" marB="45725" marR="91450" marL="91450"/>
                </a:tc>
                <a:tc>
                  <a:txBody>
                    <a:bodyPr/>
                    <a:lstStyle/>
                    <a:p>
                      <a:pPr indent="0" lvl="0" marL="0" marR="0" rtl="0" algn="ctr">
                        <a:spcBef>
                          <a:spcPts val="0"/>
                        </a:spcBef>
                        <a:spcAft>
                          <a:spcPts val="0"/>
                        </a:spcAft>
                        <a:buNone/>
                      </a:pPr>
                      <a:r>
                        <a:rPr lang="en-US" sz="2400"/>
                        <a:t>-6</a:t>
                      </a:r>
                      <a:endParaRPr/>
                    </a:p>
                  </a:txBody>
                  <a:tcPr marT="45725" marB="45725" marR="91450" marL="91450"/>
                </a:tc>
                <a:tc>
                  <a:txBody>
                    <a:bodyPr/>
                    <a:lstStyle/>
                    <a:p>
                      <a:pPr indent="0" lvl="0" marL="0" marR="0" rtl="0" algn="ctr">
                        <a:spcBef>
                          <a:spcPts val="0"/>
                        </a:spcBef>
                        <a:spcAft>
                          <a:spcPts val="0"/>
                        </a:spcAft>
                        <a:buNone/>
                      </a:pPr>
                      <a:r>
                        <a:rPr lang="en-US" sz="2400"/>
                        <a:t>FA</a:t>
                      </a:r>
                      <a:endParaRPr/>
                    </a:p>
                  </a:txBody>
                  <a:tcPr marT="45725" marB="45725" marR="91450" marL="91450"/>
                </a:tc>
              </a:tr>
              <a:tr h="426725">
                <a:tc>
                  <a:txBody>
                    <a:bodyPr/>
                    <a:lstStyle/>
                    <a:p>
                      <a:pPr indent="0" lvl="0" marL="0" marR="0" rtl="0" algn="ctr">
                        <a:spcBef>
                          <a:spcPts val="0"/>
                        </a:spcBef>
                        <a:spcAft>
                          <a:spcPts val="0"/>
                        </a:spcAft>
                        <a:buNone/>
                      </a:pPr>
                      <a:r>
                        <a:rPr lang="en-US" sz="2400"/>
                        <a:t>2400</a:t>
                      </a:r>
                      <a:endParaRPr/>
                    </a:p>
                  </a:txBody>
                  <a:tcPr marT="45725" marB="45725" marR="91450" marL="91450"/>
                </a:tc>
                <a:tc>
                  <a:txBody>
                    <a:bodyPr/>
                    <a:lstStyle/>
                    <a:p>
                      <a:pPr indent="0" lvl="0" marL="0" marR="0" rtl="0" algn="ctr">
                        <a:spcBef>
                          <a:spcPts val="0"/>
                        </a:spcBef>
                        <a:spcAft>
                          <a:spcPts val="0"/>
                        </a:spcAft>
                        <a:buNone/>
                      </a:pPr>
                      <a:r>
                        <a:rPr lang="en-US" sz="2400"/>
                        <a:t>-12</a:t>
                      </a:r>
                      <a:endParaRPr/>
                    </a:p>
                  </a:txBody>
                  <a:tcPr marT="45725" marB="45725" marR="91450" marL="91450"/>
                </a:tc>
                <a:tc>
                  <a:txBody>
                    <a:bodyPr/>
                    <a:lstStyle/>
                    <a:p>
                      <a:pPr indent="0" lvl="0" marL="0" marR="0" rtl="0" algn="ctr">
                        <a:spcBef>
                          <a:spcPts val="0"/>
                        </a:spcBef>
                        <a:spcAft>
                          <a:spcPts val="0"/>
                        </a:spcAft>
                        <a:buNone/>
                      </a:pPr>
                      <a:r>
                        <a:rPr lang="en-US" sz="2400"/>
                        <a:t>F4</a:t>
                      </a:r>
                      <a:endParaRPr/>
                    </a:p>
                  </a:txBody>
                  <a:tcPr marT="45725" marB="45725" marR="91450" marL="91450"/>
                </a:tc>
              </a:tr>
              <a:tr h="426725">
                <a:tc>
                  <a:txBody>
                    <a:bodyPr/>
                    <a:lstStyle/>
                    <a:p>
                      <a:pPr indent="0" lvl="0" marL="0" marR="0" rtl="0" algn="ctr">
                        <a:spcBef>
                          <a:spcPts val="0"/>
                        </a:spcBef>
                        <a:spcAft>
                          <a:spcPts val="0"/>
                        </a:spcAft>
                        <a:buNone/>
                      </a:pPr>
                      <a:r>
                        <a:rPr lang="en-US" sz="2400"/>
                        <a:t>1200</a:t>
                      </a:r>
                      <a:endParaRPr/>
                    </a:p>
                  </a:txBody>
                  <a:tcPr marT="45725" marB="45725" marR="91450" marL="91450"/>
                </a:tc>
                <a:tc>
                  <a:txBody>
                    <a:bodyPr/>
                    <a:lstStyle/>
                    <a:p>
                      <a:pPr indent="0" lvl="0" marL="0" marR="0" rtl="0" algn="ctr">
                        <a:spcBef>
                          <a:spcPts val="0"/>
                        </a:spcBef>
                        <a:spcAft>
                          <a:spcPts val="0"/>
                        </a:spcAft>
                        <a:buNone/>
                      </a:pPr>
                      <a:r>
                        <a:rPr lang="en-US" sz="2400"/>
                        <a:t>-24</a:t>
                      </a:r>
                      <a:endParaRPr/>
                    </a:p>
                  </a:txBody>
                  <a:tcPr marT="45725" marB="45725" marR="91450" marL="91450"/>
                </a:tc>
                <a:tc>
                  <a:txBody>
                    <a:bodyPr/>
                    <a:lstStyle/>
                    <a:p>
                      <a:pPr indent="0" lvl="0" marL="0" marR="0" rtl="0" algn="ctr">
                        <a:spcBef>
                          <a:spcPts val="0"/>
                        </a:spcBef>
                        <a:spcAft>
                          <a:spcPts val="0"/>
                        </a:spcAft>
                        <a:buNone/>
                      </a:pPr>
                      <a:r>
                        <a:rPr lang="en-US" sz="2400"/>
                        <a:t>E8</a:t>
                      </a:r>
                      <a:endParaRPr/>
                    </a:p>
                  </a:txBody>
                  <a:tcPr marT="45725" marB="45725" marR="91450" marL="91450"/>
                </a:tc>
              </a:tr>
            </a:tbl>
          </a:graphicData>
        </a:graphic>
      </p:graphicFrame>
      <p:sp>
        <p:nvSpPr>
          <p:cNvPr id="1233" name="Google Shape;1233;p125"/>
          <p:cNvSpPr txBox="1"/>
          <p:nvPr/>
        </p:nvSpPr>
        <p:spPr>
          <a:xfrm>
            <a:off x="1925479" y="5445658"/>
            <a:ext cx="8382000"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Calibri"/>
                <a:ea typeface="Calibri"/>
                <a:cs typeface="Calibri"/>
                <a:sym typeface="Calibri"/>
              </a:rPr>
              <a:t>MOV	A, SCON   ; nạp thanh ghi SCON vào ACC</a:t>
            </a:r>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SETB	ACC.7	    ; đặt D7 = 1</a:t>
            </a:r>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MOV	SCON, A   ; đặt SMOD (của SCON) = 1 nhân đôi tốc độ baud</a:t>
            </a:r>
            <a:endParaRPr/>
          </a:p>
        </p:txBody>
      </p:sp>
      <p:sp>
        <p:nvSpPr>
          <p:cNvPr id="1234" name="Google Shape;1234;p125"/>
          <p:cNvSpPr txBox="1"/>
          <p:nvPr>
            <p:ph type="title"/>
          </p:nvPr>
        </p:nvSpPr>
        <p:spPr>
          <a:xfrm>
            <a:off x="152400" y="141373"/>
            <a:ext cx="95250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Tốc độ baud của 8051 (3)</a:t>
            </a:r>
            <a:r>
              <a:rPr b="1" lang="en-US" sz="3200">
                <a:latin typeface="Times New Roman"/>
                <a:ea typeface="Times New Roman"/>
                <a:cs typeface="Times New Roman"/>
                <a:sym typeface="Times New Roman"/>
              </a:rPr>
              <a:t> </a:t>
            </a:r>
            <a:endParaRPr sz="3200">
              <a:solidFill>
                <a:srgbClr val="FF0000"/>
              </a:solidFill>
            </a:endParaRPr>
          </a:p>
        </p:txBody>
      </p:sp>
      <p:sp>
        <p:nvSpPr>
          <p:cNvPr id="1235" name="Google Shape;1235;p125"/>
          <p:cNvSpPr/>
          <p:nvPr/>
        </p:nvSpPr>
        <p:spPr>
          <a:xfrm>
            <a:off x="455204" y="740437"/>
            <a:ext cx="2775119" cy="46166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Noto Sans Symbols"/>
              <a:buChar char="❖"/>
            </a:pPr>
            <a:r>
              <a:rPr b="1" lang="en-US" sz="2400">
                <a:solidFill>
                  <a:schemeClr val="dk1"/>
                </a:solidFill>
                <a:latin typeface="Times New Roman"/>
                <a:ea typeface="Times New Roman"/>
                <a:cs typeface="Times New Roman"/>
                <a:sym typeface="Times New Roman"/>
              </a:rPr>
              <a:t>Bảng tốc độ baud</a:t>
            </a:r>
            <a:endParaRPr sz="2400">
              <a:solidFill>
                <a:schemeClr val="dk1"/>
              </a:solidFill>
              <a:latin typeface="Calibri"/>
              <a:ea typeface="Calibri"/>
              <a:cs typeface="Calibri"/>
              <a:sym typeface="Calibri"/>
            </a:endParaRPr>
          </a:p>
        </p:txBody>
      </p:sp>
      <p:sp>
        <p:nvSpPr>
          <p:cNvPr id="1236" name="Google Shape;1236;p125"/>
          <p:cNvSpPr/>
          <p:nvPr/>
        </p:nvSpPr>
        <p:spPr>
          <a:xfrm>
            <a:off x="455204" y="4796135"/>
            <a:ext cx="3876382"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Noto Sans Symbols"/>
              <a:buChar char="⮚"/>
            </a:pPr>
            <a:r>
              <a:rPr b="1" i="1" lang="en-US" sz="2400">
                <a:solidFill>
                  <a:schemeClr val="dk1"/>
                </a:solidFill>
                <a:latin typeface="Times New Roman"/>
                <a:ea typeface="Times New Roman"/>
                <a:cs typeface="Times New Roman"/>
                <a:sym typeface="Times New Roman"/>
              </a:rPr>
              <a:t>Để nhân đôi tốc độ Baud:</a:t>
            </a:r>
            <a:endParaRPr/>
          </a:p>
        </p:txBody>
      </p:sp>
      <p:sp>
        <p:nvSpPr>
          <p:cNvPr id="1237" name="Google Shape;1237;p1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5"/>
                                        </p:tgtEl>
                                        <p:attrNameLst>
                                          <p:attrName>style.visibility</p:attrName>
                                        </p:attrNameLst>
                                      </p:cBhvr>
                                      <p:to>
                                        <p:strVal val="visible"/>
                                      </p:to>
                                    </p:set>
                                    <p:animEffect filter="fade" transition="in">
                                      <p:cBhvr>
                                        <p:cTn dur="1000"/>
                                        <p:tgtEl>
                                          <p:spTgt spid="1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1">
                                            <p:txEl>
                                              <p:pRg end="0" st="0"/>
                                            </p:txEl>
                                          </p:spTgt>
                                        </p:tgtEl>
                                        <p:attrNameLst>
                                          <p:attrName>style.visibility</p:attrName>
                                        </p:attrNameLst>
                                      </p:cBhvr>
                                      <p:to>
                                        <p:strVal val="visible"/>
                                      </p:to>
                                    </p:set>
                                    <p:animEffect filter="fade" transition="in">
                                      <p:cBhvr>
                                        <p:cTn dur="1000"/>
                                        <p:tgtEl>
                                          <p:spTgt spid="1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1">
                                            <p:txEl>
                                              <p:pRg end="1" st="1"/>
                                            </p:txEl>
                                          </p:spTgt>
                                        </p:tgtEl>
                                        <p:attrNameLst>
                                          <p:attrName>style.visibility</p:attrName>
                                        </p:attrNameLst>
                                      </p:cBhvr>
                                      <p:to>
                                        <p:strVal val="visible"/>
                                      </p:to>
                                    </p:set>
                                    <p:animEffect filter="fade" transition="in">
                                      <p:cBhvr>
                                        <p:cTn dur="1000"/>
                                        <p:tgtEl>
                                          <p:spTgt spid="1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1">
                                            <p:txEl>
                                              <p:pRg end="2" st="2"/>
                                            </p:txEl>
                                          </p:spTgt>
                                        </p:tgtEl>
                                        <p:attrNameLst>
                                          <p:attrName>style.visibility</p:attrName>
                                        </p:attrNameLst>
                                      </p:cBhvr>
                                      <p:to>
                                        <p:strVal val="visible"/>
                                      </p:to>
                                    </p:set>
                                    <p:animEffect filter="fade" transition="in">
                                      <p:cBhvr>
                                        <p:cTn dur="1000"/>
                                        <p:tgtEl>
                                          <p:spTgt spid="1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1000"/>
                                        <p:tgtEl>
                                          <p:spTgt spid="1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6"/>
                                        </p:tgtEl>
                                        <p:attrNameLst>
                                          <p:attrName>style.visibility</p:attrName>
                                        </p:attrNameLst>
                                      </p:cBhvr>
                                      <p:to>
                                        <p:strVal val="visible"/>
                                      </p:to>
                                    </p:set>
                                    <p:animEffect filter="fade" transition="in">
                                      <p:cBhvr>
                                        <p:cTn dur="1000"/>
                                        <p:tgtEl>
                                          <p:spTgt spid="1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1000"/>
                                        <p:tgtEl>
                                          <p:spTgt spid="1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26"/>
          <p:cNvSpPr txBox="1"/>
          <p:nvPr>
            <p:ph idx="1" type="body"/>
          </p:nvPr>
        </p:nvSpPr>
        <p:spPr>
          <a:xfrm>
            <a:off x="533400" y="2133600"/>
            <a:ext cx="10820400" cy="38862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Ví dụ 3.7:</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	MOV SBUF, # “D”	; nạp 44h (mã ASCII của “D”) vào SBUF</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	MOV SBUF, A	; chuyển nội dung của A vào SBUF</a:t>
            </a:r>
            <a:endParaRPr/>
          </a:p>
          <a:p>
            <a:pPr indent="0" lvl="0" marL="0" rtl="0" algn="just">
              <a:spcBef>
                <a:spcPts val="1200"/>
              </a:spcBef>
              <a:spcAft>
                <a:spcPts val="0"/>
              </a:spcAft>
              <a:buClr>
                <a:schemeClr val="dk1"/>
              </a:buClr>
              <a:buSzPts val="2400"/>
              <a:buNone/>
            </a:pPr>
            <a:r>
              <a:rPr lang="en-US" sz="2400">
                <a:latin typeface="Times New Roman"/>
                <a:ea typeface="Times New Roman"/>
                <a:cs typeface="Times New Roman"/>
                <a:sym typeface="Times New Roman"/>
              </a:rPr>
              <a:t>	MOV A, SBUF	; chuyển nội dung SBUF và A</a:t>
            </a:r>
            <a:endParaRPr/>
          </a:p>
          <a:p>
            <a:pPr indent="-342900" lvl="0" marL="342900" rtl="0" algn="just">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Khi byte dữ liệu được ghi vào SBUF, byte dữ liệu được định khung với bit Start và Stop và được truyền nối tiếp qua TxD.</a:t>
            </a:r>
            <a:endParaRPr/>
          </a:p>
          <a:p>
            <a:pPr indent="-342900" lvl="0" marL="342900" rtl="0" algn="just">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Khi các bit được nhận nối tiếp từ RxD thì 8051 mở khung, tức là loại các bit Start, Stop để lấy ra byte dữ liệu và đặt vào SBUF</a:t>
            </a:r>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p:txBody>
      </p:sp>
      <p:sp>
        <p:nvSpPr>
          <p:cNvPr id="1243" name="Google Shape;1243;p126"/>
          <p:cNvSpPr txBox="1"/>
          <p:nvPr>
            <p:ph type="title"/>
          </p:nvPr>
        </p:nvSpPr>
        <p:spPr>
          <a:xfrm>
            <a:off x="228600" y="228600"/>
            <a:ext cx="10896600" cy="487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(1)</a:t>
            </a:r>
            <a:endParaRPr sz="3200">
              <a:solidFill>
                <a:srgbClr val="FF0000"/>
              </a:solidFill>
            </a:endParaRPr>
          </a:p>
        </p:txBody>
      </p:sp>
      <p:sp>
        <p:nvSpPr>
          <p:cNvPr id="1244" name="Google Shape;1244;p126"/>
          <p:cNvSpPr/>
          <p:nvPr/>
        </p:nvSpPr>
        <p:spPr>
          <a:xfrm>
            <a:off x="227351" y="914400"/>
            <a:ext cx="11126450" cy="892552"/>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Thanh ghi SBUF: </a:t>
            </a:r>
            <a:r>
              <a:rPr lang="en-US" sz="2400">
                <a:solidFill>
                  <a:schemeClr val="dk1"/>
                </a:solidFill>
                <a:latin typeface="Times New Roman"/>
                <a:ea typeface="Times New Roman"/>
                <a:cs typeface="Times New Roman"/>
                <a:sym typeface="Times New Roman"/>
              </a:rPr>
              <a:t>là thanh ghi 8 bit. Dữ liệu được đặt vào SBUF trước khi truyền, và lưu dữ liệu nhận được. SBUF được truy cập như các thanh ghi khác. </a:t>
            </a:r>
            <a:endParaRPr/>
          </a:p>
        </p:txBody>
      </p:sp>
      <p:sp>
        <p:nvSpPr>
          <p:cNvPr id="1245" name="Google Shape;1245;p12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1000"/>
                                        <p:tgtEl>
                                          <p:spTgt spid="1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0" st="0"/>
                                            </p:txEl>
                                          </p:spTgt>
                                        </p:tgtEl>
                                        <p:attrNameLst>
                                          <p:attrName>style.visibility</p:attrName>
                                        </p:attrNameLst>
                                      </p:cBhvr>
                                      <p:to>
                                        <p:strVal val="visible"/>
                                      </p:to>
                                    </p:set>
                                    <p:animEffect filter="fade" transition="in">
                                      <p:cBhvr>
                                        <p:cTn dur="1000"/>
                                        <p:tgtEl>
                                          <p:spTgt spid="12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1" st="1"/>
                                            </p:txEl>
                                          </p:spTgt>
                                        </p:tgtEl>
                                        <p:attrNameLst>
                                          <p:attrName>style.visibility</p:attrName>
                                        </p:attrNameLst>
                                      </p:cBhvr>
                                      <p:to>
                                        <p:strVal val="visible"/>
                                      </p:to>
                                    </p:set>
                                    <p:animEffect filter="fade" transition="in">
                                      <p:cBhvr>
                                        <p:cTn dur="1000"/>
                                        <p:tgtEl>
                                          <p:spTgt spid="12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2" st="2"/>
                                            </p:txEl>
                                          </p:spTgt>
                                        </p:tgtEl>
                                        <p:attrNameLst>
                                          <p:attrName>style.visibility</p:attrName>
                                        </p:attrNameLst>
                                      </p:cBhvr>
                                      <p:to>
                                        <p:strVal val="visible"/>
                                      </p:to>
                                    </p:set>
                                    <p:animEffect filter="fade" transition="in">
                                      <p:cBhvr>
                                        <p:cTn dur="1000"/>
                                        <p:tgtEl>
                                          <p:spTgt spid="12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3" st="3"/>
                                            </p:txEl>
                                          </p:spTgt>
                                        </p:tgtEl>
                                        <p:attrNameLst>
                                          <p:attrName>style.visibility</p:attrName>
                                        </p:attrNameLst>
                                      </p:cBhvr>
                                      <p:to>
                                        <p:strVal val="visible"/>
                                      </p:to>
                                    </p:set>
                                    <p:animEffect filter="fade" transition="in">
                                      <p:cBhvr>
                                        <p:cTn dur="1000"/>
                                        <p:tgtEl>
                                          <p:spTgt spid="12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4" st="4"/>
                                            </p:txEl>
                                          </p:spTgt>
                                        </p:tgtEl>
                                        <p:attrNameLst>
                                          <p:attrName>style.visibility</p:attrName>
                                        </p:attrNameLst>
                                      </p:cBhvr>
                                      <p:to>
                                        <p:strVal val="visible"/>
                                      </p:to>
                                    </p:set>
                                    <p:animEffect filter="fade" transition="in">
                                      <p:cBhvr>
                                        <p:cTn dur="1000"/>
                                        <p:tgtEl>
                                          <p:spTgt spid="12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5" st="5"/>
                                            </p:txEl>
                                          </p:spTgt>
                                        </p:tgtEl>
                                        <p:attrNameLst>
                                          <p:attrName>style.visibility</p:attrName>
                                        </p:attrNameLst>
                                      </p:cBhvr>
                                      <p:to>
                                        <p:strVal val="visible"/>
                                      </p:to>
                                    </p:set>
                                    <p:animEffect filter="fade" transition="in">
                                      <p:cBhvr>
                                        <p:cTn dur="1000"/>
                                        <p:tgtEl>
                                          <p:spTgt spid="12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6" st="6"/>
                                            </p:txEl>
                                          </p:spTgt>
                                        </p:tgtEl>
                                        <p:attrNameLst>
                                          <p:attrName>style.visibility</p:attrName>
                                        </p:attrNameLst>
                                      </p:cBhvr>
                                      <p:to>
                                        <p:strVal val="visible"/>
                                      </p:to>
                                    </p:set>
                                    <p:animEffect filter="fade" transition="in">
                                      <p:cBhvr>
                                        <p:cTn dur="1000"/>
                                        <p:tgtEl>
                                          <p:spTgt spid="12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xEl>
                                              <p:pRg end="7" st="7"/>
                                            </p:txEl>
                                          </p:spTgt>
                                        </p:tgtEl>
                                        <p:attrNameLst>
                                          <p:attrName>style.visibility</p:attrName>
                                        </p:attrNameLst>
                                      </p:cBhvr>
                                      <p:to>
                                        <p:strVal val="visible"/>
                                      </p:to>
                                    </p:set>
                                    <p:animEffect filter="fade" transition="in">
                                      <p:cBhvr>
                                        <p:cTn dur="1000"/>
                                        <p:tgtEl>
                                          <p:spTgt spid="124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27"/>
          <p:cNvSpPr txBox="1"/>
          <p:nvPr>
            <p:ph idx="1" type="body"/>
          </p:nvPr>
        </p:nvSpPr>
        <p:spPr>
          <a:xfrm>
            <a:off x="381000" y="990600"/>
            <a:ext cx="11506200" cy="5486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Thanh ghi điều khiển nối tiếp SCON</a:t>
            </a:r>
            <a:r>
              <a:rPr lang="en-US" sz="2800">
                <a:solidFill>
                  <a:srgbClr val="C00000"/>
                </a:solidFill>
                <a:latin typeface="Times New Roman"/>
                <a:ea typeface="Times New Roman"/>
                <a:cs typeface="Times New Roman"/>
                <a:sym typeface="Times New Roman"/>
              </a:rPr>
              <a:t>: </a:t>
            </a:r>
            <a:r>
              <a:rPr lang="en-US" sz="2800">
                <a:latin typeface="Times New Roman"/>
                <a:ea typeface="Times New Roman"/>
                <a:cs typeface="Times New Roman"/>
                <a:sym typeface="Times New Roman"/>
              </a:rPr>
              <a:t>là thanh ghi  8 bit được lập trình bit khởi động Start, bit dừng Stop và các bit dữ liệu khi định khung dữ liệu, Hình 3.3</a:t>
            </a:r>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rPr i="1" lang="en-US" sz="2000">
                <a:latin typeface="Times New Roman"/>
                <a:ea typeface="Times New Roman"/>
                <a:cs typeface="Times New Roman"/>
                <a:sym typeface="Times New Roman"/>
              </a:rPr>
              <a:t>Hình 3.3. Thanh ghi điều khiển nối tiếp SCON</a:t>
            </a:r>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800"/>
              <a:buNone/>
            </a:pPr>
            <a:r>
              <a:rPr b="1" lang="en-US" sz="2800">
                <a:latin typeface="Times New Roman"/>
                <a:ea typeface="Times New Roman"/>
                <a:cs typeface="Times New Roman"/>
                <a:sym typeface="Times New Roman"/>
              </a:rPr>
              <a:t>SM0, SM1: </a:t>
            </a:r>
            <a:r>
              <a:rPr lang="en-US" sz="2800">
                <a:latin typeface="Times New Roman"/>
                <a:ea typeface="Times New Roman"/>
                <a:cs typeface="Times New Roman"/>
                <a:sym typeface="Times New Roman"/>
              </a:rPr>
              <a:t>được sử dụng để xác định chế độ khung dữ liệu bằng cách xác định số bit của một ký tự và các bit Start, Stop. Các tổ hợp của chúng Bảng 3.4</a:t>
            </a:r>
            <a:endParaRPr/>
          </a:p>
        </p:txBody>
      </p:sp>
      <p:pic>
        <p:nvPicPr>
          <p:cNvPr id="1251" name="Google Shape;1251;p127"/>
          <p:cNvPicPr preferRelativeResize="0"/>
          <p:nvPr/>
        </p:nvPicPr>
        <p:blipFill rotWithShape="1">
          <a:blip r:embed="rId3">
            <a:alphaModFix/>
          </a:blip>
          <a:srcRect b="0" l="0" r="0" t="0"/>
          <a:stretch/>
        </p:blipFill>
        <p:spPr>
          <a:xfrm>
            <a:off x="2190513" y="2743200"/>
            <a:ext cx="7582373" cy="1331175"/>
          </a:xfrm>
          <a:prstGeom prst="rect">
            <a:avLst/>
          </a:prstGeom>
          <a:noFill/>
          <a:ln>
            <a:noFill/>
          </a:ln>
        </p:spPr>
      </p:pic>
      <p:sp>
        <p:nvSpPr>
          <p:cNvPr id="1252" name="Google Shape;1252;p127"/>
          <p:cNvSpPr txBox="1"/>
          <p:nvPr>
            <p:ph type="title"/>
          </p:nvPr>
        </p:nvSpPr>
        <p:spPr>
          <a:xfrm>
            <a:off x="228600" y="228600"/>
            <a:ext cx="1089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(2)</a:t>
            </a:r>
            <a:endParaRPr sz="3200">
              <a:solidFill>
                <a:srgbClr val="FF0000"/>
              </a:solidFill>
            </a:endParaRPr>
          </a:p>
        </p:txBody>
      </p:sp>
      <p:sp>
        <p:nvSpPr>
          <p:cNvPr id="1253" name="Google Shape;1253;p12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0" st="0"/>
                                            </p:txEl>
                                          </p:spTgt>
                                        </p:tgtEl>
                                        <p:attrNameLst>
                                          <p:attrName>style.visibility</p:attrName>
                                        </p:attrNameLst>
                                      </p:cBhvr>
                                      <p:to>
                                        <p:strVal val="visible"/>
                                      </p:to>
                                    </p:set>
                                    <p:animEffect filter="fade" transition="in">
                                      <p:cBhvr>
                                        <p:cTn dur="1000"/>
                                        <p:tgtEl>
                                          <p:spTgt spid="12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1" st="1"/>
                                            </p:txEl>
                                          </p:spTgt>
                                        </p:tgtEl>
                                        <p:attrNameLst>
                                          <p:attrName>style.visibility</p:attrName>
                                        </p:attrNameLst>
                                      </p:cBhvr>
                                      <p:to>
                                        <p:strVal val="visible"/>
                                      </p:to>
                                    </p:set>
                                    <p:animEffect filter="fade" transition="in">
                                      <p:cBhvr>
                                        <p:cTn dur="1000"/>
                                        <p:tgtEl>
                                          <p:spTgt spid="12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2" st="2"/>
                                            </p:txEl>
                                          </p:spTgt>
                                        </p:tgtEl>
                                        <p:attrNameLst>
                                          <p:attrName>style.visibility</p:attrName>
                                        </p:attrNameLst>
                                      </p:cBhvr>
                                      <p:to>
                                        <p:strVal val="visible"/>
                                      </p:to>
                                    </p:set>
                                    <p:animEffect filter="fade" transition="in">
                                      <p:cBhvr>
                                        <p:cTn dur="1000"/>
                                        <p:tgtEl>
                                          <p:spTgt spid="12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3" st="3"/>
                                            </p:txEl>
                                          </p:spTgt>
                                        </p:tgtEl>
                                        <p:attrNameLst>
                                          <p:attrName>style.visibility</p:attrName>
                                        </p:attrNameLst>
                                      </p:cBhvr>
                                      <p:to>
                                        <p:strVal val="visible"/>
                                      </p:to>
                                    </p:set>
                                    <p:animEffect filter="fade" transition="in">
                                      <p:cBhvr>
                                        <p:cTn dur="1000"/>
                                        <p:tgtEl>
                                          <p:spTgt spid="12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4" st="4"/>
                                            </p:txEl>
                                          </p:spTgt>
                                        </p:tgtEl>
                                        <p:attrNameLst>
                                          <p:attrName>style.visibility</p:attrName>
                                        </p:attrNameLst>
                                      </p:cBhvr>
                                      <p:to>
                                        <p:strVal val="visible"/>
                                      </p:to>
                                    </p:set>
                                    <p:animEffect filter="fade" transition="in">
                                      <p:cBhvr>
                                        <p:cTn dur="1000"/>
                                        <p:tgtEl>
                                          <p:spTgt spid="12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5" st="5"/>
                                            </p:txEl>
                                          </p:spTgt>
                                        </p:tgtEl>
                                        <p:attrNameLst>
                                          <p:attrName>style.visibility</p:attrName>
                                        </p:attrNameLst>
                                      </p:cBhvr>
                                      <p:to>
                                        <p:strVal val="visible"/>
                                      </p:to>
                                    </p:set>
                                    <p:animEffect filter="fade" transition="in">
                                      <p:cBhvr>
                                        <p:cTn dur="1000"/>
                                        <p:tgtEl>
                                          <p:spTgt spid="12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6" st="6"/>
                                            </p:txEl>
                                          </p:spTgt>
                                        </p:tgtEl>
                                        <p:attrNameLst>
                                          <p:attrName>style.visibility</p:attrName>
                                        </p:attrNameLst>
                                      </p:cBhvr>
                                      <p:to>
                                        <p:strVal val="visible"/>
                                      </p:to>
                                    </p:set>
                                    <p:animEffect filter="fade" transition="in">
                                      <p:cBhvr>
                                        <p:cTn dur="1000"/>
                                        <p:tgtEl>
                                          <p:spTgt spid="125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xEl>
                                              <p:pRg end="7" st="7"/>
                                            </p:txEl>
                                          </p:spTgt>
                                        </p:tgtEl>
                                        <p:attrNameLst>
                                          <p:attrName>style.visibility</p:attrName>
                                        </p:attrNameLst>
                                      </p:cBhvr>
                                      <p:to>
                                        <p:strVal val="visible"/>
                                      </p:to>
                                    </p:set>
                                    <p:animEffect filter="fade" transition="in">
                                      <p:cBhvr>
                                        <p:cTn dur="1000"/>
                                        <p:tgtEl>
                                          <p:spTgt spid="125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1000"/>
                                        <p:tgtEl>
                                          <p:spTgt spid="1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28"/>
          <p:cNvSpPr txBox="1"/>
          <p:nvPr>
            <p:ph idx="1" type="body"/>
          </p:nvPr>
        </p:nvSpPr>
        <p:spPr>
          <a:xfrm>
            <a:off x="685800" y="990600"/>
            <a:ext cx="11201400" cy="5562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Thanh ghi điều khiển nối tiếp SCON</a:t>
            </a:r>
            <a:r>
              <a:rPr lang="en-US" sz="2800">
                <a:solidFill>
                  <a:srgbClr val="C00000"/>
                </a:solidFill>
                <a:latin typeface="Times New Roman"/>
                <a:ea typeface="Times New Roman"/>
                <a:cs typeface="Times New Roman"/>
                <a:sym typeface="Times New Roman"/>
              </a:rPr>
              <a:t>:</a:t>
            </a:r>
            <a:endParaRPr/>
          </a:p>
          <a:p>
            <a:pPr indent="-165100" lvl="0" marL="342900" rtl="0" algn="just">
              <a:spcBef>
                <a:spcPts val="600"/>
              </a:spcBef>
              <a:spcAft>
                <a:spcPts val="0"/>
              </a:spcAft>
              <a:buClr>
                <a:schemeClr val="dk1"/>
              </a:buClr>
              <a:buSzPts val="2800"/>
              <a:buFont typeface="Noto Sans Symbols"/>
              <a:buNone/>
            </a:pPr>
            <a:r>
              <a:t/>
            </a:r>
            <a:endParaRPr b="1" sz="2800">
              <a:latin typeface="Times New Roman"/>
              <a:ea typeface="Times New Roman"/>
              <a:cs typeface="Times New Roman"/>
              <a:sym typeface="Times New Roman"/>
            </a:endParaRPr>
          </a:p>
          <a:p>
            <a:pPr indent="0" lvl="0" marL="0" rtl="0" algn="ctr">
              <a:spcBef>
                <a:spcPts val="600"/>
              </a:spcBef>
              <a:spcAft>
                <a:spcPts val="0"/>
              </a:spcAft>
              <a:buClr>
                <a:schemeClr val="dk1"/>
              </a:buClr>
              <a:buSzPts val="2400"/>
              <a:buNone/>
            </a:pPr>
            <a:r>
              <a:rPr i="1" lang="en-US" sz="2400">
                <a:latin typeface="Times New Roman"/>
                <a:ea typeface="Times New Roman"/>
                <a:cs typeface="Times New Roman"/>
                <a:sym typeface="Times New Roman"/>
              </a:rPr>
              <a:t>Bảng 3.5. Các chế độ cổng nối tiếp</a:t>
            </a:r>
            <a:endParaRPr i="1"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p:txBody>
      </p:sp>
      <p:graphicFrame>
        <p:nvGraphicFramePr>
          <p:cNvPr id="1259" name="Google Shape;1259;p128"/>
          <p:cNvGraphicFramePr/>
          <p:nvPr/>
        </p:nvGraphicFramePr>
        <p:xfrm>
          <a:off x="1066799" y="2590801"/>
          <a:ext cx="3000000" cy="3000000"/>
        </p:xfrm>
        <a:graphic>
          <a:graphicData uri="http://schemas.openxmlformats.org/drawingml/2006/table">
            <a:tbl>
              <a:tblPr bandRow="1" firstRow="1">
                <a:noFill/>
                <a:tableStyleId>{A4A541D9-23D5-4180-BFA4-B58C0BD4C685}</a:tableStyleId>
              </a:tblPr>
              <a:tblGrid>
                <a:gridCol w="1183725"/>
                <a:gridCol w="1024575"/>
                <a:gridCol w="1370200"/>
                <a:gridCol w="2387975"/>
                <a:gridCol w="4396725"/>
              </a:tblGrid>
              <a:tr h="8737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SM0</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SM1</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Chế độ</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Mô</a:t>
                      </a:r>
                      <a:r>
                        <a:rPr lang="en-US" sz="2400">
                          <a:solidFill>
                            <a:schemeClr val="dk1"/>
                          </a:solidFill>
                          <a:latin typeface="Times New Roman"/>
                          <a:ea typeface="Times New Roman"/>
                          <a:cs typeface="Times New Roman"/>
                          <a:sym typeface="Times New Roman"/>
                        </a:rPr>
                        <a:t> tả</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Tốc</a:t>
                      </a:r>
                      <a:r>
                        <a:rPr lang="en-US" sz="2400">
                          <a:solidFill>
                            <a:schemeClr val="dk1"/>
                          </a:solidFill>
                          <a:latin typeface="Times New Roman"/>
                          <a:ea typeface="Times New Roman"/>
                          <a:cs typeface="Times New Roman"/>
                          <a:sym typeface="Times New Roman"/>
                        </a:rPr>
                        <a:t> độ baud</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475">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Thanh ghi dịch</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Cố định</a:t>
                      </a:r>
                      <a:r>
                        <a:rPr lang="en-US" sz="2400">
                          <a:solidFill>
                            <a:schemeClr val="dk1"/>
                          </a:solidFill>
                          <a:latin typeface="Times New Roman"/>
                          <a:ea typeface="Times New Roman"/>
                          <a:cs typeface="Times New Roman"/>
                          <a:sym typeface="Times New Roman"/>
                        </a:rPr>
                        <a:t> (1/12 tần số clock)</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475">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5D8F1"/>
                    </a:solidFill>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5D8F1"/>
                    </a:solidFill>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5D8F1"/>
                    </a:solidFill>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UART</a:t>
                      </a:r>
                      <a:r>
                        <a:rPr lang="en-US" sz="2400">
                          <a:solidFill>
                            <a:schemeClr val="dk1"/>
                          </a:solidFill>
                          <a:latin typeface="Times New Roman"/>
                          <a:ea typeface="Times New Roman"/>
                          <a:cs typeface="Times New Roman"/>
                          <a:sym typeface="Times New Roman"/>
                        </a:rPr>
                        <a:t> 8 bit</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5D8F1"/>
                    </a:solidFill>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Thay đổi</a:t>
                      </a:r>
                      <a:r>
                        <a:rPr lang="en-US" sz="2400">
                          <a:solidFill>
                            <a:schemeClr val="dk1"/>
                          </a:solidFill>
                          <a:latin typeface="Times New Roman"/>
                          <a:ea typeface="Times New Roman"/>
                          <a:cs typeface="Times New Roman"/>
                          <a:sym typeface="Times New Roman"/>
                        </a:rPr>
                        <a:t> (cấu hình qua Timer1)</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5D8F1"/>
                    </a:solidFill>
                  </a:tcPr>
                </a:tc>
              </a:tr>
              <a:tr h="505475">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2</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UART</a:t>
                      </a:r>
                      <a:r>
                        <a:rPr lang="en-US" sz="2400">
                          <a:solidFill>
                            <a:schemeClr val="dk1"/>
                          </a:solidFill>
                          <a:latin typeface="Times New Roman"/>
                          <a:ea typeface="Times New Roman"/>
                          <a:cs typeface="Times New Roman"/>
                          <a:sym typeface="Times New Roman"/>
                        </a:rPr>
                        <a:t> 9 bit</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Cố định</a:t>
                      </a:r>
                      <a:r>
                        <a:rPr lang="en-US" sz="2400">
                          <a:solidFill>
                            <a:schemeClr val="dk1"/>
                          </a:solidFill>
                          <a:latin typeface="Times New Roman"/>
                          <a:ea typeface="Times New Roman"/>
                          <a:cs typeface="Times New Roman"/>
                          <a:sym typeface="Times New Roman"/>
                        </a:rPr>
                        <a:t> (1/12 hoặc 1/64 tần số clock)</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475">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3</a:t>
                      </a:r>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UART</a:t>
                      </a:r>
                      <a:r>
                        <a:rPr lang="en-US" sz="2400">
                          <a:solidFill>
                            <a:schemeClr val="dk1"/>
                          </a:solidFill>
                          <a:latin typeface="Times New Roman"/>
                          <a:ea typeface="Times New Roman"/>
                          <a:cs typeface="Times New Roman"/>
                          <a:sym typeface="Times New Roman"/>
                        </a:rPr>
                        <a:t> 9 bit</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Thay đổi</a:t>
                      </a:r>
                      <a:r>
                        <a:rPr lang="en-US" sz="2400">
                          <a:solidFill>
                            <a:schemeClr val="dk1"/>
                          </a:solidFill>
                          <a:latin typeface="Times New Roman"/>
                          <a:ea typeface="Times New Roman"/>
                          <a:cs typeface="Times New Roman"/>
                          <a:sym typeface="Times New Roman"/>
                        </a:rPr>
                        <a:t> (cấu hình qua Timer1)</a:t>
                      </a:r>
                      <a:endParaRPr sz="2400">
                        <a:solidFill>
                          <a:schemeClr val="dk1"/>
                        </a:solidFill>
                        <a:latin typeface="Times New Roman"/>
                        <a:ea typeface="Times New Roman"/>
                        <a:cs typeface="Times New Roman"/>
                        <a:sym typeface="Times New Roman"/>
                      </a:endParaRPr>
                    </a:p>
                  </a:txBody>
                  <a:tcPr marT="55775" marB="55775" marR="111575" marL="111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260" name="Google Shape;1260;p128"/>
          <p:cNvSpPr txBox="1"/>
          <p:nvPr>
            <p:ph type="title"/>
          </p:nvPr>
        </p:nvSpPr>
        <p:spPr>
          <a:xfrm>
            <a:off x="228600" y="228600"/>
            <a:ext cx="1089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(3)</a:t>
            </a:r>
            <a:endParaRPr sz="3200">
              <a:solidFill>
                <a:srgbClr val="FF0000"/>
              </a:solidFill>
            </a:endParaRPr>
          </a:p>
        </p:txBody>
      </p:sp>
      <p:sp>
        <p:nvSpPr>
          <p:cNvPr id="1261" name="Google Shape;1261;p12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29"/>
          <p:cNvSpPr txBox="1"/>
          <p:nvPr>
            <p:ph idx="1" type="body"/>
          </p:nvPr>
        </p:nvSpPr>
        <p:spPr>
          <a:xfrm>
            <a:off x="381000" y="762000"/>
            <a:ext cx="11582400" cy="5791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Thanh ghi điều khiển nối tiếp SCON</a:t>
            </a:r>
            <a:r>
              <a:rPr lang="en-US" sz="2800">
                <a:solidFill>
                  <a:srgbClr val="C00000"/>
                </a:solidFill>
                <a:latin typeface="Times New Roman"/>
                <a:ea typeface="Times New Roman"/>
                <a:cs typeface="Times New Roman"/>
                <a:sym typeface="Times New Roman"/>
              </a:rPr>
              <a:t>:</a:t>
            </a:r>
            <a:endParaRPr b="1" sz="2800">
              <a:latin typeface="Times New Roman"/>
              <a:ea typeface="Times New Roman"/>
              <a:cs typeface="Times New Roman"/>
              <a:sym typeface="Times New Roman"/>
            </a:endParaRPr>
          </a:p>
          <a:p>
            <a:pPr indent="-342900" lvl="0" marL="342900" rtl="0" algn="l">
              <a:spcBef>
                <a:spcPts val="1200"/>
              </a:spcBef>
              <a:spcAft>
                <a:spcPts val="0"/>
              </a:spcAft>
              <a:buClr>
                <a:srgbClr val="0070C0"/>
              </a:buClr>
              <a:buSzPts val="2400"/>
              <a:buChar char="•"/>
            </a:pPr>
            <a:r>
              <a:rPr b="1" lang="en-US" sz="2400">
                <a:solidFill>
                  <a:srgbClr val="0070C0"/>
                </a:solidFill>
                <a:latin typeface="Times New Roman"/>
                <a:ea typeface="Times New Roman"/>
                <a:cs typeface="Times New Roman"/>
                <a:sym typeface="Times New Roman"/>
              </a:rPr>
              <a:t>Chế độ 0: </a:t>
            </a:r>
            <a:r>
              <a:rPr lang="en-US" sz="2400">
                <a:latin typeface="Times New Roman"/>
                <a:ea typeface="Times New Roman"/>
                <a:cs typeface="Times New Roman"/>
                <a:sym typeface="Times New Roman"/>
              </a:rPr>
              <a:t>Đây là chế độ thanh ghi dịch 8 bit, không có bit start/stop, ở chế độ này RxD là chân truyền nhận, còn TxD phát xung đồng bộ</a:t>
            </a:r>
            <a:endParaRPr sz="2400">
              <a:latin typeface="Times New Roman"/>
              <a:ea typeface="Times New Roman"/>
              <a:cs typeface="Times New Roman"/>
              <a:sym typeface="Times New Roman"/>
            </a:endParaRPr>
          </a:p>
          <a:p>
            <a:pPr indent="-285750" lvl="1" marL="74295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Quá trình truyền bắt đầu khi ghi giá trị vào SBUF, kết thúc khi TI = 1</a:t>
            </a:r>
            <a:endParaRPr/>
          </a:p>
          <a:p>
            <a:pPr indent="-171450" lvl="1" marL="742950" rtl="0" algn="l">
              <a:spcBef>
                <a:spcPts val="1200"/>
              </a:spcBef>
              <a:spcAft>
                <a:spcPts val="0"/>
              </a:spcAft>
              <a:buClr>
                <a:schemeClr val="dk1"/>
              </a:buClr>
              <a:buSzPts val="1800"/>
              <a:buFont typeface="Noto Sans Symbols"/>
              <a:buNone/>
            </a:pPr>
            <a:r>
              <a:t/>
            </a: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2200"/>
              <a:buNone/>
            </a:pPr>
            <a:r>
              <a:rPr lang="en-US" sz="2200">
                <a:latin typeface="Times New Roman"/>
                <a:ea typeface="Times New Roman"/>
                <a:cs typeface="Times New Roman"/>
                <a:sym typeface="Times New Roman"/>
              </a:rPr>
              <a:t> </a:t>
            </a:r>
            <a:br>
              <a:rPr lang="en-US" sz="2400"/>
            </a:br>
            <a:endParaRPr b="1" sz="2400">
              <a:latin typeface="Times New Roman"/>
              <a:ea typeface="Times New Roman"/>
              <a:cs typeface="Times New Roman"/>
              <a:sym typeface="Times New Roman"/>
            </a:endParaRPr>
          </a:p>
          <a:p>
            <a:pPr indent="0" lvl="0" marL="0" rtl="0" algn="ctr">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285750" lvl="1" marL="742950" rtl="0" algn="l">
              <a:spcBef>
                <a:spcPts val="12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Quá trình nhận tự động bởi hệ thống và kết thúc khi RI = 1</a:t>
            </a:r>
            <a:endParaRPr/>
          </a:p>
          <a:p>
            <a:pPr indent="0" lvl="0" marL="0" rtl="0" algn="just">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p:txBody>
      </p:sp>
      <p:pic>
        <p:nvPicPr>
          <p:cNvPr id="1267" name="Google Shape;1267;p129"/>
          <p:cNvPicPr preferRelativeResize="0"/>
          <p:nvPr/>
        </p:nvPicPr>
        <p:blipFill rotWithShape="1">
          <a:blip r:embed="rId3">
            <a:alphaModFix/>
          </a:blip>
          <a:srcRect b="0" l="0" r="0" t="0"/>
          <a:stretch/>
        </p:blipFill>
        <p:spPr>
          <a:xfrm>
            <a:off x="3624363" y="2743200"/>
            <a:ext cx="5095674" cy="1600200"/>
          </a:xfrm>
          <a:prstGeom prst="rect">
            <a:avLst/>
          </a:prstGeom>
          <a:noFill/>
          <a:ln>
            <a:noFill/>
          </a:ln>
        </p:spPr>
      </p:pic>
      <p:pic>
        <p:nvPicPr>
          <p:cNvPr id="1268" name="Google Shape;1268;p129"/>
          <p:cNvPicPr preferRelativeResize="0"/>
          <p:nvPr/>
        </p:nvPicPr>
        <p:blipFill rotWithShape="1">
          <a:blip r:embed="rId4">
            <a:alphaModFix/>
          </a:blip>
          <a:srcRect b="0" l="0" r="0" t="0"/>
          <a:stretch/>
        </p:blipFill>
        <p:spPr>
          <a:xfrm>
            <a:off x="3636855" y="5029200"/>
            <a:ext cx="5324167" cy="1447800"/>
          </a:xfrm>
          <a:prstGeom prst="rect">
            <a:avLst/>
          </a:prstGeom>
          <a:noFill/>
          <a:ln>
            <a:noFill/>
          </a:ln>
        </p:spPr>
      </p:pic>
      <p:sp>
        <p:nvSpPr>
          <p:cNvPr id="1269" name="Google Shape;1269;p129"/>
          <p:cNvSpPr txBox="1"/>
          <p:nvPr>
            <p:ph type="title"/>
          </p:nvPr>
        </p:nvSpPr>
        <p:spPr>
          <a:xfrm>
            <a:off x="228600" y="76200"/>
            <a:ext cx="1089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(4)</a:t>
            </a:r>
            <a:endParaRPr sz="3200">
              <a:solidFill>
                <a:srgbClr val="FF0000"/>
              </a:solidFill>
            </a:endParaRPr>
          </a:p>
        </p:txBody>
      </p:sp>
      <p:sp>
        <p:nvSpPr>
          <p:cNvPr id="1270" name="Google Shape;1270;p12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7"/>
                                        </p:tgtEl>
                                        <p:attrNameLst>
                                          <p:attrName>style.visibility</p:attrName>
                                        </p:attrNameLst>
                                      </p:cBhvr>
                                      <p:to>
                                        <p:strVal val="visible"/>
                                      </p:to>
                                    </p:set>
                                    <p:animEffect filter="fade" transition="in">
                                      <p:cBhvr>
                                        <p:cTn dur="1000"/>
                                        <p:tgtEl>
                                          <p:spTgt spid="1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8"/>
                                        </p:tgtEl>
                                        <p:attrNameLst>
                                          <p:attrName>style.visibility</p:attrName>
                                        </p:attrNameLst>
                                      </p:cBhvr>
                                      <p:to>
                                        <p:strVal val="visible"/>
                                      </p:to>
                                    </p:set>
                                    <p:animEffect filter="fade" transition="in">
                                      <p:cBhvr>
                                        <p:cTn dur="1000"/>
                                        <p:tgtEl>
                                          <p:spTgt spid="1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130"/>
          <p:cNvSpPr txBox="1"/>
          <p:nvPr>
            <p:ph idx="1" type="body"/>
          </p:nvPr>
        </p:nvSpPr>
        <p:spPr>
          <a:xfrm>
            <a:off x="381000" y="762000"/>
            <a:ext cx="11353800" cy="6019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Thanh ghi điều khiển nối tiếp SCON</a:t>
            </a:r>
            <a:r>
              <a:rPr lang="en-US" sz="2800">
                <a:solidFill>
                  <a:srgbClr val="C00000"/>
                </a:solidFill>
                <a:latin typeface="Times New Roman"/>
                <a:ea typeface="Times New Roman"/>
                <a:cs typeface="Times New Roman"/>
                <a:sym typeface="Times New Roman"/>
              </a:rPr>
              <a:t>:</a:t>
            </a:r>
            <a:endParaRPr b="1" sz="2800">
              <a:latin typeface="Times New Roman"/>
              <a:ea typeface="Times New Roman"/>
              <a:cs typeface="Times New Roman"/>
              <a:sym typeface="Times New Roman"/>
            </a:endParaRPr>
          </a:p>
          <a:p>
            <a:pPr indent="-342900" lvl="0" marL="342900" rtl="0" algn="l">
              <a:spcBef>
                <a:spcPts val="1200"/>
              </a:spcBef>
              <a:spcAft>
                <a:spcPts val="0"/>
              </a:spcAft>
              <a:buClr>
                <a:srgbClr val="0070C0"/>
              </a:buClr>
              <a:buSzPts val="2400"/>
              <a:buChar char="•"/>
            </a:pPr>
            <a:r>
              <a:rPr b="1" lang="en-US" sz="2400">
                <a:solidFill>
                  <a:srgbClr val="0070C0"/>
                </a:solidFill>
                <a:latin typeface="Times New Roman"/>
                <a:ea typeface="Times New Roman"/>
                <a:cs typeface="Times New Roman"/>
                <a:sym typeface="Times New Roman"/>
              </a:rPr>
              <a:t>Chế độ 1: </a:t>
            </a:r>
            <a:r>
              <a:rPr lang="en-US" sz="2400">
                <a:latin typeface="Times New Roman"/>
                <a:ea typeface="Times New Roman"/>
                <a:cs typeface="Times New Roman"/>
                <a:sym typeface="Times New Roman"/>
              </a:rPr>
              <a:t>Truyền thông bất đồng bộ với frame truyền 10 bit (1 bit Start, 8 bit dữ liệu, 1 bit Stop). TxD truyền, RxD nhận dữ liệu, tốc độ truyền được cài đặt qua Timer 1</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 Quá trình truyền:</a:t>
            </a:r>
            <a:endParaRPr/>
          </a:p>
          <a:p>
            <a:pPr indent="0" lvl="0" marL="0" rtl="0" algn="l">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 Quá trình nhận:</a:t>
            </a:r>
            <a:endParaRPr/>
          </a:p>
          <a:p>
            <a:pPr indent="0" lvl="0" marL="0" rtl="0" algn="just">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p:txBody>
      </p:sp>
      <p:pic>
        <p:nvPicPr>
          <p:cNvPr id="1276" name="Google Shape;1276;p130"/>
          <p:cNvPicPr preferRelativeResize="0"/>
          <p:nvPr/>
        </p:nvPicPr>
        <p:blipFill rotWithShape="1">
          <a:blip r:embed="rId3">
            <a:alphaModFix/>
          </a:blip>
          <a:srcRect b="0" l="0" r="0" t="0"/>
          <a:stretch/>
        </p:blipFill>
        <p:spPr>
          <a:xfrm>
            <a:off x="3886200" y="2590800"/>
            <a:ext cx="5671749" cy="1371600"/>
          </a:xfrm>
          <a:prstGeom prst="rect">
            <a:avLst/>
          </a:prstGeom>
          <a:noFill/>
          <a:ln>
            <a:noFill/>
          </a:ln>
        </p:spPr>
      </p:pic>
      <p:pic>
        <p:nvPicPr>
          <p:cNvPr id="1277" name="Google Shape;1277;p130"/>
          <p:cNvPicPr preferRelativeResize="0"/>
          <p:nvPr/>
        </p:nvPicPr>
        <p:blipFill rotWithShape="1">
          <a:blip r:embed="rId4">
            <a:alphaModFix/>
          </a:blip>
          <a:srcRect b="0" l="0" r="0" t="0"/>
          <a:stretch/>
        </p:blipFill>
        <p:spPr>
          <a:xfrm>
            <a:off x="3886200" y="4684615"/>
            <a:ext cx="5671749" cy="1374970"/>
          </a:xfrm>
          <a:prstGeom prst="rect">
            <a:avLst/>
          </a:prstGeom>
          <a:noFill/>
          <a:ln>
            <a:noFill/>
          </a:ln>
        </p:spPr>
      </p:pic>
      <p:sp>
        <p:nvSpPr>
          <p:cNvPr id="1278" name="Google Shape;1278;p130"/>
          <p:cNvSpPr txBox="1"/>
          <p:nvPr>
            <p:ph type="title"/>
          </p:nvPr>
        </p:nvSpPr>
        <p:spPr>
          <a:xfrm>
            <a:off x="228600" y="76200"/>
            <a:ext cx="1089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(5)</a:t>
            </a:r>
            <a:endParaRPr sz="3200">
              <a:solidFill>
                <a:srgbClr val="FF0000"/>
              </a:solidFill>
            </a:endParaRPr>
          </a:p>
        </p:txBody>
      </p:sp>
      <p:sp>
        <p:nvSpPr>
          <p:cNvPr id="1279" name="Google Shape;1279;p13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6"/>
                                        </p:tgtEl>
                                        <p:attrNameLst>
                                          <p:attrName>style.visibility</p:attrName>
                                        </p:attrNameLst>
                                      </p:cBhvr>
                                      <p:to>
                                        <p:strVal val="visible"/>
                                      </p:to>
                                    </p:set>
                                    <p:animEffect filter="fade" transition="in">
                                      <p:cBhvr>
                                        <p:cTn dur="1000"/>
                                        <p:tgtEl>
                                          <p:spTgt spid="1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1000"/>
                                        <p:tgtEl>
                                          <p:spTgt spid="1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31"/>
          <p:cNvSpPr txBox="1"/>
          <p:nvPr>
            <p:ph idx="1" type="body"/>
          </p:nvPr>
        </p:nvSpPr>
        <p:spPr>
          <a:xfrm>
            <a:off x="228600" y="762000"/>
            <a:ext cx="11734800" cy="6019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Font typeface="Noto Sans Symbols"/>
              <a:buChar char="❖"/>
            </a:pPr>
            <a:r>
              <a:rPr b="1" lang="en-US" sz="2800">
                <a:solidFill>
                  <a:srgbClr val="C00000"/>
                </a:solidFill>
                <a:latin typeface="Times New Roman"/>
                <a:ea typeface="Times New Roman"/>
                <a:cs typeface="Times New Roman"/>
                <a:sym typeface="Times New Roman"/>
              </a:rPr>
              <a:t>Thanh ghi điều khiển nối tiếp SCON</a:t>
            </a:r>
            <a:r>
              <a:rPr lang="en-US" sz="2800">
                <a:solidFill>
                  <a:srgbClr val="C00000"/>
                </a:solidFill>
                <a:latin typeface="Times New Roman"/>
                <a:ea typeface="Times New Roman"/>
                <a:cs typeface="Times New Roman"/>
                <a:sym typeface="Times New Roman"/>
              </a:rPr>
              <a:t>:</a:t>
            </a:r>
            <a:endParaRPr b="1" sz="2800">
              <a:latin typeface="Times New Roman"/>
              <a:ea typeface="Times New Roman"/>
              <a:cs typeface="Times New Roman"/>
              <a:sym typeface="Times New Roman"/>
            </a:endParaRPr>
          </a:p>
          <a:p>
            <a:pPr indent="-342900" lvl="0" marL="342900" rtl="0" algn="just">
              <a:spcBef>
                <a:spcPts val="1200"/>
              </a:spcBef>
              <a:spcAft>
                <a:spcPts val="0"/>
              </a:spcAft>
              <a:buClr>
                <a:srgbClr val="0070C0"/>
              </a:buClr>
              <a:buSzPts val="2400"/>
              <a:buChar char="•"/>
            </a:pPr>
            <a:r>
              <a:rPr b="1" lang="en-US" sz="2400">
                <a:solidFill>
                  <a:srgbClr val="0070C0"/>
                </a:solidFill>
                <a:latin typeface="Times New Roman"/>
                <a:ea typeface="Times New Roman"/>
                <a:cs typeface="Times New Roman"/>
                <a:sym typeface="Times New Roman"/>
              </a:rPr>
              <a:t>Chế độ 2:</a:t>
            </a:r>
            <a:r>
              <a:rPr lang="en-US" sz="2400">
                <a:latin typeface="Times New Roman"/>
                <a:ea typeface="Times New Roman"/>
                <a:cs typeface="Times New Roman"/>
                <a:sym typeface="Times New Roman"/>
              </a:rPr>
              <a:t> Truyền thông bất đồng bộ với frame truyền 11 bit: 1 bit Start, 8 bit dữ liệu, 1 bit lập trình được (bên truyền là TB8, nhận là RB8) và 1 bit Stop. TxD thực hiện truyền, RxD nhận dữ liệu, tốc độ truyền cài đặt qua Timer1. Bit thứ 9 thường được dùng là bit parity.</a:t>
            </a:r>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 - Quá trình truyền:</a:t>
            </a:r>
            <a:endParaRPr/>
          </a:p>
          <a:p>
            <a:pPr indent="0" lvl="0" marL="0" rtl="0" algn="l">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2400"/>
              <a:buNone/>
            </a:pPr>
            <a:r>
              <a:rPr lang="en-US" sz="2400">
                <a:latin typeface="Times New Roman"/>
                <a:ea typeface="Times New Roman"/>
                <a:cs typeface="Times New Roman"/>
                <a:sym typeface="Times New Roman"/>
              </a:rPr>
              <a:t>- Quá trình nhận:</a:t>
            </a:r>
            <a:endParaRPr/>
          </a:p>
          <a:p>
            <a:pPr indent="0" lvl="0" marL="0" rtl="0" algn="just">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000"/>
              <a:buNone/>
            </a:pPr>
            <a:r>
              <a:t/>
            </a:r>
            <a:endParaRPr i="1" sz="2000">
              <a:latin typeface="Times New Roman"/>
              <a:ea typeface="Times New Roman"/>
              <a:cs typeface="Times New Roman"/>
              <a:sym typeface="Times New Roman"/>
            </a:endParaRPr>
          </a:p>
          <a:p>
            <a:pPr indent="-342900" lvl="0" marL="342900" rtl="0" algn="just">
              <a:spcBef>
                <a:spcPts val="1200"/>
              </a:spcBef>
              <a:spcAft>
                <a:spcPts val="0"/>
              </a:spcAft>
              <a:buClr>
                <a:srgbClr val="0070C0"/>
              </a:buClr>
              <a:buSzPts val="2400"/>
              <a:buChar char="•"/>
            </a:pPr>
            <a:r>
              <a:rPr b="1" lang="en-US" sz="2400">
                <a:solidFill>
                  <a:srgbClr val="0070C0"/>
                </a:solidFill>
                <a:latin typeface="Times New Roman"/>
                <a:ea typeface="Times New Roman"/>
                <a:cs typeface="Times New Roman"/>
                <a:sym typeface="Times New Roman"/>
              </a:rPr>
              <a:t>Chế độ 3: </a:t>
            </a:r>
            <a:r>
              <a:rPr lang="en-US" sz="2400">
                <a:latin typeface="Times New Roman"/>
                <a:ea typeface="Times New Roman"/>
                <a:cs typeface="Times New Roman"/>
                <a:sym typeface="Times New Roman"/>
              </a:rPr>
              <a:t>tương tự như chế độ 2, trừ tốc độ baud</a:t>
            </a:r>
            <a:endParaRPr/>
          </a:p>
          <a:p>
            <a:pPr indent="-190500" lvl="0" marL="342900" rtl="0" algn="just">
              <a:spcBef>
                <a:spcPts val="1200"/>
              </a:spcBef>
              <a:spcAft>
                <a:spcPts val="0"/>
              </a:spcAft>
              <a:buClr>
                <a:schemeClr val="dk1"/>
              </a:buClr>
              <a:buSzPts val="2400"/>
              <a:buNone/>
            </a:pPr>
            <a:r>
              <a:t/>
            </a:r>
            <a:endParaRPr b="1" sz="2400">
              <a:latin typeface="Times New Roman"/>
              <a:ea typeface="Times New Roman"/>
              <a:cs typeface="Times New Roman"/>
              <a:sym typeface="Times New Roman"/>
            </a:endParaRPr>
          </a:p>
        </p:txBody>
      </p:sp>
      <p:pic>
        <p:nvPicPr>
          <p:cNvPr id="1285" name="Google Shape;1285;p131"/>
          <p:cNvPicPr preferRelativeResize="0"/>
          <p:nvPr/>
        </p:nvPicPr>
        <p:blipFill rotWithShape="1">
          <a:blip r:embed="rId3">
            <a:alphaModFix/>
          </a:blip>
          <a:srcRect b="0" l="0" r="0" t="0"/>
          <a:stretch/>
        </p:blipFill>
        <p:spPr>
          <a:xfrm>
            <a:off x="3657600" y="2824161"/>
            <a:ext cx="6167746" cy="1225556"/>
          </a:xfrm>
          <a:prstGeom prst="rect">
            <a:avLst/>
          </a:prstGeom>
          <a:noFill/>
          <a:ln>
            <a:noFill/>
          </a:ln>
        </p:spPr>
      </p:pic>
      <p:pic>
        <p:nvPicPr>
          <p:cNvPr id="1286" name="Google Shape;1286;p131"/>
          <p:cNvPicPr preferRelativeResize="0"/>
          <p:nvPr/>
        </p:nvPicPr>
        <p:blipFill rotWithShape="1">
          <a:blip r:embed="rId4">
            <a:alphaModFix/>
          </a:blip>
          <a:srcRect b="0" l="0" r="0" t="0"/>
          <a:stretch/>
        </p:blipFill>
        <p:spPr>
          <a:xfrm>
            <a:off x="3643859" y="4267200"/>
            <a:ext cx="6160489" cy="1256929"/>
          </a:xfrm>
          <a:prstGeom prst="rect">
            <a:avLst/>
          </a:prstGeom>
          <a:noFill/>
          <a:ln>
            <a:noFill/>
          </a:ln>
        </p:spPr>
      </p:pic>
      <p:sp>
        <p:nvSpPr>
          <p:cNvPr id="1287" name="Google Shape;1287;p131"/>
          <p:cNvSpPr txBox="1"/>
          <p:nvPr>
            <p:ph type="title"/>
          </p:nvPr>
        </p:nvSpPr>
        <p:spPr>
          <a:xfrm>
            <a:off x="228600" y="76200"/>
            <a:ext cx="1089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(6)</a:t>
            </a:r>
            <a:endParaRPr sz="3200">
              <a:solidFill>
                <a:srgbClr val="FF0000"/>
              </a:solidFill>
            </a:endParaRPr>
          </a:p>
        </p:txBody>
      </p:sp>
      <p:sp>
        <p:nvSpPr>
          <p:cNvPr id="1288" name="Google Shape;1288;p13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1000"/>
                                        <p:tgtEl>
                                          <p:spTgt spid="1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1000"/>
                                        <p:tgtEl>
                                          <p:spTgt spid="1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32"/>
          <p:cNvSpPr txBox="1"/>
          <p:nvPr>
            <p:ph idx="1" type="body"/>
          </p:nvPr>
        </p:nvSpPr>
        <p:spPr>
          <a:xfrm>
            <a:off x="228600" y="762000"/>
            <a:ext cx="11811000" cy="5638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rgbClr val="C00000"/>
              </a:buClr>
              <a:buSzPts val="2800"/>
              <a:buChar char="•"/>
            </a:pPr>
            <a:r>
              <a:rPr b="1" lang="en-US" sz="2800">
                <a:solidFill>
                  <a:srgbClr val="C00000"/>
                </a:solidFill>
                <a:latin typeface="Times New Roman"/>
                <a:ea typeface="Times New Roman"/>
                <a:cs typeface="Times New Roman"/>
                <a:sym typeface="Times New Roman"/>
              </a:rPr>
              <a:t>Thanh ghi điều khiển nối tiếp SCON</a:t>
            </a:r>
            <a:r>
              <a:rPr lang="en-US" sz="2800">
                <a:solidFill>
                  <a:srgbClr val="C00000"/>
                </a:solidFill>
                <a:latin typeface="Times New Roman"/>
                <a:ea typeface="Times New Roman"/>
                <a:cs typeface="Times New Roman"/>
                <a:sym typeface="Times New Roman"/>
              </a:rPr>
              <a:t>:</a:t>
            </a:r>
            <a:endParaRPr b="1" sz="2800">
              <a:latin typeface="Times New Roman"/>
              <a:ea typeface="Times New Roman"/>
              <a:cs typeface="Times New Roman"/>
              <a:sym typeface="Times New Roman"/>
            </a:endParaRPr>
          </a:p>
          <a:p>
            <a:pPr indent="-190500" lvl="0" marL="342900" rtl="0" algn="just">
              <a:spcBef>
                <a:spcPts val="600"/>
              </a:spcBef>
              <a:spcAft>
                <a:spcPts val="0"/>
              </a:spcAft>
              <a:buClr>
                <a:schemeClr val="dk1"/>
              </a:buClr>
              <a:buSzPts val="2400"/>
              <a:buNone/>
            </a:pPr>
            <a:r>
              <a:t/>
            </a:r>
            <a:endParaRPr b="1" sz="2400">
              <a:latin typeface="Times New Roman"/>
              <a:ea typeface="Times New Roman"/>
              <a:cs typeface="Times New Roman"/>
              <a:sym typeface="Times New Roman"/>
            </a:endParaRPr>
          </a:p>
          <a:p>
            <a:pPr indent="-190500" lvl="0" marL="342900" rtl="0" algn="just">
              <a:spcBef>
                <a:spcPts val="600"/>
              </a:spcBef>
              <a:spcAft>
                <a:spcPts val="0"/>
              </a:spcAft>
              <a:buClr>
                <a:schemeClr val="dk1"/>
              </a:buClr>
              <a:buSzPts val="2400"/>
              <a:buNone/>
            </a:pPr>
            <a:r>
              <a:t/>
            </a:r>
            <a:endParaRPr b="1" sz="2400">
              <a:latin typeface="Times New Roman"/>
              <a:ea typeface="Times New Roman"/>
              <a:cs typeface="Times New Roman"/>
              <a:sym typeface="Times New Roman"/>
            </a:endParaRPr>
          </a:p>
          <a:p>
            <a:pPr indent="0" lvl="0" marL="0" rtl="0" algn="ctr">
              <a:spcBef>
                <a:spcPts val="6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600"/>
              </a:spcBef>
              <a:spcAft>
                <a:spcPts val="0"/>
              </a:spcAft>
              <a:buClr>
                <a:schemeClr val="dk1"/>
              </a:buClr>
              <a:buSzPts val="2000"/>
              <a:buNone/>
            </a:pPr>
            <a:r>
              <a:rPr i="1" lang="en-US" sz="2000">
                <a:latin typeface="Times New Roman"/>
                <a:ea typeface="Times New Roman"/>
                <a:cs typeface="Times New Roman"/>
                <a:sym typeface="Times New Roman"/>
              </a:rPr>
              <a:t>Hình 3.3. Thanh ghi điều khiển nối tiếp SCON</a:t>
            </a:r>
            <a:endParaRPr/>
          </a:p>
          <a:p>
            <a:pPr indent="0" lvl="0" marL="0" rtl="0" algn="just">
              <a:spcBef>
                <a:spcPts val="900"/>
              </a:spcBef>
              <a:spcAft>
                <a:spcPts val="0"/>
              </a:spcAft>
              <a:buClr>
                <a:schemeClr val="dk1"/>
              </a:buClr>
              <a:buSzPts val="2200"/>
              <a:buNone/>
            </a:pPr>
            <a:r>
              <a:rPr b="1" lang="en-US" sz="2200">
                <a:latin typeface="Times New Roman"/>
                <a:ea typeface="Times New Roman"/>
                <a:cs typeface="Times New Roman"/>
                <a:sym typeface="Times New Roman"/>
              </a:rPr>
              <a:t>SM2: </a:t>
            </a:r>
            <a:r>
              <a:rPr lang="en-US" sz="2200">
                <a:latin typeface="Times New Roman"/>
                <a:ea typeface="Times New Roman"/>
                <a:cs typeface="Times New Roman"/>
                <a:sym typeface="Times New Roman"/>
              </a:rPr>
              <a:t>SM2 =0 hệ thống đơn xử lý, SM2=1 hệ thống đa xử lý (truyền thông giữa các bộ vi xử lý)</a:t>
            </a:r>
            <a:endParaRPr/>
          </a:p>
          <a:p>
            <a:pPr indent="0" lvl="0" marL="0" rtl="0" algn="just">
              <a:spcBef>
                <a:spcPts val="1200"/>
              </a:spcBef>
              <a:spcAft>
                <a:spcPts val="0"/>
              </a:spcAft>
              <a:buClr>
                <a:schemeClr val="dk1"/>
              </a:buClr>
              <a:buSzPts val="2200"/>
              <a:buNone/>
            </a:pPr>
            <a:r>
              <a:rPr b="1" lang="en-US" sz="2200">
                <a:latin typeface="Times New Roman"/>
                <a:ea typeface="Times New Roman"/>
                <a:cs typeface="Times New Roman"/>
                <a:sym typeface="Times New Roman"/>
              </a:rPr>
              <a:t>REN</a:t>
            </a:r>
            <a:r>
              <a:rPr lang="en-US" sz="2200">
                <a:latin typeface="Times New Roman"/>
                <a:ea typeface="Times New Roman"/>
                <a:cs typeface="Times New Roman"/>
                <a:sym typeface="Times New Roman"/>
              </a:rPr>
              <a:t>: bit cho phép thu, để thu dữ liệu bit REN phải được set bằng 1, nếu REN bằng 0 chỉ cho phép phát (bộ thu bị khóa)</a:t>
            </a:r>
            <a:endParaRPr/>
          </a:p>
          <a:p>
            <a:pPr indent="0" lvl="0" marL="0" rtl="0" algn="just">
              <a:spcBef>
                <a:spcPts val="1200"/>
              </a:spcBef>
              <a:spcAft>
                <a:spcPts val="0"/>
              </a:spcAft>
              <a:buClr>
                <a:schemeClr val="dk1"/>
              </a:buClr>
              <a:buSzPts val="2200"/>
              <a:buNone/>
            </a:pPr>
            <a:r>
              <a:rPr b="1" lang="en-US" sz="2200">
                <a:latin typeface="Times New Roman"/>
                <a:ea typeface="Times New Roman"/>
                <a:cs typeface="Times New Roman"/>
                <a:sym typeface="Times New Roman"/>
              </a:rPr>
              <a:t>TB8 và RB8: </a:t>
            </a:r>
            <a:r>
              <a:rPr lang="en-US" sz="2200">
                <a:latin typeface="Times New Roman"/>
                <a:ea typeface="Times New Roman"/>
                <a:cs typeface="Times New Roman"/>
                <a:sym typeface="Times New Roman"/>
              </a:rPr>
              <a:t>được dùng cho chế độ nối tiếp 2 và 3. </a:t>
            </a:r>
            <a:endParaRPr/>
          </a:p>
          <a:p>
            <a:pPr indent="0" lvl="0" marL="0" rtl="0" algn="just">
              <a:spcBef>
                <a:spcPts val="1200"/>
              </a:spcBef>
              <a:spcAft>
                <a:spcPts val="0"/>
              </a:spcAft>
              <a:buClr>
                <a:schemeClr val="dk1"/>
              </a:buClr>
              <a:buSzPts val="2200"/>
              <a:buNone/>
            </a:pPr>
            <a:r>
              <a:rPr b="1" lang="en-US" sz="2200">
                <a:latin typeface="Times New Roman"/>
                <a:ea typeface="Times New Roman"/>
                <a:cs typeface="Times New Roman"/>
                <a:sym typeface="Times New Roman"/>
              </a:rPr>
              <a:t>TI</a:t>
            </a:r>
            <a:r>
              <a:rPr lang="en-US" sz="2200">
                <a:latin typeface="Times New Roman"/>
                <a:ea typeface="Times New Roman"/>
                <a:cs typeface="Times New Roman"/>
                <a:sym typeface="Times New Roman"/>
              </a:rPr>
              <a:t>: Cờ ngắt truyền, khi một byte trong SBUF được truyền thành công thì TI = 1. Trước khi truyền byte khác bit này cần phải xóa bằng phần mềm</a:t>
            </a:r>
            <a:endParaRPr sz="2200">
              <a:latin typeface="Times New Roman"/>
              <a:ea typeface="Times New Roman"/>
              <a:cs typeface="Times New Roman"/>
              <a:sym typeface="Times New Roman"/>
            </a:endParaRPr>
          </a:p>
          <a:p>
            <a:pPr indent="0" lvl="0" marL="0" rtl="0" algn="just">
              <a:spcBef>
                <a:spcPts val="1200"/>
              </a:spcBef>
              <a:spcAft>
                <a:spcPts val="0"/>
              </a:spcAft>
              <a:buClr>
                <a:schemeClr val="dk1"/>
              </a:buClr>
              <a:buSzPts val="2200"/>
              <a:buNone/>
            </a:pPr>
            <a:r>
              <a:rPr b="1" lang="en-US" sz="2200">
                <a:latin typeface="Times New Roman"/>
                <a:ea typeface="Times New Roman"/>
                <a:cs typeface="Times New Roman"/>
                <a:sym typeface="Times New Roman"/>
              </a:rPr>
              <a:t>RI</a:t>
            </a:r>
            <a:r>
              <a:rPr lang="en-US" sz="2200">
                <a:latin typeface="Times New Roman"/>
                <a:ea typeface="Times New Roman"/>
                <a:cs typeface="Times New Roman"/>
                <a:sym typeface="Times New Roman"/>
              </a:rPr>
              <a:t>: Cờ ngắt nhận, khi nhận thành công 1 byte vào SBUF thì RI = 1. Sau khi đọc SBUF, RI cần phải xóa bằng phần mềm</a:t>
            </a:r>
            <a:endParaRPr sz="2200">
              <a:latin typeface="Times New Roman"/>
              <a:ea typeface="Times New Roman"/>
              <a:cs typeface="Times New Roman"/>
              <a:sym typeface="Times New Roman"/>
            </a:endParaRPr>
          </a:p>
        </p:txBody>
      </p:sp>
      <p:pic>
        <p:nvPicPr>
          <p:cNvPr id="1294" name="Google Shape;1294;p132"/>
          <p:cNvPicPr preferRelativeResize="0"/>
          <p:nvPr/>
        </p:nvPicPr>
        <p:blipFill rotWithShape="1">
          <a:blip r:embed="rId3">
            <a:alphaModFix/>
          </a:blip>
          <a:srcRect b="0" l="0" r="0" t="0"/>
          <a:stretch/>
        </p:blipFill>
        <p:spPr>
          <a:xfrm>
            <a:off x="3200400" y="1447800"/>
            <a:ext cx="6343886" cy="1113744"/>
          </a:xfrm>
          <a:prstGeom prst="rect">
            <a:avLst/>
          </a:prstGeom>
          <a:noFill/>
          <a:ln>
            <a:noFill/>
          </a:ln>
        </p:spPr>
      </p:pic>
      <p:sp>
        <p:nvSpPr>
          <p:cNvPr id="1295" name="Google Shape;1295;p132"/>
          <p:cNvSpPr txBox="1"/>
          <p:nvPr>
            <p:ph type="title"/>
          </p:nvPr>
        </p:nvSpPr>
        <p:spPr>
          <a:xfrm>
            <a:off x="228600" y="76200"/>
            <a:ext cx="108966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Các thanh ghi cổng nối tiếp (7)</a:t>
            </a:r>
            <a:endParaRPr sz="3200">
              <a:solidFill>
                <a:srgbClr val="FF0000"/>
              </a:solidFill>
            </a:endParaRPr>
          </a:p>
        </p:txBody>
      </p:sp>
      <p:sp>
        <p:nvSpPr>
          <p:cNvPr id="1296" name="Google Shape;1296;p13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33"/>
          <p:cNvSpPr txBox="1"/>
          <p:nvPr>
            <p:ph idx="1" type="body"/>
          </p:nvPr>
        </p:nvSpPr>
        <p:spPr>
          <a:xfrm>
            <a:off x="228600" y="914400"/>
            <a:ext cx="11658600" cy="5715000"/>
          </a:xfrm>
          <a:prstGeom prst="rect">
            <a:avLst/>
          </a:prstGeom>
          <a:noFill/>
          <a:ln>
            <a:noFill/>
          </a:ln>
        </p:spPr>
        <p:txBody>
          <a:bodyPr anchorCtr="0" anchor="t" bIns="45700" lIns="91425" spcFirstLastPara="1" rIns="91425" wrap="square" tIns="45700">
            <a:noAutofit/>
          </a:bodyPr>
          <a:lstStyle/>
          <a:p>
            <a:pPr indent="-514350" lvl="0" marL="514350" rtl="0" algn="just">
              <a:spcBef>
                <a:spcPts val="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Nạp giá trị 20h vào thanh ghi TMOD báo sử dụng Timer1 ở chế độ 2 (8 bit tự nạp) để thiết lập chế độ baud.</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Nạp giá trị vào TH1 để thiết lập chế độ baud</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Nạp giá trị 50h vào SCON báo chế độ nối tiếp 1 để định khung 8 bit dữ liệu, 1 bit start, 1 bit stop.</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Bật TR1=1 khởi động Timer 1</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Xóa bit TI bằng lệnh CLR TI</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Ghi byte ký tự cần truyền vào SBUF</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Kiểm tra bit cờ TI bằng lệnh “JNB TI, xx” để báo hoàn tất việc chuyển ký tự</a:t>
            </a:r>
            <a:endParaRPr/>
          </a:p>
          <a:p>
            <a:pPr indent="-514350" lvl="0" marL="514350" rtl="0" algn="just">
              <a:spcBef>
                <a:spcPts val="120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Trở về bước 5 để truyền ký tự tiếp theo</a:t>
            </a:r>
            <a:endParaRPr/>
          </a:p>
        </p:txBody>
      </p:sp>
      <p:sp>
        <p:nvSpPr>
          <p:cNvPr id="1302" name="Google Shape;1302;p133"/>
          <p:cNvSpPr txBox="1"/>
          <p:nvPr>
            <p:ph type="title"/>
          </p:nvPr>
        </p:nvSpPr>
        <p:spPr>
          <a:xfrm>
            <a:off x="0" y="76200"/>
            <a:ext cx="121920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Lập trình truyền DL nối tiếp chế độ 1 (1)</a:t>
            </a:r>
            <a:endParaRPr sz="3200">
              <a:solidFill>
                <a:srgbClr val="FF0000"/>
              </a:solidFill>
            </a:endParaRPr>
          </a:p>
        </p:txBody>
      </p:sp>
      <p:sp>
        <p:nvSpPr>
          <p:cNvPr id="1303" name="Google Shape;1303;p13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0" st="0"/>
                                            </p:txEl>
                                          </p:spTgt>
                                        </p:tgtEl>
                                        <p:attrNameLst>
                                          <p:attrName>style.visibility</p:attrName>
                                        </p:attrNameLst>
                                      </p:cBhvr>
                                      <p:to>
                                        <p:strVal val="visible"/>
                                      </p:to>
                                    </p:set>
                                    <p:animEffect filter="fade" transition="in">
                                      <p:cBhvr>
                                        <p:cTn dur="1000"/>
                                        <p:tgtEl>
                                          <p:spTgt spid="13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1" st="1"/>
                                            </p:txEl>
                                          </p:spTgt>
                                        </p:tgtEl>
                                        <p:attrNameLst>
                                          <p:attrName>style.visibility</p:attrName>
                                        </p:attrNameLst>
                                      </p:cBhvr>
                                      <p:to>
                                        <p:strVal val="visible"/>
                                      </p:to>
                                    </p:set>
                                    <p:animEffect filter="fade" transition="in">
                                      <p:cBhvr>
                                        <p:cTn dur="1000"/>
                                        <p:tgtEl>
                                          <p:spTgt spid="13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2" st="2"/>
                                            </p:txEl>
                                          </p:spTgt>
                                        </p:tgtEl>
                                        <p:attrNameLst>
                                          <p:attrName>style.visibility</p:attrName>
                                        </p:attrNameLst>
                                      </p:cBhvr>
                                      <p:to>
                                        <p:strVal val="visible"/>
                                      </p:to>
                                    </p:set>
                                    <p:animEffect filter="fade" transition="in">
                                      <p:cBhvr>
                                        <p:cTn dur="1000"/>
                                        <p:tgtEl>
                                          <p:spTgt spid="13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3" st="3"/>
                                            </p:txEl>
                                          </p:spTgt>
                                        </p:tgtEl>
                                        <p:attrNameLst>
                                          <p:attrName>style.visibility</p:attrName>
                                        </p:attrNameLst>
                                      </p:cBhvr>
                                      <p:to>
                                        <p:strVal val="visible"/>
                                      </p:to>
                                    </p:set>
                                    <p:animEffect filter="fade" transition="in">
                                      <p:cBhvr>
                                        <p:cTn dur="1000"/>
                                        <p:tgtEl>
                                          <p:spTgt spid="13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4" st="4"/>
                                            </p:txEl>
                                          </p:spTgt>
                                        </p:tgtEl>
                                        <p:attrNameLst>
                                          <p:attrName>style.visibility</p:attrName>
                                        </p:attrNameLst>
                                      </p:cBhvr>
                                      <p:to>
                                        <p:strVal val="visible"/>
                                      </p:to>
                                    </p:set>
                                    <p:animEffect filter="fade" transition="in">
                                      <p:cBhvr>
                                        <p:cTn dur="1000"/>
                                        <p:tgtEl>
                                          <p:spTgt spid="13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5" st="5"/>
                                            </p:txEl>
                                          </p:spTgt>
                                        </p:tgtEl>
                                        <p:attrNameLst>
                                          <p:attrName>style.visibility</p:attrName>
                                        </p:attrNameLst>
                                      </p:cBhvr>
                                      <p:to>
                                        <p:strVal val="visible"/>
                                      </p:to>
                                    </p:set>
                                    <p:animEffect filter="fade" transition="in">
                                      <p:cBhvr>
                                        <p:cTn dur="1000"/>
                                        <p:tgtEl>
                                          <p:spTgt spid="13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6" st="6"/>
                                            </p:txEl>
                                          </p:spTgt>
                                        </p:tgtEl>
                                        <p:attrNameLst>
                                          <p:attrName>style.visibility</p:attrName>
                                        </p:attrNameLst>
                                      </p:cBhvr>
                                      <p:to>
                                        <p:strVal val="visible"/>
                                      </p:to>
                                    </p:set>
                                    <p:animEffect filter="fade" transition="in">
                                      <p:cBhvr>
                                        <p:cTn dur="1000"/>
                                        <p:tgtEl>
                                          <p:spTgt spid="130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xEl>
                                              <p:pRg end="7" st="7"/>
                                            </p:txEl>
                                          </p:spTgt>
                                        </p:tgtEl>
                                        <p:attrNameLst>
                                          <p:attrName>style.visibility</p:attrName>
                                        </p:attrNameLst>
                                      </p:cBhvr>
                                      <p:to>
                                        <p:strVal val="visible"/>
                                      </p:to>
                                    </p:set>
                                    <p:animEffect filter="fade" transition="in">
                                      <p:cBhvr>
                                        <p:cTn dur="1000"/>
                                        <p:tgtEl>
                                          <p:spTgt spid="130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34"/>
          <p:cNvSpPr txBox="1"/>
          <p:nvPr>
            <p:ph idx="1" type="body"/>
          </p:nvPr>
        </p:nvSpPr>
        <p:spPr>
          <a:xfrm>
            <a:off x="685800" y="1143000"/>
            <a:ext cx="10896600" cy="48767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00000"/>
              </a:buClr>
              <a:buSzPts val="2800"/>
              <a:buNone/>
            </a:pPr>
            <a:r>
              <a:rPr b="1" lang="en-US" sz="2800">
                <a:solidFill>
                  <a:srgbClr val="C00000"/>
                </a:solidFill>
                <a:latin typeface="Times New Roman"/>
                <a:ea typeface="Times New Roman"/>
                <a:cs typeface="Times New Roman"/>
                <a:sym typeface="Times New Roman"/>
              </a:rPr>
              <a:t>Ví dụ 3.8: </a:t>
            </a:r>
            <a:r>
              <a:rPr lang="en-US" sz="2400">
                <a:latin typeface="Times New Roman"/>
                <a:ea typeface="Times New Roman"/>
                <a:cs typeface="Times New Roman"/>
                <a:sym typeface="Times New Roman"/>
              </a:rPr>
              <a:t>truyền nối tiếp liên tục một ký tự “A” với tốc độ 4800 baud.</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TMOD, #20h	; chọn Timer 1, chế độ 2 (tự nạp lại)</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TH1, #-6	; chọn tốc độ 4800 baud</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SCON, #50h 	; khung uart: 8b+1start+1stop, cho phep thu</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SETB 	TR1	   	; khởi động Timer1</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AGAIN:	MOV 	SBUF, #’A’	; truyền ký tự “A”</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HERE: 	JNB 	TI, HERE	; chờ đến bit cuối cùng</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CLR 	TI		; xóa bit TI cho ký tự tiếp theo</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SJMP 	AGAIN	; tiếp tục gửi lại chữ “A”</a:t>
            </a:r>
            <a:endParaRPr/>
          </a:p>
          <a:p>
            <a:pPr indent="0" lvl="0" marL="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1309" name="Google Shape;1309;p134"/>
          <p:cNvSpPr txBox="1"/>
          <p:nvPr>
            <p:ph type="title"/>
          </p:nvPr>
        </p:nvSpPr>
        <p:spPr>
          <a:xfrm>
            <a:off x="0" y="76200"/>
            <a:ext cx="121920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Lập trình truyền DL nối tiếp chế độ 1 (2)</a:t>
            </a:r>
            <a:endParaRPr sz="3200">
              <a:solidFill>
                <a:srgbClr val="FF0000"/>
              </a:solidFill>
            </a:endParaRPr>
          </a:p>
        </p:txBody>
      </p:sp>
      <p:sp>
        <p:nvSpPr>
          <p:cNvPr id="1310" name="Google Shape;1310;p13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0" st="0"/>
                                            </p:txEl>
                                          </p:spTgt>
                                        </p:tgtEl>
                                        <p:attrNameLst>
                                          <p:attrName>style.visibility</p:attrName>
                                        </p:attrNameLst>
                                      </p:cBhvr>
                                      <p:to>
                                        <p:strVal val="visible"/>
                                      </p:to>
                                    </p:set>
                                    <p:animEffect filter="fade" transition="in">
                                      <p:cBhvr>
                                        <p:cTn dur="1000"/>
                                        <p:tgtEl>
                                          <p:spTgt spid="1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1" st="1"/>
                                            </p:txEl>
                                          </p:spTgt>
                                        </p:tgtEl>
                                        <p:attrNameLst>
                                          <p:attrName>style.visibility</p:attrName>
                                        </p:attrNameLst>
                                      </p:cBhvr>
                                      <p:to>
                                        <p:strVal val="visible"/>
                                      </p:to>
                                    </p:set>
                                    <p:animEffect filter="fade" transition="in">
                                      <p:cBhvr>
                                        <p:cTn dur="1000"/>
                                        <p:tgtEl>
                                          <p:spTgt spid="1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2" st="2"/>
                                            </p:txEl>
                                          </p:spTgt>
                                        </p:tgtEl>
                                        <p:attrNameLst>
                                          <p:attrName>style.visibility</p:attrName>
                                        </p:attrNameLst>
                                      </p:cBhvr>
                                      <p:to>
                                        <p:strVal val="visible"/>
                                      </p:to>
                                    </p:set>
                                    <p:animEffect filter="fade" transition="in">
                                      <p:cBhvr>
                                        <p:cTn dur="1000"/>
                                        <p:tgtEl>
                                          <p:spTgt spid="1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3" st="3"/>
                                            </p:txEl>
                                          </p:spTgt>
                                        </p:tgtEl>
                                        <p:attrNameLst>
                                          <p:attrName>style.visibility</p:attrName>
                                        </p:attrNameLst>
                                      </p:cBhvr>
                                      <p:to>
                                        <p:strVal val="visible"/>
                                      </p:to>
                                    </p:set>
                                    <p:animEffect filter="fade" transition="in">
                                      <p:cBhvr>
                                        <p:cTn dur="1000"/>
                                        <p:tgtEl>
                                          <p:spTgt spid="13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4" st="4"/>
                                            </p:txEl>
                                          </p:spTgt>
                                        </p:tgtEl>
                                        <p:attrNameLst>
                                          <p:attrName>style.visibility</p:attrName>
                                        </p:attrNameLst>
                                      </p:cBhvr>
                                      <p:to>
                                        <p:strVal val="visible"/>
                                      </p:to>
                                    </p:set>
                                    <p:animEffect filter="fade" transition="in">
                                      <p:cBhvr>
                                        <p:cTn dur="1000"/>
                                        <p:tgtEl>
                                          <p:spTgt spid="13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5" st="5"/>
                                            </p:txEl>
                                          </p:spTgt>
                                        </p:tgtEl>
                                        <p:attrNameLst>
                                          <p:attrName>style.visibility</p:attrName>
                                        </p:attrNameLst>
                                      </p:cBhvr>
                                      <p:to>
                                        <p:strVal val="visible"/>
                                      </p:to>
                                    </p:set>
                                    <p:animEffect filter="fade" transition="in">
                                      <p:cBhvr>
                                        <p:cTn dur="1000"/>
                                        <p:tgtEl>
                                          <p:spTgt spid="13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6" st="6"/>
                                            </p:txEl>
                                          </p:spTgt>
                                        </p:tgtEl>
                                        <p:attrNameLst>
                                          <p:attrName>style.visibility</p:attrName>
                                        </p:attrNameLst>
                                      </p:cBhvr>
                                      <p:to>
                                        <p:strVal val="visible"/>
                                      </p:to>
                                    </p:set>
                                    <p:animEffect filter="fade" transition="in">
                                      <p:cBhvr>
                                        <p:cTn dur="1000"/>
                                        <p:tgtEl>
                                          <p:spTgt spid="13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7" st="7"/>
                                            </p:txEl>
                                          </p:spTgt>
                                        </p:tgtEl>
                                        <p:attrNameLst>
                                          <p:attrName>style.visibility</p:attrName>
                                        </p:attrNameLst>
                                      </p:cBhvr>
                                      <p:to>
                                        <p:strVal val="visible"/>
                                      </p:to>
                                    </p:set>
                                    <p:animEffect filter="fade" transition="in">
                                      <p:cBhvr>
                                        <p:cTn dur="1000"/>
                                        <p:tgtEl>
                                          <p:spTgt spid="13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8" st="8"/>
                                            </p:txEl>
                                          </p:spTgt>
                                        </p:tgtEl>
                                        <p:attrNameLst>
                                          <p:attrName>style.visibility</p:attrName>
                                        </p:attrNameLst>
                                      </p:cBhvr>
                                      <p:to>
                                        <p:strVal val="visible"/>
                                      </p:to>
                                    </p:set>
                                    <p:animEffect filter="fade" transition="in">
                                      <p:cBhvr>
                                        <p:cTn dur="1000"/>
                                        <p:tgtEl>
                                          <p:spTgt spid="13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9" st="9"/>
                                            </p:txEl>
                                          </p:spTgt>
                                        </p:tgtEl>
                                        <p:attrNameLst>
                                          <p:attrName>style.visibility</p:attrName>
                                        </p:attrNameLst>
                                      </p:cBhvr>
                                      <p:to>
                                        <p:strVal val="visible"/>
                                      </p:to>
                                    </p:set>
                                    <p:animEffect filter="fade" transition="in">
                                      <p:cBhvr>
                                        <p:cTn dur="1000"/>
                                        <p:tgtEl>
                                          <p:spTgt spid="130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10" st="10"/>
                                            </p:txEl>
                                          </p:spTgt>
                                        </p:tgtEl>
                                        <p:attrNameLst>
                                          <p:attrName>style.visibility</p:attrName>
                                        </p:attrNameLst>
                                      </p:cBhvr>
                                      <p:to>
                                        <p:strVal val="visible"/>
                                      </p:to>
                                    </p:set>
                                    <p:animEffect filter="fade" transition="in">
                                      <p:cBhvr>
                                        <p:cTn dur="1000"/>
                                        <p:tgtEl>
                                          <p:spTgt spid="130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35"/>
          <p:cNvSpPr txBox="1"/>
          <p:nvPr>
            <p:ph idx="1" type="body"/>
          </p:nvPr>
        </p:nvSpPr>
        <p:spPr>
          <a:xfrm>
            <a:off x="228600" y="990600"/>
            <a:ext cx="11658600" cy="5486400"/>
          </a:xfrm>
          <a:prstGeom prst="rect">
            <a:avLst/>
          </a:prstGeom>
          <a:noFill/>
          <a:ln>
            <a:noFill/>
          </a:ln>
        </p:spPr>
        <p:txBody>
          <a:bodyPr anchorCtr="0" anchor="t" bIns="45700" lIns="91425" spcFirstLastPara="1" rIns="91425" wrap="square" tIns="45700">
            <a:noAutofit/>
          </a:bodyPr>
          <a:lstStyle/>
          <a:p>
            <a:pPr indent="-514350" lvl="0" marL="514350" rtl="0" algn="just">
              <a:spcBef>
                <a:spcPts val="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Nạp giá trị 20h vào thanh ghi TMOD báo sử dụng Timer1 ở chế độ 2 (8 bit, tự động nạp lại) để thiết lập chế độ baud.</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Nạp giá trị vào TH1 để thiết lập chế độ baud</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Nạp giá trị 50h vào SCON báo chế độ nối tiếp 1 để định khung 8 bit dữ liệu, 1 bit start, 1 bit stop.</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Bật TR1=1 khởi động Timer 1</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Xóa bit RI bằng lệnh CLR RI</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Kiểm tra bit cờ RI bằng lệnh JNB RI,xx để toàn bộ ký tự đã nhận được chưa</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Khi RI được thiết lập thì trong SBUF đã có 1 byte. Các nội dung của nó được lưu.</a:t>
            </a:r>
            <a:endParaRPr/>
          </a:p>
          <a:p>
            <a:pPr indent="-514350" lvl="0" marL="514350" rtl="0" algn="just">
              <a:spcBef>
                <a:spcPts val="560"/>
              </a:spcBef>
              <a:spcAft>
                <a:spcPts val="0"/>
              </a:spcAft>
              <a:buClr>
                <a:schemeClr val="dk1"/>
              </a:buClr>
              <a:buSzPts val="2800"/>
              <a:buFont typeface="Calibri"/>
              <a:buAutoNum type="arabicPeriod"/>
            </a:pPr>
            <a:r>
              <a:rPr lang="en-US" sz="2800">
                <a:latin typeface="Times New Roman"/>
                <a:ea typeface="Times New Roman"/>
                <a:cs typeface="Times New Roman"/>
                <a:sym typeface="Times New Roman"/>
              </a:rPr>
              <a:t>Quay về bước 5 để nhận một ký tự tiếp theo</a:t>
            </a:r>
            <a:endParaRPr/>
          </a:p>
        </p:txBody>
      </p:sp>
      <p:sp>
        <p:nvSpPr>
          <p:cNvPr id="1316" name="Google Shape;1316;p135"/>
          <p:cNvSpPr txBox="1"/>
          <p:nvPr>
            <p:ph type="title"/>
          </p:nvPr>
        </p:nvSpPr>
        <p:spPr>
          <a:xfrm>
            <a:off x="228600" y="76200"/>
            <a:ext cx="118872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Lập trình nhận DL nối tiếp chế độ 1 (1)</a:t>
            </a:r>
            <a:endParaRPr sz="3200">
              <a:solidFill>
                <a:srgbClr val="FF0000"/>
              </a:solidFill>
            </a:endParaRPr>
          </a:p>
        </p:txBody>
      </p:sp>
      <p:sp>
        <p:nvSpPr>
          <p:cNvPr id="1317" name="Google Shape;1317;p13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0" st="0"/>
                                            </p:txEl>
                                          </p:spTgt>
                                        </p:tgtEl>
                                        <p:attrNameLst>
                                          <p:attrName>style.visibility</p:attrName>
                                        </p:attrNameLst>
                                      </p:cBhvr>
                                      <p:to>
                                        <p:strVal val="visible"/>
                                      </p:to>
                                    </p:set>
                                    <p:animEffect filter="fade" transition="in">
                                      <p:cBhvr>
                                        <p:cTn dur="1000"/>
                                        <p:tgtEl>
                                          <p:spTgt spid="13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1" st="1"/>
                                            </p:txEl>
                                          </p:spTgt>
                                        </p:tgtEl>
                                        <p:attrNameLst>
                                          <p:attrName>style.visibility</p:attrName>
                                        </p:attrNameLst>
                                      </p:cBhvr>
                                      <p:to>
                                        <p:strVal val="visible"/>
                                      </p:to>
                                    </p:set>
                                    <p:animEffect filter="fade" transition="in">
                                      <p:cBhvr>
                                        <p:cTn dur="1000"/>
                                        <p:tgtEl>
                                          <p:spTgt spid="13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2" st="2"/>
                                            </p:txEl>
                                          </p:spTgt>
                                        </p:tgtEl>
                                        <p:attrNameLst>
                                          <p:attrName>style.visibility</p:attrName>
                                        </p:attrNameLst>
                                      </p:cBhvr>
                                      <p:to>
                                        <p:strVal val="visible"/>
                                      </p:to>
                                    </p:set>
                                    <p:animEffect filter="fade" transition="in">
                                      <p:cBhvr>
                                        <p:cTn dur="1000"/>
                                        <p:tgtEl>
                                          <p:spTgt spid="13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3" st="3"/>
                                            </p:txEl>
                                          </p:spTgt>
                                        </p:tgtEl>
                                        <p:attrNameLst>
                                          <p:attrName>style.visibility</p:attrName>
                                        </p:attrNameLst>
                                      </p:cBhvr>
                                      <p:to>
                                        <p:strVal val="visible"/>
                                      </p:to>
                                    </p:set>
                                    <p:animEffect filter="fade" transition="in">
                                      <p:cBhvr>
                                        <p:cTn dur="1000"/>
                                        <p:tgtEl>
                                          <p:spTgt spid="13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4" st="4"/>
                                            </p:txEl>
                                          </p:spTgt>
                                        </p:tgtEl>
                                        <p:attrNameLst>
                                          <p:attrName>style.visibility</p:attrName>
                                        </p:attrNameLst>
                                      </p:cBhvr>
                                      <p:to>
                                        <p:strVal val="visible"/>
                                      </p:to>
                                    </p:set>
                                    <p:animEffect filter="fade" transition="in">
                                      <p:cBhvr>
                                        <p:cTn dur="1000"/>
                                        <p:tgtEl>
                                          <p:spTgt spid="13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5" st="5"/>
                                            </p:txEl>
                                          </p:spTgt>
                                        </p:tgtEl>
                                        <p:attrNameLst>
                                          <p:attrName>style.visibility</p:attrName>
                                        </p:attrNameLst>
                                      </p:cBhvr>
                                      <p:to>
                                        <p:strVal val="visible"/>
                                      </p:to>
                                    </p:set>
                                    <p:animEffect filter="fade" transition="in">
                                      <p:cBhvr>
                                        <p:cTn dur="1000"/>
                                        <p:tgtEl>
                                          <p:spTgt spid="13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6" st="6"/>
                                            </p:txEl>
                                          </p:spTgt>
                                        </p:tgtEl>
                                        <p:attrNameLst>
                                          <p:attrName>style.visibility</p:attrName>
                                        </p:attrNameLst>
                                      </p:cBhvr>
                                      <p:to>
                                        <p:strVal val="visible"/>
                                      </p:to>
                                    </p:set>
                                    <p:animEffect filter="fade" transition="in">
                                      <p:cBhvr>
                                        <p:cTn dur="1000"/>
                                        <p:tgtEl>
                                          <p:spTgt spid="13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xEl>
                                              <p:pRg end="7" st="7"/>
                                            </p:txEl>
                                          </p:spTgt>
                                        </p:tgtEl>
                                        <p:attrNameLst>
                                          <p:attrName>style.visibility</p:attrName>
                                        </p:attrNameLst>
                                      </p:cBhvr>
                                      <p:to>
                                        <p:strVal val="visible"/>
                                      </p:to>
                                    </p:set>
                                    <p:animEffect filter="fade" transition="in">
                                      <p:cBhvr>
                                        <p:cTn dur="1000"/>
                                        <p:tgtEl>
                                          <p:spTgt spid="131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36"/>
          <p:cNvSpPr txBox="1"/>
          <p:nvPr>
            <p:ph idx="1" type="body"/>
          </p:nvPr>
        </p:nvSpPr>
        <p:spPr>
          <a:xfrm>
            <a:off x="457200" y="914400"/>
            <a:ext cx="11201400" cy="548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00000"/>
              </a:buClr>
              <a:buSzPts val="2800"/>
              <a:buNone/>
            </a:pPr>
            <a:r>
              <a:rPr b="1" lang="en-US" sz="2800">
                <a:solidFill>
                  <a:srgbClr val="C00000"/>
                </a:solidFill>
                <a:latin typeface="Times New Roman"/>
                <a:ea typeface="Times New Roman"/>
                <a:cs typeface="Times New Roman"/>
                <a:sym typeface="Times New Roman"/>
              </a:rPr>
              <a:t>Ví dụ 3.9: </a:t>
            </a:r>
            <a:r>
              <a:rPr lang="en-US" sz="2800">
                <a:latin typeface="Times New Roman"/>
                <a:ea typeface="Times New Roman"/>
                <a:cs typeface="Times New Roman"/>
                <a:sym typeface="Times New Roman"/>
              </a:rPr>
              <a:t>Nhận các byte dữ liệu nối tiếp và gửi ra cổng P1, tốc độ 4800 baud, 8 bit dữ liệu và 1 bit stop</a:t>
            </a:r>
            <a:endParaRPr/>
          </a:p>
          <a:p>
            <a:pPr indent="0" lvl="0" marL="0" rtl="0" algn="l">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TMOD, #20h	; chọn Timer 1, chế độ 2 (tự nạp lại)</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TH1,#-6	   	; chọn tốc độ 4800 baud</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SCON, #50h 	; khung uart: 8b+1start+1stop, cho phep thu</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SETB 	TR1	   	; khởi động Timer1</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HERE: 	JNB 	RI, HERE	; chờ đến bit cuối cùng</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A, SBUF	; lưu ký tự vào thanh ghi A</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MOV 	P1, A		; gửi ra cổng P1</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CLR 	RI		; sẵn sàng nhận byte kế tiếp</a:t>
            </a:r>
            <a:endParaRPr/>
          </a:p>
          <a:p>
            <a:pPr indent="-285750" lvl="1" marL="2857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SJMP 	HERE		; tiếp tục nhận dữ liệu</a:t>
            </a:r>
            <a:endParaRPr/>
          </a:p>
          <a:p>
            <a:pPr indent="-190500" lvl="0" marL="34290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1323" name="Google Shape;1323;p136"/>
          <p:cNvSpPr txBox="1"/>
          <p:nvPr>
            <p:ph type="title"/>
          </p:nvPr>
        </p:nvSpPr>
        <p:spPr>
          <a:xfrm>
            <a:off x="228600" y="76200"/>
            <a:ext cx="118872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Lập trình nhận DL nối tiếp chế độ 1 (2)</a:t>
            </a:r>
            <a:endParaRPr sz="3200">
              <a:solidFill>
                <a:srgbClr val="FF0000"/>
              </a:solidFill>
            </a:endParaRPr>
          </a:p>
        </p:txBody>
      </p:sp>
      <p:sp>
        <p:nvSpPr>
          <p:cNvPr id="1324" name="Google Shape;1324;p13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0" st="0"/>
                                            </p:txEl>
                                          </p:spTgt>
                                        </p:tgtEl>
                                        <p:attrNameLst>
                                          <p:attrName>style.visibility</p:attrName>
                                        </p:attrNameLst>
                                      </p:cBhvr>
                                      <p:to>
                                        <p:strVal val="visible"/>
                                      </p:to>
                                    </p:set>
                                    <p:animEffect filter="fade" transition="in">
                                      <p:cBhvr>
                                        <p:cTn dur="1000"/>
                                        <p:tgtEl>
                                          <p:spTgt spid="1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1" st="1"/>
                                            </p:txEl>
                                          </p:spTgt>
                                        </p:tgtEl>
                                        <p:attrNameLst>
                                          <p:attrName>style.visibility</p:attrName>
                                        </p:attrNameLst>
                                      </p:cBhvr>
                                      <p:to>
                                        <p:strVal val="visible"/>
                                      </p:to>
                                    </p:set>
                                    <p:animEffect filter="fade" transition="in">
                                      <p:cBhvr>
                                        <p:cTn dur="1000"/>
                                        <p:tgtEl>
                                          <p:spTgt spid="1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2" st="2"/>
                                            </p:txEl>
                                          </p:spTgt>
                                        </p:tgtEl>
                                        <p:attrNameLst>
                                          <p:attrName>style.visibility</p:attrName>
                                        </p:attrNameLst>
                                      </p:cBhvr>
                                      <p:to>
                                        <p:strVal val="visible"/>
                                      </p:to>
                                    </p:set>
                                    <p:animEffect filter="fade" transition="in">
                                      <p:cBhvr>
                                        <p:cTn dur="1000"/>
                                        <p:tgtEl>
                                          <p:spTgt spid="1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3" st="3"/>
                                            </p:txEl>
                                          </p:spTgt>
                                        </p:tgtEl>
                                        <p:attrNameLst>
                                          <p:attrName>style.visibility</p:attrName>
                                        </p:attrNameLst>
                                      </p:cBhvr>
                                      <p:to>
                                        <p:strVal val="visible"/>
                                      </p:to>
                                    </p:set>
                                    <p:animEffect filter="fade" transition="in">
                                      <p:cBhvr>
                                        <p:cTn dur="1000"/>
                                        <p:tgtEl>
                                          <p:spTgt spid="1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4" st="4"/>
                                            </p:txEl>
                                          </p:spTgt>
                                        </p:tgtEl>
                                        <p:attrNameLst>
                                          <p:attrName>style.visibility</p:attrName>
                                        </p:attrNameLst>
                                      </p:cBhvr>
                                      <p:to>
                                        <p:strVal val="visible"/>
                                      </p:to>
                                    </p:set>
                                    <p:animEffect filter="fade" transition="in">
                                      <p:cBhvr>
                                        <p:cTn dur="1000"/>
                                        <p:tgtEl>
                                          <p:spTgt spid="1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5" st="5"/>
                                            </p:txEl>
                                          </p:spTgt>
                                        </p:tgtEl>
                                        <p:attrNameLst>
                                          <p:attrName>style.visibility</p:attrName>
                                        </p:attrNameLst>
                                      </p:cBhvr>
                                      <p:to>
                                        <p:strVal val="visible"/>
                                      </p:to>
                                    </p:set>
                                    <p:animEffect filter="fade" transition="in">
                                      <p:cBhvr>
                                        <p:cTn dur="1000"/>
                                        <p:tgtEl>
                                          <p:spTgt spid="13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6" st="6"/>
                                            </p:txEl>
                                          </p:spTgt>
                                        </p:tgtEl>
                                        <p:attrNameLst>
                                          <p:attrName>style.visibility</p:attrName>
                                        </p:attrNameLst>
                                      </p:cBhvr>
                                      <p:to>
                                        <p:strVal val="visible"/>
                                      </p:to>
                                    </p:set>
                                    <p:animEffect filter="fade" transition="in">
                                      <p:cBhvr>
                                        <p:cTn dur="1000"/>
                                        <p:tgtEl>
                                          <p:spTgt spid="13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7" st="7"/>
                                            </p:txEl>
                                          </p:spTgt>
                                        </p:tgtEl>
                                        <p:attrNameLst>
                                          <p:attrName>style.visibility</p:attrName>
                                        </p:attrNameLst>
                                      </p:cBhvr>
                                      <p:to>
                                        <p:strVal val="visible"/>
                                      </p:to>
                                    </p:set>
                                    <p:animEffect filter="fade" transition="in">
                                      <p:cBhvr>
                                        <p:cTn dur="1000"/>
                                        <p:tgtEl>
                                          <p:spTgt spid="13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8" st="8"/>
                                            </p:txEl>
                                          </p:spTgt>
                                        </p:tgtEl>
                                        <p:attrNameLst>
                                          <p:attrName>style.visibility</p:attrName>
                                        </p:attrNameLst>
                                      </p:cBhvr>
                                      <p:to>
                                        <p:strVal val="visible"/>
                                      </p:to>
                                    </p:set>
                                    <p:animEffect filter="fade" transition="in">
                                      <p:cBhvr>
                                        <p:cTn dur="1000"/>
                                        <p:tgtEl>
                                          <p:spTgt spid="13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9" st="9"/>
                                            </p:txEl>
                                          </p:spTgt>
                                        </p:tgtEl>
                                        <p:attrNameLst>
                                          <p:attrName>style.visibility</p:attrName>
                                        </p:attrNameLst>
                                      </p:cBhvr>
                                      <p:to>
                                        <p:strVal val="visible"/>
                                      </p:to>
                                    </p:set>
                                    <p:animEffect filter="fade" transition="in">
                                      <p:cBhvr>
                                        <p:cTn dur="1000"/>
                                        <p:tgtEl>
                                          <p:spTgt spid="13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10" st="10"/>
                                            </p:txEl>
                                          </p:spTgt>
                                        </p:tgtEl>
                                        <p:attrNameLst>
                                          <p:attrName>style.visibility</p:attrName>
                                        </p:attrNameLst>
                                      </p:cBhvr>
                                      <p:to>
                                        <p:strVal val="visible"/>
                                      </p:to>
                                    </p:set>
                                    <p:animEffect filter="fade" transition="in">
                                      <p:cBhvr>
                                        <p:cTn dur="1000"/>
                                        <p:tgtEl>
                                          <p:spTgt spid="13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xEl>
                                              <p:pRg end="11" st="11"/>
                                            </p:txEl>
                                          </p:spTgt>
                                        </p:tgtEl>
                                        <p:attrNameLst>
                                          <p:attrName>style.visibility</p:attrName>
                                        </p:attrNameLst>
                                      </p:cBhvr>
                                      <p:to>
                                        <p:strVal val="visible"/>
                                      </p:to>
                                    </p:set>
                                    <p:animEffect filter="fade" transition="in">
                                      <p:cBhvr>
                                        <p:cTn dur="1000"/>
                                        <p:tgtEl>
                                          <p:spTgt spid="1322">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3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30" name="Google Shape;1330;p137"/>
          <p:cNvPicPr preferRelativeResize="0"/>
          <p:nvPr/>
        </p:nvPicPr>
        <p:blipFill rotWithShape="1">
          <a:blip r:embed="rId3">
            <a:alphaModFix/>
          </a:blip>
          <a:srcRect b="0" l="0" r="0" t="0"/>
          <a:stretch/>
        </p:blipFill>
        <p:spPr>
          <a:xfrm>
            <a:off x="1600200" y="381000"/>
            <a:ext cx="8001000" cy="556260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138"/>
          <p:cNvSpPr txBox="1"/>
          <p:nvPr>
            <p:ph idx="1" type="body"/>
          </p:nvPr>
        </p:nvSpPr>
        <p:spPr>
          <a:xfrm>
            <a:off x="457200" y="914400"/>
            <a:ext cx="11353800" cy="57150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Bài tập 3.3: </a:t>
            </a:r>
            <a:r>
              <a:rPr lang="en-US" sz="2400">
                <a:latin typeface="Times New Roman"/>
                <a:ea typeface="Times New Roman"/>
                <a:cs typeface="Times New Roman"/>
                <a:sym typeface="Times New Roman"/>
              </a:rPr>
              <a:t>Thực hiện truyền nối tiếp giữa 02 bộ vi điều khiển chế độ 1, tốc độ UART 9600 baud để truyền nối tiếp (một chiều) các số đếm (tăng) từ 0 tới 9 và hiển thị lên LED 7 đoạn.</a:t>
            </a:r>
            <a:endParaRPr/>
          </a:p>
          <a:p>
            <a:pPr indent="0" lvl="0" marL="0" rtl="0" algn="l">
              <a:spcBef>
                <a:spcPts val="480"/>
              </a:spcBef>
              <a:spcAft>
                <a:spcPts val="0"/>
              </a:spcAft>
              <a:buClr>
                <a:schemeClr val="dk1"/>
              </a:buClr>
              <a:buSzPts val="2400"/>
              <a:buNone/>
            </a:pPr>
            <a:r>
              <a:t/>
            </a:r>
            <a:endParaRPr b="1"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t/>
            </a:r>
            <a:endParaRPr b="1"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t/>
            </a:r>
            <a:endParaRPr b="1"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t/>
            </a:r>
            <a:endParaRPr b="1" sz="2400">
              <a:solidFill>
                <a:srgbClr val="C00000"/>
              </a:solidFill>
              <a:latin typeface="Times New Roman"/>
              <a:ea typeface="Times New Roman"/>
              <a:cs typeface="Times New Roman"/>
              <a:sym typeface="Times New Roman"/>
            </a:endParaRPr>
          </a:p>
          <a:p>
            <a:pPr indent="0" lvl="0" marL="0" rtl="0" algn="just">
              <a:spcBef>
                <a:spcPts val="48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Bài tập 3.4: </a:t>
            </a:r>
            <a:r>
              <a:rPr lang="en-US" sz="2400">
                <a:latin typeface="Times New Roman"/>
                <a:ea typeface="Times New Roman"/>
                <a:cs typeface="Times New Roman"/>
                <a:sym typeface="Times New Roman"/>
              </a:rPr>
              <a:t>Thực hiện truyền nối tiếp giữa 02 bộ vi điều khiển chế độ 1, tốc độ UART 9600 baud để truyền nối tiếp (hai chiều) các số đếm (một bộ đếm tăng, một bộ đếm giảm) từ 0 đến 9 và hiển thị trên LED 7 đoạn</a:t>
            </a:r>
            <a:endParaRPr b="1" sz="2400">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
        <p:nvSpPr>
          <p:cNvPr id="1336" name="Google Shape;1336;p138"/>
          <p:cNvSpPr txBox="1"/>
          <p:nvPr>
            <p:ph type="title"/>
          </p:nvPr>
        </p:nvSpPr>
        <p:spPr>
          <a:xfrm>
            <a:off x="257628" y="137319"/>
            <a:ext cx="8534400" cy="487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3200"/>
              <a:buFont typeface="Times New Roman"/>
              <a:buNone/>
            </a:pPr>
            <a:r>
              <a:rPr b="1" lang="en-US" sz="3200">
                <a:solidFill>
                  <a:srgbClr val="17365D"/>
                </a:solidFill>
                <a:latin typeface="Times New Roman"/>
                <a:ea typeface="Times New Roman"/>
                <a:cs typeface="Times New Roman"/>
                <a:sym typeface="Times New Roman"/>
              </a:rPr>
              <a:t>3.5. Truyền thông nối tiếp </a:t>
            </a:r>
            <a:r>
              <a:rPr b="1" lang="en-US" sz="3200">
                <a:solidFill>
                  <a:srgbClr val="FF0000"/>
                </a:solidFill>
                <a:latin typeface="Times New Roman"/>
                <a:ea typeface="Times New Roman"/>
                <a:cs typeface="Times New Roman"/>
                <a:sym typeface="Times New Roman"/>
              </a:rPr>
              <a:t>– Bài tập</a:t>
            </a:r>
            <a:endParaRPr sz="3200">
              <a:solidFill>
                <a:srgbClr val="FF0000"/>
              </a:solidFill>
            </a:endParaRPr>
          </a:p>
        </p:txBody>
      </p:sp>
      <p:sp>
        <p:nvSpPr>
          <p:cNvPr id="1337" name="Google Shape;1337;p138">
            <a:hlinkClick r:id="rId3"/>
          </p:cNvPr>
          <p:cNvSpPr/>
          <p:nvPr/>
        </p:nvSpPr>
        <p:spPr>
          <a:xfrm>
            <a:off x="2448378" y="2712431"/>
            <a:ext cx="83820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8" name="Google Shape;1338;p138">
            <a:hlinkClick r:id="rId4"/>
          </p:cNvPr>
          <p:cNvSpPr/>
          <p:nvPr/>
        </p:nvSpPr>
        <p:spPr>
          <a:xfrm>
            <a:off x="7039429" y="2741068"/>
            <a:ext cx="762000" cy="4572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9" name="Google Shape;1339;p138">
            <a:hlinkClick r:id="rId5"/>
          </p:cNvPr>
          <p:cNvSpPr/>
          <p:nvPr/>
        </p:nvSpPr>
        <p:spPr>
          <a:xfrm>
            <a:off x="2448378" y="5638800"/>
            <a:ext cx="83820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0" name="Google Shape;1340;p138">
            <a:hlinkClick r:id="rId6"/>
          </p:cNvPr>
          <p:cNvSpPr/>
          <p:nvPr/>
        </p:nvSpPr>
        <p:spPr>
          <a:xfrm>
            <a:off x="7068458" y="5638800"/>
            <a:ext cx="762000" cy="4572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1" name="Google Shape;1341;p138"/>
          <p:cNvSpPr txBox="1"/>
          <p:nvPr/>
        </p:nvSpPr>
        <p:spPr>
          <a:xfrm>
            <a:off x="2286000" y="2209800"/>
            <a:ext cx="1143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Truyền</a:t>
            </a:r>
            <a:endParaRPr sz="1800">
              <a:solidFill>
                <a:schemeClr val="dk1"/>
              </a:solidFill>
              <a:latin typeface="Times New Roman"/>
              <a:ea typeface="Times New Roman"/>
              <a:cs typeface="Times New Roman"/>
              <a:sym typeface="Times New Roman"/>
            </a:endParaRPr>
          </a:p>
        </p:txBody>
      </p:sp>
      <p:sp>
        <p:nvSpPr>
          <p:cNvPr id="1342" name="Google Shape;1342;p138">
            <a:hlinkClick r:id="rId7"/>
          </p:cNvPr>
          <p:cNvSpPr/>
          <p:nvPr/>
        </p:nvSpPr>
        <p:spPr>
          <a:xfrm>
            <a:off x="4258128" y="2712431"/>
            <a:ext cx="83820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3" name="Google Shape;1343;p138"/>
          <p:cNvSpPr txBox="1"/>
          <p:nvPr/>
        </p:nvSpPr>
        <p:spPr>
          <a:xfrm>
            <a:off x="4056743" y="2255231"/>
            <a:ext cx="1143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Nhận</a:t>
            </a:r>
            <a:endParaRPr sz="1800">
              <a:solidFill>
                <a:schemeClr val="dk1"/>
              </a:solidFill>
              <a:latin typeface="Times New Roman"/>
              <a:ea typeface="Times New Roman"/>
              <a:cs typeface="Times New Roman"/>
              <a:sym typeface="Times New Roman"/>
            </a:endParaRPr>
          </a:p>
        </p:txBody>
      </p:sp>
      <p:sp>
        <p:nvSpPr>
          <p:cNvPr id="1344" name="Google Shape;1344;p138"/>
          <p:cNvSpPr txBox="1"/>
          <p:nvPr/>
        </p:nvSpPr>
        <p:spPr>
          <a:xfrm>
            <a:off x="6838043" y="2285784"/>
            <a:ext cx="1143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Sơ đồ</a:t>
            </a:r>
            <a:endParaRPr sz="1800">
              <a:solidFill>
                <a:schemeClr val="dk1"/>
              </a:solidFill>
              <a:latin typeface="Times New Roman"/>
              <a:ea typeface="Times New Roman"/>
              <a:cs typeface="Times New Roman"/>
              <a:sym typeface="Times New Roman"/>
            </a:endParaRPr>
          </a:p>
        </p:txBody>
      </p:sp>
      <p:sp>
        <p:nvSpPr>
          <p:cNvPr id="1345" name="Google Shape;1345;p138">
            <a:hlinkClick r:id="rId8"/>
          </p:cNvPr>
          <p:cNvSpPr/>
          <p:nvPr/>
        </p:nvSpPr>
        <p:spPr>
          <a:xfrm>
            <a:off x="4209143" y="5638800"/>
            <a:ext cx="83820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6" name="Google Shape;1346;p138"/>
          <p:cNvSpPr txBox="1"/>
          <p:nvPr/>
        </p:nvSpPr>
        <p:spPr>
          <a:xfrm>
            <a:off x="2286000" y="5117728"/>
            <a:ext cx="1143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Truyền</a:t>
            </a:r>
            <a:endParaRPr sz="1800">
              <a:solidFill>
                <a:schemeClr val="dk1"/>
              </a:solidFill>
              <a:latin typeface="Times New Roman"/>
              <a:ea typeface="Times New Roman"/>
              <a:cs typeface="Times New Roman"/>
              <a:sym typeface="Times New Roman"/>
            </a:endParaRPr>
          </a:p>
        </p:txBody>
      </p:sp>
      <p:sp>
        <p:nvSpPr>
          <p:cNvPr id="1347" name="Google Shape;1347;p138"/>
          <p:cNvSpPr txBox="1"/>
          <p:nvPr/>
        </p:nvSpPr>
        <p:spPr>
          <a:xfrm>
            <a:off x="3953328" y="5154014"/>
            <a:ext cx="1143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Nhận</a:t>
            </a:r>
            <a:endParaRPr sz="1800">
              <a:solidFill>
                <a:schemeClr val="dk1"/>
              </a:solidFill>
              <a:latin typeface="Times New Roman"/>
              <a:ea typeface="Times New Roman"/>
              <a:cs typeface="Times New Roman"/>
              <a:sym typeface="Times New Roman"/>
            </a:endParaRPr>
          </a:p>
        </p:txBody>
      </p:sp>
      <p:sp>
        <p:nvSpPr>
          <p:cNvPr id="1348" name="Google Shape;1348;p138"/>
          <p:cNvSpPr txBox="1"/>
          <p:nvPr/>
        </p:nvSpPr>
        <p:spPr>
          <a:xfrm>
            <a:off x="6838043" y="5193268"/>
            <a:ext cx="1143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Sơ đồ</a:t>
            </a:r>
            <a:endParaRPr sz="1800">
              <a:solidFill>
                <a:schemeClr val="dk1"/>
              </a:solidFill>
              <a:latin typeface="Times New Roman"/>
              <a:ea typeface="Times New Roman"/>
              <a:cs typeface="Times New Roman"/>
              <a:sym typeface="Times New Roman"/>
            </a:endParaRPr>
          </a:p>
        </p:txBody>
      </p:sp>
      <p:sp>
        <p:nvSpPr>
          <p:cNvPr id="1349" name="Google Shape;1349;p13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39"/>
          <p:cNvSpPr txBox="1"/>
          <p:nvPr/>
        </p:nvSpPr>
        <p:spPr>
          <a:xfrm>
            <a:off x="685800" y="2438400"/>
            <a:ext cx="6858000" cy="14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Chương 4.</a:t>
            </a:r>
            <a:endParaRPr/>
          </a:p>
          <a:p>
            <a:pPr indent="0" lvl="0" marL="0" marR="0" rtl="0" algn="ctr">
              <a:spcBef>
                <a:spcPts val="120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LẬP TRÌNH NGẮT TRONG 8051</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graphicFrame>
        <p:nvGraphicFramePr>
          <p:cNvPr id="1362" name="Google Shape;1362;p140"/>
          <p:cNvGraphicFramePr/>
          <p:nvPr/>
        </p:nvGraphicFramePr>
        <p:xfrm>
          <a:off x="304800" y="1752601"/>
          <a:ext cx="3000000" cy="3000000"/>
        </p:xfrm>
        <a:graphic>
          <a:graphicData uri="http://schemas.openxmlformats.org/drawingml/2006/table">
            <a:tbl>
              <a:tblPr>
                <a:noFill/>
                <a:tableStyleId>{A4A541D9-23D5-4180-BFA4-B58C0BD4C685}</a:tableStyleId>
              </a:tblPr>
              <a:tblGrid>
                <a:gridCol w="11201400"/>
              </a:tblGrid>
              <a:tr h="585250">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việc tổ chức ngắt trong 8051</a:t>
                      </a:r>
                      <a:endParaRPr/>
                    </a:p>
                  </a:txBody>
                  <a:tcPr marT="0" marB="0" marR="114300" marL="114300"/>
                </a:tc>
              </a:tr>
              <a:tr h="176725">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
        <p:nvSpPr>
          <p:cNvPr id="1363" name="Google Shape;1363;p140"/>
          <p:cNvSpPr txBox="1"/>
          <p:nvPr>
            <p:ph type="title"/>
          </p:nvPr>
        </p:nvSpPr>
        <p:spPr>
          <a:xfrm>
            <a:off x="304800" y="228600"/>
            <a:ext cx="8458200" cy="4873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MỤC TIÊU</a:t>
            </a:r>
            <a:endParaRPr/>
          </a:p>
        </p:txBody>
      </p:sp>
      <p:sp>
        <p:nvSpPr>
          <p:cNvPr id="1364" name="Google Shape;1364;p14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365" name="Google Shape;1365;p140"/>
          <p:cNvGraphicFramePr/>
          <p:nvPr/>
        </p:nvGraphicFramePr>
        <p:xfrm>
          <a:off x="271818" y="2764583"/>
          <a:ext cx="3000000" cy="3000000"/>
        </p:xfrm>
        <a:graphic>
          <a:graphicData uri="http://schemas.openxmlformats.org/drawingml/2006/table">
            <a:tbl>
              <a:tblPr>
                <a:noFill/>
                <a:tableStyleId>{A4A541D9-23D5-4180-BFA4-B58C0BD4C685}</a:tableStyleId>
              </a:tblPr>
              <a:tblGrid>
                <a:gridCol w="11201400"/>
              </a:tblGrid>
              <a:tr h="936425">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Có khả năng lập trình định thời, truyền thông nối tiếp UART sử dụng ngắt</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r h="282775">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2"/>
                                        </p:tgtEl>
                                        <p:attrNameLst>
                                          <p:attrName>style.visibility</p:attrName>
                                        </p:attrNameLst>
                                      </p:cBhvr>
                                      <p:to>
                                        <p:strVal val="visible"/>
                                      </p:to>
                                    </p:set>
                                    <p:animEffect filter="fade" transition="in">
                                      <p:cBhvr>
                                        <p:cTn dur="1000"/>
                                        <p:tgtEl>
                                          <p:spTgt spid="1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5"/>
                                        </p:tgtEl>
                                        <p:attrNameLst>
                                          <p:attrName>style.visibility</p:attrName>
                                        </p:attrNameLst>
                                      </p:cBhvr>
                                      <p:to>
                                        <p:strVal val="visible"/>
                                      </p:to>
                                    </p:set>
                                    <p:animEffect filter="fade" transition="in">
                                      <p:cBhvr>
                                        <p:cTn dur="1000"/>
                                        <p:tgtEl>
                                          <p:spTgt spid="1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141"/>
          <p:cNvSpPr txBox="1"/>
          <p:nvPr>
            <p:ph idx="1" type="body"/>
          </p:nvPr>
        </p:nvSpPr>
        <p:spPr>
          <a:xfrm>
            <a:off x="1981200" y="2209800"/>
            <a:ext cx="8229600" cy="2971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4.1. Giới thiệu ngắt</a:t>
            </a:r>
            <a:endParaRPr b="1" sz="2800">
              <a:solidFill>
                <a:srgbClr val="002060"/>
              </a:solidFill>
              <a:latin typeface="Times New Roman"/>
              <a:ea typeface="Times New Roman"/>
              <a:cs typeface="Times New Roman"/>
              <a:sym typeface="Times New Roman"/>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4.2. Tổ chức ngắt của 8051</a:t>
            </a:r>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4.3. Xử lý ngắt</a:t>
            </a:r>
            <a:endParaRPr b="1" sz="2800">
              <a:solidFill>
                <a:srgbClr val="002060"/>
              </a:solidFill>
              <a:latin typeface="Times New Roman"/>
              <a:ea typeface="Times New Roman"/>
              <a:cs typeface="Times New Roman"/>
              <a:sym typeface="Times New Roman"/>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4.4. Lập trình ngắt bộ định thời</a:t>
            </a:r>
            <a:endParaRPr b="1" sz="2800">
              <a:solidFill>
                <a:srgbClr val="002060"/>
              </a:solidFill>
              <a:latin typeface="Times New Roman"/>
              <a:ea typeface="Times New Roman"/>
              <a:cs typeface="Times New Roman"/>
              <a:sym typeface="Times New Roman"/>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4.5. Lập trình ngắt truyền thông nối tiếp</a:t>
            </a:r>
            <a:endParaRPr b="1" sz="2800">
              <a:solidFill>
                <a:srgbClr val="002060"/>
              </a:solidFill>
              <a:latin typeface="Times New Roman"/>
              <a:ea typeface="Times New Roman"/>
              <a:cs typeface="Times New Roman"/>
              <a:sym typeface="Times New Roman"/>
            </a:endParaRPr>
          </a:p>
          <a:p>
            <a:pPr indent="0" lvl="0" marL="0" rtl="0" algn="l">
              <a:spcBef>
                <a:spcPts val="1160"/>
              </a:spcBef>
              <a:spcAft>
                <a:spcPts val="0"/>
              </a:spcAft>
              <a:buClr>
                <a:schemeClr val="dk1"/>
              </a:buClr>
              <a:buSzPts val="2800"/>
              <a:buNone/>
            </a:pPr>
            <a:r>
              <a:t/>
            </a:r>
            <a:endParaRPr sz="2800">
              <a:solidFill>
                <a:srgbClr val="002060"/>
              </a:solidFill>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None/>
            </a:pPr>
            <a:r>
              <a:t/>
            </a:r>
            <a:endParaRPr sz="2800">
              <a:solidFill>
                <a:srgbClr val="002060"/>
              </a:solidFill>
              <a:latin typeface="Times New Roman"/>
              <a:ea typeface="Times New Roman"/>
              <a:cs typeface="Times New Roman"/>
              <a:sym typeface="Times New Roman"/>
            </a:endParaRPr>
          </a:p>
        </p:txBody>
      </p:sp>
      <p:sp>
        <p:nvSpPr>
          <p:cNvPr id="1371" name="Google Shape;1371;p141"/>
          <p:cNvSpPr txBox="1"/>
          <p:nvPr>
            <p:ph type="title"/>
          </p:nvPr>
        </p:nvSpPr>
        <p:spPr>
          <a:xfrm>
            <a:off x="152400" y="228600"/>
            <a:ext cx="8686800" cy="6096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NỘI DUNG</a:t>
            </a:r>
            <a:endParaRPr b="1" sz="3200">
              <a:solidFill>
                <a:srgbClr val="C00000"/>
              </a:solidFill>
            </a:endParaRPr>
          </a:p>
        </p:txBody>
      </p:sp>
      <p:sp>
        <p:nvSpPr>
          <p:cNvPr id="1372" name="Google Shape;1372;p14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0" st="0"/>
                                            </p:txEl>
                                          </p:spTgt>
                                        </p:tgtEl>
                                        <p:attrNameLst>
                                          <p:attrName>style.visibility</p:attrName>
                                        </p:attrNameLst>
                                      </p:cBhvr>
                                      <p:to>
                                        <p:strVal val="visible"/>
                                      </p:to>
                                    </p:set>
                                    <p:animEffect filter="fade" transition="in">
                                      <p:cBhvr>
                                        <p:cTn dur="1000"/>
                                        <p:tgtEl>
                                          <p:spTgt spid="13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1" st="1"/>
                                            </p:txEl>
                                          </p:spTgt>
                                        </p:tgtEl>
                                        <p:attrNameLst>
                                          <p:attrName>style.visibility</p:attrName>
                                        </p:attrNameLst>
                                      </p:cBhvr>
                                      <p:to>
                                        <p:strVal val="visible"/>
                                      </p:to>
                                    </p:set>
                                    <p:animEffect filter="fade" transition="in">
                                      <p:cBhvr>
                                        <p:cTn dur="1000"/>
                                        <p:tgtEl>
                                          <p:spTgt spid="13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2" st="2"/>
                                            </p:txEl>
                                          </p:spTgt>
                                        </p:tgtEl>
                                        <p:attrNameLst>
                                          <p:attrName>style.visibility</p:attrName>
                                        </p:attrNameLst>
                                      </p:cBhvr>
                                      <p:to>
                                        <p:strVal val="visible"/>
                                      </p:to>
                                    </p:set>
                                    <p:animEffect filter="fade" transition="in">
                                      <p:cBhvr>
                                        <p:cTn dur="1000"/>
                                        <p:tgtEl>
                                          <p:spTgt spid="13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3" st="3"/>
                                            </p:txEl>
                                          </p:spTgt>
                                        </p:tgtEl>
                                        <p:attrNameLst>
                                          <p:attrName>style.visibility</p:attrName>
                                        </p:attrNameLst>
                                      </p:cBhvr>
                                      <p:to>
                                        <p:strVal val="visible"/>
                                      </p:to>
                                    </p:set>
                                    <p:animEffect filter="fade" transition="in">
                                      <p:cBhvr>
                                        <p:cTn dur="1000"/>
                                        <p:tgtEl>
                                          <p:spTgt spid="13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4" st="4"/>
                                            </p:txEl>
                                          </p:spTgt>
                                        </p:tgtEl>
                                        <p:attrNameLst>
                                          <p:attrName>style.visibility</p:attrName>
                                        </p:attrNameLst>
                                      </p:cBhvr>
                                      <p:to>
                                        <p:strVal val="visible"/>
                                      </p:to>
                                    </p:set>
                                    <p:animEffect filter="fade" transition="in">
                                      <p:cBhvr>
                                        <p:cTn dur="1000"/>
                                        <p:tgtEl>
                                          <p:spTgt spid="13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5" st="5"/>
                                            </p:txEl>
                                          </p:spTgt>
                                        </p:tgtEl>
                                        <p:attrNameLst>
                                          <p:attrName>style.visibility</p:attrName>
                                        </p:attrNameLst>
                                      </p:cBhvr>
                                      <p:to>
                                        <p:strVal val="visible"/>
                                      </p:to>
                                    </p:set>
                                    <p:animEffect filter="fade" transition="in">
                                      <p:cBhvr>
                                        <p:cTn dur="1000"/>
                                        <p:tgtEl>
                                          <p:spTgt spid="13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xEl>
                                              <p:pRg end="6" st="6"/>
                                            </p:txEl>
                                          </p:spTgt>
                                        </p:tgtEl>
                                        <p:attrNameLst>
                                          <p:attrName>style.visibility</p:attrName>
                                        </p:attrNameLst>
                                      </p:cBhvr>
                                      <p:to>
                                        <p:strVal val="visible"/>
                                      </p:to>
                                    </p:set>
                                    <p:animEffect filter="fade" transition="in">
                                      <p:cBhvr>
                                        <p:cTn dur="1000"/>
                                        <p:tgtEl>
                                          <p:spTgt spid="137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142"/>
          <p:cNvSpPr txBox="1"/>
          <p:nvPr>
            <p:ph type="title"/>
          </p:nvPr>
        </p:nvSpPr>
        <p:spPr>
          <a:xfrm>
            <a:off x="228600" y="152400"/>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4.1. Giới thiệu ngắt (1)</a:t>
            </a:r>
            <a:endParaRPr/>
          </a:p>
        </p:txBody>
      </p:sp>
      <p:sp>
        <p:nvSpPr>
          <p:cNvPr id="1378" name="Google Shape;1378;p142"/>
          <p:cNvSpPr txBox="1"/>
          <p:nvPr>
            <p:ph idx="1" type="body"/>
          </p:nvPr>
        </p:nvSpPr>
        <p:spPr>
          <a:xfrm>
            <a:off x="762000" y="914400"/>
            <a:ext cx="10744200" cy="5638800"/>
          </a:xfrm>
          <a:prstGeom prst="rect">
            <a:avLst/>
          </a:prstGeom>
          <a:noFill/>
          <a:ln>
            <a:noFill/>
          </a:ln>
        </p:spPr>
        <p:txBody>
          <a:bodyPr anchorCtr="0" anchor="t" bIns="45700" lIns="91425" spcFirstLastPara="1" rIns="91425" wrap="square" tIns="45700">
            <a:noAutofit/>
          </a:bodyPr>
          <a:lstStyle/>
          <a:p>
            <a:pPr indent="-465138" lvl="0" marL="465138" rtl="0" algn="just">
              <a:spcBef>
                <a:spcPts val="0"/>
              </a:spcBef>
              <a:spcAft>
                <a:spcPts val="0"/>
              </a:spcAft>
              <a:buClr>
                <a:schemeClr val="dk1"/>
              </a:buClr>
              <a:buSzPts val="2200"/>
              <a:buChar char="•"/>
            </a:pPr>
            <a:r>
              <a:rPr lang="en-US" sz="2200">
                <a:latin typeface="Times New Roman"/>
                <a:ea typeface="Times New Roman"/>
                <a:cs typeface="Times New Roman"/>
                <a:sym typeface="Times New Roman"/>
              </a:rPr>
              <a:t>Ngắt (interrupt) là một sự kiện bên trong hoặc bên ngoài làm ngưng một chương trình khác đang thực thi. Các ngắt đóng vai trò quan trọng trong việc thiết kế và thực hiện các ứng dụng của bộ vi điều khiển</a:t>
            </a:r>
            <a:endParaRPr sz="2200">
              <a:latin typeface="Times New Roman"/>
              <a:ea typeface="Times New Roman"/>
              <a:cs typeface="Times New Roman"/>
              <a:sym typeface="Times New Roman"/>
            </a:endParaRPr>
          </a:p>
          <a:p>
            <a:pPr indent="-465138" lvl="0" marL="465138"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Chương trình xử lý một ngắt được gọi là trình phục vụ ngắt ISR (interrupt service routine) hay trình quản lý ngắt (interrupt handler).</a:t>
            </a:r>
            <a:endParaRPr/>
          </a:p>
          <a:p>
            <a:pPr indent="-465138" lvl="0" marL="465138" rtl="0" algn="just">
              <a:spcBef>
                <a:spcPts val="440"/>
              </a:spcBef>
              <a:spcAft>
                <a:spcPts val="0"/>
              </a:spcAft>
              <a:buClr>
                <a:schemeClr val="dk1"/>
              </a:buClr>
              <a:buSzPts val="2200"/>
              <a:buChar char="•"/>
            </a:pPr>
            <a:r>
              <a:rPr b="1" lang="en-US" sz="2200">
                <a:latin typeface="Times New Roman"/>
                <a:ea typeface="Times New Roman"/>
                <a:cs typeface="Times New Roman"/>
                <a:sym typeface="Times New Roman"/>
              </a:rPr>
              <a:t>Trình tự  xử lý ngắt:</a:t>
            </a:r>
            <a:endParaRPr/>
          </a:p>
          <a:p>
            <a:pPr indent="-457200" lvl="0" marL="457200" rtl="0" algn="just">
              <a:spcBef>
                <a:spcPts val="440"/>
              </a:spcBef>
              <a:spcAft>
                <a:spcPts val="0"/>
              </a:spcAft>
              <a:buClr>
                <a:schemeClr val="dk1"/>
              </a:buClr>
              <a:buSzPts val="2200"/>
              <a:buFont typeface="Calibri"/>
              <a:buAutoNum type="arabicPeriod"/>
            </a:pPr>
            <a:r>
              <a:rPr lang="en-US" sz="2200">
                <a:latin typeface="Times New Roman"/>
                <a:ea typeface="Times New Roman"/>
                <a:cs typeface="Times New Roman"/>
                <a:sym typeface="Times New Roman"/>
              </a:rPr>
              <a:t>Kết thúc lệnh hiện tại và lưu địa chỉ của lệnh kế tiếp (PC) vào Stack</a:t>
            </a:r>
            <a:endParaRPr/>
          </a:p>
          <a:p>
            <a:pPr indent="-457200" lvl="0" marL="457200" rtl="0" algn="just">
              <a:spcBef>
                <a:spcPts val="440"/>
              </a:spcBef>
              <a:spcAft>
                <a:spcPts val="0"/>
              </a:spcAft>
              <a:buClr>
                <a:schemeClr val="dk1"/>
              </a:buClr>
              <a:buSzPts val="2200"/>
              <a:buFont typeface="Calibri"/>
              <a:buAutoNum type="arabicPeriod"/>
            </a:pPr>
            <a:r>
              <a:rPr lang="en-US" sz="2200">
                <a:latin typeface="Times New Roman"/>
                <a:ea typeface="Times New Roman"/>
                <a:cs typeface="Times New Roman"/>
                <a:sym typeface="Times New Roman"/>
              </a:rPr>
              <a:t>Lưu trạng thái hiện hành của tất cả các ngắt</a:t>
            </a:r>
            <a:endParaRPr sz="2200">
              <a:latin typeface="Times New Roman"/>
              <a:ea typeface="Times New Roman"/>
              <a:cs typeface="Times New Roman"/>
              <a:sym typeface="Times New Roman"/>
            </a:endParaRPr>
          </a:p>
          <a:p>
            <a:pPr indent="-457200" lvl="0" marL="457200" rtl="0" algn="l">
              <a:spcBef>
                <a:spcPts val="440"/>
              </a:spcBef>
              <a:spcAft>
                <a:spcPts val="0"/>
              </a:spcAft>
              <a:buClr>
                <a:schemeClr val="dk1"/>
              </a:buClr>
              <a:buSzPts val="2200"/>
              <a:buFont typeface="Calibri"/>
              <a:buAutoNum type="arabicPeriod"/>
            </a:pPr>
            <a:r>
              <a:rPr lang="en-US" sz="2200">
                <a:latin typeface="Times New Roman"/>
                <a:ea typeface="Times New Roman"/>
                <a:cs typeface="Times New Roman"/>
                <a:sym typeface="Times New Roman"/>
              </a:rPr>
              <a:t>Nhảy đến một vị trí cố định trong bộ nhớ được gọi là bảng vector ngắt, nơi lưu giữ địa chỉ của một </a:t>
            </a:r>
            <a:r>
              <a:rPr b="1" lang="en-US" sz="2200">
                <a:latin typeface="Times New Roman"/>
                <a:ea typeface="Times New Roman"/>
                <a:cs typeface="Times New Roman"/>
                <a:sym typeface="Times New Roman"/>
              </a:rPr>
              <a:t>trình phục vụ ngắt</a:t>
            </a:r>
            <a:r>
              <a:rPr lang="en-US"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457200" lvl="0" marL="457200" rtl="0" algn="l">
              <a:spcBef>
                <a:spcPts val="440"/>
              </a:spcBef>
              <a:spcAft>
                <a:spcPts val="0"/>
              </a:spcAft>
              <a:buClr>
                <a:schemeClr val="dk1"/>
              </a:buClr>
              <a:buSzPts val="2200"/>
              <a:buFont typeface="Calibri"/>
              <a:buAutoNum type="arabicPeriod"/>
            </a:pPr>
            <a:r>
              <a:rPr lang="en-US" sz="2200">
                <a:latin typeface="Times New Roman"/>
                <a:ea typeface="Times New Roman"/>
                <a:cs typeface="Times New Roman"/>
                <a:sym typeface="Times New Roman"/>
              </a:rPr>
              <a:t>Nhận địa chỉ </a:t>
            </a:r>
            <a:r>
              <a:rPr b="1" lang="en-US" sz="2200">
                <a:latin typeface="Times New Roman"/>
                <a:ea typeface="Times New Roman"/>
                <a:cs typeface="Times New Roman"/>
                <a:sym typeface="Times New Roman"/>
              </a:rPr>
              <a:t>ISR</a:t>
            </a:r>
            <a:r>
              <a:rPr lang="en-US" sz="2200">
                <a:latin typeface="Times New Roman"/>
                <a:ea typeface="Times New Roman"/>
                <a:cs typeface="Times New Roman"/>
                <a:sym typeface="Times New Roman"/>
              </a:rPr>
              <a:t> từ bảng vector ngắt và nhảy tới địa chỉ đó và bắt đầu thực hiện trình phục vụ ngắt cho đến lệnh cuối cùng của </a:t>
            </a:r>
            <a:r>
              <a:rPr b="1" lang="en-US" sz="2200">
                <a:latin typeface="Times New Roman"/>
                <a:ea typeface="Times New Roman"/>
                <a:cs typeface="Times New Roman"/>
                <a:sym typeface="Times New Roman"/>
              </a:rPr>
              <a:t>ISR</a:t>
            </a:r>
            <a:r>
              <a:rPr lang="en-US" sz="2200">
                <a:latin typeface="Times New Roman"/>
                <a:ea typeface="Times New Roman"/>
                <a:cs typeface="Times New Roman"/>
                <a:sym typeface="Times New Roman"/>
              </a:rPr>
              <a:t> là RETI.</a:t>
            </a:r>
            <a:endParaRPr/>
          </a:p>
          <a:p>
            <a:pPr indent="-457200" lvl="0" marL="457200" rtl="0" algn="l">
              <a:spcBef>
                <a:spcPts val="440"/>
              </a:spcBef>
              <a:spcAft>
                <a:spcPts val="0"/>
              </a:spcAft>
              <a:buClr>
                <a:schemeClr val="dk1"/>
              </a:buClr>
              <a:buSzPts val="2200"/>
              <a:buFont typeface="Calibri"/>
              <a:buAutoNum type="arabicPeriod"/>
            </a:pPr>
            <a:r>
              <a:rPr lang="en-US" sz="2200">
                <a:latin typeface="Times New Roman"/>
                <a:ea typeface="Times New Roman"/>
                <a:cs typeface="Times New Roman"/>
                <a:sym typeface="Times New Roman"/>
              </a:rPr>
              <a:t>Khi gặp lệnh RETI (kết thúc trình phục vụ ngắt), bộ vi điều khiển quay trở về nơi nó đã bị ngắt bằng cách nạp 02 byte của đỉnh stack vào PC, khi đó bộ VĐK sẽ thực hiện tiếp các lệnh từ địa chỉ đó</a:t>
            </a:r>
            <a:endParaRPr/>
          </a:p>
          <a:p>
            <a:pPr indent="-317500" lvl="0" marL="457200" rtl="0" algn="just">
              <a:spcBef>
                <a:spcPts val="440"/>
              </a:spcBef>
              <a:spcAft>
                <a:spcPts val="0"/>
              </a:spcAft>
              <a:buClr>
                <a:schemeClr val="dk1"/>
              </a:buClr>
              <a:buSzPts val="2200"/>
              <a:buFont typeface="Calibri"/>
              <a:buNone/>
            </a:pPr>
            <a:r>
              <a:t/>
            </a:r>
            <a:endParaRPr sz="2200">
              <a:latin typeface="Times New Roman"/>
              <a:ea typeface="Times New Roman"/>
              <a:cs typeface="Times New Roman"/>
              <a:sym typeface="Times New Roman"/>
            </a:endParaRPr>
          </a:p>
          <a:p>
            <a:pPr indent="-317500" lvl="0" marL="457200" rtl="0" algn="just">
              <a:spcBef>
                <a:spcPts val="440"/>
              </a:spcBef>
              <a:spcAft>
                <a:spcPts val="0"/>
              </a:spcAft>
              <a:buClr>
                <a:schemeClr val="dk1"/>
              </a:buClr>
              <a:buSzPts val="2200"/>
              <a:buFont typeface="Calibri"/>
              <a:buNone/>
            </a:pPr>
            <a:r>
              <a:t/>
            </a:r>
            <a:endParaRPr sz="2200">
              <a:latin typeface="Times New Roman"/>
              <a:ea typeface="Times New Roman"/>
              <a:cs typeface="Times New Roman"/>
              <a:sym typeface="Times New Roman"/>
            </a:endParaRPr>
          </a:p>
        </p:txBody>
      </p:sp>
      <p:sp>
        <p:nvSpPr>
          <p:cNvPr id="1379" name="Google Shape;1379;p14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0" st="0"/>
                                            </p:txEl>
                                          </p:spTgt>
                                        </p:tgtEl>
                                        <p:attrNameLst>
                                          <p:attrName>style.visibility</p:attrName>
                                        </p:attrNameLst>
                                      </p:cBhvr>
                                      <p:to>
                                        <p:strVal val="visible"/>
                                      </p:to>
                                    </p:set>
                                    <p:animEffect filter="fade" transition="in">
                                      <p:cBhvr>
                                        <p:cTn dur="1000"/>
                                        <p:tgtEl>
                                          <p:spTgt spid="13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1" st="1"/>
                                            </p:txEl>
                                          </p:spTgt>
                                        </p:tgtEl>
                                        <p:attrNameLst>
                                          <p:attrName>style.visibility</p:attrName>
                                        </p:attrNameLst>
                                      </p:cBhvr>
                                      <p:to>
                                        <p:strVal val="visible"/>
                                      </p:to>
                                    </p:set>
                                    <p:animEffect filter="fade" transition="in">
                                      <p:cBhvr>
                                        <p:cTn dur="1000"/>
                                        <p:tgtEl>
                                          <p:spTgt spid="13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2" st="2"/>
                                            </p:txEl>
                                          </p:spTgt>
                                        </p:tgtEl>
                                        <p:attrNameLst>
                                          <p:attrName>style.visibility</p:attrName>
                                        </p:attrNameLst>
                                      </p:cBhvr>
                                      <p:to>
                                        <p:strVal val="visible"/>
                                      </p:to>
                                    </p:set>
                                    <p:animEffect filter="fade" transition="in">
                                      <p:cBhvr>
                                        <p:cTn dur="1000"/>
                                        <p:tgtEl>
                                          <p:spTgt spid="13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3" st="3"/>
                                            </p:txEl>
                                          </p:spTgt>
                                        </p:tgtEl>
                                        <p:attrNameLst>
                                          <p:attrName>style.visibility</p:attrName>
                                        </p:attrNameLst>
                                      </p:cBhvr>
                                      <p:to>
                                        <p:strVal val="visible"/>
                                      </p:to>
                                    </p:set>
                                    <p:animEffect filter="fade" transition="in">
                                      <p:cBhvr>
                                        <p:cTn dur="1000"/>
                                        <p:tgtEl>
                                          <p:spTgt spid="13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4" st="4"/>
                                            </p:txEl>
                                          </p:spTgt>
                                        </p:tgtEl>
                                        <p:attrNameLst>
                                          <p:attrName>style.visibility</p:attrName>
                                        </p:attrNameLst>
                                      </p:cBhvr>
                                      <p:to>
                                        <p:strVal val="visible"/>
                                      </p:to>
                                    </p:set>
                                    <p:animEffect filter="fade" transition="in">
                                      <p:cBhvr>
                                        <p:cTn dur="1000"/>
                                        <p:tgtEl>
                                          <p:spTgt spid="13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5" st="5"/>
                                            </p:txEl>
                                          </p:spTgt>
                                        </p:tgtEl>
                                        <p:attrNameLst>
                                          <p:attrName>style.visibility</p:attrName>
                                        </p:attrNameLst>
                                      </p:cBhvr>
                                      <p:to>
                                        <p:strVal val="visible"/>
                                      </p:to>
                                    </p:set>
                                    <p:animEffect filter="fade" transition="in">
                                      <p:cBhvr>
                                        <p:cTn dur="1000"/>
                                        <p:tgtEl>
                                          <p:spTgt spid="13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6" st="6"/>
                                            </p:txEl>
                                          </p:spTgt>
                                        </p:tgtEl>
                                        <p:attrNameLst>
                                          <p:attrName>style.visibility</p:attrName>
                                        </p:attrNameLst>
                                      </p:cBhvr>
                                      <p:to>
                                        <p:strVal val="visible"/>
                                      </p:to>
                                    </p:set>
                                    <p:animEffect filter="fade" transition="in">
                                      <p:cBhvr>
                                        <p:cTn dur="1000"/>
                                        <p:tgtEl>
                                          <p:spTgt spid="13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7" st="7"/>
                                            </p:txEl>
                                          </p:spTgt>
                                        </p:tgtEl>
                                        <p:attrNameLst>
                                          <p:attrName>style.visibility</p:attrName>
                                        </p:attrNameLst>
                                      </p:cBhvr>
                                      <p:to>
                                        <p:strVal val="visible"/>
                                      </p:to>
                                    </p:set>
                                    <p:animEffect filter="fade" transition="in">
                                      <p:cBhvr>
                                        <p:cTn dur="1000"/>
                                        <p:tgtEl>
                                          <p:spTgt spid="13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8" st="8"/>
                                            </p:txEl>
                                          </p:spTgt>
                                        </p:tgtEl>
                                        <p:attrNameLst>
                                          <p:attrName>style.visibility</p:attrName>
                                        </p:attrNameLst>
                                      </p:cBhvr>
                                      <p:to>
                                        <p:strVal val="visible"/>
                                      </p:to>
                                    </p:set>
                                    <p:animEffect filter="fade" transition="in">
                                      <p:cBhvr>
                                        <p:cTn dur="1000"/>
                                        <p:tgtEl>
                                          <p:spTgt spid="13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xEl>
                                              <p:pRg end="9" st="9"/>
                                            </p:txEl>
                                          </p:spTgt>
                                        </p:tgtEl>
                                        <p:attrNameLst>
                                          <p:attrName>style.visibility</p:attrName>
                                        </p:attrNameLst>
                                      </p:cBhvr>
                                      <p:to>
                                        <p:strVal val="visible"/>
                                      </p:to>
                                    </p:set>
                                    <p:animEffect filter="fade" transition="in">
                                      <p:cBhvr>
                                        <p:cTn dur="1000"/>
                                        <p:tgtEl>
                                          <p:spTgt spid="137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43"/>
          <p:cNvSpPr txBox="1"/>
          <p:nvPr>
            <p:ph type="title"/>
          </p:nvPr>
        </p:nvSpPr>
        <p:spPr>
          <a:xfrm>
            <a:off x="152400" y="123464"/>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4.1. Giới thiệu ngắt (2)</a:t>
            </a:r>
            <a:endParaRPr/>
          </a:p>
        </p:txBody>
      </p:sp>
      <p:sp>
        <p:nvSpPr>
          <p:cNvPr id="1386" name="Google Shape;1386;p143"/>
          <p:cNvSpPr txBox="1"/>
          <p:nvPr>
            <p:ph idx="1" type="body"/>
          </p:nvPr>
        </p:nvSpPr>
        <p:spPr>
          <a:xfrm>
            <a:off x="1752600" y="914400"/>
            <a:ext cx="8686800" cy="5638800"/>
          </a:xfrm>
          <a:prstGeom prst="rect">
            <a:avLst/>
          </a:prstGeom>
          <a:noFill/>
          <a:ln>
            <a:noFill/>
          </a:ln>
        </p:spPr>
        <p:txBody>
          <a:bodyPr anchorCtr="0" anchor="t" bIns="45700" lIns="91425" spcFirstLastPara="1" rIns="91425" wrap="square" tIns="45700">
            <a:noAutofit/>
          </a:bodyPr>
          <a:lstStyle/>
          <a:p>
            <a:pPr indent="-465138" lvl="0" marL="465138" rtl="0" algn="just">
              <a:spcBef>
                <a:spcPts val="0"/>
              </a:spcBef>
              <a:spcAft>
                <a:spcPts val="0"/>
              </a:spcAft>
              <a:buClr>
                <a:schemeClr val="dk1"/>
              </a:buClr>
              <a:buSzPts val="2800"/>
              <a:buChar char="•"/>
            </a:pPr>
            <a:r>
              <a:rPr b="1" lang="en-US" sz="2800">
                <a:latin typeface="Times New Roman"/>
                <a:ea typeface="Times New Roman"/>
                <a:cs typeface="Times New Roman"/>
                <a:sym typeface="Times New Roman"/>
              </a:rPr>
              <a:t>Trình tự thực hiện xử lý ngắt:</a:t>
            </a:r>
            <a:endParaRPr/>
          </a:p>
          <a:p>
            <a:pPr indent="0" lvl="0" marL="0" rtl="0" algn="just">
              <a:spcBef>
                <a:spcPts val="440"/>
              </a:spcBef>
              <a:spcAft>
                <a:spcPts val="0"/>
              </a:spcAft>
              <a:buClr>
                <a:schemeClr val="dk1"/>
              </a:buClr>
              <a:buSzPts val="2200"/>
              <a:buNone/>
            </a:pPr>
            <a:r>
              <a:t/>
            </a:r>
            <a:endParaRPr sz="2200">
              <a:latin typeface="Times New Roman"/>
              <a:ea typeface="Times New Roman"/>
              <a:cs typeface="Times New Roman"/>
              <a:sym typeface="Times New Roman"/>
            </a:endParaRPr>
          </a:p>
          <a:p>
            <a:pPr indent="-317500" lvl="0" marL="457200" rtl="0" algn="just">
              <a:spcBef>
                <a:spcPts val="440"/>
              </a:spcBef>
              <a:spcAft>
                <a:spcPts val="0"/>
              </a:spcAft>
              <a:buClr>
                <a:schemeClr val="dk1"/>
              </a:buClr>
              <a:buSzPts val="2200"/>
              <a:buFont typeface="Calibri"/>
              <a:buNone/>
            </a:pPr>
            <a:r>
              <a:t/>
            </a:r>
            <a:endParaRPr sz="2200">
              <a:latin typeface="Times New Roman"/>
              <a:ea typeface="Times New Roman"/>
              <a:cs typeface="Times New Roman"/>
              <a:sym typeface="Times New Roman"/>
            </a:endParaRPr>
          </a:p>
        </p:txBody>
      </p:sp>
      <p:grpSp>
        <p:nvGrpSpPr>
          <p:cNvPr id="1387" name="Google Shape;1387;p143"/>
          <p:cNvGrpSpPr/>
          <p:nvPr/>
        </p:nvGrpSpPr>
        <p:grpSpPr>
          <a:xfrm>
            <a:off x="1524001" y="1713360"/>
            <a:ext cx="5261429" cy="4040880"/>
            <a:chOff x="0" y="1713360"/>
            <a:chExt cx="5261429" cy="4040880"/>
          </a:xfrm>
        </p:grpSpPr>
        <p:sp>
          <p:nvSpPr>
            <p:cNvPr id="1388" name="Google Shape;1388;p143"/>
            <p:cNvSpPr/>
            <p:nvPr/>
          </p:nvSpPr>
          <p:spPr>
            <a:xfrm>
              <a:off x="1943101" y="2096640"/>
              <a:ext cx="990600" cy="12192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9" name="Google Shape;1389;p143"/>
            <p:cNvSpPr/>
            <p:nvPr/>
          </p:nvSpPr>
          <p:spPr>
            <a:xfrm>
              <a:off x="1961244" y="3773040"/>
              <a:ext cx="990600" cy="19812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0" name="Google Shape;1390;p143"/>
            <p:cNvSpPr/>
            <p:nvPr/>
          </p:nvSpPr>
          <p:spPr>
            <a:xfrm>
              <a:off x="3508829" y="3023919"/>
              <a:ext cx="990600" cy="16002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1" name="Google Shape;1391;p143"/>
            <p:cNvSpPr txBox="1"/>
            <p:nvPr/>
          </p:nvSpPr>
          <p:spPr>
            <a:xfrm>
              <a:off x="2057401" y="3451055"/>
              <a:ext cx="83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MAIN</a:t>
              </a:r>
              <a:endParaRPr/>
            </a:p>
          </p:txBody>
        </p:sp>
        <p:sp>
          <p:nvSpPr>
            <p:cNvPr id="1392" name="Google Shape;1392;p143"/>
            <p:cNvSpPr txBox="1"/>
            <p:nvPr/>
          </p:nvSpPr>
          <p:spPr>
            <a:xfrm>
              <a:off x="2042887" y="1713360"/>
              <a:ext cx="83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ISR</a:t>
              </a:r>
              <a:endParaRPr/>
            </a:p>
          </p:txBody>
        </p:sp>
        <p:sp>
          <p:nvSpPr>
            <p:cNvPr id="1393" name="Google Shape;1393;p143"/>
            <p:cNvSpPr txBox="1"/>
            <p:nvPr/>
          </p:nvSpPr>
          <p:spPr>
            <a:xfrm>
              <a:off x="3429000" y="2654587"/>
              <a:ext cx="114662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STACK</a:t>
              </a:r>
              <a:endParaRPr/>
            </a:p>
          </p:txBody>
        </p:sp>
        <p:sp>
          <p:nvSpPr>
            <p:cNvPr id="1394" name="Google Shape;1394;p143"/>
            <p:cNvSpPr/>
            <p:nvPr/>
          </p:nvSpPr>
          <p:spPr>
            <a:xfrm>
              <a:off x="3507015" y="3842337"/>
              <a:ext cx="990600" cy="2286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5" name="Google Shape;1395;p143"/>
            <p:cNvSpPr/>
            <p:nvPr/>
          </p:nvSpPr>
          <p:spPr>
            <a:xfrm>
              <a:off x="1956709" y="3781791"/>
              <a:ext cx="990600" cy="2286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6" name="Google Shape;1396;p143"/>
            <p:cNvSpPr/>
            <p:nvPr/>
          </p:nvSpPr>
          <p:spPr>
            <a:xfrm>
              <a:off x="1961244" y="4001640"/>
              <a:ext cx="990600" cy="2286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7" name="Google Shape;1397;p143"/>
            <p:cNvSpPr/>
            <p:nvPr/>
          </p:nvSpPr>
          <p:spPr>
            <a:xfrm>
              <a:off x="1961244" y="4230240"/>
              <a:ext cx="990600" cy="228600"/>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8" name="Google Shape;1398;p143"/>
            <p:cNvSpPr txBox="1"/>
            <p:nvPr/>
          </p:nvSpPr>
          <p:spPr>
            <a:xfrm>
              <a:off x="1199244" y="4159874"/>
              <a:ext cx="83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PC →</a:t>
              </a:r>
              <a:endParaRPr/>
            </a:p>
          </p:txBody>
        </p:sp>
        <p:sp>
          <p:nvSpPr>
            <p:cNvPr id="1399" name="Google Shape;1399;p143"/>
            <p:cNvSpPr txBox="1"/>
            <p:nvPr/>
          </p:nvSpPr>
          <p:spPr>
            <a:xfrm>
              <a:off x="0" y="2056839"/>
              <a:ext cx="22098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Vecto ngắt →</a:t>
              </a:r>
              <a:endParaRPr/>
            </a:p>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(được quy định</a:t>
              </a:r>
              <a:endParaRPr i="1" sz="18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i="1" lang="en-US" sz="1800">
                  <a:solidFill>
                    <a:schemeClr val="dk1"/>
                  </a:solidFill>
                  <a:latin typeface="Times New Roman"/>
                  <a:ea typeface="Times New Roman"/>
                  <a:cs typeface="Times New Roman"/>
                  <a:sym typeface="Times New Roman"/>
                </a:rPr>
                <a:t> trong Bảng 4.1)</a:t>
              </a:r>
              <a:endParaRPr/>
            </a:p>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400" name="Google Shape;1400;p143"/>
            <p:cNvSpPr/>
            <p:nvPr/>
          </p:nvSpPr>
          <p:spPr>
            <a:xfrm>
              <a:off x="1946729" y="2088391"/>
              <a:ext cx="990600" cy="235228"/>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1" name="Google Shape;1401;p143"/>
            <p:cNvSpPr txBox="1"/>
            <p:nvPr/>
          </p:nvSpPr>
          <p:spPr>
            <a:xfrm>
              <a:off x="2037444" y="2991097"/>
              <a:ext cx="83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IRET</a:t>
              </a:r>
              <a:endParaRPr/>
            </a:p>
          </p:txBody>
        </p:sp>
        <p:sp>
          <p:nvSpPr>
            <p:cNvPr id="1402" name="Google Shape;1402;p143"/>
            <p:cNvSpPr/>
            <p:nvPr/>
          </p:nvSpPr>
          <p:spPr>
            <a:xfrm>
              <a:off x="1946729" y="3023919"/>
              <a:ext cx="990600" cy="295092"/>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3" name="Google Shape;1403;p143"/>
            <p:cNvSpPr txBox="1"/>
            <p:nvPr/>
          </p:nvSpPr>
          <p:spPr>
            <a:xfrm>
              <a:off x="4423229" y="3771971"/>
              <a:ext cx="83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 SP</a:t>
              </a:r>
              <a:endParaRPr/>
            </a:p>
          </p:txBody>
        </p:sp>
      </p:grpSp>
      <p:sp>
        <p:nvSpPr>
          <p:cNvPr id="1404" name="Google Shape;1404;p143"/>
          <p:cNvSpPr txBox="1"/>
          <p:nvPr/>
        </p:nvSpPr>
        <p:spPr>
          <a:xfrm>
            <a:off x="7032173" y="1934488"/>
            <a:ext cx="3497943" cy="33239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Khi có ngắt</a:t>
            </a:r>
            <a:endParaRPr b="1" sz="2000">
              <a:solidFill>
                <a:schemeClr val="dk1"/>
              </a:solidFill>
              <a:latin typeface="Times New Roman"/>
              <a:ea typeface="Times New Roman"/>
              <a:cs typeface="Times New Roman"/>
              <a:sym typeface="Times New Roman"/>
            </a:endParaRPr>
          </a:p>
          <a:p>
            <a:pPr indent="-285750" lvl="0" marL="682625"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PC + 1 → [SP]</a:t>
            </a:r>
            <a:endParaRPr/>
          </a:p>
          <a:p>
            <a:pPr indent="-285750" lvl="0" marL="682625"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SP = SP + 2</a:t>
            </a:r>
            <a:endParaRPr/>
          </a:p>
          <a:p>
            <a:pPr indent="-285750" lvl="0" marL="682625"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PC ← Vecto ngắt</a:t>
            </a:r>
            <a:endParaRPr sz="2000">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Khi gặp lệnh IRET</a:t>
            </a:r>
            <a:endParaRPr/>
          </a:p>
          <a:p>
            <a:pPr indent="-342900" lvl="0" marL="690563"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PC ← [SP]</a:t>
            </a:r>
            <a:endParaRPr/>
          </a:p>
          <a:p>
            <a:pPr indent="-342900" lvl="0" marL="690563" marR="0" rtl="0" algn="l">
              <a:lnSpc>
                <a:spcPct val="15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SP = SP - 2</a:t>
            </a:r>
            <a:endParaRPr/>
          </a:p>
        </p:txBody>
      </p:sp>
      <p:sp>
        <p:nvSpPr>
          <p:cNvPr id="1405" name="Google Shape;1405;p14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44"/>
          <p:cNvSpPr txBox="1"/>
          <p:nvPr>
            <p:ph type="title"/>
          </p:nvPr>
        </p:nvSpPr>
        <p:spPr>
          <a:xfrm>
            <a:off x="26232" y="152400"/>
            <a:ext cx="10184567"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Bảng vec tơ ngắt của 8051</a:t>
            </a:r>
            <a:endParaRPr b="1" sz="3600">
              <a:solidFill>
                <a:srgbClr val="002060"/>
              </a:solidFill>
              <a:latin typeface="Times New Roman"/>
              <a:ea typeface="Times New Roman"/>
              <a:cs typeface="Times New Roman"/>
              <a:sym typeface="Times New Roman"/>
            </a:endParaRPr>
          </a:p>
        </p:txBody>
      </p:sp>
      <p:sp>
        <p:nvSpPr>
          <p:cNvPr id="1411" name="Google Shape;1411;p144"/>
          <p:cNvSpPr txBox="1"/>
          <p:nvPr>
            <p:ph idx="1" type="body"/>
          </p:nvPr>
        </p:nvSpPr>
        <p:spPr>
          <a:xfrm>
            <a:off x="609600" y="914400"/>
            <a:ext cx="11125200" cy="5638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ctr">
              <a:spcBef>
                <a:spcPts val="480"/>
              </a:spcBef>
              <a:spcAft>
                <a:spcPts val="0"/>
              </a:spcAft>
              <a:buClr>
                <a:schemeClr val="dk1"/>
              </a:buClr>
              <a:buSzPts val="2400"/>
              <a:buNone/>
            </a:pPr>
            <a:r>
              <a:rPr i="1" lang="en-US" sz="2400">
                <a:latin typeface="Times New Roman"/>
                <a:ea typeface="Times New Roman"/>
                <a:cs typeface="Times New Roman"/>
                <a:sym typeface="Times New Roman"/>
              </a:rPr>
              <a:t>Bảng 4.1. Bảng vector ngắt của 8051</a:t>
            </a:r>
            <a:endParaRPr/>
          </a:p>
          <a:p>
            <a:pPr indent="0" lvl="0" marL="0" rtl="0" algn="just">
              <a:spcBef>
                <a:spcPts val="440"/>
              </a:spcBef>
              <a:spcAft>
                <a:spcPts val="0"/>
              </a:spcAft>
              <a:buClr>
                <a:schemeClr val="dk1"/>
              </a:buClr>
              <a:buSzPts val="2200"/>
              <a:buNone/>
            </a:pPr>
            <a:r>
              <a:t/>
            </a:r>
            <a:endParaRPr b="1" sz="2200">
              <a:latin typeface="Times New Roman"/>
              <a:ea typeface="Times New Roman"/>
              <a:cs typeface="Times New Roman"/>
              <a:sym typeface="Times New Roman"/>
            </a:endParaRPr>
          </a:p>
          <a:p>
            <a:pPr indent="-317500" lvl="0" marL="457200" rtl="0" algn="just">
              <a:spcBef>
                <a:spcPts val="440"/>
              </a:spcBef>
              <a:spcAft>
                <a:spcPts val="0"/>
              </a:spcAft>
              <a:buClr>
                <a:schemeClr val="dk1"/>
              </a:buClr>
              <a:buSzPts val="2200"/>
              <a:buFont typeface="Calibri"/>
              <a:buNone/>
            </a:pPr>
            <a:r>
              <a:t/>
            </a:r>
            <a:endParaRPr sz="2200">
              <a:latin typeface="Times New Roman"/>
              <a:ea typeface="Times New Roman"/>
              <a:cs typeface="Times New Roman"/>
              <a:sym typeface="Times New Roman"/>
            </a:endParaRPr>
          </a:p>
        </p:txBody>
      </p:sp>
      <p:graphicFrame>
        <p:nvGraphicFramePr>
          <p:cNvPr id="1412" name="Google Shape;1412;p144"/>
          <p:cNvGraphicFramePr/>
          <p:nvPr/>
        </p:nvGraphicFramePr>
        <p:xfrm>
          <a:off x="1371600" y="2362200"/>
          <a:ext cx="3000000" cy="3000000"/>
        </p:xfrm>
        <a:graphic>
          <a:graphicData uri="http://schemas.openxmlformats.org/drawingml/2006/table">
            <a:tbl>
              <a:tblPr bandRow="1" firstRow="1">
                <a:noFill/>
                <a:tableStyleId>{A4A541D9-23D5-4180-BFA4-B58C0BD4C685}</a:tableStyleId>
              </a:tblPr>
              <a:tblGrid>
                <a:gridCol w="3646100"/>
                <a:gridCol w="1361225"/>
                <a:gridCol w="2406850"/>
                <a:gridCol w="1806025"/>
              </a:tblGrid>
              <a:tr h="370850">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Ngắt</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Cờ ngắt</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Địa chỉ</a:t>
                      </a:r>
                      <a:r>
                        <a:rPr lang="en-US" sz="2400">
                          <a:solidFill>
                            <a:schemeClr val="dk1"/>
                          </a:solidFill>
                          <a:latin typeface="Times New Roman"/>
                          <a:ea typeface="Times New Roman"/>
                          <a:cs typeface="Times New Roman"/>
                          <a:sym typeface="Times New Roman"/>
                        </a:rPr>
                        <a:t> trình phục vụ ngắt</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Số thứ</a:t>
                      </a:r>
                      <a:r>
                        <a:rPr lang="en-US" sz="2400">
                          <a:solidFill>
                            <a:schemeClr val="dk1"/>
                          </a:solidFill>
                          <a:latin typeface="Times New Roman"/>
                          <a:ea typeface="Times New Roman"/>
                          <a:cs typeface="Times New Roman"/>
                          <a:sym typeface="Times New Roman"/>
                        </a:rPr>
                        <a:t> tự ngắt</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Reset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0000h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Ngắt</a:t>
                      </a:r>
                      <a:r>
                        <a:rPr lang="en-US" sz="2400">
                          <a:solidFill>
                            <a:schemeClr val="dk1"/>
                          </a:solidFill>
                          <a:latin typeface="Times New Roman"/>
                          <a:ea typeface="Times New Roman"/>
                          <a:cs typeface="Times New Roman"/>
                          <a:sym typeface="Times New Roman"/>
                        </a:rPr>
                        <a:t> cứng ngoài 0</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IE0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0003h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Ngắt</a:t>
                      </a:r>
                      <a:r>
                        <a:rPr lang="en-US" sz="2400">
                          <a:solidFill>
                            <a:schemeClr val="dk1"/>
                          </a:solidFill>
                          <a:latin typeface="Times New Roman"/>
                          <a:ea typeface="Times New Roman"/>
                          <a:cs typeface="Times New Roman"/>
                          <a:sym typeface="Times New Roman"/>
                        </a:rPr>
                        <a:t> Timer0</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TF0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000Bh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Ngắt</a:t>
                      </a:r>
                      <a:r>
                        <a:rPr lang="en-US" sz="2400">
                          <a:solidFill>
                            <a:schemeClr val="dk1"/>
                          </a:solidFill>
                          <a:latin typeface="Times New Roman"/>
                          <a:ea typeface="Times New Roman"/>
                          <a:cs typeface="Times New Roman"/>
                          <a:sym typeface="Times New Roman"/>
                        </a:rPr>
                        <a:t> cứng ngoài 1</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IE1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0013h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Ngắt</a:t>
                      </a:r>
                      <a:r>
                        <a:rPr lang="en-US" sz="2400">
                          <a:solidFill>
                            <a:schemeClr val="dk1"/>
                          </a:solidFill>
                          <a:latin typeface="Times New Roman"/>
                          <a:ea typeface="Times New Roman"/>
                          <a:cs typeface="Times New Roman"/>
                          <a:sym typeface="Times New Roman"/>
                        </a:rPr>
                        <a:t> Timer1</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TF1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001Bh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Ngắt</a:t>
                      </a:r>
                      <a:r>
                        <a:rPr lang="en-US" sz="2400">
                          <a:solidFill>
                            <a:schemeClr val="dk1"/>
                          </a:solidFill>
                          <a:latin typeface="Times New Roman"/>
                          <a:ea typeface="Times New Roman"/>
                          <a:cs typeface="Times New Roman"/>
                          <a:sym typeface="Times New Roman"/>
                        </a:rPr>
                        <a:t> truyền thông nối tiếp</a:t>
                      </a:r>
                      <a:endParaRPr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RI/TI</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0023h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13" name="Google Shape;1413;p14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145"/>
          <p:cNvSpPr txBox="1"/>
          <p:nvPr>
            <p:ph type="title"/>
          </p:nvPr>
        </p:nvSpPr>
        <p:spPr>
          <a:xfrm>
            <a:off x="228600" y="152400"/>
            <a:ext cx="108966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Cho phép ngắt và cấm ngắt (1)</a:t>
            </a:r>
            <a:endParaRPr b="1" sz="3600">
              <a:solidFill>
                <a:srgbClr val="002060"/>
              </a:solidFill>
              <a:latin typeface="Times New Roman"/>
              <a:ea typeface="Times New Roman"/>
              <a:cs typeface="Times New Roman"/>
              <a:sym typeface="Times New Roman"/>
            </a:endParaRPr>
          </a:p>
        </p:txBody>
      </p:sp>
      <p:sp>
        <p:nvSpPr>
          <p:cNvPr id="1419" name="Google Shape;1419;p145"/>
          <p:cNvSpPr txBox="1"/>
          <p:nvPr>
            <p:ph idx="1" type="body"/>
          </p:nvPr>
        </p:nvSpPr>
        <p:spPr>
          <a:xfrm>
            <a:off x="228600" y="914400"/>
            <a:ext cx="11430000" cy="5715000"/>
          </a:xfrm>
          <a:prstGeom prst="rect">
            <a:avLst/>
          </a:prstGeom>
          <a:noFill/>
          <a:ln>
            <a:noFill/>
          </a:ln>
        </p:spPr>
        <p:txBody>
          <a:bodyPr anchorCtr="0" anchor="t" bIns="45700" lIns="91425" spcFirstLastPara="1" rIns="91425" wrap="square" tIns="45700">
            <a:noAutofit/>
          </a:bodyPr>
          <a:lstStyle/>
          <a:p>
            <a:pPr indent="463550" lvl="0" marL="0" rtl="0" algn="just">
              <a:spcBef>
                <a:spcPts val="0"/>
              </a:spcBef>
              <a:spcAft>
                <a:spcPts val="0"/>
              </a:spcAft>
              <a:buClr>
                <a:schemeClr val="dk1"/>
              </a:buClr>
              <a:buSzPts val="2400"/>
              <a:buNone/>
            </a:pPr>
            <a:r>
              <a:rPr lang="en-US" sz="2400">
                <a:latin typeface="Times New Roman"/>
                <a:ea typeface="Times New Roman"/>
                <a:cs typeface="Times New Roman"/>
                <a:sym typeface="Times New Roman"/>
              </a:rPr>
              <a:t>Khi Reset tất cả các ngắt đều bị cấm (bị che). Vì vây, các ngắt phải được cho phép bằng phần mềm để bộ VĐK có thể đáp ứng được. Việc cho phép hoặc cấm ngắt được thực hiện bởi thanh ghi cho phép ngắt IE (Interupt Enable) có địa chỉ byte là 0A8h, Hình 4.1</a:t>
            </a:r>
            <a:endParaRPr/>
          </a:p>
          <a:p>
            <a:pPr indent="0" lvl="0" marL="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spcBef>
                <a:spcPts val="360"/>
              </a:spcBef>
              <a:spcAft>
                <a:spcPts val="0"/>
              </a:spcAft>
              <a:buClr>
                <a:schemeClr val="dk1"/>
              </a:buClr>
              <a:buSzPts val="1800"/>
              <a:buNone/>
            </a:pPr>
            <a:r>
              <a:t/>
            </a:r>
            <a:endParaRPr i="1" sz="1800">
              <a:latin typeface="Times New Roman"/>
              <a:ea typeface="Times New Roman"/>
              <a:cs typeface="Times New Roman"/>
              <a:sym typeface="Times New Roman"/>
            </a:endParaRPr>
          </a:p>
          <a:p>
            <a:pPr indent="0" lvl="0" marL="0" rtl="0" algn="ctr">
              <a:spcBef>
                <a:spcPts val="480"/>
              </a:spcBef>
              <a:spcAft>
                <a:spcPts val="0"/>
              </a:spcAft>
              <a:buClr>
                <a:schemeClr val="dk1"/>
              </a:buClr>
              <a:buSzPts val="2400"/>
              <a:buNone/>
            </a:pPr>
            <a:r>
              <a:t/>
            </a:r>
            <a:endParaRPr i="1" sz="2400">
              <a:latin typeface="Times New Roman"/>
              <a:ea typeface="Times New Roman"/>
              <a:cs typeface="Times New Roman"/>
              <a:sym typeface="Times New Roman"/>
            </a:endParaRPr>
          </a:p>
          <a:p>
            <a:pPr indent="0" lvl="0" marL="0" rtl="0" algn="ctr">
              <a:spcBef>
                <a:spcPts val="480"/>
              </a:spcBef>
              <a:spcAft>
                <a:spcPts val="0"/>
              </a:spcAft>
              <a:buClr>
                <a:schemeClr val="dk1"/>
              </a:buClr>
              <a:buSzPts val="2400"/>
              <a:buNone/>
            </a:pPr>
            <a:r>
              <a:rPr i="1" lang="en-US" sz="2400">
                <a:latin typeface="Times New Roman"/>
                <a:ea typeface="Times New Roman"/>
                <a:cs typeface="Times New Roman"/>
                <a:sym typeface="Times New Roman"/>
              </a:rPr>
              <a:t>Hình 4.1. Thanh ghi IE</a:t>
            </a:r>
            <a:endParaRPr/>
          </a:p>
          <a:p>
            <a:pPr indent="0" lvl="0" marL="0" rtl="0" algn="ctr">
              <a:spcBef>
                <a:spcPts val="400"/>
              </a:spcBef>
              <a:spcAft>
                <a:spcPts val="0"/>
              </a:spcAft>
              <a:buClr>
                <a:schemeClr val="dk1"/>
              </a:buClr>
              <a:buSzPts val="2000"/>
              <a:buNone/>
            </a:pPr>
            <a:r>
              <a:t/>
            </a:r>
            <a:endParaRPr i="1" sz="20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Các bit được mô tả trong Bảng 4.2</a:t>
            </a:r>
            <a:endParaRPr/>
          </a:p>
          <a:p>
            <a:pPr indent="-317500" lvl="0" marL="457200" rtl="0" algn="just">
              <a:spcBef>
                <a:spcPts val="440"/>
              </a:spcBef>
              <a:spcAft>
                <a:spcPts val="0"/>
              </a:spcAft>
              <a:buClr>
                <a:schemeClr val="dk1"/>
              </a:buClr>
              <a:buSzPts val="2200"/>
              <a:buFont typeface="Calibri"/>
              <a:buNone/>
            </a:pPr>
            <a:r>
              <a:t/>
            </a:r>
            <a:endParaRPr sz="2200">
              <a:latin typeface="Times New Roman"/>
              <a:ea typeface="Times New Roman"/>
              <a:cs typeface="Times New Roman"/>
              <a:sym typeface="Times New Roman"/>
            </a:endParaRPr>
          </a:p>
        </p:txBody>
      </p:sp>
      <p:pic>
        <p:nvPicPr>
          <p:cNvPr id="1420" name="Google Shape;1420;p145"/>
          <p:cNvPicPr preferRelativeResize="0"/>
          <p:nvPr/>
        </p:nvPicPr>
        <p:blipFill rotWithShape="1">
          <a:blip r:embed="rId3">
            <a:alphaModFix/>
          </a:blip>
          <a:srcRect b="0" l="0" r="0" t="0"/>
          <a:stretch/>
        </p:blipFill>
        <p:spPr>
          <a:xfrm>
            <a:off x="1604433" y="2490241"/>
            <a:ext cx="8144934" cy="1295400"/>
          </a:xfrm>
          <a:prstGeom prst="rect">
            <a:avLst/>
          </a:prstGeom>
          <a:noFill/>
          <a:ln>
            <a:noFill/>
          </a:ln>
        </p:spPr>
      </p:pic>
      <p:sp>
        <p:nvSpPr>
          <p:cNvPr id="1421" name="Google Shape;1421;p14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46"/>
          <p:cNvSpPr txBox="1"/>
          <p:nvPr>
            <p:ph idx="1" type="body"/>
          </p:nvPr>
        </p:nvSpPr>
        <p:spPr>
          <a:xfrm>
            <a:off x="533400" y="990599"/>
            <a:ext cx="11506200" cy="5715001"/>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i="1" lang="en-US" sz="2400">
                <a:latin typeface="Times New Roman"/>
                <a:ea typeface="Times New Roman"/>
                <a:cs typeface="Times New Roman"/>
                <a:sym typeface="Times New Roman"/>
              </a:rPr>
              <a:t>Bảng 4.2. Mô tả các bit của thanh ghi IE</a:t>
            </a:r>
            <a:endParaRPr/>
          </a:p>
          <a:p>
            <a:pPr indent="0" lvl="0" marL="0" rtl="0" algn="just">
              <a:spcBef>
                <a:spcPts val="108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ctr">
              <a:spcBef>
                <a:spcPts val="360"/>
              </a:spcBef>
              <a:spcAft>
                <a:spcPts val="0"/>
              </a:spcAft>
              <a:buClr>
                <a:schemeClr val="dk1"/>
              </a:buClr>
              <a:buSzPts val="1800"/>
              <a:buNone/>
            </a:pPr>
            <a:r>
              <a:t/>
            </a:r>
            <a:endParaRPr i="1" sz="1800">
              <a:latin typeface="Times New Roman"/>
              <a:ea typeface="Times New Roman"/>
              <a:cs typeface="Times New Roman"/>
              <a:sym typeface="Times New Roman"/>
            </a:endParaRPr>
          </a:p>
          <a:p>
            <a:pPr indent="0" lvl="0" marL="0" rtl="0" algn="just">
              <a:spcBef>
                <a:spcPts val="440"/>
              </a:spcBef>
              <a:spcAft>
                <a:spcPts val="0"/>
              </a:spcAft>
              <a:buClr>
                <a:schemeClr val="dk1"/>
              </a:buClr>
              <a:buSzPts val="2200"/>
              <a:buNone/>
            </a:pPr>
            <a:r>
              <a:t/>
            </a:r>
            <a:endParaRPr b="1" sz="2200">
              <a:latin typeface="Times New Roman"/>
              <a:ea typeface="Times New Roman"/>
              <a:cs typeface="Times New Roman"/>
              <a:sym typeface="Times New Roman"/>
            </a:endParaRPr>
          </a:p>
          <a:p>
            <a:pPr indent="-317500" lvl="0" marL="457200" rtl="0" algn="just">
              <a:spcBef>
                <a:spcPts val="440"/>
              </a:spcBef>
              <a:spcAft>
                <a:spcPts val="0"/>
              </a:spcAft>
              <a:buClr>
                <a:schemeClr val="dk1"/>
              </a:buClr>
              <a:buSzPts val="2200"/>
              <a:buFont typeface="Calibri"/>
              <a:buNone/>
            </a:pPr>
            <a:r>
              <a:t/>
            </a:r>
            <a:endParaRPr sz="2200">
              <a:latin typeface="Times New Roman"/>
              <a:ea typeface="Times New Roman"/>
              <a:cs typeface="Times New Roman"/>
              <a:sym typeface="Times New Roman"/>
            </a:endParaRPr>
          </a:p>
        </p:txBody>
      </p:sp>
      <p:graphicFrame>
        <p:nvGraphicFramePr>
          <p:cNvPr id="1427" name="Google Shape;1427;p146"/>
          <p:cNvGraphicFramePr/>
          <p:nvPr/>
        </p:nvGraphicFramePr>
        <p:xfrm>
          <a:off x="1676400" y="1676400"/>
          <a:ext cx="3000000" cy="3000000"/>
        </p:xfrm>
        <a:graphic>
          <a:graphicData uri="http://schemas.openxmlformats.org/drawingml/2006/table">
            <a:tbl>
              <a:tblPr bandRow="1" firstRow="1">
                <a:noFill/>
                <a:tableStyleId>{A4A541D9-23D5-4180-BFA4-B58C0BD4C685}</a:tableStyleId>
              </a:tblPr>
              <a:tblGrid>
                <a:gridCol w="756500"/>
                <a:gridCol w="1072300"/>
                <a:gridCol w="7010400"/>
              </a:tblGrid>
              <a:tr h="370850">
                <a:tc>
                  <a:txBody>
                    <a:bodyPr/>
                    <a:lstStyle/>
                    <a:p>
                      <a:pPr indent="0" lvl="0" marL="0" marR="0" rtl="0" algn="ctr">
                        <a:spcBef>
                          <a:spcPts val="0"/>
                        </a:spcBef>
                        <a:spcAft>
                          <a:spcPts val="0"/>
                        </a:spcAft>
                        <a:buNone/>
                      </a:pPr>
                      <a:r>
                        <a:rPr lang="en-US" sz="2200">
                          <a:solidFill>
                            <a:schemeClr val="dk1"/>
                          </a:solidFill>
                          <a:latin typeface="Times New Roman"/>
                          <a:ea typeface="Times New Roman"/>
                          <a:cs typeface="Times New Roman"/>
                          <a:sym typeface="Times New Roman"/>
                        </a:rPr>
                        <a:t>Bit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2200">
                          <a:solidFill>
                            <a:schemeClr val="dk1"/>
                          </a:solidFill>
                          <a:latin typeface="Times New Roman"/>
                          <a:ea typeface="Times New Roman"/>
                          <a:cs typeface="Times New Roman"/>
                          <a:sym typeface="Times New Roman"/>
                        </a:rPr>
                        <a:t>Ký</a:t>
                      </a:r>
                      <a:r>
                        <a:rPr lang="en-US" sz="2200">
                          <a:solidFill>
                            <a:schemeClr val="dk1"/>
                          </a:solidFill>
                          <a:latin typeface="Times New Roman"/>
                          <a:ea typeface="Times New Roman"/>
                          <a:cs typeface="Times New Roman"/>
                          <a:sym typeface="Times New Roman"/>
                        </a:rPr>
                        <a:t> hiệu</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US" sz="2200">
                          <a:solidFill>
                            <a:schemeClr val="dk1"/>
                          </a:solidFill>
                          <a:latin typeface="Times New Roman"/>
                          <a:ea typeface="Times New Roman"/>
                          <a:cs typeface="Times New Roman"/>
                          <a:sym typeface="Times New Roman"/>
                        </a:rPr>
                        <a:t>Mô</a:t>
                      </a:r>
                      <a:r>
                        <a:rPr lang="en-US" sz="2200">
                          <a:solidFill>
                            <a:schemeClr val="dk1"/>
                          </a:solidFill>
                          <a:latin typeface="Times New Roman"/>
                          <a:ea typeface="Times New Roman"/>
                          <a:cs typeface="Times New Roman"/>
                          <a:sym typeface="Times New Roman"/>
                        </a:rPr>
                        <a:t> tả</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latin typeface="Times New Roman"/>
                          <a:ea typeface="Times New Roman"/>
                          <a:cs typeface="Times New Roman"/>
                          <a:sym typeface="Times New Roman"/>
                        </a:rPr>
                        <a:t>IE.7</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latin typeface="Times New Roman"/>
                          <a:ea typeface="Times New Roman"/>
                          <a:cs typeface="Times New Roman"/>
                          <a:sym typeface="Times New Roman"/>
                        </a:rPr>
                        <a:t>EA </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just">
                        <a:spcBef>
                          <a:spcPts val="0"/>
                        </a:spcBef>
                        <a:spcAft>
                          <a:spcPts val="0"/>
                        </a:spcAft>
                        <a:buClr>
                          <a:schemeClr val="dk1"/>
                        </a:buClr>
                        <a:buSzPts val="2200"/>
                        <a:buFont typeface="Times New Roman"/>
                        <a:buNone/>
                      </a:pPr>
                      <a:r>
                        <a:rPr lang="en-US" sz="2200">
                          <a:latin typeface="Times New Roman"/>
                          <a:ea typeface="Times New Roman"/>
                          <a:cs typeface="Times New Roman"/>
                          <a:sym typeface="Times New Roman"/>
                        </a:rPr>
                        <a:t>=  0:  cấm tất cả các ngắt</a:t>
                      </a:r>
                      <a:endParaRPr sz="2200">
                        <a:latin typeface="Times New Roman"/>
                        <a:ea typeface="Times New Roman"/>
                        <a:cs typeface="Times New Roman"/>
                        <a:sym typeface="Times New Roman"/>
                      </a:endParaRPr>
                    </a:p>
                    <a:p>
                      <a:pPr indent="-682625" lvl="0" marL="682625" marR="0" rtl="0" algn="just">
                        <a:spcBef>
                          <a:spcPts val="0"/>
                        </a:spcBef>
                        <a:spcAft>
                          <a:spcPts val="0"/>
                        </a:spcAft>
                        <a:buClr>
                          <a:schemeClr val="dk1"/>
                        </a:buClr>
                        <a:buSzPts val="2200"/>
                        <a:buFont typeface="Times New Roman"/>
                        <a:buNone/>
                      </a:pPr>
                      <a:r>
                        <a:rPr lang="en-US" sz="2200">
                          <a:latin typeface="Times New Roman"/>
                          <a:ea typeface="Times New Roman"/>
                          <a:cs typeface="Times New Roman"/>
                          <a:sym typeface="Times New Roman"/>
                        </a:rPr>
                        <a:t>=</a:t>
                      </a:r>
                      <a:r>
                        <a:rPr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1: từng nguồn ngắt sẽ được mở hoặc cấm bằng cách           bật/xóa bit cho phép tương ứng.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latin typeface="Times New Roman"/>
                          <a:ea typeface="Times New Roman"/>
                          <a:cs typeface="Times New Roman"/>
                          <a:sym typeface="Times New Roman"/>
                        </a:rPr>
                        <a:t>IE.6</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Dự</a:t>
                      </a:r>
                      <a:r>
                        <a:rPr lang="en-US" sz="2200">
                          <a:solidFill>
                            <a:schemeClr val="dk1"/>
                          </a:solidFill>
                          <a:latin typeface="Times New Roman"/>
                          <a:ea typeface="Times New Roman"/>
                          <a:cs typeface="Times New Roman"/>
                          <a:sym typeface="Times New Roman"/>
                        </a:rPr>
                        <a:t> phòng</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IE.5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ET2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Cho phép/cấm ngắt Timer 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IE.4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Cho phép/cấm </a:t>
                      </a:r>
                      <a:r>
                        <a:rPr lang="en-US" sz="2200">
                          <a:solidFill>
                            <a:schemeClr val="dk1"/>
                          </a:solidFill>
                          <a:latin typeface="Times New Roman"/>
                          <a:ea typeface="Times New Roman"/>
                          <a:cs typeface="Times New Roman"/>
                          <a:sym typeface="Times New Roman"/>
                        </a:rPr>
                        <a:t>ngắt truyền thông nối tiếp</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IE.3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ET1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Cho phép/</a:t>
                      </a:r>
                      <a:r>
                        <a:rPr lang="en-US" sz="2200">
                          <a:solidFill>
                            <a:schemeClr val="dk1"/>
                          </a:solidFill>
                          <a:latin typeface="Times New Roman"/>
                          <a:ea typeface="Times New Roman"/>
                          <a:cs typeface="Times New Roman"/>
                          <a:sym typeface="Times New Roman"/>
                        </a:rPr>
                        <a:t>cấm ngắt Timer 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IE.2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EX1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Cho phép/</a:t>
                      </a:r>
                      <a:r>
                        <a:rPr lang="en-US" sz="2200">
                          <a:solidFill>
                            <a:schemeClr val="dk1"/>
                          </a:solidFill>
                          <a:latin typeface="Times New Roman"/>
                          <a:ea typeface="Times New Roman"/>
                          <a:cs typeface="Times New Roman"/>
                          <a:sym typeface="Times New Roman"/>
                        </a:rPr>
                        <a:t>cấm ngắt ngoài 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IE.1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ET0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Cho phép/</a:t>
                      </a:r>
                      <a:r>
                        <a:rPr lang="en-US" sz="2200">
                          <a:solidFill>
                            <a:schemeClr val="dk1"/>
                          </a:solidFill>
                          <a:latin typeface="Times New Roman"/>
                          <a:ea typeface="Times New Roman"/>
                          <a:cs typeface="Times New Roman"/>
                          <a:sym typeface="Times New Roman"/>
                        </a:rPr>
                        <a:t>cấm ngắt Timer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IE.0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2200">
                          <a:solidFill>
                            <a:schemeClr val="dk1"/>
                          </a:solidFill>
                          <a:latin typeface="Times New Roman"/>
                          <a:ea typeface="Times New Roman"/>
                          <a:cs typeface="Times New Roman"/>
                          <a:sym typeface="Times New Roman"/>
                        </a:rPr>
                        <a:t>EX0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Cho phép/</a:t>
                      </a:r>
                      <a:r>
                        <a:rPr lang="en-US" sz="2200">
                          <a:solidFill>
                            <a:schemeClr val="dk1"/>
                          </a:solidFill>
                          <a:latin typeface="Times New Roman"/>
                          <a:ea typeface="Times New Roman"/>
                          <a:cs typeface="Times New Roman"/>
                          <a:sym typeface="Times New Roman"/>
                        </a:rPr>
                        <a:t>cấm ngắt ngoài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428" name="Google Shape;1428;p146"/>
          <p:cNvSpPr txBox="1"/>
          <p:nvPr>
            <p:ph type="title"/>
          </p:nvPr>
        </p:nvSpPr>
        <p:spPr>
          <a:xfrm>
            <a:off x="228600" y="152400"/>
            <a:ext cx="108966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Cho phép ngắt và cấm ngắt (2)</a:t>
            </a:r>
            <a:endParaRPr b="1" sz="3600">
              <a:solidFill>
                <a:srgbClr val="002060"/>
              </a:solidFill>
              <a:latin typeface="Times New Roman"/>
              <a:ea typeface="Times New Roman"/>
              <a:cs typeface="Times New Roman"/>
              <a:sym typeface="Times New Roman"/>
            </a:endParaRPr>
          </a:p>
        </p:txBody>
      </p:sp>
      <p:sp>
        <p:nvSpPr>
          <p:cNvPr id="1429" name="Google Shape;1429;p14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47"/>
          <p:cNvSpPr txBox="1"/>
          <p:nvPr>
            <p:ph idx="1" type="body"/>
          </p:nvPr>
        </p:nvSpPr>
        <p:spPr>
          <a:xfrm>
            <a:off x="457200" y="838200"/>
            <a:ext cx="11430000" cy="57150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Ví dụ 4.1. </a:t>
            </a:r>
            <a:r>
              <a:rPr lang="en-US" sz="2400">
                <a:latin typeface="Times New Roman"/>
                <a:ea typeface="Times New Roman"/>
                <a:cs typeface="Times New Roman"/>
                <a:sym typeface="Times New Roman"/>
              </a:rPr>
              <a:t>Viết các lệnh thực hiện</a:t>
            </a:r>
            <a:endParaRPr sz="2400">
              <a:latin typeface="Times New Roman"/>
              <a:ea typeface="Times New Roman"/>
              <a:cs typeface="Times New Roman"/>
              <a:sym typeface="Times New Roman"/>
            </a:endParaRPr>
          </a:p>
          <a:p>
            <a:pPr indent="-457200" lvl="0" marL="457200" rtl="0" algn="just">
              <a:spcBef>
                <a:spcPts val="480"/>
              </a:spcBef>
              <a:spcAft>
                <a:spcPts val="0"/>
              </a:spcAft>
              <a:buClr>
                <a:schemeClr val="dk1"/>
              </a:buClr>
              <a:buSzPts val="2400"/>
              <a:buAutoNum type="alphaLcParenR"/>
            </a:pPr>
            <a:r>
              <a:rPr lang="en-US" sz="2400">
                <a:latin typeface="Times New Roman"/>
                <a:ea typeface="Times New Roman"/>
                <a:cs typeface="Times New Roman"/>
                <a:sym typeface="Times New Roman"/>
              </a:rPr>
              <a:t>Cho phép ngắt nối tiếp, ngắt Timer 0 và ngắt cứng ngoài 1</a:t>
            </a:r>
            <a:endParaRPr/>
          </a:p>
          <a:p>
            <a:pPr indent="-457200" lvl="0" marL="457200" rtl="0" algn="just">
              <a:spcBef>
                <a:spcPts val="480"/>
              </a:spcBef>
              <a:spcAft>
                <a:spcPts val="0"/>
              </a:spcAft>
              <a:buClr>
                <a:schemeClr val="dk1"/>
              </a:buClr>
              <a:buSzPts val="2400"/>
              <a:buAutoNum type="alphaLcParenR"/>
            </a:pPr>
            <a:r>
              <a:rPr lang="en-US" sz="2400">
                <a:latin typeface="Times New Roman"/>
                <a:ea typeface="Times New Roman"/>
                <a:cs typeface="Times New Roman"/>
                <a:sym typeface="Times New Roman"/>
              </a:rPr>
              <a:t>Cấm (che) ngắt Timer 0</a:t>
            </a:r>
            <a:endParaRPr/>
          </a:p>
          <a:p>
            <a:pPr indent="-457200" lvl="0" marL="457200" rtl="0" algn="just">
              <a:spcBef>
                <a:spcPts val="480"/>
              </a:spcBef>
              <a:spcAft>
                <a:spcPts val="0"/>
              </a:spcAft>
              <a:buClr>
                <a:schemeClr val="dk1"/>
              </a:buClr>
              <a:buSzPts val="2400"/>
              <a:buAutoNum type="alphaLcParenR"/>
            </a:pPr>
            <a:r>
              <a:rPr lang="en-US" sz="2400">
                <a:latin typeface="Times New Roman"/>
                <a:ea typeface="Times New Roman"/>
                <a:cs typeface="Times New Roman"/>
                <a:sym typeface="Times New Roman"/>
              </a:rPr>
              <a:t>Cấm tất cả mọi ngắt chỉ bằng một lệnh duy nhất</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rPr b="1" lang="en-US" sz="2400">
                <a:latin typeface="Times New Roman"/>
                <a:ea typeface="Times New Roman"/>
                <a:cs typeface="Times New Roman"/>
                <a:sym typeface="Times New Roman"/>
              </a:rPr>
              <a:t>Giải </a:t>
            </a:r>
            <a:endParaRPr/>
          </a:p>
          <a:p>
            <a:pPr indent="-457200" lvl="0" marL="457200" rtl="0" algn="just">
              <a:spcBef>
                <a:spcPts val="480"/>
              </a:spcBef>
              <a:spcAft>
                <a:spcPts val="0"/>
              </a:spcAft>
              <a:buClr>
                <a:schemeClr val="dk1"/>
              </a:buClr>
              <a:buSzPts val="2400"/>
              <a:buAutoNum type="alphaLcParenR"/>
            </a:pPr>
            <a:r>
              <a:rPr lang="en-US" sz="2400">
                <a:latin typeface="Times New Roman"/>
                <a:ea typeface="Times New Roman"/>
                <a:cs typeface="Times New Roman"/>
                <a:sym typeface="Times New Roman"/>
              </a:rPr>
              <a:t>       MOV IE, #10010110B </a:t>
            </a:r>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lệnh trên tương đương đoạn chương trình</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SETB	IE.7	; cho phép tất cả các ngắt</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SETB	IE.4	; cho phép ngắt nối tiếp</a:t>
            </a:r>
            <a:endParaRPr sz="2400">
              <a:latin typeface="Times New Roman"/>
              <a:ea typeface="Times New Roman"/>
              <a:cs typeface="Times New Roman"/>
              <a:sym typeface="Times New Roman"/>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SETB	IE.1	; cho phép ngắt Timer 0</a:t>
            </a:r>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SETB	IE.2	; cho phép ngắn cứng ngoài 1</a:t>
            </a:r>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b)	CLR	IE.1	; xóa (che) ngắt Timer 0</a:t>
            </a:r>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c)	CLR	IE.7	; cấm tất cả các ngắt</a:t>
            </a:r>
            <a:endParaRPr sz="2400">
              <a:latin typeface="Times New Roman"/>
              <a:ea typeface="Times New Roman"/>
              <a:cs typeface="Times New Roman"/>
              <a:sym typeface="Times New Roman"/>
            </a:endParaRPr>
          </a:p>
        </p:txBody>
      </p:sp>
      <p:sp>
        <p:nvSpPr>
          <p:cNvPr id="1435" name="Google Shape;1435;p147"/>
          <p:cNvSpPr txBox="1"/>
          <p:nvPr>
            <p:ph type="title"/>
          </p:nvPr>
        </p:nvSpPr>
        <p:spPr>
          <a:xfrm>
            <a:off x="228600" y="152400"/>
            <a:ext cx="108966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Cho phép ngắt và cấm ngắt (3)</a:t>
            </a:r>
            <a:endParaRPr b="1" sz="3600">
              <a:solidFill>
                <a:srgbClr val="002060"/>
              </a:solidFill>
              <a:latin typeface="Times New Roman"/>
              <a:ea typeface="Times New Roman"/>
              <a:cs typeface="Times New Roman"/>
              <a:sym typeface="Times New Roman"/>
            </a:endParaRPr>
          </a:p>
        </p:txBody>
      </p:sp>
      <p:sp>
        <p:nvSpPr>
          <p:cNvPr id="1436" name="Google Shape;1436;p14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0" st="0"/>
                                            </p:txEl>
                                          </p:spTgt>
                                        </p:tgtEl>
                                        <p:attrNameLst>
                                          <p:attrName>style.visibility</p:attrName>
                                        </p:attrNameLst>
                                      </p:cBhvr>
                                      <p:to>
                                        <p:strVal val="visible"/>
                                      </p:to>
                                    </p:set>
                                    <p:animEffect filter="fade" transition="in">
                                      <p:cBhvr>
                                        <p:cTn dur="1000"/>
                                        <p:tgtEl>
                                          <p:spTgt spid="14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1" st="1"/>
                                            </p:txEl>
                                          </p:spTgt>
                                        </p:tgtEl>
                                        <p:attrNameLst>
                                          <p:attrName>style.visibility</p:attrName>
                                        </p:attrNameLst>
                                      </p:cBhvr>
                                      <p:to>
                                        <p:strVal val="visible"/>
                                      </p:to>
                                    </p:set>
                                    <p:animEffect filter="fade" transition="in">
                                      <p:cBhvr>
                                        <p:cTn dur="1000"/>
                                        <p:tgtEl>
                                          <p:spTgt spid="14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2" st="2"/>
                                            </p:txEl>
                                          </p:spTgt>
                                        </p:tgtEl>
                                        <p:attrNameLst>
                                          <p:attrName>style.visibility</p:attrName>
                                        </p:attrNameLst>
                                      </p:cBhvr>
                                      <p:to>
                                        <p:strVal val="visible"/>
                                      </p:to>
                                    </p:set>
                                    <p:animEffect filter="fade" transition="in">
                                      <p:cBhvr>
                                        <p:cTn dur="1000"/>
                                        <p:tgtEl>
                                          <p:spTgt spid="14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3" st="3"/>
                                            </p:txEl>
                                          </p:spTgt>
                                        </p:tgtEl>
                                        <p:attrNameLst>
                                          <p:attrName>style.visibility</p:attrName>
                                        </p:attrNameLst>
                                      </p:cBhvr>
                                      <p:to>
                                        <p:strVal val="visible"/>
                                      </p:to>
                                    </p:set>
                                    <p:animEffect filter="fade" transition="in">
                                      <p:cBhvr>
                                        <p:cTn dur="1000"/>
                                        <p:tgtEl>
                                          <p:spTgt spid="14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4" st="4"/>
                                            </p:txEl>
                                          </p:spTgt>
                                        </p:tgtEl>
                                        <p:attrNameLst>
                                          <p:attrName>style.visibility</p:attrName>
                                        </p:attrNameLst>
                                      </p:cBhvr>
                                      <p:to>
                                        <p:strVal val="visible"/>
                                      </p:to>
                                    </p:set>
                                    <p:animEffect filter="fade" transition="in">
                                      <p:cBhvr>
                                        <p:cTn dur="1000"/>
                                        <p:tgtEl>
                                          <p:spTgt spid="14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5" st="5"/>
                                            </p:txEl>
                                          </p:spTgt>
                                        </p:tgtEl>
                                        <p:attrNameLst>
                                          <p:attrName>style.visibility</p:attrName>
                                        </p:attrNameLst>
                                      </p:cBhvr>
                                      <p:to>
                                        <p:strVal val="visible"/>
                                      </p:to>
                                    </p:set>
                                    <p:animEffect filter="fade" transition="in">
                                      <p:cBhvr>
                                        <p:cTn dur="1000"/>
                                        <p:tgtEl>
                                          <p:spTgt spid="14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6" st="6"/>
                                            </p:txEl>
                                          </p:spTgt>
                                        </p:tgtEl>
                                        <p:attrNameLst>
                                          <p:attrName>style.visibility</p:attrName>
                                        </p:attrNameLst>
                                      </p:cBhvr>
                                      <p:to>
                                        <p:strVal val="visible"/>
                                      </p:to>
                                    </p:set>
                                    <p:animEffect filter="fade" transition="in">
                                      <p:cBhvr>
                                        <p:cTn dur="1000"/>
                                        <p:tgtEl>
                                          <p:spTgt spid="14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7" st="7"/>
                                            </p:txEl>
                                          </p:spTgt>
                                        </p:tgtEl>
                                        <p:attrNameLst>
                                          <p:attrName>style.visibility</p:attrName>
                                        </p:attrNameLst>
                                      </p:cBhvr>
                                      <p:to>
                                        <p:strVal val="visible"/>
                                      </p:to>
                                    </p:set>
                                    <p:animEffect filter="fade" transition="in">
                                      <p:cBhvr>
                                        <p:cTn dur="1000"/>
                                        <p:tgtEl>
                                          <p:spTgt spid="14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8" st="8"/>
                                            </p:txEl>
                                          </p:spTgt>
                                        </p:tgtEl>
                                        <p:attrNameLst>
                                          <p:attrName>style.visibility</p:attrName>
                                        </p:attrNameLst>
                                      </p:cBhvr>
                                      <p:to>
                                        <p:strVal val="visible"/>
                                      </p:to>
                                    </p:set>
                                    <p:animEffect filter="fade" transition="in">
                                      <p:cBhvr>
                                        <p:cTn dur="1000"/>
                                        <p:tgtEl>
                                          <p:spTgt spid="14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9" st="9"/>
                                            </p:txEl>
                                          </p:spTgt>
                                        </p:tgtEl>
                                        <p:attrNameLst>
                                          <p:attrName>style.visibility</p:attrName>
                                        </p:attrNameLst>
                                      </p:cBhvr>
                                      <p:to>
                                        <p:strVal val="visible"/>
                                      </p:to>
                                    </p:set>
                                    <p:animEffect filter="fade" transition="in">
                                      <p:cBhvr>
                                        <p:cTn dur="1000"/>
                                        <p:tgtEl>
                                          <p:spTgt spid="14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10" st="10"/>
                                            </p:txEl>
                                          </p:spTgt>
                                        </p:tgtEl>
                                        <p:attrNameLst>
                                          <p:attrName>style.visibility</p:attrName>
                                        </p:attrNameLst>
                                      </p:cBhvr>
                                      <p:to>
                                        <p:strVal val="visible"/>
                                      </p:to>
                                    </p:set>
                                    <p:animEffect filter="fade" transition="in">
                                      <p:cBhvr>
                                        <p:cTn dur="1000"/>
                                        <p:tgtEl>
                                          <p:spTgt spid="143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11" st="11"/>
                                            </p:txEl>
                                          </p:spTgt>
                                        </p:tgtEl>
                                        <p:attrNameLst>
                                          <p:attrName>style.visibility</p:attrName>
                                        </p:attrNameLst>
                                      </p:cBhvr>
                                      <p:to>
                                        <p:strVal val="visible"/>
                                      </p:to>
                                    </p:set>
                                    <p:animEffect filter="fade" transition="in">
                                      <p:cBhvr>
                                        <p:cTn dur="1000"/>
                                        <p:tgtEl>
                                          <p:spTgt spid="143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xEl>
                                              <p:pRg end="12" st="12"/>
                                            </p:txEl>
                                          </p:spTgt>
                                        </p:tgtEl>
                                        <p:attrNameLst>
                                          <p:attrName>style.visibility</p:attrName>
                                        </p:attrNameLst>
                                      </p:cBhvr>
                                      <p:to>
                                        <p:strVal val="visible"/>
                                      </p:to>
                                    </p:set>
                                    <p:animEffect filter="fade" transition="in">
                                      <p:cBhvr>
                                        <p:cTn dur="1000"/>
                                        <p:tgtEl>
                                          <p:spTgt spid="1434">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48"/>
          <p:cNvSpPr txBox="1"/>
          <p:nvPr>
            <p:ph type="title"/>
          </p:nvPr>
        </p:nvSpPr>
        <p:spPr>
          <a:xfrm>
            <a:off x="381000" y="76200"/>
            <a:ext cx="109728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Mức ưu tiên ngắt của 8051 (1)</a:t>
            </a:r>
            <a:endParaRPr b="1" sz="3600">
              <a:solidFill>
                <a:srgbClr val="002060"/>
              </a:solidFill>
              <a:latin typeface="Times New Roman"/>
              <a:ea typeface="Times New Roman"/>
              <a:cs typeface="Times New Roman"/>
              <a:sym typeface="Times New Roman"/>
            </a:endParaRPr>
          </a:p>
        </p:txBody>
      </p:sp>
      <p:sp>
        <p:nvSpPr>
          <p:cNvPr id="1443" name="Google Shape;1443;p148"/>
          <p:cNvSpPr txBox="1"/>
          <p:nvPr/>
        </p:nvSpPr>
        <p:spPr>
          <a:xfrm>
            <a:off x="381000" y="762000"/>
            <a:ext cx="11582400" cy="57912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Noto Sans Symbols"/>
              <a:buChar char="❖"/>
            </a:pPr>
            <a:r>
              <a:rPr b="1" lang="en-US" sz="2400">
                <a:solidFill>
                  <a:schemeClr val="dk1"/>
                </a:solidFill>
                <a:latin typeface="Times New Roman"/>
                <a:ea typeface="Times New Roman"/>
                <a:cs typeface="Times New Roman"/>
                <a:sym typeface="Times New Roman"/>
              </a:rPr>
              <a:t>Mức ưu tiên ngắt khi Reset, </a:t>
            </a:r>
            <a:r>
              <a:rPr lang="en-US" sz="2400">
                <a:solidFill>
                  <a:schemeClr val="dk1"/>
                </a:solidFill>
                <a:latin typeface="Times New Roman"/>
                <a:ea typeface="Times New Roman"/>
                <a:cs typeface="Times New Roman"/>
                <a:sym typeface="Times New Roman"/>
              </a:rPr>
              <a:t>Bảng 4.3</a:t>
            </a:r>
            <a:endParaRPr/>
          </a:p>
          <a:p>
            <a:pPr indent="0" lvl="0" marL="0" marR="0" rtl="0" algn="ctr">
              <a:spcBef>
                <a:spcPts val="440"/>
              </a:spcBef>
              <a:spcAft>
                <a:spcPts val="0"/>
              </a:spcAft>
              <a:buClr>
                <a:schemeClr val="dk1"/>
              </a:buClr>
              <a:buSzPts val="2200"/>
              <a:buFont typeface="Arial"/>
              <a:buNone/>
            </a:pPr>
            <a:r>
              <a:rPr i="1" lang="en-US" sz="2200">
                <a:solidFill>
                  <a:schemeClr val="dk1"/>
                </a:solidFill>
                <a:latin typeface="Times New Roman"/>
                <a:ea typeface="Times New Roman"/>
                <a:cs typeface="Times New Roman"/>
                <a:sym typeface="Times New Roman"/>
              </a:rPr>
              <a:t>Bảng 4.3. Bảng mức ưu tiên ngắt của 8051</a:t>
            </a:r>
            <a:endParaRPr/>
          </a:p>
          <a:p>
            <a:pPr indent="0" lvl="0" marL="0" marR="0" rtl="0" algn="ctr">
              <a:spcBef>
                <a:spcPts val="480"/>
              </a:spcBef>
              <a:spcAft>
                <a:spcPts val="0"/>
              </a:spcAft>
              <a:buClr>
                <a:schemeClr val="dk1"/>
              </a:buClr>
              <a:buSzPts val="2400"/>
              <a:buFont typeface="Arial"/>
              <a:buNone/>
            </a:pPr>
            <a:r>
              <a:t/>
            </a:r>
            <a:endParaRPr i="1" sz="24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t/>
            </a:r>
            <a:endParaRPr i="1" sz="24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t/>
            </a:r>
            <a:endParaRPr i="1" sz="24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t/>
            </a:r>
            <a:endParaRPr i="1" sz="24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t/>
            </a:r>
            <a:endParaRPr i="1" sz="24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t/>
            </a:r>
            <a:endParaRPr i="1" sz="2400">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chemeClr val="dk1"/>
              </a:buClr>
              <a:buSzPts val="2400"/>
              <a:buFont typeface="Noto Sans Symbols"/>
              <a:buChar char="❖"/>
            </a:pPr>
            <a:r>
              <a:rPr b="1" lang="en-US" sz="2400">
                <a:solidFill>
                  <a:schemeClr val="dk1"/>
                </a:solidFill>
                <a:latin typeface="Times New Roman"/>
                <a:ea typeface="Times New Roman"/>
                <a:cs typeface="Times New Roman"/>
                <a:sym typeface="Times New Roman"/>
              </a:rPr>
              <a:t>Thiết lập mức ưu tiên ngắt sử dụng thanh ghi IP</a:t>
            </a:r>
            <a:endParaRPr/>
          </a:p>
          <a:p>
            <a:pPr indent="-342900" lvl="0" marL="342900" marR="0" rtl="0" algn="just">
              <a:spcBef>
                <a:spcPts val="44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Có thể thay đổi trình tự ưu tiên cho ở Bảng 4.3 bằng cách gán mức ưu tiên cao hơn cho bất kỳ ngắt nào. Điều này được thực hiện bằng cách lập trình cho thanh ghi mức ưu tiên ngắt IP (Interrupt Priority).</a:t>
            </a:r>
            <a:endParaRPr/>
          </a:p>
          <a:p>
            <a:pPr indent="-342900" lvl="0" marL="342900" marR="0" rtl="0" algn="just">
              <a:spcBef>
                <a:spcPts val="44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Nếu nhiều bit trong thanh ghi IP cùng được đặt lên cao, khi đó chúng được phục vụ theo trình tự trong Bảng 4.3</a:t>
            </a:r>
            <a:endParaRPr/>
          </a:p>
          <a:p>
            <a:pPr indent="0" lvl="0" marL="0" marR="0" rtl="0" algn="just">
              <a:spcBef>
                <a:spcPts val="480"/>
              </a:spcBef>
              <a:spcAft>
                <a:spcPts val="0"/>
              </a:spcAft>
              <a:buClr>
                <a:schemeClr val="dk1"/>
              </a:buClr>
              <a:buSzPts val="2400"/>
              <a:buFont typeface="Arial"/>
              <a:buNone/>
            </a:pPr>
            <a:r>
              <a:t/>
            </a:r>
            <a:endParaRPr b="1" sz="2400">
              <a:solidFill>
                <a:srgbClr val="C00000"/>
              </a:solidFill>
              <a:latin typeface="Times New Roman"/>
              <a:ea typeface="Times New Roman"/>
              <a:cs typeface="Times New Roman"/>
              <a:sym typeface="Times New Roman"/>
            </a:endParaRPr>
          </a:p>
        </p:txBody>
      </p:sp>
      <p:graphicFrame>
        <p:nvGraphicFramePr>
          <p:cNvPr id="1444" name="Google Shape;1444;p148"/>
          <p:cNvGraphicFramePr/>
          <p:nvPr/>
        </p:nvGraphicFramePr>
        <p:xfrm>
          <a:off x="3048000" y="1676400"/>
          <a:ext cx="3000000" cy="3000000"/>
        </p:xfrm>
        <a:graphic>
          <a:graphicData uri="http://schemas.openxmlformats.org/drawingml/2006/table">
            <a:tbl>
              <a:tblPr bandRow="1" firstRow="1">
                <a:noFill/>
                <a:tableStyleId>{A4A541D9-23D5-4180-BFA4-B58C0BD4C685}</a:tableStyleId>
              </a:tblPr>
              <a:tblGrid>
                <a:gridCol w="4440550"/>
                <a:gridCol w="1198250"/>
              </a:tblGrid>
              <a:tr h="368300">
                <a:tc gridSpan="2">
                  <a:txBody>
                    <a:bodyPr/>
                    <a:lstStyle/>
                    <a:p>
                      <a:pPr indent="0" lvl="0" marL="0" marR="0" rtl="0" algn="ctr">
                        <a:spcBef>
                          <a:spcPts val="0"/>
                        </a:spcBef>
                        <a:spcAft>
                          <a:spcPts val="0"/>
                        </a:spcAft>
                        <a:buNone/>
                      </a:pPr>
                      <a:r>
                        <a:rPr lang="en-US" sz="2200">
                          <a:solidFill>
                            <a:schemeClr val="dk1"/>
                          </a:solidFill>
                          <a:latin typeface="Times New Roman"/>
                          <a:ea typeface="Times New Roman"/>
                          <a:cs typeface="Times New Roman"/>
                          <a:sym typeface="Times New Roman"/>
                        </a:rPr>
                        <a:t>Mức</a:t>
                      </a:r>
                      <a:r>
                        <a:rPr lang="en-US" sz="2200">
                          <a:solidFill>
                            <a:schemeClr val="dk1"/>
                          </a:solidFill>
                          <a:latin typeface="Times New Roman"/>
                          <a:ea typeface="Times New Roman"/>
                          <a:cs typeface="Times New Roman"/>
                          <a:sym typeface="Times New Roman"/>
                        </a:rPr>
                        <a:t> ưu tiên từ cao xuống thấp</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68300">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Ngắt ngoài</a:t>
                      </a:r>
                      <a:r>
                        <a:rPr lang="en-US" sz="2200">
                          <a:solidFill>
                            <a:schemeClr val="dk1"/>
                          </a:solidFill>
                          <a:latin typeface="Times New Roman"/>
                          <a:ea typeface="Times New Roman"/>
                          <a:cs typeface="Times New Roman"/>
                          <a:sym typeface="Times New Roman"/>
                        </a:rPr>
                        <a:t> 0            </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INT0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Ngắt bộ</a:t>
                      </a:r>
                      <a:r>
                        <a:rPr lang="en-US" sz="2200">
                          <a:solidFill>
                            <a:schemeClr val="dk1"/>
                          </a:solidFill>
                          <a:latin typeface="Times New Roman"/>
                          <a:ea typeface="Times New Roman"/>
                          <a:cs typeface="Times New Roman"/>
                          <a:sym typeface="Times New Roman"/>
                        </a:rPr>
                        <a:t> định thời 0</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TF0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Ngắt</a:t>
                      </a:r>
                      <a:r>
                        <a:rPr lang="en-US" sz="2200">
                          <a:solidFill>
                            <a:schemeClr val="dk1"/>
                          </a:solidFill>
                          <a:latin typeface="Times New Roman"/>
                          <a:ea typeface="Times New Roman"/>
                          <a:cs typeface="Times New Roman"/>
                          <a:sym typeface="Times New Roman"/>
                        </a:rPr>
                        <a:t> ngoài 1</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INT1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Ngắt bộ</a:t>
                      </a:r>
                      <a:r>
                        <a:rPr lang="en-US" sz="2200">
                          <a:solidFill>
                            <a:schemeClr val="dk1"/>
                          </a:solidFill>
                          <a:latin typeface="Times New Roman"/>
                          <a:ea typeface="Times New Roman"/>
                          <a:cs typeface="Times New Roman"/>
                          <a:sym typeface="Times New Roman"/>
                        </a:rPr>
                        <a:t> định thời 1</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TF1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8300">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Ngắt truyền</a:t>
                      </a:r>
                      <a:r>
                        <a:rPr lang="en-US" sz="2200">
                          <a:solidFill>
                            <a:schemeClr val="dk1"/>
                          </a:solidFill>
                          <a:latin typeface="Times New Roman"/>
                          <a:ea typeface="Times New Roman"/>
                          <a:cs typeface="Times New Roman"/>
                          <a:sym typeface="Times New Roman"/>
                        </a:rPr>
                        <a:t> thông nối tiếp</a:t>
                      </a:r>
                      <a:endParaRPr sz="22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200">
                          <a:solidFill>
                            <a:schemeClr val="dk1"/>
                          </a:solidFill>
                          <a:latin typeface="Times New Roman"/>
                          <a:ea typeface="Times New Roman"/>
                          <a:cs typeface="Times New Roman"/>
                          <a:sym typeface="Times New Roman"/>
                        </a:rPr>
                        <a:t>RI, TI</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45" name="Google Shape;1445;p14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0" st="0"/>
                                            </p:txEl>
                                          </p:spTgt>
                                        </p:tgtEl>
                                        <p:attrNameLst>
                                          <p:attrName>style.visibility</p:attrName>
                                        </p:attrNameLst>
                                      </p:cBhvr>
                                      <p:to>
                                        <p:strVal val="visible"/>
                                      </p:to>
                                    </p:set>
                                    <p:animEffect filter="fade" transition="in">
                                      <p:cBhvr>
                                        <p:cTn dur="1000"/>
                                        <p:tgtEl>
                                          <p:spTgt spid="14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1" st="1"/>
                                            </p:txEl>
                                          </p:spTgt>
                                        </p:tgtEl>
                                        <p:attrNameLst>
                                          <p:attrName>style.visibility</p:attrName>
                                        </p:attrNameLst>
                                      </p:cBhvr>
                                      <p:to>
                                        <p:strVal val="visible"/>
                                      </p:to>
                                    </p:set>
                                    <p:animEffect filter="fade" transition="in">
                                      <p:cBhvr>
                                        <p:cTn dur="1000"/>
                                        <p:tgtEl>
                                          <p:spTgt spid="14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2" st="2"/>
                                            </p:txEl>
                                          </p:spTgt>
                                        </p:tgtEl>
                                        <p:attrNameLst>
                                          <p:attrName>style.visibility</p:attrName>
                                        </p:attrNameLst>
                                      </p:cBhvr>
                                      <p:to>
                                        <p:strVal val="visible"/>
                                      </p:to>
                                    </p:set>
                                    <p:animEffect filter="fade" transition="in">
                                      <p:cBhvr>
                                        <p:cTn dur="1000"/>
                                        <p:tgtEl>
                                          <p:spTgt spid="14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3" st="3"/>
                                            </p:txEl>
                                          </p:spTgt>
                                        </p:tgtEl>
                                        <p:attrNameLst>
                                          <p:attrName>style.visibility</p:attrName>
                                        </p:attrNameLst>
                                      </p:cBhvr>
                                      <p:to>
                                        <p:strVal val="visible"/>
                                      </p:to>
                                    </p:set>
                                    <p:animEffect filter="fade" transition="in">
                                      <p:cBhvr>
                                        <p:cTn dur="1000"/>
                                        <p:tgtEl>
                                          <p:spTgt spid="14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4" st="4"/>
                                            </p:txEl>
                                          </p:spTgt>
                                        </p:tgtEl>
                                        <p:attrNameLst>
                                          <p:attrName>style.visibility</p:attrName>
                                        </p:attrNameLst>
                                      </p:cBhvr>
                                      <p:to>
                                        <p:strVal val="visible"/>
                                      </p:to>
                                    </p:set>
                                    <p:animEffect filter="fade" transition="in">
                                      <p:cBhvr>
                                        <p:cTn dur="1000"/>
                                        <p:tgtEl>
                                          <p:spTgt spid="14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5" st="5"/>
                                            </p:txEl>
                                          </p:spTgt>
                                        </p:tgtEl>
                                        <p:attrNameLst>
                                          <p:attrName>style.visibility</p:attrName>
                                        </p:attrNameLst>
                                      </p:cBhvr>
                                      <p:to>
                                        <p:strVal val="visible"/>
                                      </p:to>
                                    </p:set>
                                    <p:animEffect filter="fade" transition="in">
                                      <p:cBhvr>
                                        <p:cTn dur="1000"/>
                                        <p:tgtEl>
                                          <p:spTgt spid="14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6" st="6"/>
                                            </p:txEl>
                                          </p:spTgt>
                                        </p:tgtEl>
                                        <p:attrNameLst>
                                          <p:attrName>style.visibility</p:attrName>
                                        </p:attrNameLst>
                                      </p:cBhvr>
                                      <p:to>
                                        <p:strVal val="visible"/>
                                      </p:to>
                                    </p:set>
                                    <p:animEffect filter="fade" transition="in">
                                      <p:cBhvr>
                                        <p:cTn dur="1000"/>
                                        <p:tgtEl>
                                          <p:spTgt spid="14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7" st="7"/>
                                            </p:txEl>
                                          </p:spTgt>
                                        </p:tgtEl>
                                        <p:attrNameLst>
                                          <p:attrName>style.visibility</p:attrName>
                                        </p:attrNameLst>
                                      </p:cBhvr>
                                      <p:to>
                                        <p:strVal val="visible"/>
                                      </p:to>
                                    </p:set>
                                    <p:animEffect filter="fade" transition="in">
                                      <p:cBhvr>
                                        <p:cTn dur="1000"/>
                                        <p:tgtEl>
                                          <p:spTgt spid="14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8" st="8"/>
                                            </p:txEl>
                                          </p:spTgt>
                                        </p:tgtEl>
                                        <p:attrNameLst>
                                          <p:attrName>style.visibility</p:attrName>
                                        </p:attrNameLst>
                                      </p:cBhvr>
                                      <p:to>
                                        <p:strVal val="visible"/>
                                      </p:to>
                                    </p:set>
                                    <p:animEffect filter="fade" transition="in">
                                      <p:cBhvr>
                                        <p:cTn dur="1000"/>
                                        <p:tgtEl>
                                          <p:spTgt spid="14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9" st="9"/>
                                            </p:txEl>
                                          </p:spTgt>
                                        </p:tgtEl>
                                        <p:attrNameLst>
                                          <p:attrName>style.visibility</p:attrName>
                                        </p:attrNameLst>
                                      </p:cBhvr>
                                      <p:to>
                                        <p:strVal val="visible"/>
                                      </p:to>
                                    </p:set>
                                    <p:animEffect filter="fade" transition="in">
                                      <p:cBhvr>
                                        <p:cTn dur="1000"/>
                                        <p:tgtEl>
                                          <p:spTgt spid="144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10" st="10"/>
                                            </p:txEl>
                                          </p:spTgt>
                                        </p:tgtEl>
                                        <p:attrNameLst>
                                          <p:attrName>style.visibility</p:attrName>
                                        </p:attrNameLst>
                                      </p:cBhvr>
                                      <p:to>
                                        <p:strVal val="visible"/>
                                      </p:to>
                                    </p:set>
                                    <p:animEffect filter="fade" transition="in">
                                      <p:cBhvr>
                                        <p:cTn dur="1000"/>
                                        <p:tgtEl>
                                          <p:spTgt spid="144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3">
                                            <p:txEl>
                                              <p:pRg end="11" st="11"/>
                                            </p:txEl>
                                          </p:spTgt>
                                        </p:tgtEl>
                                        <p:attrNameLst>
                                          <p:attrName>style.visibility</p:attrName>
                                        </p:attrNameLst>
                                      </p:cBhvr>
                                      <p:to>
                                        <p:strVal val="visible"/>
                                      </p:to>
                                    </p:set>
                                    <p:animEffect filter="fade" transition="in">
                                      <p:cBhvr>
                                        <p:cTn dur="1000"/>
                                        <p:tgtEl>
                                          <p:spTgt spid="144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1000"/>
                                        <p:tgtEl>
                                          <p:spTgt spid="1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49"/>
          <p:cNvSpPr txBox="1"/>
          <p:nvPr/>
        </p:nvSpPr>
        <p:spPr>
          <a:xfrm>
            <a:off x="381000" y="685800"/>
            <a:ext cx="11353800" cy="59436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Noto Sans Symbols"/>
              <a:buChar char="❖"/>
            </a:pPr>
            <a:r>
              <a:rPr b="1" lang="en-US" sz="2400">
                <a:solidFill>
                  <a:schemeClr val="dk1"/>
                </a:solidFill>
                <a:latin typeface="Times New Roman"/>
                <a:ea typeface="Times New Roman"/>
                <a:cs typeface="Times New Roman"/>
                <a:sym typeface="Times New Roman"/>
              </a:rPr>
              <a:t>Thiết lập mức ưu tiên ngắt sử dụng thanh ghi IP</a:t>
            </a:r>
            <a:endParaRPr/>
          </a:p>
          <a:p>
            <a:pPr indent="-203200" lvl="0" marL="342900" marR="0" rtl="0" algn="just">
              <a:spcBef>
                <a:spcPts val="440"/>
              </a:spcBef>
              <a:spcAft>
                <a:spcPts val="0"/>
              </a:spcAft>
              <a:buClr>
                <a:schemeClr val="dk1"/>
              </a:buClr>
              <a:buSzPts val="2200"/>
              <a:buFont typeface="Arial"/>
              <a:buNone/>
            </a:pPr>
            <a:r>
              <a:t/>
            </a:r>
            <a:endParaRPr b="1" sz="2200">
              <a:solidFill>
                <a:schemeClr val="dk1"/>
              </a:solidFill>
              <a:latin typeface="Times New Roman"/>
              <a:ea typeface="Times New Roman"/>
              <a:cs typeface="Times New Roman"/>
              <a:sym typeface="Times New Roman"/>
            </a:endParaRPr>
          </a:p>
          <a:p>
            <a:pPr indent="-203200" lvl="0" marL="342900" marR="0" rtl="0" algn="just">
              <a:spcBef>
                <a:spcPts val="440"/>
              </a:spcBef>
              <a:spcAft>
                <a:spcPts val="0"/>
              </a:spcAft>
              <a:buClr>
                <a:schemeClr val="dk1"/>
              </a:buClr>
              <a:buSzPts val="2200"/>
              <a:buFont typeface="Arial"/>
              <a:buNone/>
            </a:pPr>
            <a:r>
              <a:t/>
            </a:r>
            <a:endParaRPr b="1" sz="2200">
              <a:solidFill>
                <a:schemeClr val="dk1"/>
              </a:solidFill>
              <a:latin typeface="Times New Roman"/>
              <a:ea typeface="Times New Roman"/>
              <a:cs typeface="Times New Roman"/>
              <a:sym typeface="Times New Roman"/>
            </a:endParaRPr>
          </a:p>
          <a:p>
            <a:pPr indent="-203200" lvl="0" marL="342900" marR="0" rtl="0" algn="just">
              <a:spcBef>
                <a:spcPts val="440"/>
              </a:spcBef>
              <a:spcAft>
                <a:spcPts val="0"/>
              </a:spcAft>
              <a:buClr>
                <a:schemeClr val="dk1"/>
              </a:buClr>
              <a:buSzPts val="2200"/>
              <a:buFont typeface="Arial"/>
              <a:buNone/>
            </a:pPr>
            <a:r>
              <a:t/>
            </a:r>
            <a:endParaRPr b="1" sz="22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rPr i="1" lang="en-US" sz="2400">
                <a:solidFill>
                  <a:schemeClr val="dk1"/>
                </a:solidFill>
                <a:latin typeface="Times New Roman"/>
                <a:ea typeface="Times New Roman"/>
                <a:cs typeface="Times New Roman"/>
                <a:sym typeface="Times New Roman"/>
              </a:rPr>
              <a:t>Hình 4.3. Thanh ghi IP</a:t>
            </a:r>
            <a:endParaRPr/>
          </a:p>
          <a:p>
            <a:pPr indent="0" lvl="0" marL="0" marR="0" rtl="0" algn="just">
              <a:spcBef>
                <a:spcPts val="440"/>
              </a:spcBef>
              <a:spcAft>
                <a:spcPts val="0"/>
              </a:spcAft>
              <a:buClr>
                <a:schemeClr val="dk1"/>
              </a:buClr>
              <a:buSzPts val="2200"/>
              <a:buFont typeface="Arial"/>
              <a:buNone/>
            </a:pPr>
            <a:r>
              <a:t/>
            </a:r>
            <a:endParaRPr b="1" sz="2200">
              <a:solidFill>
                <a:schemeClr val="dk1"/>
              </a:solidFill>
              <a:latin typeface="Times New Roman"/>
              <a:ea typeface="Times New Roman"/>
              <a:cs typeface="Times New Roman"/>
              <a:sym typeface="Times New Roman"/>
            </a:endParaRPr>
          </a:p>
          <a:p>
            <a:pPr indent="0" lvl="0" marL="0" marR="0" rtl="0" algn="just">
              <a:spcBef>
                <a:spcPts val="480"/>
              </a:spcBef>
              <a:spcAft>
                <a:spcPts val="0"/>
              </a:spcAft>
              <a:buClr>
                <a:schemeClr val="dk1"/>
              </a:buClr>
              <a:buSzPts val="2400"/>
              <a:buFont typeface="Arial"/>
              <a:buNone/>
            </a:pPr>
            <a:r>
              <a:t/>
            </a:r>
            <a:endParaRPr b="1" sz="2400">
              <a:solidFill>
                <a:srgbClr val="C00000"/>
              </a:solidFill>
              <a:latin typeface="Times New Roman"/>
              <a:ea typeface="Times New Roman"/>
              <a:cs typeface="Times New Roman"/>
              <a:sym typeface="Times New Roman"/>
            </a:endParaRPr>
          </a:p>
        </p:txBody>
      </p:sp>
      <p:pic>
        <p:nvPicPr>
          <p:cNvPr id="1452" name="Google Shape;1452;p149"/>
          <p:cNvPicPr preferRelativeResize="0"/>
          <p:nvPr/>
        </p:nvPicPr>
        <p:blipFill rotWithShape="1">
          <a:blip r:embed="rId3">
            <a:alphaModFix/>
          </a:blip>
          <a:srcRect b="0" l="0" r="0" t="0"/>
          <a:stretch/>
        </p:blipFill>
        <p:spPr>
          <a:xfrm>
            <a:off x="2790060" y="1371600"/>
            <a:ext cx="6535680" cy="990600"/>
          </a:xfrm>
          <a:prstGeom prst="rect">
            <a:avLst/>
          </a:prstGeom>
          <a:noFill/>
          <a:ln>
            <a:noFill/>
          </a:ln>
        </p:spPr>
      </p:pic>
      <p:graphicFrame>
        <p:nvGraphicFramePr>
          <p:cNvPr id="1453" name="Google Shape;1453;p149"/>
          <p:cNvGraphicFramePr/>
          <p:nvPr/>
        </p:nvGraphicFramePr>
        <p:xfrm>
          <a:off x="2133600" y="2895600"/>
          <a:ext cx="3000000" cy="3000000"/>
        </p:xfrm>
        <a:graphic>
          <a:graphicData uri="http://schemas.openxmlformats.org/drawingml/2006/table">
            <a:tbl>
              <a:tblPr bandRow="1" firstRow="1">
                <a:noFill/>
                <a:tableStyleId>{A4A541D9-23D5-4180-BFA4-B58C0BD4C685}</a:tableStyleId>
              </a:tblPr>
              <a:tblGrid>
                <a:gridCol w="1146800"/>
                <a:gridCol w="840100"/>
                <a:gridCol w="5480675"/>
              </a:tblGrid>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Dự trữ</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Dự trữ</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PT2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Bit ưu tiên</a:t>
                      </a:r>
                      <a:r>
                        <a:rPr b="0" lang="en-US" sz="2400">
                          <a:solidFill>
                            <a:schemeClr val="dk1"/>
                          </a:solidFill>
                          <a:latin typeface="Times New Roman"/>
                          <a:ea typeface="Times New Roman"/>
                          <a:cs typeface="Times New Roman"/>
                          <a:sym typeface="Times New Roman"/>
                        </a:rPr>
                        <a:t> ngắt Timer2 (dùng cho 8052)</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PS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Bit ưu tiên</a:t>
                      </a:r>
                      <a:r>
                        <a:rPr b="0" lang="en-US" sz="2400">
                          <a:solidFill>
                            <a:schemeClr val="dk1"/>
                          </a:solidFill>
                          <a:latin typeface="Times New Roman"/>
                          <a:ea typeface="Times New Roman"/>
                          <a:cs typeface="Times New Roman"/>
                          <a:sym typeface="Times New Roman"/>
                        </a:rPr>
                        <a:t> ngắt cổng nối tiếp</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PT1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Bit ưu tiên</a:t>
                      </a:r>
                      <a:r>
                        <a:rPr b="0" lang="en-US" sz="2400">
                          <a:solidFill>
                            <a:schemeClr val="dk1"/>
                          </a:solidFill>
                          <a:latin typeface="Times New Roman"/>
                          <a:ea typeface="Times New Roman"/>
                          <a:cs typeface="Times New Roman"/>
                          <a:sym typeface="Times New Roman"/>
                        </a:rPr>
                        <a:t> ngắt Timer1</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PX1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Bit ưu tiên</a:t>
                      </a:r>
                      <a:r>
                        <a:rPr b="0" lang="en-US" sz="2400">
                          <a:solidFill>
                            <a:schemeClr val="dk1"/>
                          </a:solidFill>
                          <a:latin typeface="Times New Roman"/>
                          <a:ea typeface="Times New Roman"/>
                          <a:cs typeface="Times New Roman"/>
                          <a:sym typeface="Times New Roman"/>
                        </a:rPr>
                        <a:t> ngắt ngoài 1</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PT0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Bit ưu tiên</a:t>
                      </a:r>
                      <a:r>
                        <a:rPr b="0" lang="en-US" sz="2400">
                          <a:solidFill>
                            <a:schemeClr val="dk1"/>
                          </a:solidFill>
                          <a:latin typeface="Times New Roman"/>
                          <a:ea typeface="Times New Roman"/>
                          <a:cs typeface="Times New Roman"/>
                          <a:sym typeface="Times New Roman"/>
                        </a:rPr>
                        <a:t> ngắt Timer0</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PX0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IP.0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US" sz="2400">
                          <a:solidFill>
                            <a:schemeClr val="dk1"/>
                          </a:solidFill>
                          <a:latin typeface="Times New Roman"/>
                          <a:ea typeface="Times New Roman"/>
                          <a:cs typeface="Times New Roman"/>
                          <a:sym typeface="Times New Roman"/>
                        </a:rPr>
                        <a:t>Bit ưu tiên</a:t>
                      </a:r>
                      <a:r>
                        <a:rPr b="0" lang="en-US" sz="2400">
                          <a:solidFill>
                            <a:schemeClr val="dk1"/>
                          </a:solidFill>
                          <a:latin typeface="Times New Roman"/>
                          <a:ea typeface="Times New Roman"/>
                          <a:cs typeface="Times New Roman"/>
                          <a:sym typeface="Times New Roman"/>
                        </a:rPr>
                        <a:t> ngắt ngoài 0</a:t>
                      </a:r>
                      <a:endParaRPr b="0" sz="2400">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54" name="Google Shape;1454;p149"/>
          <p:cNvSpPr txBox="1"/>
          <p:nvPr>
            <p:ph type="title"/>
          </p:nvPr>
        </p:nvSpPr>
        <p:spPr>
          <a:xfrm>
            <a:off x="381000" y="76200"/>
            <a:ext cx="109728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Mức ưu tiên ngắt của 8051 (2)</a:t>
            </a:r>
            <a:endParaRPr b="1" sz="3600">
              <a:solidFill>
                <a:srgbClr val="002060"/>
              </a:solidFill>
              <a:latin typeface="Times New Roman"/>
              <a:ea typeface="Times New Roman"/>
              <a:cs typeface="Times New Roman"/>
              <a:sym typeface="Times New Roman"/>
            </a:endParaRPr>
          </a:p>
        </p:txBody>
      </p:sp>
      <p:sp>
        <p:nvSpPr>
          <p:cNvPr id="1455" name="Google Shape;1455;p14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p150"/>
          <p:cNvSpPr txBox="1"/>
          <p:nvPr/>
        </p:nvSpPr>
        <p:spPr>
          <a:xfrm>
            <a:off x="381000" y="1295400"/>
            <a:ext cx="11430000" cy="50292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800"/>
              <a:buFont typeface="Noto Sans Symbols"/>
              <a:buChar char="❖"/>
            </a:pPr>
            <a:r>
              <a:rPr b="1" lang="en-US" sz="2800">
                <a:solidFill>
                  <a:schemeClr val="dk1"/>
                </a:solidFill>
                <a:latin typeface="Times New Roman"/>
                <a:ea typeface="Times New Roman"/>
                <a:cs typeface="Times New Roman"/>
                <a:sym typeface="Times New Roman"/>
              </a:rPr>
              <a:t>Thiết lập mức ưu tiên ngắt sử dụng thanh ghi IP, ví dụ:</a:t>
            </a:r>
            <a:endParaRPr/>
          </a:p>
          <a:p>
            <a:pPr indent="-457200" lvl="0" marL="457200" marR="0" rtl="0" algn="just">
              <a:spcBef>
                <a:spcPts val="1200"/>
              </a:spcBef>
              <a:spcAft>
                <a:spcPts val="0"/>
              </a:spcAft>
              <a:buClr>
                <a:schemeClr val="dk1"/>
              </a:buClr>
              <a:buSzPts val="2800"/>
              <a:buFont typeface="Arial"/>
              <a:buAutoNum type="alphaLcParenR"/>
            </a:pPr>
            <a:r>
              <a:rPr lang="en-US" sz="2800">
                <a:solidFill>
                  <a:schemeClr val="dk1"/>
                </a:solidFill>
                <a:latin typeface="Times New Roman"/>
                <a:ea typeface="Times New Roman"/>
                <a:cs typeface="Times New Roman"/>
                <a:sym typeface="Times New Roman"/>
              </a:rPr>
              <a:t>Lập trình thanh ghi IP để gán mức ưu tiên cao nhất cho ngắt INT1</a:t>
            </a:r>
            <a:endParaRPr/>
          </a:p>
          <a:p>
            <a:pPr indent="-457200" lvl="0" marL="457200" marR="0" rtl="0" algn="just">
              <a:spcBef>
                <a:spcPts val="1200"/>
              </a:spcBef>
              <a:spcAft>
                <a:spcPts val="0"/>
              </a:spcAft>
              <a:buClr>
                <a:schemeClr val="dk1"/>
              </a:buClr>
              <a:buSzPts val="2800"/>
              <a:buFont typeface="Arial"/>
              <a:buAutoNum type="alphaLcParenR"/>
            </a:pPr>
            <a:r>
              <a:rPr lang="en-US" sz="2800">
                <a:solidFill>
                  <a:schemeClr val="dk1"/>
                </a:solidFill>
                <a:latin typeface="Times New Roman"/>
                <a:ea typeface="Times New Roman"/>
                <a:cs typeface="Times New Roman"/>
                <a:sym typeface="Times New Roman"/>
              </a:rPr>
              <a:t>Phân tích điều gì xảy ra khi INT0, INT1 và TF0 được kích hoạt cùng một lúc. Giả thiết tất cả các ngắt đề có tác động ngắt theo sườn</a:t>
            </a:r>
            <a:endParaRPr sz="2800">
              <a:solidFill>
                <a:schemeClr val="dk1"/>
              </a:solidFill>
              <a:latin typeface="Times New Roman"/>
              <a:ea typeface="Times New Roman"/>
              <a:cs typeface="Times New Roman"/>
              <a:sym typeface="Times New Roman"/>
            </a:endParaRPr>
          </a:p>
          <a:p>
            <a:pPr indent="0" lvl="0" marL="0" marR="0" rtl="0" algn="just">
              <a:spcBef>
                <a:spcPts val="1200"/>
              </a:spcBef>
              <a:spcAft>
                <a:spcPts val="0"/>
              </a:spcAft>
              <a:buClr>
                <a:schemeClr val="dk1"/>
              </a:buClr>
              <a:buSzPts val="2800"/>
              <a:buFont typeface="Arial"/>
              <a:buNone/>
            </a:pPr>
            <a:r>
              <a:rPr b="1" lang="en-US" sz="2800">
                <a:solidFill>
                  <a:schemeClr val="dk1"/>
                </a:solidFill>
                <a:latin typeface="Times New Roman"/>
                <a:ea typeface="Times New Roman"/>
                <a:cs typeface="Times New Roman"/>
                <a:sym typeface="Times New Roman"/>
              </a:rPr>
              <a:t>Giải:</a:t>
            </a:r>
            <a:endParaRPr/>
          </a:p>
          <a:p>
            <a:pPr indent="-457200" lvl="0" marL="457200" marR="0" rtl="0" algn="just">
              <a:spcBef>
                <a:spcPts val="1200"/>
              </a:spcBef>
              <a:spcAft>
                <a:spcPts val="0"/>
              </a:spcAft>
              <a:buClr>
                <a:schemeClr val="dk1"/>
              </a:buClr>
              <a:buSzPts val="2800"/>
              <a:buFont typeface="Arial"/>
              <a:buAutoNum type="alphaLcParenR"/>
            </a:pPr>
            <a:r>
              <a:rPr lang="en-US" sz="2800">
                <a:solidFill>
                  <a:schemeClr val="dk1"/>
                </a:solidFill>
                <a:latin typeface="Times New Roman"/>
                <a:ea typeface="Times New Roman"/>
                <a:cs typeface="Times New Roman"/>
                <a:sym typeface="Times New Roman"/>
              </a:rPr>
              <a:t>MOV  IP, #00000100B   ; đặt IP.2=1 để INT1 có mức ưu tiên cao hơn</a:t>
            </a:r>
            <a:endParaRPr sz="2800">
              <a:solidFill>
                <a:schemeClr val="dk1"/>
              </a:solidFill>
              <a:latin typeface="Times New Roman"/>
              <a:ea typeface="Times New Roman"/>
              <a:cs typeface="Times New Roman"/>
              <a:sym typeface="Times New Roman"/>
            </a:endParaRPr>
          </a:p>
          <a:p>
            <a:pPr indent="0" lvl="0" marL="0" marR="0" rtl="0" algn="just">
              <a:spcBef>
                <a:spcPts val="120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			       	    ; tương đương lệnh “SETB  IP.2”</a:t>
            </a:r>
            <a:endParaRPr/>
          </a:p>
          <a:p>
            <a:pPr indent="0" lvl="0" marL="0" marR="0" rtl="0" algn="just">
              <a:spcBef>
                <a:spcPts val="120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b) INT1 được gán mức ưu tiên cao hơn, do vậy khi INT0, INT1 và TF0 cùng kích hoạt thì thứ tự được đáp ứng: INT1, INT0, TF0</a:t>
            </a:r>
            <a:endParaRPr/>
          </a:p>
          <a:p>
            <a:pPr indent="-165100" lvl="0" marL="342900" marR="0" rtl="0" algn="just">
              <a:spcBef>
                <a:spcPts val="1200"/>
              </a:spcBef>
              <a:spcAft>
                <a:spcPts val="0"/>
              </a:spcAft>
              <a:buClr>
                <a:schemeClr val="dk1"/>
              </a:buClr>
              <a:buSzPts val="2800"/>
              <a:buFont typeface="Arial"/>
              <a:buNone/>
            </a:pPr>
            <a:r>
              <a:t/>
            </a:r>
            <a:endParaRPr b="1" sz="2800">
              <a:solidFill>
                <a:schemeClr val="dk1"/>
              </a:solidFill>
              <a:latin typeface="Times New Roman"/>
              <a:ea typeface="Times New Roman"/>
              <a:cs typeface="Times New Roman"/>
              <a:sym typeface="Times New Roman"/>
            </a:endParaRPr>
          </a:p>
          <a:p>
            <a:pPr indent="-165100" lvl="0" marL="342900" marR="0" rtl="0" algn="just">
              <a:spcBef>
                <a:spcPts val="1200"/>
              </a:spcBef>
              <a:spcAft>
                <a:spcPts val="0"/>
              </a:spcAft>
              <a:buClr>
                <a:schemeClr val="dk1"/>
              </a:buClr>
              <a:buSzPts val="2800"/>
              <a:buFont typeface="Arial"/>
              <a:buNone/>
            </a:pPr>
            <a:r>
              <a:t/>
            </a:r>
            <a:endParaRPr b="1" sz="2800">
              <a:solidFill>
                <a:schemeClr val="dk1"/>
              </a:solidFill>
              <a:latin typeface="Times New Roman"/>
              <a:ea typeface="Times New Roman"/>
              <a:cs typeface="Times New Roman"/>
              <a:sym typeface="Times New Roman"/>
            </a:endParaRPr>
          </a:p>
          <a:p>
            <a:pPr indent="0" lvl="0" marL="0" marR="0" rtl="0" algn="just">
              <a:spcBef>
                <a:spcPts val="1200"/>
              </a:spcBef>
              <a:spcAft>
                <a:spcPts val="0"/>
              </a:spcAft>
              <a:buClr>
                <a:schemeClr val="dk1"/>
              </a:buClr>
              <a:buSzPts val="2800"/>
              <a:buFont typeface="Arial"/>
              <a:buNone/>
            </a:pPr>
            <a:r>
              <a:t/>
            </a:r>
            <a:endParaRPr b="1" sz="2800">
              <a:solidFill>
                <a:schemeClr val="dk1"/>
              </a:solidFill>
              <a:latin typeface="Times New Roman"/>
              <a:ea typeface="Times New Roman"/>
              <a:cs typeface="Times New Roman"/>
              <a:sym typeface="Times New Roman"/>
            </a:endParaRPr>
          </a:p>
          <a:p>
            <a:pPr indent="0" lvl="0" marL="0" marR="0" rtl="0" algn="just">
              <a:spcBef>
                <a:spcPts val="1200"/>
              </a:spcBef>
              <a:spcAft>
                <a:spcPts val="0"/>
              </a:spcAft>
              <a:buClr>
                <a:schemeClr val="dk1"/>
              </a:buClr>
              <a:buSzPts val="2800"/>
              <a:buFont typeface="Arial"/>
              <a:buNone/>
            </a:pPr>
            <a:r>
              <a:t/>
            </a:r>
            <a:endParaRPr b="1" sz="2800">
              <a:solidFill>
                <a:srgbClr val="C00000"/>
              </a:solidFill>
              <a:latin typeface="Times New Roman"/>
              <a:ea typeface="Times New Roman"/>
              <a:cs typeface="Times New Roman"/>
              <a:sym typeface="Times New Roman"/>
            </a:endParaRPr>
          </a:p>
        </p:txBody>
      </p:sp>
      <p:sp>
        <p:nvSpPr>
          <p:cNvPr id="1462" name="Google Shape;1462;p150"/>
          <p:cNvSpPr txBox="1"/>
          <p:nvPr>
            <p:ph type="title"/>
          </p:nvPr>
        </p:nvSpPr>
        <p:spPr>
          <a:xfrm>
            <a:off x="381000" y="76200"/>
            <a:ext cx="109728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4.2. Tổ chức ngắt của 8051 </a:t>
            </a:r>
            <a:r>
              <a:rPr b="1" lang="en-US" sz="3600">
                <a:solidFill>
                  <a:srgbClr val="C00000"/>
                </a:solidFill>
                <a:latin typeface="Times New Roman"/>
                <a:ea typeface="Times New Roman"/>
                <a:cs typeface="Times New Roman"/>
                <a:sym typeface="Times New Roman"/>
              </a:rPr>
              <a:t>- Mức ưu tiên ngắt của 8051 (3)</a:t>
            </a:r>
            <a:endParaRPr b="1" sz="3600">
              <a:solidFill>
                <a:srgbClr val="002060"/>
              </a:solidFill>
              <a:latin typeface="Times New Roman"/>
              <a:ea typeface="Times New Roman"/>
              <a:cs typeface="Times New Roman"/>
              <a:sym typeface="Times New Roman"/>
            </a:endParaRPr>
          </a:p>
        </p:txBody>
      </p:sp>
      <p:sp>
        <p:nvSpPr>
          <p:cNvPr id="1463" name="Google Shape;1463;p15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0" st="0"/>
                                            </p:txEl>
                                          </p:spTgt>
                                        </p:tgtEl>
                                        <p:attrNameLst>
                                          <p:attrName>style.visibility</p:attrName>
                                        </p:attrNameLst>
                                      </p:cBhvr>
                                      <p:to>
                                        <p:strVal val="visible"/>
                                      </p:to>
                                    </p:set>
                                    <p:animEffect filter="fade" transition="in">
                                      <p:cBhvr>
                                        <p:cTn dur="1000"/>
                                        <p:tgtEl>
                                          <p:spTgt spid="14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1" st="1"/>
                                            </p:txEl>
                                          </p:spTgt>
                                        </p:tgtEl>
                                        <p:attrNameLst>
                                          <p:attrName>style.visibility</p:attrName>
                                        </p:attrNameLst>
                                      </p:cBhvr>
                                      <p:to>
                                        <p:strVal val="visible"/>
                                      </p:to>
                                    </p:set>
                                    <p:animEffect filter="fade" transition="in">
                                      <p:cBhvr>
                                        <p:cTn dur="1000"/>
                                        <p:tgtEl>
                                          <p:spTgt spid="14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2" st="2"/>
                                            </p:txEl>
                                          </p:spTgt>
                                        </p:tgtEl>
                                        <p:attrNameLst>
                                          <p:attrName>style.visibility</p:attrName>
                                        </p:attrNameLst>
                                      </p:cBhvr>
                                      <p:to>
                                        <p:strVal val="visible"/>
                                      </p:to>
                                    </p:set>
                                    <p:animEffect filter="fade" transition="in">
                                      <p:cBhvr>
                                        <p:cTn dur="1000"/>
                                        <p:tgtEl>
                                          <p:spTgt spid="14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3" st="3"/>
                                            </p:txEl>
                                          </p:spTgt>
                                        </p:tgtEl>
                                        <p:attrNameLst>
                                          <p:attrName>style.visibility</p:attrName>
                                        </p:attrNameLst>
                                      </p:cBhvr>
                                      <p:to>
                                        <p:strVal val="visible"/>
                                      </p:to>
                                    </p:set>
                                    <p:animEffect filter="fade" transition="in">
                                      <p:cBhvr>
                                        <p:cTn dur="1000"/>
                                        <p:tgtEl>
                                          <p:spTgt spid="14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4" st="4"/>
                                            </p:txEl>
                                          </p:spTgt>
                                        </p:tgtEl>
                                        <p:attrNameLst>
                                          <p:attrName>style.visibility</p:attrName>
                                        </p:attrNameLst>
                                      </p:cBhvr>
                                      <p:to>
                                        <p:strVal val="visible"/>
                                      </p:to>
                                    </p:set>
                                    <p:animEffect filter="fade" transition="in">
                                      <p:cBhvr>
                                        <p:cTn dur="1000"/>
                                        <p:tgtEl>
                                          <p:spTgt spid="14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5" st="5"/>
                                            </p:txEl>
                                          </p:spTgt>
                                        </p:tgtEl>
                                        <p:attrNameLst>
                                          <p:attrName>style.visibility</p:attrName>
                                        </p:attrNameLst>
                                      </p:cBhvr>
                                      <p:to>
                                        <p:strVal val="visible"/>
                                      </p:to>
                                    </p:set>
                                    <p:animEffect filter="fade" transition="in">
                                      <p:cBhvr>
                                        <p:cTn dur="1000"/>
                                        <p:tgtEl>
                                          <p:spTgt spid="14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6" st="6"/>
                                            </p:txEl>
                                          </p:spTgt>
                                        </p:tgtEl>
                                        <p:attrNameLst>
                                          <p:attrName>style.visibility</p:attrName>
                                        </p:attrNameLst>
                                      </p:cBhvr>
                                      <p:to>
                                        <p:strVal val="visible"/>
                                      </p:to>
                                    </p:set>
                                    <p:animEffect filter="fade" transition="in">
                                      <p:cBhvr>
                                        <p:cTn dur="1000"/>
                                        <p:tgtEl>
                                          <p:spTgt spid="14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7" st="7"/>
                                            </p:txEl>
                                          </p:spTgt>
                                        </p:tgtEl>
                                        <p:attrNameLst>
                                          <p:attrName>style.visibility</p:attrName>
                                        </p:attrNameLst>
                                      </p:cBhvr>
                                      <p:to>
                                        <p:strVal val="visible"/>
                                      </p:to>
                                    </p:set>
                                    <p:animEffect filter="fade" transition="in">
                                      <p:cBhvr>
                                        <p:cTn dur="1000"/>
                                        <p:tgtEl>
                                          <p:spTgt spid="14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8" st="8"/>
                                            </p:txEl>
                                          </p:spTgt>
                                        </p:tgtEl>
                                        <p:attrNameLst>
                                          <p:attrName>style.visibility</p:attrName>
                                        </p:attrNameLst>
                                      </p:cBhvr>
                                      <p:to>
                                        <p:strVal val="visible"/>
                                      </p:to>
                                    </p:set>
                                    <p:animEffect filter="fade" transition="in">
                                      <p:cBhvr>
                                        <p:cTn dur="1000"/>
                                        <p:tgtEl>
                                          <p:spTgt spid="14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9" st="9"/>
                                            </p:txEl>
                                          </p:spTgt>
                                        </p:tgtEl>
                                        <p:attrNameLst>
                                          <p:attrName>style.visibility</p:attrName>
                                        </p:attrNameLst>
                                      </p:cBhvr>
                                      <p:to>
                                        <p:strVal val="visible"/>
                                      </p:to>
                                    </p:set>
                                    <p:animEffect filter="fade" transition="in">
                                      <p:cBhvr>
                                        <p:cTn dur="1000"/>
                                        <p:tgtEl>
                                          <p:spTgt spid="14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xEl>
                                              <p:pRg end="10" st="10"/>
                                            </p:txEl>
                                          </p:spTgt>
                                        </p:tgtEl>
                                        <p:attrNameLst>
                                          <p:attrName>style.visibility</p:attrName>
                                        </p:attrNameLst>
                                      </p:cBhvr>
                                      <p:to>
                                        <p:strVal val="visible"/>
                                      </p:to>
                                    </p:set>
                                    <p:animEffect filter="fade" transition="in">
                                      <p:cBhvr>
                                        <p:cTn dur="1000"/>
                                        <p:tgtEl>
                                          <p:spTgt spid="146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51"/>
          <p:cNvSpPr txBox="1"/>
          <p:nvPr>
            <p:ph type="title"/>
          </p:nvPr>
        </p:nvSpPr>
        <p:spPr>
          <a:xfrm>
            <a:off x="152400" y="91768"/>
            <a:ext cx="11887200" cy="487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2060"/>
              </a:buClr>
              <a:buSzPts val="2800"/>
              <a:buFont typeface="Times New Roman"/>
              <a:buNone/>
            </a:pPr>
            <a:r>
              <a:rPr b="1" lang="en-US" sz="2800">
                <a:solidFill>
                  <a:srgbClr val="002060"/>
                </a:solidFill>
                <a:latin typeface="Times New Roman"/>
                <a:ea typeface="Times New Roman"/>
                <a:cs typeface="Times New Roman"/>
                <a:sym typeface="Times New Roman"/>
              </a:rPr>
              <a:t>4.3. Lập trình ngắt bộ định thời </a:t>
            </a:r>
            <a:r>
              <a:rPr b="1" lang="en-US" sz="2800">
                <a:solidFill>
                  <a:srgbClr val="C00000"/>
                </a:solidFill>
                <a:latin typeface="Times New Roman"/>
                <a:ea typeface="Times New Roman"/>
                <a:cs typeface="Times New Roman"/>
                <a:sym typeface="Times New Roman"/>
              </a:rPr>
              <a:t>- Các bước lập trình ngắt bộ định thời</a:t>
            </a:r>
            <a:endParaRPr b="1" sz="2800">
              <a:solidFill>
                <a:srgbClr val="C00000"/>
              </a:solidFill>
              <a:latin typeface="Times New Roman"/>
              <a:ea typeface="Times New Roman"/>
              <a:cs typeface="Times New Roman"/>
              <a:sym typeface="Times New Roman"/>
            </a:endParaRPr>
          </a:p>
        </p:txBody>
      </p:sp>
      <p:sp>
        <p:nvSpPr>
          <p:cNvPr id="1469" name="Google Shape;1469;p151"/>
          <p:cNvSpPr txBox="1"/>
          <p:nvPr>
            <p:ph idx="1" type="body"/>
          </p:nvPr>
        </p:nvSpPr>
        <p:spPr>
          <a:xfrm>
            <a:off x="152400" y="1143000"/>
            <a:ext cx="11887200" cy="5169416"/>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Lập bit IE.7 (EA) cho phép các ngắt</a:t>
            </a:r>
            <a:endParaRPr sz="2800">
              <a:latin typeface="Times New Roman"/>
              <a:ea typeface="Times New Roman"/>
              <a:cs typeface="Times New Roman"/>
              <a:sym typeface="Times New Roman"/>
            </a:endParaRPr>
          </a:p>
          <a:p>
            <a:pPr indent="-342900" lvl="0" marL="342900" rtl="0" algn="just">
              <a:spcBef>
                <a:spcPts val="120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Lập bit cho phép ngắt bộ định thời IE.1 (ET0) đối với Timer 0, IE.3 (ET1) đối với Timer 1</a:t>
            </a:r>
            <a:endParaRPr/>
          </a:p>
          <a:p>
            <a:pPr indent="-342900" lvl="0" marL="342900" rtl="0" algn="just">
              <a:spcBef>
                <a:spcPts val="1200"/>
              </a:spcBef>
              <a:spcAft>
                <a:spcPts val="0"/>
              </a:spcAft>
              <a:buClr>
                <a:schemeClr val="dk1"/>
              </a:buClr>
              <a:buSzPts val="2800"/>
              <a:buFont typeface="Times New Roman"/>
              <a:buChar char="-"/>
            </a:pPr>
            <a:r>
              <a:rPr lang="en-US" sz="2800">
                <a:latin typeface="Times New Roman"/>
                <a:ea typeface="Times New Roman"/>
                <a:cs typeface="Times New Roman"/>
                <a:sym typeface="Times New Roman"/>
              </a:rPr>
              <a:t>Khi bộ định thời quay trở về 0, cờ TF được lập bằng 1, bộ VĐK sẽ ngừng chương trình chính đang thực hiện và nhảy tới địa chỉ  000Bh (Vector ngắt Timer 0), 001Bh (Vector ngắt Timer 1) để thực hiện trình điều khiển ngắt (ISR)</a:t>
            </a:r>
            <a:endParaRPr/>
          </a:p>
          <a:p>
            <a:pPr indent="0" lvl="0" marL="0" rtl="0" algn="just">
              <a:spcBef>
                <a:spcPts val="1200"/>
              </a:spcBef>
              <a:spcAft>
                <a:spcPts val="0"/>
              </a:spcAft>
              <a:buClr>
                <a:schemeClr val="dk1"/>
              </a:buClr>
              <a:buSzPts val="2800"/>
              <a:buNone/>
            </a:pPr>
            <a:r>
              <a:rPr b="1" lang="en-US" sz="2800">
                <a:latin typeface="Times New Roman"/>
                <a:ea typeface="Times New Roman"/>
                <a:cs typeface="Times New Roman"/>
                <a:sym typeface="Times New Roman"/>
              </a:rPr>
              <a:t> </a:t>
            </a:r>
            <a:endParaRPr/>
          </a:p>
          <a:p>
            <a:pPr indent="0" lvl="0" marL="0" rtl="0" algn="just">
              <a:spcBef>
                <a:spcPts val="1080"/>
              </a:spcBef>
              <a:spcAft>
                <a:spcPts val="0"/>
              </a:spcAft>
              <a:buClr>
                <a:schemeClr val="dk1"/>
              </a:buClr>
              <a:buSzPts val="2400"/>
              <a:buNone/>
            </a:pPr>
            <a:r>
              <a:t/>
            </a:r>
            <a:endParaRPr b="1" sz="2400">
              <a:latin typeface="Times New Roman"/>
              <a:ea typeface="Times New Roman"/>
              <a:cs typeface="Times New Roman"/>
              <a:sym typeface="Times New Roman"/>
            </a:endParaRPr>
          </a:p>
        </p:txBody>
      </p:sp>
      <p:grpSp>
        <p:nvGrpSpPr>
          <p:cNvPr id="1470" name="Google Shape;1470;p151"/>
          <p:cNvGrpSpPr/>
          <p:nvPr/>
        </p:nvGrpSpPr>
        <p:grpSpPr>
          <a:xfrm>
            <a:off x="2219325" y="4627204"/>
            <a:ext cx="7753350" cy="1573052"/>
            <a:chOff x="695325" y="4627204"/>
            <a:chExt cx="7753350" cy="1573052"/>
          </a:xfrm>
        </p:grpSpPr>
        <p:sp>
          <p:nvSpPr>
            <p:cNvPr id="1471" name="Google Shape;1471;p151"/>
            <p:cNvSpPr txBox="1"/>
            <p:nvPr/>
          </p:nvSpPr>
          <p:spPr>
            <a:xfrm>
              <a:off x="1798411" y="4627204"/>
              <a:ext cx="24003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Vector ngắt Timer 0</a:t>
              </a:r>
              <a:endParaRPr/>
            </a:p>
          </p:txBody>
        </p:sp>
        <p:grpSp>
          <p:nvGrpSpPr>
            <p:cNvPr id="1472" name="Google Shape;1472;p151"/>
            <p:cNvGrpSpPr/>
            <p:nvPr/>
          </p:nvGrpSpPr>
          <p:grpSpPr>
            <a:xfrm>
              <a:off x="695325" y="4686085"/>
              <a:ext cx="7753350" cy="1514171"/>
              <a:chOff x="609600" y="4303282"/>
              <a:chExt cx="7753350" cy="1514171"/>
            </a:xfrm>
          </p:grpSpPr>
          <p:sp>
            <p:nvSpPr>
              <p:cNvPr id="1473" name="Google Shape;1473;p151"/>
              <p:cNvSpPr txBox="1"/>
              <p:nvPr/>
            </p:nvSpPr>
            <p:spPr>
              <a:xfrm>
                <a:off x="2133600" y="4859493"/>
                <a:ext cx="1676400" cy="46166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000Bh</a:t>
                </a:r>
                <a:endParaRPr/>
              </a:p>
            </p:txBody>
          </p:sp>
          <p:sp>
            <p:nvSpPr>
              <p:cNvPr id="1474" name="Google Shape;1474;p151"/>
              <p:cNvSpPr txBox="1"/>
              <p:nvPr/>
            </p:nvSpPr>
            <p:spPr>
              <a:xfrm>
                <a:off x="6324600" y="4876800"/>
                <a:ext cx="1676400" cy="46166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001Bh</a:t>
                </a:r>
                <a:endParaRPr/>
              </a:p>
            </p:txBody>
          </p:sp>
          <p:sp>
            <p:nvSpPr>
              <p:cNvPr id="1475" name="Google Shape;1475;p151"/>
              <p:cNvSpPr txBox="1"/>
              <p:nvPr/>
            </p:nvSpPr>
            <p:spPr>
              <a:xfrm>
                <a:off x="762000" y="4859494"/>
                <a:ext cx="457200" cy="46166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cxnSp>
            <p:nvCxnSpPr>
              <p:cNvPr id="1476" name="Google Shape;1476;p151"/>
              <p:cNvCxnSpPr>
                <a:stCxn id="1475" idx="3"/>
                <a:endCxn id="1473" idx="1"/>
              </p:cNvCxnSpPr>
              <p:nvPr/>
            </p:nvCxnSpPr>
            <p:spPr>
              <a:xfrm>
                <a:off x="1219200" y="5090327"/>
                <a:ext cx="914400" cy="0"/>
              </a:xfrm>
              <a:prstGeom prst="straightConnector1">
                <a:avLst/>
              </a:prstGeom>
              <a:noFill/>
              <a:ln cap="flat" cmpd="sng" w="9525">
                <a:solidFill>
                  <a:srgbClr val="345B8A"/>
                </a:solidFill>
                <a:prstDash val="solid"/>
                <a:round/>
                <a:headEnd len="sm" w="sm" type="none"/>
                <a:tailEnd len="med" w="med" type="triangle"/>
              </a:ln>
            </p:spPr>
          </p:cxnSp>
          <p:sp>
            <p:nvSpPr>
              <p:cNvPr id="1477" name="Google Shape;1477;p151"/>
              <p:cNvSpPr txBox="1"/>
              <p:nvPr/>
            </p:nvSpPr>
            <p:spPr>
              <a:xfrm>
                <a:off x="4648200" y="4859494"/>
                <a:ext cx="457200" cy="46166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1</a:t>
                </a:r>
                <a:endParaRPr/>
              </a:p>
            </p:txBody>
          </p:sp>
          <p:cxnSp>
            <p:nvCxnSpPr>
              <p:cNvPr id="1478" name="Google Shape;1478;p151"/>
              <p:cNvCxnSpPr>
                <a:stCxn id="1477" idx="3"/>
              </p:cNvCxnSpPr>
              <p:nvPr/>
            </p:nvCxnSpPr>
            <p:spPr>
              <a:xfrm>
                <a:off x="5105400" y="5090327"/>
                <a:ext cx="1219200" cy="0"/>
              </a:xfrm>
              <a:prstGeom prst="straightConnector1">
                <a:avLst/>
              </a:prstGeom>
              <a:noFill/>
              <a:ln cap="flat" cmpd="sng" w="9525">
                <a:solidFill>
                  <a:srgbClr val="345B8A"/>
                </a:solidFill>
                <a:prstDash val="solid"/>
                <a:round/>
                <a:headEnd len="sm" w="sm" type="none"/>
                <a:tailEnd len="med" w="med" type="triangle"/>
              </a:ln>
            </p:spPr>
          </p:cxnSp>
          <p:sp>
            <p:nvSpPr>
              <p:cNvPr id="1479" name="Google Shape;1479;p151"/>
              <p:cNvSpPr txBox="1"/>
              <p:nvPr/>
            </p:nvSpPr>
            <p:spPr>
              <a:xfrm>
                <a:off x="609600" y="4343400"/>
                <a:ext cx="838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TF0</a:t>
                </a:r>
                <a:endParaRPr/>
              </a:p>
            </p:txBody>
          </p:sp>
          <p:sp>
            <p:nvSpPr>
              <p:cNvPr id="1480" name="Google Shape;1480;p151"/>
              <p:cNvSpPr txBox="1"/>
              <p:nvPr/>
            </p:nvSpPr>
            <p:spPr>
              <a:xfrm>
                <a:off x="4457700" y="4343400"/>
                <a:ext cx="838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TF1</a:t>
                </a:r>
                <a:endParaRPr/>
              </a:p>
            </p:txBody>
          </p:sp>
          <p:sp>
            <p:nvSpPr>
              <p:cNvPr id="1481" name="Google Shape;1481;p151"/>
              <p:cNvSpPr txBox="1"/>
              <p:nvPr/>
            </p:nvSpPr>
            <p:spPr>
              <a:xfrm>
                <a:off x="5962650" y="4303282"/>
                <a:ext cx="24003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Vector ngắt Timer 1</a:t>
                </a:r>
                <a:endParaRPr/>
              </a:p>
            </p:txBody>
          </p:sp>
          <p:sp>
            <p:nvSpPr>
              <p:cNvPr id="1482" name="Google Shape;1482;p151"/>
              <p:cNvSpPr txBox="1"/>
              <p:nvPr/>
            </p:nvSpPr>
            <p:spPr>
              <a:xfrm>
                <a:off x="914400" y="5417343"/>
                <a:ext cx="1524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Nhảy tới</a:t>
                </a:r>
                <a:endParaRPr sz="2000">
                  <a:solidFill>
                    <a:schemeClr val="dk1"/>
                  </a:solidFill>
                  <a:latin typeface="Times New Roman"/>
                  <a:ea typeface="Times New Roman"/>
                  <a:cs typeface="Times New Roman"/>
                  <a:sym typeface="Times New Roman"/>
                </a:endParaRPr>
              </a:p>
            </p:txBody>
          </p:sp>
          <p:sp>
            <p:nvSpPr>
              <p:cNvPr id="1483" name="Google Shape;1483;p151"/>
              <p:cNvSpPr txBox="1"/>
              <p:nvPr/>
            </p:nvSpPr>
            <p:spPr>
              <a:xfrm>
                <a:off x="4958443" y="5369243"/>
                <a:ext cx="1524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Nhảy tới</a:t>
                </a:r>
                <a:endParaRPr sz="2000">
                  <a:solidFill>
                    <a:schemeClr val="dk1"/>
                  </a:solidFill>
                  <a:latin typeface="Times New Roman"/>
                  <a:ea typeface="Times New Roman"/>
                  <a:cs typeface="Times New Roman"/>
                  <a:sym typeface="Times New Roman"/>
                </a:endParaRPr>
              </a:p>
            </p:txBody>
          </p:sp>
        </p:grpSp>
      </p:grpSp>
      <p:sp>
        <p:nvSpPr>
          <p:cNvPr id="1484" name="Google Shape;1484;p15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9">
                                            <p:txEl>
                                              <p:pRg end="0" st="0"/>
                                            </p:txEl>
                                          </p:spTgt>
                                        </p:tgtEl>
                                        <p:attrNameLst>
                                          <p:attrName>style.visibility</p:attrName>
                                        </p:attrNameLst>
                                      </p:cBhvr>
                                      <p:to>
                                        <p:strVal val="visible"/>
                                      </p:to>
                                    </p:set>
                                    <p:animEffect filter="fade" transition="in">
                                      <p:cBhvr>
                                        <p:cTn dur="1000"/>
                                        <p:tgtEl>
                                          <p:spTgt spid="14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9">
                                            <p:txEl>
                                              <p:pRg end="1" st="1"/>
                                            </p:txEl>
                                          </p:spTgt>
                                        </p:tgtEl>
                                        <p:attrNameLst>
                                          <p:attrName>style.visibility</p:attrName>
                                        </p:attrNameLst>
                                      </p:cBhvr>
                                      <p:to>
                                        <p:strVal val="visible"/>
                                      </p:to>
                                    </p:set>
                                    <p:animEffect filter="fade" transition="in">
                                      <p:cBhvr>
                                        <p:cTn dur="1000"/>
                                        <p:tgtEl>
                                          <p:spTgt spid="14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9">
                                            <p:txEl>
                                              <p:pRg end="2" st="2"/>
                                            </p:txEl>
                                          </p:spTgt>
                                        </p:tgtEl>
                                        <p:attrNameLst>
                                          <p:attrName>style.visibility</p:attrName>
                                        </p:attrNameLst>
                                      </p:cBhvr>
                                      <p:to>
                                        <p:strVal val="visible"/>
                                      </p:to>
                                    </p:set>
                                    <p:animEffect filter="fade" transition="in">
                                      <p:cBhvr>
                                        <p:cTn dur="1000"/>
                                        <p:tgtEl>
                                          <p:spTgt spid="14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9">
                                            <p:txEl>
                                              <p:pRg end="3" st="3"/>
                                            </p:txEl>
                                          </p:spTgt>
                                        </p:tgtEl>
                                        <p:attrNameLst>
                                          <p:attrName>style.visibility</p:attrName>
                                        </p:attrNameLst>
                                      </p:cBhvr>
                                      <p:to>
                                        <p:strVal val="visible"/>
                                      </p:to>
                                    </p:set>
                                    <p:animEffect filter="fade" transition="in">
                                      <p:cBhvr>
                                        <p:cTn dur="1000"/>
                                        <p:tgtEl>
                                          <p:spTgt spid="14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9">
                                            <p:txEl>
                                              <p:pRg end="4" st="4"/>
                                            </p:txEl>
                                          </p:spTgt>
                                        </p:tgtEl>
                                        <p:attrNameLst>
                                          <p:attrName>style.visibility</p:attrName>
                                        </p:attrNameLst>
                                      </p:cBhvr>
                                      <p:to>
                                        <p:strVal val="visible"/>
                                      </p:to>
                                    </p:set>
                                    <p:animEffect filter="fade" transition="in">
                                      <p:cBhvr>
                                        <p:cTn dur="1000"/>
                                        <p:tgtEl>
                                          <p:spTgt spid="14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0"/>
                                        </p:tgtEl>
                                        <p:attrNameLst>
                                          <p:attrName>style.visibility</p:attrName>
                                        </p:attrNameLst>
                                      </p:cBhvr>
                                      <p:to>
                                        <p:strVal val="visible"/>
                                      </p:to>
                                    </p:set>
                                    <p:animEffect filter="fade" transition="in">
                                      <p:cBhvr>
                                        <p:cTn dur="1000"/>
                                        <p:tgtEl>
                                          <p:spTgt spid="1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52"/>
          <p:cNvSpPr txBox="1"/>
          <p:nvPr>
            <p:ph idx="1" type="body"/>
          </p:nvPr>
        </p:nvSpPr>
        <p:spPr>
          <a:xfrm>
            <a:off x="228600" y="609602"/>
            <a:ext cx="11506200" cy="921142"/>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800"/>
              <a:buNone/>
            </a:pPr>
            <a:r>
              <a:rPr b="1" lang="en-US" sz="2800">
                <a:solidFill>
                  <a:srgbClr val="C00000"/>
                </a:solidFill>
                <a:latin typeface="Times New Roman"/>
                <a:ea typeface="Times New Roman"/>
                <a:cs typeface="Times New Roman"/>
                <a:sym typeface="Times New Roman"/>
              </a:rPr>
              <a:t>Ví dụ 4.2. </a:t>
            </a:r>
            <a:r>
              <a:rPr lang="en-US" sz="2400">
                <a:latin typeface="Times New Roman"/>
                <a:ea typeface="Times New Roman"/>
                <a:cs typeface="Times New Roman"/>
                <a:sym typeface="Times New Roman"/>
              </a:rPr>
              <a:t>Tạo xung vuông T = 2 ms trên chân P2.0 của 8051 (XTAL=12 MHz), sử dụng ngắt Timer 0. Nội dung TH = FCh, TL = 18h (xem </a:t>
            </a:r>
            <a:r>
              <a:rPr b="1" lang="en-US" sz="2400">
                <a:solidFill>
                  <a:srgbClr val="C00000"/>
                </a:solidFill>
                <a:latin typeface="Times New Roman"/>
                <a:ea typeface="Times New Roman"/>
                <a:cs typeface="Times New Roman"/>
                <a:sym typeface="Times New Roman"/>
              </a:rPr>
              <a:t>Ví dụ 3.3</a:t>
            </a:r>
            <a:r>
              <a:rPr lang="en-US" sz="2400">
                <a:latin typeface="Times New Roman"/>
                <a:ea typeface="Times New Roman"/>
                <a:cs typeface="Times New Roman"/>
                <a:sym typeface="Times New Roman"/>
              </a:rPr>
              <a:t>) </a:t>
            </a:r>
            <a:endParaRPr/>
          </a:p>
        </p:txBody>
      </p:sp>
      <p:sp>
        <p:nvSpPr>
          <p:cNvPr id="1491" name="Google Shape;1491;p152">
            <a:hlinkClick r:id="rId3"/>
          </p:cNvPr>
          <p:cNvSpPr/>
          <p:nvPr/>
        </p:nvSpPr>
        <p:spPr>
          <a:xfrm>
            <a:off x="9601200" y="3733800"/>
            <a:ext cx="762000" cy="3810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2" name="Google Shape;1492;p152"/>
          <p:cNvSpPr txBox="1"/>
          <p:nvPr/>
        </p:nvSpPr>
        <p:spPr>
          <a:xfrm>
            <a:off x="9334500" y="3242230"/>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mềm</a:t>
            </a:r>
            <a:endParaRPr sz="1800">
              <a:solidFill>
                <a:schemeClr val="dk1"/>
              </a:solidFill>
              <a:latin typeface="Calibri"/>
              <a:ea typeface="Calibri"/>
              <a:cs typeface="Calibri"/>
              <a:sym typeface="Calibri"/>
            </a:endParaRPr>
          </a:p>
        </p:txBody>
      </p:sp>
      <p:sp>
        <p:nvSpPr>
          <p:cNvPr id="1493" name="Google Shape;1493;p152"/>
          <p:cNvSpPr txBox="1"/>
          <p:nvPr/>
        </p:nvSpPr>
        <p:spPr>
          <a:xfrm>
            <a:off x="9372600" y="4608903"/>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cứng</a:t>
            </a:r>
            <a:endParaRPr sz="1800">
              <a:solidFill>
                <a:schemeClr val="dk1"/>
              </a:solidFill>
              <a:latin typeface="Calibri"/>
              <a:ea typeface="Calibri"/>
              <a:cs typeface="Calibri"/>
              <a:sym typeface="Calibri"/>
            </a:endParaRPr>
          </a:p>
        </p:txBody>
      </p:sp>
      <p:sp>
        <p:nvSpPr>
          <p:cNvPr id="1494" name="Google Shape;1494;p152">
            <a:hlinkClick r:id="rId4"/>
          </p:cNvPr>
          <p:cNvSpPr/>
          <p:nvPr/>
        </p:nvSpPr>
        <p:spPr>
          <a:xfrm>
            <a:off x="9601200" y="5105400"/>
            <a:ext cx="762000" cy="3810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5" name="Google Shape;1495;p152"/>
          <p:cNvSpPr txBox="1"/>
          <p:nvPr>
            <p:ph type="title"/>
          </p:nvPr>
        </p:nvSpPr>
        <p:spPr>
          <a:xfrm>
            <a:off x="0" y="46040"/>
            <a:ext cx="96012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4.3. Lập trình ngắt bộ định thời </a:t>
            </a:r>
            <a:r>
              <a:rPr b="1" lang="en-US" sz="3600">
                <a:solidFill>
                  <a:srgbClr val="C00000"/>
                </a:solidFill>
                <a:latin typeface="Times New Roman"/>
                <a:ea typeface="Times New Roman"/>
                <a:cs typeface="Times New Roman"/>
                <a:sym typeface="Times New Roman"/>
              </a:rPr>
              <a:t>– Một số ví dụ (1)</a:t>
            </a:r>
            <a:endParaRPr/>
          </a:p>
        </p:txBody>
      </p:sp>
      <p:sp>
        <p:nvSpPr>
          <p:cNvPr id="1496" name="Google Shape;1496;p152"/>
          <p:cNvSpPr/>
          <p:nvPr/>
        </p:nvSpPr>
        <p:spPr>
          <a:xfrm>
            <a:off x="1705429" y="1777835"/>
            <a:ext cx="742950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ORG	0000h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LJMP	MAIN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000Bh		; vector ngat cua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CPL	P2.0		; lay bù</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TH0, #0FCh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TL0, #18h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TR0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0030h		; dia chi chuong trình chính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MAIN: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TMOD, #01h 	; chon Timer 0, che do 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TH0, #0FCh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TL0, #18h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IE, #10000010B	; cho phép ngat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TR0		; khoi dong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SJMP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END</a:t>
            </a:r>
            <a:endParaRPr/>
          </a:p>
        </p:txBody>
      </p:sp>
      <p:sp>
        <p:nvSpPr>
          <p:cNvPr id="1497" name="Google Shape;1497;p15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0">
                                            <p:txEl>
                                              <p:pRg end="0" st="0"/>
                                            </p:txEl>
                                          </p:spTgt>
                                        </p:tgtEl>
                                        <p:attrNameLst>
                                          <p:attrName>style.visibility</p:attrName>
                                        </p:attrNameLst>
                                      </p:cBhvr>
                                      <p:to>
                                        <p:strVal val="visible"/>
                                      </p:to>
                                    </p:set>
                                    <p:animEffect filter="fade" transition="in">
                                      <p:cBhvr>
                                        <p:cTn dur="1000"/>
                                        <p:tgtEl>
                                          <p:spTgt spid="14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6"/>
                                        </p:tgtEl>
                                        <p:attrNameLst>
                                          <p:attrName>style.visibility</p:attrName>
                                        </p:attrNameLst>
                                      </p:cBhvr>
                                      <p:to>
                                        <p:strVal val="visible"/>
                                      </p:to>
                                    </p:set>
                                    <p:animEffect filter="fade" transition="in">
                                      <p:cBhvr>
                                        <p:cTn dur="1000"/>
                                        <p:tgtEl>
                                          <p:spTgt spid="1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2"/>
                                        </p:tgtEl>
                                        <p:attrNameLst>
                                          <p:attrName>style.visibility</p:attrName>
                                        </p:attrNameLst>
                                      </p:cBhvr>
                                      <p:to>
                                        <p:strVal val="visible"/>
                                      </p:to>
                                    </p:set>
                                    <p:animEffect filter="fade" transition="in">
                                      <p:cBhvr>
                                        <p:cTn dur="1000"/>
                                        <p:tgtEl>
                                          <p:spTgt spid="1492"/>
                                        </p:tgtEl>
                                      </p:cBhvr>
                                    </p:animEffect>
                                  </p:childTnLst>
                                </p:cTn>
                              </p:par>
                              <p:par>
                                <p:cTn fill="hold" nodeType="with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1000"/>
                                        <p:tgtEl>
                                          <p:spTgt spid="1491"/>
                                        </p:tgtEl>
                                      </p:cBhvr>
                                    </p:animEffect>
                                  </p:childTnLst>
                                </p:cTn>
                              </p:par>
                              <p:par>
                                <p:cTn fill="hold" nodeType="withEffect" presetClass="entr" presetID="10" presetSubtype="0">
                                  <p:stCondLst>
                                    <p:cond delay="0"/>
                                  </p:stCondLst>
                                  <p:childTnLst>
                                    <p:set>
                                      <p:cBhvr>
                                        <p:cTn dur="1" fill="hold">
                                          <p:stCondLst>
                                            <p:cond delay="0"/>
                                          </p:stCondLst>
                                        </p:cTn>
                                        <p:tgtEl>
                                          <p:spTgt spid="1493"/>
                                        </p:tgtEl>
                                        <p:attrNameLst>
                                          <p:attrName>style.visibility</p:attrName>
                                        </p:attrNameLst>
                                      </p:cBhvr>
                                      <p:to>
                                        <p:strVal val="visible"/>
                                      </p:to>
                                    </p:set>
                                    <p:animEffect filter="fade" transition="in">
                                      <p:cBhvr>
                                        <p:cTn dur="1000"/>
                                        <p:tgtEl>
                                          <p:spTgt spid="1493"/>
                                        </p:tgtEl>
                                      </p:cBhvr>
                                    </p:animEffect>
                                  </p:childTnLst>
                                </p:cTn>
                              </p:par>
                              <p:par>
                                <p:cTn fill="hold" nodeType="withEffect" presetClass="entr" presetID="10" presetSubtype="0">
                                  <p:stCondLst>
                                    <p:cond delay="0"/>
                                  </p:stCondLst>
                                  <p:childTnLst>
                                    <p:set>
                                      <p:cBhvr>
                                        <p:cTn dur="1" fill="hold">
                                          <p:stCondLst>
                                            <p:cond delay="0"/>
                                          </p:stCondLst>
                                        </p:cTn>
                                        <p:tgtEl>
                                          <p:spTgt spid="1494"/>
                                        </p:tgtEl>
                                        <p:attrNameLst>
                                          <p:attrName>style.visibility</p:attrName>
                                        </p:attrNameLst>
                                      </p:cBhvr>
                                      <p:to>
                                        <p:strVal val="visible"/>
                                      </p:to>
                                    </p:set>
                                    <p:animEffect filter="fade" transition="in">
                                      <p:cBhvr>
                                        <p:cTn dur="1000"/>
                                        <p:tgtEl>
                                          <p:spTgt spid="1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153"/>
          <p:cNvSpPr txBox="1"/>
          <p:nvPr>
            <p:ph idx="1" type="body"/>
          </p:nvPr>
        </p:nvSpPr>
        <p:spPr>
          <a:xfrm>
            <a:off x="228600" y="577645"/>
            <a:ext cx="11734800" cy="1098755"/>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Ví dụ 4.3. </a:t>
            </a:r>
            <a:r>
              <a:rPr lang="en-US" sz="2200">
                <a:latin typeface="Times New Roman"/>
                <a:ea typeface="Times New Roman"/>
                <a:cs typeface="Times New Roman"/>
                <a:sym typeface="Times New Roman"/>
              </a:rPr>
              <a:t>Viết chương trình nhận liên tục dữ liệu 8 bit từ công P0 và gửi ra cổng P1. Trong thời gian nhận và gửi dữ liệu tạo một song vuông có chu kỳ 502µs. Sử dụng ngắt Timer 0, chế độ 2; tần số của 8051 là XTAL = 12MHz</a:t>
            </a:r>
            <a:endParaRPr b="1" sz="2200">
              <a:latin typeface="Times New Roman"/>
              <a:ea typeface="Times New Roman"/>
              <a:cs typeface="Times New Roman"/>
              <a:sym typeface="Times New Roman"/>
            </a:endParaRPr>
          </a:p>
        </p:txBody>
      </p:sp>
      <p:sp>
        <p:nvSpPr>
          <p:cNvPr id="1504" name="Google Shape;1504;p153">
            <a:hlinkClick r:id="rId3"/>
          </p:cNvPr>
          <p:cNvSpPr/>
          <p:nvPr/>
        </p:nvSpPr>
        <p:spPr>
          <a:xfrm>
            <a:off x="9990909" y="4782909"/>
            <a:ext cx="762000" cy="4572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5" name="Google Shape;1505;p153">
            <a:hlinkClick r:id="rId4"/>
          </p:cNvPr>
          <p:cNvSpPr/>
          <p:nvPr/>
        </p:nvSpPr>
        <p:spPr>
          <a:xfrm>
            <a:off x="9904186" y="3487209"/>
            <a:ext cx="83820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6" name="Google Shape;1506;p153"/>
          <p:cNvSpPr txBox="1"/>
          <p:nvPr/>
        </p:nvSpPr>
        <p:spPr>
          <a:xfrm>
            <a:off x="9485086" y="2999847"/>
            <a:ext cx="1676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Phần mềm</a:t>
            </a:r>
            <a:endParaRPr sz="1800">
              <a:solidFill>
                <a:schemeClr val="dk1"/>
              </a:solidFill>
              <a:latin typeface="Calibri"/>
              <a:ea typeface="Calibri"/>
              <a:cs typeface="Calibri"/>
              <a:sym typeface="Calibri"/>
            </a:endParaRPr>
          </a:p>
        </p:txBody>
      </p:sp>
      <p:sp>
        <p:nvSpPr>
          <p:cNvPr id="1507" name="Google Shape;1507;p153"/>
          <p:cNvSpPr txBox="1"/>
          <p:nvPr/>
        </p:nvSpPr>
        <p:spPr>
          <a:xfrm>
            <a:off x="9533709" y="4281977"/>
            <a:ext cx="1676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Phần cứng</a:t>
            </a:r>
            <a:endParaRPr sz="1800">
              <a:solidFill>
                <a:schemeClr val="dk1"/>
              </a:solidFill>
              <a:latin typeface="Calibri"/>
              <a:ea typeface="Calibri"/>
              <a:cs typeface="Calibri"/>
              <a:sym typeface="Calibri"/>
            </a:endParaRPr>
          </a:p>
        </p:txBody>
      </p:sp>
      <p:sp>
        <p:nvSpPr>
          <p:cNvPr id="1508" name="Google Shape;1508;p153"/>
          <p:cNvSpPr/>
          <p:nvPr/>
        </p:nvSpPr>
        <p:spPr>
          <a:xfrm>
            <a:off x="1719943" y="1752600"/>
            <a:ext cx="7502072"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ORG	0000h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LJMP	MAIN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chuong trinh ISR cho Timer0 de tao song vuong</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000Bh		; vector ngat cua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CPL	P2.0		; lay bù</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TR0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0030h		; dia chi chuong trình chính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MAIN:	MOV 	TMOD, #02h 	; chon Timer 0, che do 2 tu nap lai</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P0, #0FFh		; P0 lam cong vao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TH0, #5</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IE, #10000010B	; cho phép ngat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TR0 		; khoi dong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BACK:	MOV	A, P0		; nhan dl tu P0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P1, A</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SJMP	BACK</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END</a:t>
            </a:r>
            <a:endParaRPr/>
          </a:p>
        </p:txBody>
      </p:sp>
      <p:sp>
        <p:nvSpPr>
          <p:cNvPr id="1509" name="Google Shape;1509;p153"/>
          <p:cNvSpPr txBox="1"/>
          <p:nvPr>
            <p:ph type="title"/>
          </p:nvPr>
        </p:nvSpPr>
        <p:spPr>
          <a:xfrm>
            <a:off x="0" y="46040"/>
            <a:ext cx="96012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4.3. Lập trình ngắt bộ định thời </a:t>
            </a:r>
            <a:r>
              <a:rPr b="1" lang="en-US" sz="3600">
                <a:solidFill>
                  <a:srgbClr val="C00000"/>
                </a:solidFill>
                <a:latin typeface="Times New Roman"/>
                <a:ea typeface="Times New Roman"/>
                <a:cs typeface="Times New Roman"/>
                <a:sym typeface="Times New Roman"/>
              </a:rPr>
              <a:t>– Một số ví dụ (2)</a:t>
            </a:r>
            <a:endParaRPr/>
          </a:p>
        </p:txBody>
      </p:sp>
      <p:sp>
        <p:nvSpPr>
          <p:cNvPr id="1510" name="Google Shape;1510;p15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3">
                                            <p:txEl>
                                              <p:pRg end="0" st="0"/>
                                            </p:txEl>
                                          </p:spTgt>
                                        </p:tgtEl>
                                        <p:attrNameLst>
                                          <p:attrName>style.visibility</p:attrName>
                                        </p:attrNameLst>
                                      </p:cBhvr>
                                      <p:to>
                                        <p:strVal val="visible"/>
                                      </p:to>
                                    </p:set>
                                    <p:animEffect filter="fade" transition="in">
                                      <p:cBhvr>
                                        <p:cTn dur="1000"/>
                                        <p:tgtEl>
                                          <p:spTgt spid="15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8"/>
                                        </p:tgtEl>
                                        <p:attrNameLst>
                                          <p:attrName>style.visibility</p:attrName>
                                        </p:attrNameLst>
                                      </p:cBhvr>
                                      <p:to>
                                        <p:strVal val="visible"/>
                                      </p:to>
                                    </p:set>
                                    <p:animEffect filter="fade" transition="in">
                                      <p:cBhvr>
                                        <p:cTn dur="1000"/>
                                        <p:tgtEl>
                                          <p:spTgt spid="1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6"/>
                                        </p:tgtEl>
                                        <p:attrNameLst>
                                          <p:attrName>style.visibility</p:attrName>
                                        </p:attrNameLst>
                                      </p:cBhvr>
                                      <p:to>
                                        <p:strVal val="visible"/>
                                      </p:to>
                                    </p:set>
                                    <p:animEffect filter="fade" transition="in">
                                      <p:cBhvr>
                                        <p:cTn dur="1000"/>
                                        <p:tgtEl>
                                          <p:spTgt spid="1506"/>
                                        </p:tgtEl>
                                      </p:cBhvr>
                                    </p:animEffect>
                                  </p:childTnLst>
                                </p:cTn>
                              </p:par>
                              <p:par>
                                <p:cTn fill="hold" nodeType="withEffect" presetClass="entr" presetID="10" presetSubtype="0">
                                  <p:stCondLst>
                                    <p:cond delay="0"/>
                                  </p:stCondLst>
                                  <p:childTnLst>
                                    <p:set>
                                      <p:cBhvr>
                                        <p:cTn dur="1" fill="hold">
                                          <p:stCondLst>
                                            <p:cond delay="0"/>
                                          </p:stCondLst>
                                        </p:cTn>
                                        <p:tgtEl>
                                          <p:spTgt spid="1505"/>
                                        </p:tgtEl>
                                        <p:attrNameLst>
                                          <p:attrName>style.visibility</p:attrName>
                                        </p:attrNameLst>
                                      </p:cBhvr>
                                      <p:to>
                                        <p:strVal val="visible"/>
                                      </p:to>
                                    </p:set>
                                    <p:animEffect filter="fade" transition="in">
                                      <p:cBhvr>
                                        <p:cTn dur="1000"/>
                                        <p:tgtEl>
                                          <p:spTgt spid="1505"/>
                                        </p:tgtEl>
                                      </p:cBhvr>
                                    </p:animEffect>
                                  </p:childTnLst>
                                </p:cTn>
                              </p:par>
                              <p:par>
                                <p:cTn fill="hold" nodeType="withEffect" presetClass="entr" presetID="10" presetSubtype="0">
                                  <p:stCondLst>
                                    <p:cond delay="0"/>
                                  </p:stCondLst>
                                  <p:childTnLst>
                                    <p:set>
                                      <p:cBhvr>
                                        <p:cTn dur="1" fill="hold">
                                          <p:stCondLst>
                                            <p:cond delay="0"/>
                                          </p:stCondLst>
                                        </p:cTn>
                                        <p:tgtEl>
                                          <p:spTgt spid="1507"/>
                                        </p:tgtEl>
                                        <p:attrNameLst>
                                          <p:attrName>style.visibility</p:attrName>
                                        </p:attrNameLst>
                                      </p:cBhvr>
                                      <p:to>
                                        <p:strVal val="visible"/>
                                      </p:to>
                                    </p:set>
                                    <p:animEffect filter="fade" transition="in">
                                      <p:cBhvr>
                                        <p:cTn dur="1000"/>
                                        <p:tgtEl>
                                          <p:spTgt spid="1507"/>
                                        </p:tgtEl>
                                      </p:cBhvr>
                                    </p:animEffect>
                                  </p:childTnLst>
                                </p:cTn>
                              </p:par>
                              <p:par>
                                <p:cTn fill="hold" nodeType="withEffect" presetClass="entr" presetID="10" presetSubtype="0">
                                  <p:stCondLst>
                                    <p:cond delay="0"/>
                                  </p:stCondLst>
                                  <p:childTnLst>
                                    <p:set>
                                      <p:cBhvr>
                                        <p:cTn dur="1" fill="hold">
                                          <p:stCondLst>
                                            <p:cond delay="0"/>
                                          </p:stCondLst>
                                        </p:cTn>
                                        <p:tgtEl>
                                          <p:spTgt spid="1504"/>
                                        </p:tgtEl>
                                        <p:attrNameLst>
                                          <p:attrName>style.visibility</p:attrName>
                                        </p:attrNameLst>
                                      </p:cBhvr>
                                      <p:to>
                                        <p:strVal val="visible"/>
                                      </p:to>
                                    </p:set>
                                    <p:animEffect filter="fade" transition="in">
                                      <p:cBhvr>
                                        <p:cTn dur="1000"/>
                                        <p:tgtEl>
                                          <p:spTgt spid="1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54"/>
          <p:cNvSpPr txBox="1"/>
          <p:nvPr>
            <p:ph idx="1" type="body"/>
          </p:nvPr>
        </p:nvSpPr>
        <p:spPr>
          <a:xfrm>
            <a:off x="228600" y="609600"/>
            <a:ext cx="11734800" cy="768413"/>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rgbClr val="C00000"/>
              </a:buClr>
              <a:buSzPts val="2400"/>
              <a:buNone/>
            </a:pPr>
            <a:r>
              <a:rPr b="1" lang="en-US" sz="2400">
                <a:solidFill>
                  <a:srgbClr val="C00000"/>
                </a:solidFill>
                <a:latin typeface="Times New Roman"/>
                <a:ea typeface="Times New Roman"/>
                <a:cs typeface="Times New Roman"/>
                <a:sym typeface="Times New Roman"/>
              </a:rPr>
              <a:t>Ví dụ 4.4.  </a:t>
            </a:r>
            <a:r>
              <a:rPr lang="en-US" sz="2400">
                <a:latin typeface="Times New Roman"/>
                <a:ea typeface="Times New Roman"/>
                <a:cs typeface="Times New Roman"/>
                <a:sym typeface="Times New Roman"/>
              </a:rPr>
              <a:t>Thực hiện lại </a:t>
            </a:r>
            <a:r>
              <a:rPr lang="en-US" sz="2400">
                <a:solidFill>
                  <a:srgbClr val="C00000"/>
                </a:solidFill>
                <a:latin typeface="Times New Roman"/>
                <a:ea typeface="Times New Roman"/>
                <a:cs typeface="Times New Roman"/>
                <a:sym typeface="Times New Roman"/>
              </a:rPr>
              <a:t>ví du 4.3</a:t>
            </a:r>
            <a:r>
              <a:rPr lang="en-US" sz="2400">
                <a:latin typeface="Times New Roman"/>
                <a:ea typeface="Times New Roman"/>
                <a:cs typeface="Times New Roman"/>
                <a:sym typeface="Times New Roman"/>
              </a:rPr>
              <a:t>, nhưng sử dụng thêm không gian chương trình để chứa trình điều khiển ngắt ISR	</a:t>
            </a:r>
            <a:endParaRPr/>
          </a:p>
          <a:p>
            <a:pPr indent="0" lvl="0" marL="0" rtl="0" algn="just">
              <a:spcBef>
                <a:spcPts val="480"/>
              </a:spcBef>
              <a:spcAft>
                <a:spcPts val="0"/>
              </a:spcAft>
              <a:buClr>
                <a:schemeClr val="dk1"/>
              </a:buClr>
              <a:buSzPts val="2400"/>
              <a:buNone/>
            </a:pPr>
            <a:r>
              <a:t/>
            </a:r>
            <a:endParaRPr b="1" sz="2400">
              <a:latin typeface="Times New Roman"/>
              <a:ea typeface="Times New Roman"/>
              <a:cs typeface="Times New Roman"/>
              <a:sym typeface="Times New Roman"/>
            </a:endParaRPr>
          </a:p>
        </p:txBody>
      </p:sp>
      <p:sp>
        <p:nvSpPr>
          <p:cNvPr id="1516" name="Google Shape;1516;p154">
            <a:hlinkClick r:id="rId3"/>
          </p:cNvPr>
          <p:cNvSpPr/>
          <p:nvPr/>
        </p:nvSpPr>
        <p:spPr>
          <a:xfrm>
            <a:off x="10343243" y="4841441"/>
            <a:ext cx="762000" cy="4572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7" name="Google Shape;1517;p154">
            <a:hlinkClick r:id="rId4"/>
          </p:cNvPr>
          <p:cNvSpPr/>
          <p:nvPr/>
        </p:nvSpPr>
        <p:spPr>
          <a:xfrm>
            <a:off x="10267043" y="3446151"/>
            <a:ext cx="83820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8" name="Google Shape;1518;p154"/>
          <p:cNvSpPr txBox="1"/>
          <p:nvPr/>
        </p:nvSpPr>
        <p:spPr>
          <a:xfrm>
            <a:off x="9847943" y="3076819"/>
            <a:ext cx="1676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Phần mềm</a:t>
            </a:r>
            <a:endParaRPr sz="1800">
              <a:solidFill>
                <a:schemeClr val="dk1"/>
              </a:solidFill>
              <a:latin typeface="Calibri"/>
              <a:ea typeface="Calibri"/>
              <a:cs typeface="Calibri"/>
              <a:sym typeface="Calibri"/>
            </a:endParaRPr>
          </a:p>
        </p:txBody>
      </p:sp>
      <p:sp>
        <p:nvSpPr>
          <p:cNvPr id="1519" name="Google Shape;1519;p154"/>
          <p:cNvSpPr txBox="1"/>
          <p:nvPr/>
        </p:nvSpPr>
        <p:spPr>
          <a:xfrm>
            <a:off x="9847943" y="4472109"/>
            <a:ext cx="1676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Phần cứng</a:t>
            </a:r>
            <a:endParaRPr sz="1800">
              <a:solidFill>
                <a:schemeClr val="dk1"/>
              </a:solidFill>
              <a:latin typeface="Calibri"/>
              <a:ea typeface="Calibri"/>
              <a:cs typeface="Calibri"/>
              <a:sym typeface="Calibri"/>
            </a:endParaRPr>
          </a:p>
        </p:txBody>
      </p:sp>
      <p:sp>
        <p:nvSpPr>
          <p:cNvPr id="1520" name="Google Shape;1520;p154"/>
          <p:cNvSpPr/>
          <p:nvPr/>
        </p:nvSpPr>
        <p:spPr>
          <a:xfrm>
            <a:off x="1719943" y="1454213"/>
            <a:ext cx="7326086"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ORG	0000h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LJMP	MAIN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chuong trinh ISR cho Timer0 de tao song vuong</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000Bh		; vector ngat cua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LJMP	ISR_T1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0030h		; dia chi chuong trình chính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MAIN:	MOV 	TMOD, #02h 	; chon Timer 0, che do 2 tu nap lai</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P0, #0FFh		; P0 lam cong vao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TH0, #5</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IE, #10000010B	; cho phép ngat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TR0 		; khoi dong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BACK:	MOV	A, P0		; nhan dl tu P0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P1, A</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SJMP	BACK</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ISR_T1: 	CPL	P2.0		; lay bù</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TR0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END</a:t>
            </a:r>
            <a:endParaRPr/>
          </a:p>
        </p:txBody>
      </p:sp>
      <p:sp>
        <p:nvSpPr>
          <p:cNvPr id="1521" name="Google Shape;1521;p154"/>
          <p:cNvSpPr txBox="1"/>
          <p:nvPr>
            <p:ph type="title"/>
          </p:nvPr>
        </p:nvSpPr>
        <p:spPr>
          <a:xfrm>
            <a:off x="72572" y="57913"/>
            <a:ext cx="96012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4.3. Lập trình ngắt bộ định thời </a:t>
            </a:r>
            <a:r>
              <a:rPr b="1" lang="en-US" sz="3600">
                <a:solidFill>
                  <a:srgbClr val="C00000"/>
                </a:solidFill>
                <a:latin typeface="Times New Roman"/>
                <a:ea typeface="Times New Roman"/>
                <a:cs typeface="Times New Roman"/>
                <a:sym typeface="Times New Roman"/>
              </a:rPr>
              <a:t>– Một số ví dụ (3)</a:t>
            </a:r>
            <a:endParaRPr/>
          </a:p>
        </p:txBody>
      </p:sp>
      <p:sp>
        <p:nvSpPr>
          <p:cNvPr id="1522" name="Google Shape;1522;p15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5">
                                            <p:txEl>
                                              <p:pRg end="0" st="0"/>
                                            </p:txEl>
                                          </p:spTgt>
                                        </p:tgtEl>
                                        <p:attrNameLst>
                                          <p:attrName>style.visibility</p:attrName>
                                        </p:attrNameLst>
                                      </p:cBhvr>
                                      <p:to>
                                        <p:strVal val="visible"/>
                                      </p:to>
                                    </p:set>
                                    <p:animEffect filter="fade" transition="in">
                                      <p:cBhvr>
                                        <p:cTn dur="1000"/>
                                        <p:tgtEl>
                                          <p:spTgt spid="15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5">
                                            <p:txEl>
                                              <p:pRg end="1" st="1"/>
                                            </p:txEl>
                                          </p:spTgt>
                                        </p:tgtEl>
                                        <p:attrNameLst>
                                          <p:attrName>style.visibility</p:attrName>
                                        </p:attrNameLst>
                                      </p:cBhvr>
                                      <p:to>
                                        <p:strVal val="visible"/>
                                      </p:to>
                                    </p:set>
                                    <p:animEffect filter="fade" transition="in">
                                      <p:cBhvr>
                                        <p:cTn dur="1000"/>
                                        <p:tgtEl>
                                          <p:spTgt spid="15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1000"/>
                                        <p:tgtEl>
                                          <p:spTgt spid="1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8"/>
                                        </p:tgtEl>
                                        <p:attrNameLst>
                                          <p:attrName>style.visibility</p:attrName>
                                        </p:attrNameLst>
                                      </p:cBhvr>
                                      <p:to>
                                        <p:strVal val="visible"/>
                                      </p:to>
                                    </p:set>
                                    <p:animEffect filter="fade" transition="in">
                                      <p:cBhvr>
                                        <p:cTn dur="1000"/>
                                        <p:tgtEl>
                                          <p:spTgt spid="1518"/>
                                        </p:tgtEl>
                                      </p:cBhvr>
                                    </p:animEffect>
                                  </p:childTnLst>
                                </p:cTn>
                              </p:par>
                              <p:par>
                                <p:cTn fill="hold" nodeType="withEffect" presetClass="entr" presetID="10" presetSubtype="0">
                                  <p:stCondLst>
                                    <p:cond delay="0"/>
                                  </p:stCondLst>
                                  <p:childTnLst>
                                    <p:set>
                                      <p:cBhvr>
                                        <p:cTn dur="1" fill="hold">
                                          <p:stCondLst>
                                            <p:cond delay="0"/>
                                          </p:stCondLst>
                                        </p:cTn>
                                        <p:tgtEl>
                                          <p:spTgt spid="1517"/>
                                        </p:tgtEl>
                                        <p:attrNameLst>
                                          <p:attrName>style.visibility</p:attrName>
                                        </p:attrNameLst>
                                      </p:cBhvr>
                                      <p:to>
                                        <p:strVal val="visible"/>
                                      </p:to>
                                    </p:set>
                                    <p:animEffect filter="fade" transition="in">
                                      <p:cBhvr>
                                        <p:cTn dur="1000"/>
                                        <p:tgtEl>
                                          <p:spTgt spid="1517"/>
                                        </p:tgtEl>
                                      </p:cBhvr>
                                    </p:animEffect>
                                  </p:childTnLst>
                                </p:cTn>
                              </p:par>
                              <p:par>
                                <p:cTn fill="hold" nodeType="withEffect" presetClass="entr" presetID="10" presetSubtype="0">
                                  <p:stCondLst>
                                    <p:cond delay="0"/>
                                  </p:stCondLst>
                                  <p:childTnLst>
                                    <p:set>
                                      <p:cBhvr>
                                        <p:cTn dur="1" fill="hold">
                                          <p:stCondLst>
                                            <p:cond delay="0"/>
                                          </p:stCondLst>
                                        </p:cTn>
                                        <p:tgtEl>
                                          <p:spTgt spid="1519"/>
                                        </p:tgtEl>
                                        <p:attrNameLst>
                                          <p:attrName>style.visibility</p:attrName>
                                        </p:attrNameLst>
                                      </p:cBhvr>
                                      <p:to>
                                        <p:strVal val="visible"/>
                                      </p:to>
                                    </p:set>
                                    <p:animEffect filter="fade" transition="in">
                                      <p:cBhvr>
                                        <p:cTn dur="1000"/>
                                        <p:tgtEl>
                                          <p:spTgt spid="1519"/>
                                        </p:tgtEl>
                                      </p:cBhvr>
                                    </p:animEffect>
                                  </p:childTnLst>
                                </p:cTn>
                              </p:par>
                              <p:par>
                                <p:cTn fill="hold" nodeType="withEffect" presetClass="entr" presetID="10" presetSubtype="0">
                                  <p:stCondLst>
                                    <p:cond delay="0"/>
                                  </p:stCondLst>
                                  <p:childTnLst>
                                    <p:set>
                                      <p:cBhvr>
                                        <p:cTn dur="1" fill="hold">
                                          <p:stCondLst>
                                            <p:cond delay="0"/>
                                          </p:stCondLst>
                                        </p:cTn>
                                        <p:tgtEl>
                                          <p:spTgt spid="1516"/>
                                        </p:tgtEl>
                                        <p:attrNameLst>
                                          <p:attrName>style.visibility</p:attrName>
                                        </p:attrNameLst>
                                      </p:cBhvr>
                                      <p:to>
                                        <p:strVal val="visible"/>
                                      </p:to>
                                    </p:set>
                                    <p:animEffect filter="fade" transition="in">
                                      <p:cBhvr>
                                        <p:cTn dur="1000"/>
                                        <p:tgtEl>
                                          <p:spTgt spid="1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55"/>
          <p:cNvSpPr txBox="1"/>
          <p:nvPr>
            <p:ph idx="1" type="body"/>
          </p:nvPr>
        </p:nvSpPr>
        <p:spPr>
          <a:xfrm>
            <a:off x="152400" y="1066800"/>
            <a:ext cx="11811000" cy="5334000"/>
          </a:xfrm>
          <a:prstGeom prst="rect">
            <a:avLst/>
          </a:prstGeom>
          <a:noFill/>
          <a:ln>
            <a:noFill/>
          </a:ln>
        </p:spPr>
        <p:txBody>
          <a:bodyPr anchorCtr="0" anchor="t" bIns="45700" lIns="91425" spcFirstLastPara="1" rIns="91425" wrap="square" tIns="45700">
            <a:noAutofit/>
          </a:bodyPr>
          <a:lstStyle/>
          <a:p>
            <a:pPr indent="-457200" lvl="0" marL="457200" rtl="0" algn="just">
              <a:spcBef>
                <a:spcPts val="0"/>
              </a:spcBef>
              <a:spcAft>
                <a:spcPts val="0"/>
              </a:spcAft>
              <a:buClr>
                <a:schemeClr val="dk1"/>
              </a:buClr>
              <a:buSzPts val="2800"/>
              <a:buAutoNum type="arabicPeriod"/>
            </a:pPr>
            <a:r>
              <a:rPr lang="en-US" sz="2800">
                <a:latin typeface="Times New Roman"/>
                <a:ea typeface="Times New Roman"/>
                <a:cs typeface="Times New Roman"/>
                <a:sym typeface="Times New Roman"/>
              </a:rPr>
              <a:t>Trình ứng dụng không được sử dụng không gian bộ nhớ dành cho bảng vector ngắt (trong trường hợp hệ thống sử dụng ngắt). Do vậy, mã chương trình được đặt từ địa chỉ 30h. Lệnh LJMP lái bộ điều khiển tránh khỏi bảng vector ngắt.</a:t>
            </a:r>
            <a:endParaRPr/>
          </a:p>
          <a:p>
            <a:pPr indent="-457200" lvl="0" marL="457200" rtl="0" algn="just">
              <a:spcBef>
                <a:spcPts val="1200"/>
              </a:spcBef>
              <a:spcAft>
                <a:spcPts val="0"/>
              </a:spcAft>
              <a:buClr>
                <a:schemeClr val="dk1"/>
              </a:buClr>
              <a:buSzPts val="2800"/>
              <a:buAutoNum type="arabicPeriod"/>
            </a:pPr>
            <a:r>
              <a:rPr lang="en-US" sz="2800">
                <a:latin typeface="Times New Roman"/>
                <a:ea typeface="Times New Roman"/>
                <a:cs typeface="Times New Roman"/>
                <a:sym typeface="Times New Roman"/>
              </a:rPr>
              <a:t>Nếu trình phục vụ ngắt (ISR) có kích thước nhỏ đặt vừa trong không gian nhớ dành cho ngắt trong bảng vector ngắt thì bắt đầu từ địa chỉ tương ứng (</a:t>
            </a:r>
            <a:r>
              <a:rPr lang="en-US" sz="2800">
                <a:solidFill>
                  <a:srgbClr val="C00000"/>
                </a:solidFill>
                <a:latin typeface="Times New Roman"/>
                <a:ea typeface="Times New Roman"/>
                <a:cs typeface="Times New Roman"/>
                <a:sym typeface="Times New Roman"/>
              </a:rPr>
              <a:t>ví dụ 4.3</a:t>
            </a:r>
            <a:r>
              <a:rPr lang="en-US" sz="2800">
                <a:latin typeface="Times New Roman"/>
                <a:ea typeface="Times New Roman"/>
                <a:cs typeface="Times New Roman"/>
                <a:sym typeface="Times New Roman"/>
              </a:rPr>
              <a:t>). Nếu kích thước ISR lớn hơn không gian nhớ dành cho ngắt thì sử dụng thêm vùng chương trình (</a:t>
            </a:r>
            <a:r>
              <a:rPr lang="en-US" sz="2800">
                <a:solidFill>
                  <a:srgbClr val="C00000"/>
                </a:solidFill>
                <a:latin typeface="Times New Roman"/>
                <a:ea typeface="Times New Roman"/>
                <a:cs typeface="Times New Roman"/>
                <a:sym typeface="Times New Roman"/>
              </a:rPr>
              <a:t>ví dụ 4.4</a:t>
            </a:r>
            <a:r>
              <a:rPr lang="en-US" sz="2800">
                <a:latin typeface="Times New Roman"/>
                <a:ea typeface="Times New Roman"/>
                <a:cs typeface="Times New Roman"/>
                <a:sym typeface="Times New Roman"/>
              </a:rPr>
              <a:t>).</a:t>
            </a:r>
            <a:endParaRPr/>
          </a:p>
          <a:p>
            <a:pPr indent="-457200" lvl="0" marL="457200" rtl="0" algn="just">
              <a:spcBef>
                <a:spcPts val="1200"/>
              </a:spcBef>
              <a:spcAft>
                <a:spcPts val="0"/>
              </a:spcAft>
              <a:buClr>
                <a:schemeClr val="dk1"/>
              </a:buClr>
              <a:buSzPts val="2800"/>
              <a:buAutoNum type="arabicPeriod"/>
            </a:pPr>
            <a:r>
              <a:rPr lang="en-US" sz="2800">
                <a:latin typeface="Times New Roman"/>
                <a:ea typeface="Times New Roman"/>
                <a:cs typeface="Times New Roman"/>
                <a:sym typeface="Times New Roman"/>
              </a:rPr>
              <a:t>Mỗi khi bộ Timer quay về 0 thì cờ TFx được bật lên, bộ VĐK sẽ nhảy tới vector ngắt tương ứng để thực hiện trình phục ngắt (ISR)</a:t>
            </a:r>
            <a:endParaRPr/>
          </a:p>
          <a:p>
            <a:pPr indent="-457200" lvl="0" marL="457200" rtl="0" algn="just">
              <a:spcBef>
                <a:spcPts val="1200"/>
              </a:spcBef>
              <a:spcAft>
                <a:spcPts val="0"/>
              </a:spcAft>
              <a:buClr>
                <a:schemeClr val="dk1"/>
              </a:buClr>
              <a:buSzPts val="2800"/>
              <a:buAutoNum type="arabicPeriod"/>
            </a:pPr>
            <a:r>
              <a:rPr lang="en-US" sz="2800">
                <a:latin typeface="Times New Roman"/>
                <a:ea typeface="Times New Roman"/>
                <a:cs typeface="Times New Roman"/>
                <a:sym typeface="Times New Roman"/>
              </a:rPr>
              <a:t>Trong trình phục vụ ngắt không cần thực hiện lệnh “CLR TFx” trước lệnh RETI vì 8051 sẽ xóa cở TF khi nhảy tới bảng vector ngắt.</a:t>
            </a:r>
            <a:endParaRPr/>
          </a:p>
        </p:txBody>
      </p:sp>
      <p:sp>
        <p:nvSpPr>
          <p:cNvPr id="1528" name="Google Shape;1528;p155"/>
          <p:cNvSpPr txBox="1"/>
          <p:nvPr>
            <p:ph type="title"/>
          </p:nvPr>
        </p:nvSpPr>
        <p:spPr>
          <a:xfrm>
            <a:off x="152400" y="152400"/>
            <a:ext cx="89916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4.3. Lập trình ngắt bộ định thời </a:t>
            </a:r>
            <a:r>
              <a:rPr b="1" lang="en-US" sz="3600">
                <a:solidFill>
                  <a:srgbClr val="C00000"/>
                </a:solidFill>
                <a:latin typeface="Times New Roman"/>
                <a:ea typeface="Times New Roman"/>
                <a:cs typeface="Times New Roman"/>
                <a:sym typeface="Times New Roman"/>
              </a:rPr>
              <a:t>– Một số lưu ý</a:t>
            </a:r>
            <a:endParaRPr/>
          </a:p>
        </p:txBody>
      </p:sp>
      <p:sp>
        <p:nvSpPr>
          <p:cNvPr id="1529" name="Google Shape;1529;p15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xEl>
                                              <p:pRg end="0" st="0"/>
                                            </p:txEl>
                                          </p:spTgt>
                                        </p:tgtEl>
                                        <p:attrNameLst>
                                          <p:attrName>style.visibility</p:attrName>
                                        </p:attrNameLst>
                                      </p:cBhvr>
                                      <p:to>
                                        <p:strVal val="visible"/>
                                      </p:to>
                                    </p:set>
                                    <p:animEffect filter="fade" transition="in">
                                      <p:cBhvr>
                                        <p:cTn dur="1000"/>
                                        <p:tgtEl>
                                          <p:spTgt spid="15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xEl>
                                              <p:pRg end="1" st="1"/>
                                            </p:txEl>
                                          </p:spTgt>
                                        </p:tgtEl>
                                        <p:attrNameLst>
                                          <p:attrName>style.visibility</p:attrName>
                                        </p:attrNameLst>
                                      </p:cBhvr>
                                      <p:to>
                                        <p:strVal val="visible"/>
                                      </p:to>
                                    </p:set>
                                    <p:animEffect filter="fade" transition="in">
                                      <p:cBhvr>
                                        <p:cTn dur="1000"/>
                                        <p:tgtEl>
                                          <p:spTgt spid="15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xEl>
                                              <p:pRg end="2" st="2"/>
                                            </p:txEl>
                                          </p:spTgt>
                                        </p:tgtEl>
                                        <p:attrNameLst>
                                          <p:attrName>style.visibility</p:attrName>
                                        </p:attrNameLst>
                                      </p:cBhvr>
                                      <p:to>
                                        <p:strVal val="visible"/>
                                      </p:to>
                                    </p:set>
                                    <p:animEffect filter="fade" transition="in">
                                      <p:cBhvr>
                                        <p:cTn dur="1000"/>
                                        <p:tgtEl>
                                          <p:spTgt spid="15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7">
                                            <p:txEl>
                                              <p:pRg end="3" st="3"/>
                                            </p:txEl>
                                          </p:spTgt>
                                        </p:tgtEl>
                                        <p:attrNameLst>
                                          <p:attrName>style.visibility</p:attrName>
                                        </p:attrNameLst>
                                      </p:cBhvr>
                                      <p:to>
                                        <p:strVal val="visible"/>
                                      </p:to>
                                    </p:set>
                                    <p:animEffect filter="fade" transition="in">
                                      <p:cBhvr>
                                        <p:cTn dur="1000"/>
                                        <p:tgtEl>
                                          <p:spTgt spid="152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56"/>
          <p:cNvSpPr txBox="1"/>
          <p:nvPr/>
        </p:nvSpPr>
        <p:spPr>
          <a:xfrm>
            <a:off x="152400" y="838200"/>
            <a:ext cx="11734800" cy="5334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Bài tập 4.1. </a:t>
            </a:r>
            <a:r>
              <a:rPr lang="en-US" sz="2800">
                <a:solidFill>
                  <a:schemeClr val="dk1"/>
                </a:solidFill>
                <a:latin typeface="Times New Roman"/>
                <a:ea typeface="Times New Roman"/>
                <a:cs typeface="Times New Roman"/>
                <a:sym typeface="Times New Roman"/>
              </a:rPr>
              <a:t>Viết chương trình nhận liên tục dữ liệu 8 bit từ công P0 và gửi ra cổng P1. Trong thời gian nhận và gửi dữ liệu tạo một sóng vuông với mức cao kéo dài 1000µs, mức thấp dài 500µs. Sử dụng ngắt Timer 1, chế độ; tần số của 8051 là XTAL = 12MHz	</a:t>
            </a:r>
            <a:endParaRPr/>
          </a:p>
          <a:p>
            <a:pPr indent="0" lvl="0" marL="0" marR="0" rtl="0" algn="just">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Trễ 1000µs → nội dung TH1 FCh; TL1=18h (xem ví dụ 3.3)</a:t>
            </a:r>
            <a:endParaRPr/>
          </a:p>
          <a:p>
            <a:pPr indent="-165100" lvl="0" marL="342900" marR="0" rtl="0" algn="just">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Trễ 500µs → nội dung TH1=?, TL1=? </a:t>
            </a:r>
            <a:endParaRPr/>
          </a:p>
          <a:p>
            <a:pPr indent="-203200" lvl="0" marL="342900" marR="0" rtl="0" algn="just">
              <a:spcBef>
                <a:spcPts val="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0" lvl="0" marL="0" marR="0" rtl="0" algn="just">
              <a:spcBef>
                <a:spcPts val="440"/>
              </a:spcBef>
              <a:spcAft>
                <a:spcPts val="0"/>
              </a:spcAft>
              <a:buClr>
                <a:schemeClr val="dk1"/>
              </a:buClr>
              <a:buSzPts val="2200"/>
              <a:buFont typeface="Arial"/>
              <a:buNone/>
            </a:pPr>
            <a:r>
              <a:t/>
            </a:r>
            <a:endParaRPr b="1" sz="2200">
              <a:solidFill>
                <a:schemeClr val="dk1"/>
              </a:solidFill>
              <a:latin typeface="Times New Roman"/>
              <a:ea typeface="Times New Roman"/>
              <a:cs typeface="Times New Roman"/>
              <a:sym typeface="Times New Roman"/>
            </a:endParaRPr>
          </a:p>
        </p:txBody>
      </p:sp>
      <p:sp>
        <p:nvSpPr>
          <p:cNvPr id="1536" name="Google Shape;1536;p156">
            <a:hlinkClick r:id="rId3"/>
          </p:cNvPr>
          <p:cNvSpPr/>
          <p:nvPr/>
        </p:nvSpPr>
        <p:spPr>
          <a:xfrm>
            <a:off x="3002280" y="5330190"/>
            <a:ext cx="73152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7" name="Google Shape;1537;p156">
            <a:hlinkClick r:id="rId4"/>
          </p:cNvPr>
          <p:cNvSpPr/>
          <p:nvPr/>
        </p:nvSpPr>
        <p:spPr>
          <a:xfrm>
            <a:off x="8252460" y="5262503"/>
            <a:ext cx="731520" cy="4572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8" name="Google Shape;1538;p156"/>
          <p:cNvSpPr txBox="1"/>
          <p:nvPr>
            <p:ph type="title"/>
          </p:nvPr>
        </p:nvSpPr>
        <p:spPr>
          <a:xfrm>
            <a:off x="30480" y="122238"/>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4.3. Lập trình ngắt bộ định thời </a:t>
            </a:r>
            <a:r>
              <a:rPr b="1" lang="en-US" sz="3600">
                <a:solidFill>
                  <a:srgbClr val="C00000"/>
                </a:solidFill>
                <a:latin typeface="Times New Roman"/>
                <a:ea typeface="Times New Roman"/>
                <a:cs typeface="Times New Roman"/>
                <a:sym typeface="Times New Roman"/>
              </a:rPr>
              <a:t>– Bài tập</a:t>
            </a:r>
            <a:endParaRPr b="1" sz="3600">
              <a:solidFill>
                <a:srgbClr val="C00000"/>
              </a:solidFill>
              <a:latin typeface="Times New Roman"/>
              <a:ea typeface="Times New Roman"/>
              <a:cs typeface="Times New Roman"/>
              <a:sym typeface="Times New Roman"/>
            </a:endParaRPr>
          </a:p>
        </p:txBody>
      </p:sp>
      <p:sp>
        <p:nvSpPr>
          <p:cNvPr id="1539" name="Google Shape;1539;p156"/>
          <p:cNvSpPr txBox="1"/>
          <p:nvPr/>
        </p:nvSpPr>
        <p:spPr>
          <a:xfrm>
            <a:off x="838200" y="5258038"/>
            <a:ext cx="1981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Phần mềm</a:t>
            </a:r>
            <a:endParaRPr sz="2400">
              <a:solidFill>
                <a:schemeClr val="dk1"/>
              </a:solidFill>
              <a:latin typeface="Calibri"/>
              <a:ea typeface="Calibri"/>
              <a:cs typeface="Calibri"/>
              <a:sym typeface="Calibri"/>
            </a:endParaRPr>
          </a:p>
        </p:txBody>
      </p:sp>
      <p:sp>
        <p:nvSpPr>
          <p:cNvPr id="1540" name="Google Shape;1540;p156"/>
          <p:cNvSpPr txBox="1"/>
          <p:nvPr/>
        </p:nvSpPr>
        <p:spPr>
          <a:xfrm>
            <a:off x="6019800" y="5261848"/>
            <a:ext cx="1905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Phần cứng</a:t>
            </a:r>
            <a:endParaRPr sz="2400">
              <a:solidFill>
                <a:schemeClr val="dk1"/>
              </a:solidFill>
              <a:latin typeface="Calibri"/>
              <a:ea typeface="Calibri"/>
              <a:cs typeface="Calibri"/>
              <a:sym typeface="Calibri"/>
            </a:endParaRPr>
          </a:p>
        </p:txBody>
      </p:sp>
      <p:sp>
        <p:nvSpPr>
          <p:cNvPr id="1541" name="Google Shape;1541;p15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0" st="0"/>
                                            </p:txEl>
                                          </p:spTgt>
                                        </p:tgtEl>
                                        <p:attrNameLst>
                                          <p:attrName>style.visibility</p:attrName>
                                        </p:attrNameLst>
                                      </p:cBhvr>
                                      <p:to>
                                        <p:strVal val="visible"/>
                                      </p:to>
                                    </p:set>
                                    <p:animEffect filter="fade" transition="in">
                                      <p:cBhvr>
                                        <p:cTn dur="1000"/>
                                        <p:tgtEl>
                                          <p:spTgt spid="15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1" st="1"/>
                                            </p:txEl>
                                          </p:spTgt>
                                        </p:tgtEl>
                                        <p:attrNameLst>
                                          <p:attrName>style.visibility</p:attrName>
                                        </p:attrNameLst>
                                      </p:cBhvr>
                                      <p:to>
                                        <p:strVal val="visible"/>
                                      </p:to>
                                    </p:set>
                                    <p:animEffect filter="fade" transition="in">
                                      <p:cBhvr>
                                        <p:cTn dur="1000"/>
                                        <p:tgtEl>
                                          <p:spTgt spid="15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2" st="2"/>
                                            </p:txEl>
                                          </p:spTgt>
                                        </p:tgtEl>
                                        <p:attrNameLst>
                                          <p:attrName>style.visibility</p:attrName>
                                        </p:attrNameLst>
                                      </p:cBhvr>
                                      <p:to>
                                        <p:strVal val="visible"/>
                                      </p:to>
                                    </p:set>
                                    <p:animEffect filter="fade" transition="in">
                                      <p:cBhvr>
                                        <p:cTn dur="1000"/>
                                        <p:tgtEl>
                                          <p:spTgt spid="15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3" st="3"/>
                                            </p:txEl>
                                          </p:spTgt>
                                        </p:tgtEl>
                                        <p:attrNameLst>
                                          <p:attrName>style.visibility</p:attrName>
                                        </p:attrNameLst>
                                      </p:cBhvr>
                                      <p:to>
                                        <p:strVal val="visible"/>
                                      </p:to>
                                    </p:set>
                                    <p:animEffect filter="fade" transition="in">
                                      <p:cBhvr>
                                        <p:cTn dur="1000"/>
                                        <p:tgtEl>
                                          <p:spTgt spid="15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4" st="4"/>
                                            </p:txEl>
                                          </p:spTgt>
                                        </p:tgtEl>
                                        <p:attrNameLst>
                                          <p:attrName>style.visibility</p:attrName>
                                        </p:attrNameLst>
                                      </p:cBhvr>
                                      <p:to>
                                        <p:strVal val="visible"/>
                                      </p:to>
                                    </p:set>
                                    <p:animEffect filter="fade" transition="in">
                                      <p:cBhvr>
                                        <p:cTn dur="1000"/>
                                        <p:tgtEl>
                                          <p:spTgt spid="15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5" st="5"/>
                                            </p:txEl>
                                          </p:spTgt>
                                        </p:tgtEl>
                                        <p:attrNameLst>
                                          <p:attrName>style.visibility</p:attrName>
                                        </p:attrNameLst>
                                      </p:cBhvr>
                                      <p:to>
                                        <p:strVal val="visible"/>
                                      </p:to>
                                    </p:set>
                                    <p:animEffect filter="fade" transition="in">
                                      <p:cBhvr>
                                        <p:cTn dur="1000"/>
                                        <p:tgtEl>
                                          <p:spTgt spid="15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5">
                                            <p:txEl>
                                              <p:pRg end="6" st="6"/>
                                            </p:txEl>
                                          </p:spTgt>
                                        </p:tgtEl>
                                        <p:attrNameLst>
                                          <p:attrName>style.visibility</p:attrName>
                                        </p:attrNameLst>
                                      </p:cBhvr>
                                      <p:to>
                                        <p:strVal val="visible"/>
                                      </p:to>
                                    </p:set>
                                    <p:animEffect filter="fade" transition="in">
                                      <p:cBhvr>
                                        <p:cTn dur="1000"/>
                                        <p:tgtEl>
                                          <p:spTgt spid="15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9"/>
                                        </p:tgtEl>
                                        <p:attrNameLst>
                                          <p:attrName>style.visibility</p:attrName>
                                        </p:attrNameLst>
                                      </p:cBhvr>
                                      <p:to>
                                        <p:strVal val="visible"/>
                                      </p:to>
                                    </p:set>
                                    <p:animEffect filter="fade" transition="in">
                                      <p:cBhvr>
                                        <p:cTn dur="1000"/>
                                        <p:tgtEl>
                                          <p:spTgt spid="1539"/>
                                        </p:tgtEl>
                                      </p:cBhvr>
                                    </p:animEffect>
                                  </p:childTnLst>
                                </p:cTn>
                              </p:par>
                              <p:par>
                                <p:cTn fill="hold" nodeType="withEffect" presetClass="entr" presetID="10" presetSubtype="0">
                                  <p:stCondLst>
                                    <p:cond delay="0"/>
                                  </p:stCondLst>
                                  <p:childTnLst>
                                    <p:set>
                                      <p:cBhvr>
                                        <p:cTn dur="1" fill="hold">
                                          <p:stCondLst>
                                            <p:cond delay="0"/>
                                          </p:stCondLst>
                                        </p:cTn>
                                        <p:tgtEl>
                                          <p:spTgt spid="1536"/>
                                        </p:tgtEl>
                                        <p:attrNameLst>
                                          <p:attrName>style.visibility</p:attrName>
                                        </p:attrNameLst>
                                      </p:cBhvr>
                                      <p:to>
                                        <p:strVal val="visible"/>
                                      </p:to>
                                    </p:set>
                                    <p:animEffect filter="fade" transition="in">
                                      <p:cBhvr>
                                        <p:cTn dur="1000"/>
                                        <p:tgtEl>
                                          <p:spTgt spid="1536"/>
                                        </p:tgtEl>
                                      </p:cBhvr>
                                    </p:animEffect>
                                  </p:childTnLst>
                                </p:cTn>
                              </p:par>
                              <p:par>
                                <p:cTn fill="hold" nodeType="withEffect" presetClass="entr" presetID="10" presetSubtype="0">
                                  <p:stCondLst>
                                    <p:cond delay="0"/>
                                  </p:stCondLst>
                                  <p:childTnLst>
                                    <p:set>
                                      <p:cBhvr>
                                        <p:cTn dur="1" fill="hold">
                                          <p:stCondLst>
                                            <p:cond delay="0"/>
                                          </p:stCondLst>
                                        </p:cTn>
                                        <p:tgtEl>
                                          <p:spTgt spid="1540"/>
                                        </p:tgtEl>
                                        <p:attrNameLst>
                                          <p:attrName>style.visibility</p:attrName>
                                        </p:attrNameLst>
                                      </p:cBhvr>
                                      <p:to>
                                        <p:strVal val="visible"/>
                                      </p:to>
                                    </p:set>
                                    <p:animEffect filter="fade" transition="in">
                                      <p:cBhvr>
                                        <p:cTn dur="1000"/>
                                        <p:tgtEl>
                                          <p:spTgt spid="1540"/>
                                        </p:tgtEl>
                                      </p:cBhvr>
                                    </p:animEffect>
                                  </p:childTnLst>
                                </p:cTn>
                              </p:par>
                              <p:par>
                                <p:cTn fill="hold" nodeType="withEffect" presetClass="entr" presetID="10" presetSubtype="0">
                                  <p:stCondLst>
                                    <p:cond delay="0"/>
                                  </p:stCondLst>
                                  <p:childTnLst>
                                    <p:set>
                                      <p:cBhvr>
                                        <p:cTn dur="1" fill="hold">
                                          <p:stCondLst>
                                            <p:cond delay="0"/>
                                          </p:stCondLst>
                                        </p:cTn>
                                        <p:tgtEl>
                                          <p:spTgt spid="1537"/>
                                        </p:tgtEl>
                                        <p:attrNameLst>
                                          <p:attrName>style.visibility</p:attrName>
                                        </p:attrNameLst>
                                      </p:cBhvr>
                                      <p:to>
                                        <p:strVal val="visible"/>
                                      </p:to>
                                    </p:set>
                                    <p:animEffect filter="fade" transition="in">
                                      <p:cBhvr>
                                        <p:cTn dur="1000"/>
                                        <p:tgtEl>
                                          <p:spTgt spid="1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157"/>
          <p:cNvSpPr txBox="1"/>
          <p:nvPr>
            <p:ph type="title"/>
          </p:nvPr>
        </p:nvSpPr>
        <p:spPr>
          <a:xfrm>
            <a:off x="15240" y="76200"/>
            <a:ext cx="11437714" cy="639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4.4. Lập trình ngắt cứng ngoài</a:t>
            </a:r>
            <a:endParaRPr b="1" sz="3600">
              <a:solidFill>
                <a:srgbClr val="002060"/>
              </a:solidFill>
              <a:latin typeface="Times New Roman"/>
              <a:ea typeface="Times New Roman"/>
              <a:cs typeface="Times New Roman"/>
              <a:sym typeface="Times New Roman"/>
            </a:endParaRPr>
          </a:p>
        </p:txBody>
      </p:sp>
      <p:pic>
        <p:nvPicPr>
          <p:cNvPr id="1548" name="Google Shape;1548;p157"/>
          <p:cNvPicPr preferRelativeResize="0"/>
          <p:nvPr/>
        </p:nvPicPr>
        <p:blipFill rotWithShape="1">
          <a:blip r:embed="rId3">
            <a:alphaModFix/>
          </a:blip>
          <a:srcRect b="0" l="0" r="0" t="0"/>
          <a:stretch/>
        </p:blipFill>
        <p:spPr>
          <a:xfrm>
            <a:off x="2057400" y="1752600"/>
            <a:ext cx="7210490" cy="1981200"/>
          </a:xfrm>
          <a:prstGeom prst="rect">
            <a:avLst/>
          </a:prstGeom>
          <a:noFill/>
          <a:ln>
            <a:noFill/>
          </a:ln>
        </p:spPr>
      </p:pic>
      <p:pic>
        <p:nvPicPr>
          <p:cNvPr id="1549" name="Google Shape;1549;p157"/>
          <p:cNvPicPr preferRelativeResize="0"/>
          <p:nvPr/>
        </p:nvPicPr>
        <p:blipFill rotWithShape="1">
          <a:blip r:embed="rId4">
            <a:alphaModFix/>
          </a:blip>
          <a:srcRect b="0" l="0" r="0" t="0"/>
          <a:stretch/>
        </p:blipFill>
        <p:spPr>
          <a:xfrm>
            <a:off x="2072640" y="4419600"/>
            <a:ext cx="7362890" cy="1982850"/>
          </a:xfrm>
          <a:prstGeom prst="rect">
            <a:avLst/>
          </a:prstGeom>
          <a:noFill/>
          <a:ln>
            <a:noFill/>
          </a:ln>
        </p:spPr>
      </p:pic>
      <p:sp>
        <p:nvSpPr>
          <p:cNvPr id="1550" name="Google Shape;1550;p157"/>
          <p:cNvSpPr/>
          <p:nvPr/>
        </p:nvSpPr>
        <p:spPr>
          <a:xfrm>
            <a:off x="105230" y="715962"/>
            <a:ext cx="11384280" cy="830997"/>
          </a:xfrm>
          <a:prstGeom prst="rect">
            <a:avLst/>
          </a:prstGeom>
          <a:noFill/>
          <a:ln>
            <a:noFill/>
          </a:ln>
        </p:spPr>
        <p:txBody>
          <a:bodyPr anchorCtr="0" anchor="t" bIns="45700" lIns="91425" spcFirstLastPara="1" rIns="91425" wrap="square" tIns="45700">
            <a:spAutoFit/>
          </a:bodyPr>
          <a:lstStyle/>
          <a:p>
            <a:pPr indent="396875"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8051 có 02 ngắt cứng ngoài INT0 (P3.2), INT1 (P3.3). Vector ngắt tương ứng là 0003h và 0013h. Có 02 cách kích hoạt ngắt cứng ngoài là theo mức hoặc theo sườn.</a:t>
            </a:r>
            <a:endParaRPr sz="2400">
              <a:solidFill>
                <a:schemeClr val="dk1"/>
              </a:solidFill>
              <a:latin typeface="Calibri"/>
              <a:ea typeface="Calibri"/>
              <a:cs typeface="Calibri"/>
              <a:sym typeface="Calibri"/>
            </a:endParaRPr>
          </a:p>
        </p:txBody>
      </p:sp>
      <p:sp>
        <p:nvSpPr>
          <p:cNvPr id="1551" name="Google Shape;1551;p15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0"/>
                                        </p:tgtEl>
                                        <p:attrNameLst>
                                          <p:attrName>style.visibility</p:attrName>
                                        </p:attrNameLst>
                                      </p:cBhvr>
                                      <p:to>
                                        <p:strVal val="visible"/>
                                      </p:to>
                                    </p:set>
                                    <p:animEffect filter="fade" transition="in">
                                      <p:cBhvr>
                                        <p:cTn dur="1000"/>
                                        <p:tgtEl>
                                          <p:spTgt spid="15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8"/>
                                        </p:tgtEl>
                                        <p:attrNameLst>
                                          <p:attrName>style.visibility</p:attrName>
                                        </p:attrNameLst>
                                      </p:cBhvr>
                                      <p:to>
                                        <p:strVal val="visible"/>
                                      </p:to>
                                    </p:set>
                                    <p:animEffect filter="fade" transition="in">
                                      <p:cBhvr>
                                        <p:cTn dur="1000"/>
                                        <p:tgtEl>
                                          <p:spTgt spid="1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9"/>
                                        </p:tgtEl>
                                        <p:attrNameLst>
                                          <p:attrName>style.visibility</p:attrName>
                                        </p:attrNameLst>
                                      </p:cBhvr>
                                      <p:to>
                                        <p:strVal val="visible"/>
                                      </p:to>
                                    </p:set>
                                    <p:animEffect filter="fade" transition="in">
                                      <p:cBhvr>
                                        <p:cTn dur="1000"/>
                                        <p:tgtEl>
                                          <p:spTgt spid="15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158"/>
          <p:cNvSpPr txBox="1"/>
          <p:nvPr>
            <p:ph type="title"/>
          </p:nvPr>
        </p:nvSpPr>
        <p:spPr>
          <a:xfrm>
            <a:off x="15240" y="76200"/>
            <a:ext cx="11437714" cy="639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4.4. Lập trình ngắt cứng ngoài </a:t>
            </a:r>
            <a:r>
              <a:rPr b="1" lang="en-US" sz="3600">
                <a:solidFill>
                  <a:srgbClr val="C00000"/>
                </a:solidFill>
                <a:latin typeface="Times New Roman"/>
                <a:ea typeface="Times New Roman"/>
                <a:cs typeface="Times New Roman"/>
                <a:sym typeface="Times New Roman"/>
              </a:rPr>
              <a:t>- Kích hoạt ngắt theo mức (1)</a:t>
            </a:r>
            <a:endParaRPr b="1" sz="3600">
              <a:solidFill>
                <a:srgbClr val="002060"/>
              </a:solidFill>
              <a:latin typeface="Times New Roman"/>
              <a:ea typeface="Times New Roman"/>
              <a:cs typeface="Times New Roman"/>
              <a:sym typeface="Times New Roman"/>
            </a:endParaRPr>
          </a:p>
        </p:txBody>
      </p:sp>
      <p:sp>
        <p:nvSpPr>
          <p:cNvPr id="1558" name="Google Shape;1558;p158"/>
          <p:cNvSpPr txBox="1"/>
          <p:nvPr/>
        </p:nvSpPr>
        <p:spPr>
          <a:xfrm>
            <a:off x="228600" y="1524000"/>
            <a:ext cx="11582400" cy="3886200"/>
          </a:xfrm>
          <a:prstGeom prst="rect">
            <a:avLst/>
          </a:prstGeom>
          <a:noFill/>
          <a:ln>
            <a:noFill/>
          </a:ln>
        </p:spPr>
        <p:txBody>
          <a:bodyPr anchorCtr="0" anchor="t" bIns="45700" lIns="91425" spcFirstLastPara="1" rIns="91425" wrap="square" tIns="45700">
            <a:noAutofit/>
          </a:bodyPr>
          <a:lstStyle/>
          <a:p>
            <a:pPr indent="457200" lvl="0" marL="0" marR="0" rtl="0" algn="just">
              <a:spcBef>
                <a:spcPts val="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Là chế độ mặc định khi khởi động hoặc Reset. Ở chế độ này, các chân INT0 và INT1 bình hường ở mức cao, khi có tín hiệu mức thấp cấp tới tín hiệu được kích hoạt. Khi đó bộ VĐK sẽ dừng chương trình chính và chuyển sang thực hiện ISR có vector ngắt tương ứng. </a:t>
            </a:r>
            <a:endParaRPr/>
          </a:p>
          <a:p>
            <a:pPr indent="457200" lvl="0" marL="0" marR="0" rtl="0" algn="just">
              <a:spcBef>
                <a:spcPts val="120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Trước khi thực hiện lệnh RETI mức thấp tại chân INTx phải chuyển sang mức cao, nếu không sẽ tạo ra một ngắt khác. Tức là, nếu vẫn duy ở mức thấp khi ISR kết thúc 8051 sẽ hiểu là có một ngắt mới và nhảy đến bảng vector ngắt để thực hiện ISR</a:t>
            </a:r>
            <a:endParaRPr/>
          </a:p>
        </p:txBody>
      </p:sp>
      <p:sp>
        <p:nvSpPr>
          <p:cNvPr id="1559" name="Google Shape;1559;p15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8">
                                            <p:txEl>
                                              <p:pRg end="0" st="0"/>
                                            </p:txEl>
                                          </p:spTgt>
                                        </p:tgtEl>
                                        <p:attrNameLst>
                                          <p:attrName>style.visibility</p:attrName>
                                        </p:attrNameLst>
                                      </p:cBhvr>
                                      <p:to>
                                        <p:strVal val="visible"/>
                                      </p:to>
                                    </p:set>
                                    <p:animEffect filter="fade" transition="in">
                                      <p:cBhvr>
                                        <p:cTn dur="1000"/>
                                        <p:tgtEl>
                                          <p:spTgt spid="15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8">
                                            <p:txEl>
                                              <p:pRg end="1" st="1"/>
                                            </p:txEl>
                                          </p:spTgt>
                                        </p:tgtEl>
                                        <p:attrNameLst>
                                          <p:attrName>style.visibility</p:attrName>
                                        </p:attrNameLst>
                                      </p:cBhvr>
                                      <p:to>
                                        <p:strVal val="visible"/>
                                      </p:to>
                                    </p:set>
                                    <p:animEffect filter="fade" transition="in">
                                      <p:cBhvr>
                                        <p:cTn dur="1000"/>
                                        <p:tgtEl>
                                          <p:spTgt spid="155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p159"/>
          <p:cNvSpPr txBox="1"/>
          <p:nvPr/>
        </p:nvSpPr>
        <p:spPr>
          <a:xfrm>
            <a:off x="381000" y="685800"/>
            <a:ext cx="11506200" cy="59436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Ví dụ 4.5. </a:t>
            </a:r>
            <a:r>
              <a:rPr lang="en-US" sz="2400">
                <a:solidFill>
                  <a:schemeClr val="dk1"/>
                </a:solidFill>
                <a:latin typeface="Times New Roman"/>
                <a:ea typeface="Times New Roman"/>
                <a:cs typeface="Times New Roman"/>
                <a:sym typeface="Times New Roman"/>
              </a:rPr>
              <a:t>Giả sử chân INT được nối đến công tắc bình thường ở mức cao. Mỗi khi chân này xuống thấp thì bật đèn LED. Đèn LED được nối đến chân P2.0 và bình thường ở chế độ tắt. Nếu đèn được bật thì cần phải sáng vài phần giây. Khi công tắc được ấn xuống, đèn LED sáng liên tục</a:t>
            </a:r>
            <a:endParaRPr sz="2400">
              <a:solidFill>
                <a:srgbClr val="C00000"/>
              </a:solidFill>
              <a:latin typeface="Times New Roman"/>
              <a:ea typeface="Times New Roman"/>
              <a:cs typeface="Times New Roman"/>
              <a:sym typeface="Times New Roman"/>
            </a:endParaRPr>
          </a:p>
        </p:txBody>
      </p:sp>
      <p:sp>
        <p:nvSpPr>
          <p:cNvPr id="1566" name="Google Shape;1566;p159"/>
          <p:cNvSpPr/>
          <p:nvPr/>
        </p:nvSpPr>
        <p:spPr>
          <a:xfrm>
            <a:off x="1745343" y="2358241"/>
            <a:ext cx="65532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ORG	0000h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LJMP	MAIN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chuong trinh ISR cho ngat ngaoi INT1 de bat LED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0013h		; vector ngat cua Timer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CLR	P2.0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MOV	R3, #255</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BACK:	DJNZ	R3, BACK</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SETB	P2.0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RETI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ORG	0030h		; dia chi chuong trình chính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MAIN:	MOV	IE, #10000100B	; cho phép ngat INT1</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SJMP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END</a:t>
            </a:r>
            <a:endParaRPr/>
          </a:p>
        </p:txBody>
      </p:sp>
      <p:sp>
        <p:nvSpPr>
          <p:cNvPr id="1567" name="Google Shape;1567;p159">
            <a:hlinkClick r:id="rId3"/>
          </p:cNvPr>
          <p:cNvSpPr/>
          <p:nvPr/>
        </p:nvSpPr>
        <p:spPr>
          <a:xfrm>
            <a:off x="9220200" y="4038600"/>
            <a:ext cx="731520" cy="3048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8" name="Google Shape;1568;p159">
            <a:hlinkClick r:id="rId4"/>
          </p:cNvPr>
          <p:cNvSpPr/>
          <p:nvPr/>
        </p:nvSpPr>
        <p:spPr>
          <a:xfrm>
            <a:off x="9220200" y="5562600"/>
            <a:ext cx="731520" cy="3048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9" name="Google Shape;1569;p159"/>
          <p:cNvSpPr txBox="1"/>
          <p:nvPr/>
        </p:nvSpPr>
        <p:spPr>
          <a:xfrm>
            <a:off x="8991600" y="3547030"/>
            <a:ext cx="1219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mềm</a:t>
            </a:r>
            <a:endParaRPr sz="1800">
              <a:solidFill>
                <a:schemeClr val="dk1"/>
              </a:solidFill>
              <a:latin typeface="Calibri"/>
              <a:ea typeface="Calibri"/>
              <a:cs typeface="Calibri"/>
              <a:sym typeface="Calibri"/>
            </a:endParaRPr>
          </a:p>
        </p:txBody>
      </p:sp>
      <p:sp>
        <p:nvSpPr>
          <p:cNvPr id="1570" name="Google Shape;1570;p159"/>
          <p:cNvSpPr txBox="1"/>
          <p:nvPr/>
        </p:nvSpPr>
        <p:spPr>
          <a:xfrm>
            <a:off x="9015549" y="5088215"/>
            <a:ext cx="1219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cứng</a:t>
            </a:r>
            <a:endParaRPr sz="1800">
              <a:solidFill>
                <a:schemeClr val="dk1"/>
              </a:solidFill>
              <a:latin typeface="Calibri"/>
              <a:ea typeface="Calibri"/>
              <a:cs typeface="Calibri"/>
              <a:sym typeface="Calibri"/>
            </a:endParaRPr>
          </a:p>
        </p:txBody>
      </p:sp>
      <p:sp>
        <p:nvSpPr>
          <p:cNvPr id="1571" name="Google Shape;1571;p159"/>
          <p:cNvSpPr txBox="1"/>
          <p:nvPr>
            <p:ph type="title"/>
          </p:nvPr>
        </p:nvSpPr>
        <p:spPr>
          <a:xfrm>
            <a:off x="15240" y="76200"/>
            <a:ext cx="11437714" cy="639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4.4. Lập trình ngắt cứng ngoài </a:t>
            </a:r>
            <a:r>
              <a:rPr b="1" lang="en-US" sz="3600">
                <a:solidFill>
                  <a:srgbClr val="C00000"/>
                </a:solidFill>
                <a:latin typeface="Times New Roman"/>
                <a:ea typeface="Times New Roman"/>
                <a:cs typeface="Times New Roman"/>
                <a:sym typeface="Times New Roman"/>
              </a:rPr>
              <a:t>- Kích hoạt ngắt theo mức (2)</a:t>
            </a:r>
            <a:endParaRPr b="1" sz="3600">
              <a:solidFill>
                <a:srgbClr val="002060"/>
              </a:solidFill>
              <a:latin typeface="Times New Roman"/>
              <a:ea typeface="Times New Roman"/>
              <a:cs typeface="Times New Roman"/>
              <a:sym typeface="Times New Roman"/>
            </a:endParaRPr>
          </a:p>
        </p:txBody>
      </p:sp>
      <p:sp>
        <p:nvSpPr>
          <p:cNvPr id="1572" name="Google Shape;1572;p15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5">
                                            <p:txEl>
                                              <p:pRg end="0" st="0"/>
                                            </p:txEl>
                                          </p:spTgt>
                                        </p:tgtEl>
                                        <p:attrNameLst>
                                          <p:attrName>style.visibility</p:attrName>
                                        </p:attrNameLst>
                                      </p:cBhvr>
                                      <p:to>
                                        <p:strVal val="visible"/>
                                      </p:to>
                                    </p:set>
                                    <p:animEffect filter="fade" transition="in">
                                      <p:cBhvr>
                                        <p:cTn dur="1000"/>
                                        <p:tgtEl>
                                          <p:spTgt spid="15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6"/>
                                        </p:tgtEl>
                                        <p:attrNameLst>
                                          <p:attrName>style.visibility</p:attrName>
                                        </p:attrNameLst>
                                      </p:cBhvr>
                                      <p:to>
                                        <p:strVal val="visible"/>
                                      </p:to>
                                    </p:set>
                                    <p:animEffect filter="fade" transition="in">
                                      <p:cBhvr>
                                        <p:cTn dur="1000"/>
                                        <p:tgtEl>
                                          <p:spTgt spid="1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9"/>
                                        </p:tgtEl>
                                        <p:attrNameLst>
                                          <p:attrName>style.visibility</p:attrName>
                                        </p:attrNameLst>
                                      </p:cBhvr>
                                      <p:to>
                                        <p:strVal val="visible"/>
                                      </p:to>
                                    </p:set>
                                    <p:animEffect filter="fade" transition="in">
                                      <p:cBhvr>
                                        <p:cTn dur="1000"/>
                                        <p:tgtEl>
                                          <p:spTgt spid="1569"/>
                                        </p:tgtEl>
                                      </p:cBhvr>
                                    </p:animEffect>
                                  </p:childTnLst>
                                </p:cTn>
                              </p:par>
                              <p:par>
                                <p:cTn fill="hold" nodeType="withEffect" presetClass="entr" presetID="10" presetSubtype="0">
                                  <p:stCondLst>
                                    <p:cond delay="0"/>
                                  </p:stCondLst>
                                  <p:childTnLst>
                                    <p:set>
                                      <p:cBhvr>
                                        <p:cTn dur="1" fill="hold">
                                          <p:stCondLst>
                                            <p:cond delay="0"/>
                                          </p:stCondLst>
                                        </p:cTn>
                                        <p:tgtEl>
                                          <p:spTgt spid="1567"/>
                                        </p:tgtEl>
                                        <p:attrNameLst>
                                          <p:attrName>style.visibility</p:attrName>
                                        </p:attrNameLst>
                                      </p:cBhvr>
                                      <p:to>
                                        <p:strVal val="visible"/>
                                      </p:to>
                                    </p:set>
                                    <p:animEffect filter="fade" transition="in">
                                      <p:cBhvr>
                                        <p:cTn dur="1000"/>
                                        <p:tgtEl>
                                          <p:spTgt spid="1567"/>
                                        </p:tgtEl>
                                      </p:cBhvr>
                                    </p:animEffect>
                                  </p:childTnLst>
                                </p:cTn>
                              </p:par>
                              <p:par>
                                <p:cTn fill="hold" nodeType="withEffect" presetClass="entr" presetID="10" presetSubtype="0">
                                  <p:stCondLst>
                                    <p:cond delay="0"/>
                                  </p:stCondLst>
                                  <p:childTnLst>
                                    <p:set>
                                      <p:cBhvr>
                                        <p:cTn dur="1" fill="hold">
                                          <p:stCondLst>
                                            <p:cond delay="0"/>
                                          </p:stCondLst>
                                        </p:cTn>
                                        <p:tgtEl>
                                          <p:spTgt spid="1570"/>
                                        </p:tgtEl>
                                        <p:attrNameLst>
                                          <p:attrName>style.visibility</p:attrName>
                                        </p:attrNameLst>
                                      </p:cBhvr>
                                      <p:to>
                                        <p:strVal val="visible"/>
                                      </p:to>
                                    </p:set>
                                    <p:animEffect filter="fade" transition="in">
                                      <p:cBhvr>
                                        <p:cTn dur="1000"/>
                                        <p:tgtEl>
                                          <p:spTgt spid="1570"/>
                                        </p:tgtEl>
                                      </p:cBhvr>
                                    </p:animEffect>
                                  </p:childTnLst>
                                </p:cTn>
                              </p:par>
                              <p:par>
                                <p:cTn fill="hold" nodeType="withEffect" presetClass="entr" presetID="10" presetSubtype="0">
                                  <p:stCondLst>
                                    <p:cond delay="0"/>
                                  </p:stCondLst>
                                  <p:childTnLst>
                                    <p:set>
                                      <p:cBhvr>
                                        <p:cTn dur="1" fill="hold">
                                          <p:stCondLst>
                                            <p:cond delay="0"/>
                                          </p:stCondLst>
                                        </p:cTn>
                                        <p:tgtEl>
                                          <p:spTgt spid="1568"/>
                                        </p:tgtEl>
                                        <p:attrNameLst>
                                          <p:attrName>style.visibility</p:attrName>
                                        </p:attrNameLst>
                                      </p:cBhvr>
                                      <p:to>
                                        <p:strVal val="visible"/>
                                      </p:to>
                                    </p:set>
                                    <p:animEffect filter="fade" transition="in">
                                      <p:cBhvr>
                                        <p:cTn dur="1000"/>
                                        <p:tgtEl>
                                          <p:spTgt spid="15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160"/>
          <p:cNvSpPr txBox="1"/>
          <p:nvPr/>
        </p:nvSpPr>
        <p:spPr>
          <a:xfrm>
            <a:off x="152400" y="685800"/>
            <a:ext cx="11734800" cy="6172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Để đổ cách kích hoạt ngắt theo sườn cần phải lập trình cho các bit của thanh ghi TCON (thanh ghi điều khiển bộ định thời/bộ đếm), Hình 4.2</a:t>
            </a:r>
            <a:endParaRPr/>
          </a:p>
          <a:p>
            <a:pPr indent="0" lvl="0" marL="0" marR="0" rtl="0" algn="just">
              <a:spcBef>
                <a:spcPts val="4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0" lvl="0" marL="0" marR="0" rtl="0" algn="just">
              <a:spcBef>
                <a:spcPts val="4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0" lvl="0" marL="0" marR="0" rtl="0" algn="just">
              <a:spcBef>
                <a:spcPts val="4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0" lvl="0" marL="0" marR="0" rtl="0" algn="ctr">
              <a:spcBef>
                <a:spcPts val="480"/>
              </a:spcBef>
              <a:spcAft>
                <a:spcPts val="0"/>
              </a:spcAft>
              <a:buClr>
                <a:schemeClr val="dk1"/>
              </a:buClr>
              <a:buSzPts val="2400"/>
              <a:buFont typeface="Arial"/>
              <a:buNone/>
            </a:pPr>
            <a:r>
              <a:rPr i="1" lang="en-US" sz="2400">
                <a:solidFill>
                  <a:schemeClr val="dk1"/>
                </a:solidFill>
                <a:latin typeface="Times New Roman"/>
                <a:ea typeface="Times New Roman"/>
                <a:cs typeface="Times New Roman"/>
                <a:sym typeface="Times New Roman"/>
              </a:rPr>
              <a:t>Hình 4.2. TCON – Thành ghi điều khiển bộ định thời/bộ đếm </a:t>
            </a:r>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Bốn bit từ TCON.4 đến TCON.7 (đã tìm hiểu trong mục 3.2)</a:t>
            </a:r>
            <a:endParaRPr/>
          </a:p>
          <a:p>
            <a:pPr indent="-342900" lvl="0" marL="342900" marR="0" rtl="0" algn="just">
              <a:spcBef>
                <a:spcPts val="12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TCON.3 (IE1): </a:t>
            </a:r>
            <a:r>
              <a:rPr lang="en-US" sz="2400">
                <a:solidFill>
                  <a:schemeClr val="dk1"/>
                </a:solidFill>
                <a:latin typeface="Times New Roman"/>
                <a:ea typeface="Times New Roman"/>
                <a:cs typeface="Times New Roman"/>
                <a:sym typeface="Times New Roman"/>
              </a:rPr>
              <a:t>cờ ngắt INT1 (kích hoạt ngắt theo sườn), được CPU thiết lập khi phát hiện có sườn xuống ngắt ngoài và được CPU xóa khi ngắt được xử lý (</a:t>
            </a:r>
            <a:r>
              <a:rPr i="1" lang="en-US" sz="2400">
                <a:solidFill>
                  <a:srgbClr val="C00000"/>
                </a:solidFill>
                <a:latin typeface="Times New Roman"/>
                <a:ea typeface="Times New Roman"/>
                <a:cs typeface="Times New Roman"/>
                <a:sym typeface="Times New Roman"/>
              </a:rPr>
              <a:t>lưu ý: không sử dụng đối với kích hoạt ngắt theo mức</a:t>
            </a:r>
            <a:r>
              <a:rPr lang="en-US" sz="2400">
                <a:solidFill>
                  <a:schemeClr val="dk1"/>
                </a:solidFill>
                <a:latin typeface="Times New Roman"/>
                <a:ea typeface="Times New Roman"/>
                <a:cs typeface="Times New Roman"/>
                <a:sym typeface="Times New Roman"/>
              </a:rPr>
              <a:t>)</a:t>
            </a:r>
            <a:endParaRPr/>
          </a:p>
          <a:p>
            <a:pPr indent="-342900" lvl="0" marL="342900" marR="0" rtl="0" algn="just">
              <a:spcBef>
                <a:spcPts val="12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TCON.2 (IT1): </a:t>
            </a:r>
            <a:r>
              <a:rPr lang="en-US" sz="2400">
                <a:solidFill>
                  <a:schemeClr val="dk1"/>
                </a:solidFill>
                <a:latin typeface="Times New Roman"/>
                <a:ea typeface="Times New Roman"/>
                <a:cs typeface="Times New Roman"/>
                <a:sym typeface="Times New Roman"/>
              </a:rPr>
              <a:t>điều khiển ngắt 1, được thiết lập/xóa bằng phần mềm để xác định kiểu kích hoạt ngắt thwo sườn xuống, hay mức thấp</a:t>
            </a:r>
            <a:endParaRPr sz="2400">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TCON.1 (IE0): </a:t>
            </a:r>
            <a:r>
              <a:rPr lang="en-US" sz="2400">
                <a:solidFill>
                  <a:schemeClr val="dk1"/>
                </a:solidFill>
                <a:latin typeface="Times New Roman"/>
                <a:ea typeface="Times New Roman"/>
                <a:cs typeface="Times New Roman"/>
                <a:sym typeface="Times New Roman"/>
              </a:rPr>
              <a:t>tương tự như IE1, nhưng cho ngắt INT0</a:t>
            </a:r>
            <a:endParaRPr/>
          </a:p>
          <a:p>
            <a:pPr indent="-342900" lvl="0" marL="342900" marR="0" rtl="0" algn="just">
              <a:spcBef>
                <a:spcPts val="12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TCON.0 (IT0): </a:t>
            </a:r>
            <a:r>
              <a:rPr lang="en-US" sz="2400">
                <a:solidFill>
                  <a:schemeClr val="dk1"/>
                </a:solidFill>
                <a:latin typeface="Times New Roman"/>
                <a:ea typeface="Times New Roman"/>
                <a:cs typeface="Times New Roman"/>
                <a:sym typeface="Times New Roman"/>
              </a:rPr>
              <a:t>tương tự như IT0, nhưng cho ngắt INT0</a:t>
            </a:r>
            <a:endParaRPr/>
          </a:p>
          <a:p>
            <a:pPr indent="-215900" lvl="0" marL="342900" marR="0" rtl="0" algn="just">
              <a:spcBef>
                <a:spcPts val="100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pic>
        <p:nvPicPr>
          <p:cNvPr id="1579" name="Google Shape;1579;p160"/>
          <p:cNvPicPr preferRelativeResize="0"/>
          <p:nvPr/>
        </p:nvPicPr>
        <p:blipFill rotWithShape="1">
          <a:blip r:embed="rId3">
            <a:alphaModFix/>
          </a:blip>
          <a:srcRect b="0" l="0" r="0" t="0"/>
          <a:stretch/>
        </p:blipFill>
        <p:spPr>
          <a:xfrm>
            <a:off x="2171700" y="1677718"/>
            <a:ext cx="7848600" cy="836882"/>
          </a:xfrm>
          <a:prstGeom prst="rect">
            <a:avLst/>
          </a:prstGeom>
          <a:noFill/>
          <a:ln>
            <a:noFill/>
          </a:ln>
        </p:spPr>
      </p:pic>
      <p:sp>
        <p:nvSpPr>
          <p:cNvPr id="1580" name="Google Shape;1580;p160"/>
          <p:cNvSpPr txBox="1"/>
          <p:nvPr>
            <p:ph type="title"/>
          </p:nvPr>
        </p:nvSpPr>
        <p:spPr>
          <a:xfrm>
            <a:off x="15240" y="76200"/>
            <a:ext cx="11437714" cy="639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4.4. Lập trình ngắt cứng ngoài </a:t>
            </a:r>
            <a:r>
              <a:rPr b="1" lang="en-US" sz="3600">
                <a:solidFill>
                  <a:srgbClr val="C00000"/>
                </a:solidFill>
                <a:latin typeface="Times New Roman"/>
                <a:ea typeface="Times New Roman"/>
                <a:cs typeface="Times New Roman"/>
                <a:sym typeface="Times New Roman"/>
              </a:rPr>
              <a:t>- Kích hoạt ngắt theo sườn (1)</a:t>
            </a:r>
            <a:endParaRPr b="1" sz="3600">
              <a:solidFill>
                <a:srgbClr val="002060"/>
              </a:solidFill>
              <a:latin typeface="Times New Roman"/>
              <a:ea typeface="Times New Roman"/>
              <a:cs typeface="Times New Roman"/>
              <a:sym typeface="Times New Roman"/>
            </a:endParaRPr>
          </a:p>
        </p:txBody>
      </p:sp>
      <p:sp>
        <p:nvSpPr>
          <p:cNvPr id="1581" name="Google Shape;1581;p16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0" st="0"/>
                                            </p:txEl>
                                          </p:spTgt>
                                        </p:tgtEl>
                                        <p:attrNameLst>
                                          <p:attrName>style.visibility</p:attrName>
                                        </p:attrNameLst>
                                      </p:cBhvr>
                                      <p:to>
                                        <p:strVal val="visible"/>
                                      </p:to>
                                    </p:set>
                                    <p:animEffect filter="fade" transition="in">
                                      <p:cBhvr>
                                        <p:cTn dur="1000"/>
                                        <p:tgtEl>
                                          <p:spTgt spid="15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1" st="1"/>
                                            </p:txEl>
                                          </p:spTgt>
                                        </p:tgtEl>
                                        <p:attrNameLst>
                                          <p:attrName>style.visibility</p:attrName>
                                        </p:attrNameLst>
                                      </p:cBhvr>
                                      <p:to>
                                        <p:strVal val="visible"/>
                                      </p:to>
                                    </p:set>
                                    <p:animEffect filter="fade" transition="in">
                                      <p:cBhvr>
                                        <p:cTn dur="1000"/>
                                        <p:tgtEl>
                                          <p:spTgt spid="15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2" st="2"/>
                                            </p:txEl>
                                          </p:spTgt>
                                        </p:tgtEl>
                                        <p:attrNameLst>
                                          <p:attrName>style.visibility</p:attrName>
                                        </p:attrNameLst>
                                      </p:cBhvr>
                                      <p:to>
                                        <p:strVal val="visible"/>
                                      </p:to>
                                    </p:set>
                                    <p:animEffect filter="fade" transition="in">
                                      <p:cBhvr>
                                        <p:cTn dur="1000"/>
                                        <p:tgtEl>
                                          <p:spTgt spid="15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3" st="3"/>
                                            </p:txEl>
                                          </p:spTgt>
                                        </p:tgtEl>
                                        <p:attrNameLst>
                                          <p:attrName>style.visibility</p:attrName>
                                        </p:attrNameLst>
                                      </p:cBhvr>
                                      <p:to>
                                        <p:strVal val="visible"/>
                                      </p:to>
                                    </p:set>
                                    <p:animEffect filter="fade" transition="in">
                                      <p:cBhvr>
                                        <p:cTn dur="1000"/>
                                        <p:tgtEl>
                                          <p:spTgt spid="15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4" st="4"/>
                                            </p:txEl>
                                          </p:spTgt>
                                        </p:tgtEl>
                                        <p:attrNameLst>
                                          <p:attrName>style.visibility</p:attrName>
                                        </p:attrNameLst>
                                      </p:cBhvr>
                                      <p:to>
                                        <p:strVal val="visible"/>
                                      </p:to>
                                    </p:set>
                                    <p:animEffect filter="fade" transition="in">
                                      <p:cBhvr>
                                        <p:cTn dur="1000"/>
                                        <p:tgtEl>
                                          <p:spTgt spid="15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5" st="5"/>
                                            </p:txEl>
                                          </p:spTgt>
                                        </p:tgtEl>
                                        <p:attrNameLst>
                                          <p:attrName>style.visibility</p:attrName>
                                        </p:attrNameLst>
                                      </p:cBhvr>
                                      <p:to>
                                        <p:strVal val="visible"/>
                                      </p:to>
                                    </p:set>
                                    <p:animEffect filter="fade" transition="in">
                                      <p:cBhvr>
                                        <p:cTn dur="1000"/>
                                        <p:tgtEl>
                                          <p:spTgt spid="15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6" st="6"/>
                                            </p:txEl>
                                          </p:spTgt>
                                        </p:tgtEl>
                                        <p:attrNameLst>
                                          <p:attrName>style.visibility</p:attrName>
                                        </p:attrNameLst>
                                      </p:cBhvr>
                                      <p:to>
                                        <p:strVal val="visible"/>
                                      </p:to>
                                    </p:set>
                                    <p:animEffect filter="fade" transition="in">
                                      <p:cBhvr>
                                        <p:cTn dur="1000"/>
                                        <p:tgtEl>
                                          <p:spTgt spid="15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7" st="7"/>
                                            </p:txEl>
                                          </p:spTgt>
                                        </p:tgtEl>
                                        <p:attrNameLst>
                                          <p:attrName>style.visibility</p:attrName>
                                        </p:attrNameLst>
                                      </p:cBhvr>
                                      <p:to>
                                        <p:strVal val="visible"/>
                                      </p:to>
                                    </p:set>
                                    <p:animEffect filter="fade" transition="in">
                                      <p:cBhvr>
                                        <p:cTn dur="1000"/>
                                        <p:tgtEl>
                                          <p:spTgt spid="15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8" st="8"/>
                                            </p:txEl>
                                          </p:spTgt>
                                        </p:tgtEl>
                                        <p:attrNameLst>
                                          <p:attrName>style.visibility</p:attrName>
                                        </p:attrNameLst>
                                      </p:cBhvr>
                                      <p:to>
                                        <p:strVal val="visible"/>
                                      </p:to>
                                    </p:set>
                                    <p:animEffect filter="fade" transition="in">
                                      <p:cBhvr>
                                        <p:cTn dur="1000"/>
                                        <p:tgtEl>
                                          <p:spTgt spid="15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9" st="9"/>
                                            </p:txEl>
                                          </p:spTgt>
                                        </p:tgtEl>
                                        <p:attrNameLst>
                                          <p:attrName>style.visibility</p:attrName>
                                        </p:attrNameLst>
                                      </p:cBhvr>
                                      <p:to>
                                        <p:strVal val="visible"/>
                                      </p:to>
                                    </p:set>
                                    <p:animEffect filter="fade" transition="in">
                                      <p:cBhvr>
                                        <p:cTn dur="1000"/>
                                        <p:tgtEl>
                                          <p:spTgt spid="157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xEl>
                                              <p:pRg end="10" st="10"/>
                                            </p:txEl>
                                          </p:spTgt>
                                        </p:tgtEl>
                                        <p:attrNameLst>
                                          <p:attrName>style.visibility</p:attrName>
                                        </p:attrNameLst>
                                      </p:cBhvr>
                                      <p:to>
                                        <p:strVal val="visible"/>
                                      </p:to>
                                    </p:set>
                                    <p:animEffect filter="fade" transition="in">
                                      <p:cBhvr>
                                        <p:cTn dur="1000"/>
                                        <p:tgtEl>
                                          <p:spTgt spid="157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9"/>
                                        </p:tgtEl>
                                        <p:attrNameLst>
                                          <p:attrName>style.visibility</p:attrName>
                                        </p:attrNameLst>
                                      </p:cBhvr>
                                      <p:to>
                                        <p:strVal val="visible"/>
                                      </p:to>
                                    </p:set>
                                    <p:animEffect filter="fade" transition="in">
                                      <p:cBhvr>
                                        <p:cTn dur="1000"/>
                                        <p:tgtEl>
                                          <p:spTgt spid="1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61"/>
          <p:cNvSpPr txBox="1"/>
          <p:nvPr/>
        </p:nvSpPr>
        <p:spPr>
          <a:xfrm>
            <a:off x="304800" y="1088461"/>
            <a:ext cx="11049000" cy="1409813"/>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Ví dụ 4.6. </a:t>
            </a:r>
            <a:r>
              <a:rPr lang="en-US" sz="2400">
                <a:solidFill>
                  <a:schemeClr val="dk1"/>
                </a:solidFill>
                <a:latin typeface="Times New Roman"/>
                <a:ea typeface="Times New Roman"/>
                <a:cs typeface="Times New Roman"/>
                <a:sym typeface="Times New Roman"/>
              </a:rPr>
              <a:t>Giả thiết chân P3.3 (INT1) được nối với một máy tạo xung. Viết chương trình trong đó sườn xuống của xung sẽ chuyển chân P2.0 lên cao, chân này được nối tới đèn LED. Như vậy đèn LED được bật và tắt  cùng tần số với xung cấp tới chân INT1.</a:t>
            </a:r>
            <a:endParaRPr/>
          </a:p>
          <a:p>
            <a:pPr indent="0" lvl="0" marL="0" marR="0" rtl="0" algn="just">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0" lvl="0" marL="0" marR="0" rtl="0" algn="just">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0" lvl="0" marL="0" marR="0" rtl="0" algn="just">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1588" name="Google Shape;1588;p161">
            <a:hlinkClick r:id="rId3"/>
          </p:cNvPr>
          <p:cNvSpPr/>
          <p:nvPr/>
        </p:nvSpPr>
        <p:spPr>
          <a:xfrm>
            <a:off x="3070860" y="3609099"/>
            <a:ext cx="731520" cy="457200"/>
          </a:xfrm>
          <a:prstGeom prst="notched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9" name="Google Shape;1589;p161">
            <a:hlinkClick r:id="rId4"/>
          </p:cNvPr>
          <p:cNvSpPr/>
          <p:nvPr/>
        </p:nvSpPr>
        <p:spPr>
          <a:xfrm>
            <a:off x="7696200" y="3543300"/>
            <a:ext cx="731520" cy="457200"/>
          </a:xfrm>
          <a:prstGeom prst="right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0" name="Google Shape;1590;p161"/>
          <p:cNvSpPr txBox="1"/>
          <p:nvPr/>
        </p:nvSpPr>
        <p:spPr>
          <a:xfrm>
            <a:off x="2788920" y="3117529"/>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mềm</a:t>
            </a:r>
            <a:endParaRPr sz="1800">
              <a:solidFill>
                <a:schemeClr val="dk1"/>
              </a:solidFill>
              <a:latin typeface="Calibri"/>
              <a:ea typeface="Calibri"/>
              <a:cs typeface="Calibri"/>
              <a:sym typeface="Calibri"/>
            </a:endParaRPr>
          </a:p>
        </p:txBody>
      </p:sp>
      <p:sp>
        <p:nvSpPr>
          <p:cNvPr id="1591" name="Google Shape;1591;p161"/>
          <p:cNvSpPr txBox="1"/>
          <p:nvPr/>
        </p:nvSpPr>
        <p:spPr>
          <a:xfrm>
            <a:off x="7414260" y="3117529"/>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Phần cứng</a:t>
            </a:r>
            <a:endParaRPr sz="1800">
              <a:solidFill>
                <a:schemeClr val="dk1"/>
              </a:solidFill>
              <a:latin typeface="Calibri"/>
              <a:ea typeface="Calibri"/>
              <a:cs typeface="Calibri"/>
              <a:sym typeface="Calibri"/>
            </a:endParaRPr>
          </a:p>
        </p:txBody>
      </p:sp>
      <p:sp>
        <p:nvSpPr>
          <p:cNvPr id="1592" name="Google Shape;1592;p161"/>
          <p:cNvSpPr txBox="1"/>
          <p:nvPr/>
        </p:nvSpPr>
        <p:spPr>
          <a:xfrm>
            <a:off x="457200" y="4572000"/>
            <a:ext cx="10896600" cy="17526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Noto Sans Symbols"/>
              <a:buChar char="⮚"/>
            </a:pPr>
            <a:r>
              <a:rPr b="1" i="1" lang="en-US" sz="2400">
                <a:solidFill>
                  <a:schemeClr val="dk1"/>
                </a:solidFill>
                <a:latin typeface="Times New Roman"/>
                <a:ea typeface="Times New Roman"/>
                <a:cs typeface="Times New Roman"/>
                <a:sym typeface="Times New Roman"/>
              </a:rPr>
              <a:t>Lưu ý: </a:t>
            </a:r>
            <a:r>
              <a:rPr i="1" lang="en-US" sz="2400">
                <a:solidFill>
                  <a:schemeClr val="dk1"/>
                </a:solidFill>
                <a:latin typeface="Times New Roman"/>
                <a:ea typeface="Times New Roman"/>
                <a:cs typeface="Times New Roman"/>
                <a:sym typeface="Times New Roman"/>
              </a:rPr>
              <a:t>Khi các ISR kết thúc, nghĩa là khi thực hiện lệnh RETI, các bit TCON.1 và TCON.3 được xóa để báo rằng phục vụ ngắt đã được hoàn tất và 8051 sẵn sàng đáp ứng ngắt khác trên chân đó. Để có thể nhận được ngắt khác từ tín hiện trên đó phải trở lại mức cao và sau đó xuống thấp để tạo nên một ngắt tác động theo sườn xuống.</a:t>
            </a:r>
            <a:endParaRPr/>
          </a:p>
        </p:txBody>
      </p:sp>
      <p:sp>
        <p:nvSpPr>
          <p:cNvPr id="1593" name="Google Shape;1593;p161"/>
          <p:cNvSpPr txBox="1"/>
          <p:nvPr>
            <p:ph type="title"/>
          </p:nvPr>
        </p:nvSpPr>
        <p:spPr>
          <a:xfrm>
            <a:off x="152400" y="68467"/>
            <a:ext cx="11437714" cy="6397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4.4. Lập trình ngắt cứng ngoài </a:t>
            </a:r>
            <a:r>
              <a:rPr b="1" lang="en-US" sz="3600">
                <a:solidFill>
                  <a:srgbClr val="C00000"/>
                </a:solidFill>
                <a:latin typeface="Times New Roman"/>
                <a:ea typeface="Times New Roman"/>
                <a:cs typeface="Times New Roman"/>
                <a:sym typeface="Times New Roman"/>
              </a:rPr>
              <a:t>- Kích hoạt ngắt theo sườn (2)</a:t>
            </a:r>
            <a:endParaRPr b="1" sz="3600">
              <a:solidFill>
                <a:srgbClr val="002060"/>
              </a:solidFill>
              <a:latin typeface="Times New Roman"/>
              <a:ea typeface="Times New Roman"/>
              <a:cs typeface="Times New Roman"/>
              <a:sym typeface="Times New Roman"/>
            </a:endParaRPr>
          </a:p>
        </p:txBody>
      </p:sp>
      <p:sp>
        <p:nvSpPr>
          <p:cNvPr id="1594" name="Google Shape;1594;p16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7"/>
                                        </p:tgtEl>
                                        <p:attrNameLst>
                                          <p:attrName>style.visibility</p:attrName>
                                        </p:attrNameLst>
                                      </p:cBhvr>
                                      <p:to>
                                        <p:strVal val="visible"/>
                                      </p:to>
                                    </p:set>
                                    <p:animEffect filter="fade" transition="in">
                                      <p:cBhvr>
                                        <p:cTn dur="1000"/>
                                        <p:tgtEl>
                                          <p:spTgt spid="15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0"/>
                                        </p:tgtEl>
                                        <p:attrNameLst>
                                          <p:attrName>style.visibility</p:attrName>
                                        </p:attrNameLst>
                                      </p:cBhvr>
                                      <p:to>
                                        <p:strVal val="visible"/>
                                      </p:to>
                                    </p:set>
                                    <p:animEffect filter="fade" transition="in">
                                      <p:cBhvr>
                                        <p:cTn dur="1000"/>
                                        <p:tgtEl>
                                          <p:spTgt spid="1590"/>
                                        </p:tgtEl>
                                      </p:cBhvr>
                                    </p:animEffect>
                                  </p:childTnLst>
                                </p:cTn>
                              </p:par>
                              <p:par>
                                <p:cTn fill="hold" nodeType="withEffect" presetClass="entr" presetID="10" presetSubtype="0">
                                  <p:stCondLst>
                                    <p:cond delay="0"/>
                                  </p:stCondLst>
                                  <p:childTnLst>
                                    <p:set>
                                      <p:cBhvr>
                                        <p:cTn dur="1" fill="hold">
                                          <p:stCondLst>
                                            <p:cond delay="0"/>
                                          </p:stCondLst>
                                        </p:cTn>
                                        <p:tgtEl>
                                          <p:spTgt spid="1588"/>
                                        </p:tgtEl>
                                        <p:attrNameLst>
                                          <p:attrName>style.visibility</p:attrName>
                                        </p:attrNameLst>
                                      </p:cBhvr>
                                      <p:to>
                                        <p:strVal val="visible"/>
                                      </p:to>
                                    </p:set>
                                    <p:animEffect filter="fade" transition="in">
                                      <p:cBhvr>
                                        <p:cTn dur="1000"/>
                                        <p:tgtEl>
                                          <p:spTgt spid="1588"/>
                                        </p:tgtEl>
                                      </p:cBhvr>
                                    </p:animEffect>
                                  </p:childTnLst>
                                </p:cTn>
                              </p:par>
                              <p:par>
                                <p:cTn fill="hold" nodeType="withEffect" presetClass="entr" presetID="10" presetSubtype="0">
                                  <p:stCondLst>
                                    <p:cond delay="0"/>
                                  </p:stCondLst>
                                  <p:childTnLst>
                                    <p:set>
                                      <p:cBhvr>
                                        <p:cTn dur="1" fill="hold">
                                          <p:stCondLst>
                                            <p:cond delay="0"/>
                                          </p:stCondLst>
                                        </p:cTn>
                                        <p:tgtEl>
                                          <p:spTgt spid="1591"/>
                                        </p:tgtEl>
                                        <p:attrNameLst>
                                          <p:attrName>style.visibility</p:attrName>
                                        </p:attrNameLst>
                                      </p:cBhvr>
                                      <p:to>
                                        <p:strVal val="visible"/>
                                      </p:to>
                                    </p:set>
                                    <p:animEffect filter="fade" transition="in">
                                      <p:cBhvr>
                                        <p:cTn dur="1000"/>
                                        <p:tgtEl>
                                          <p:spTgt spid="1591"/>
                                        </p:tgtEl>
                                      </p:cBhvr>
                                    </p:animEffect>
                                  </p:childTnLst>
                                </p:cTn>
                              </p:par>
                              <p:par>
                                <p:cTn fill="hold" nodeType="with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1000"/>
                                        <p:tgtEl>
                                          <p:spTgt spid="1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2"/>
                                        </p:tgtEl>
                                        <p:attrNameLst>
                                          <p:attrName>style.visibility</p:attrName>
                                        </p:attrNameLst>
                                      </p:cBhvr>
                                      <p:to>
                                        <p:strVal val="visible"/>
                                      </p:to>
                                    </p:set>
                                    <p:animEffect filter="fade" transition="in">
                                      <p:cBhvr>
                                        <p:cTn dur="1000"/>
                                        <p:tgtEl>
                                          <p:spTgt spid="1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sp>
        <p:nvSpPr>
          <p:cNvPr id="1600" name="Google Shape;1600;p162"/>
          <p:cNvSpPr txBox="1"/>
          <p:nvPr>
            <p:ph type="title"/>
          </p:nvPr>
        </p:nvSpPr>
        <p:spPr>
          <a:xfrm>
            <a:off x="182880" y="228599"/>
            <a:ext cx="11475720" cy="571387"/>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4.5. Lập trình ngắt truyền thông nối tiếp </a:t>
            </a:r>
            <a:r>
              <a:rPr b="1" lang="en-US" sz="3600">
                <a:solidFill>
                  <a:srgbClr val="C00000"/>
                </a:solidFill>
                <a:latin typeface="Times New Roman"/>
                <a:ea typeface="Times New Roman"/>
                <a:cs typeface="Times New Roman"/>
                <a:sym typeface="Times New Roman"/>
              </a:rPr>
              <a:t>- Cờ RI, TI và ngắt</a:t>
            </a:r>
            <a:endParaRPr b="1" sz="3600">
              <a:solidFill>
                <a:srgbClr val="C00000"/>
              </a:solidFill>
              <a:latin typeface="Times New Roman"/>
              <a:ea typeface="Times New Roman"/>
              <a:cs typeface="Times New Roman"/>
              <a:sym typeface="Times New Roman"/>
            </a:endParaRPr>
          </a:p>
        </p:txBody>
      </p:sp>
      <p:sp>
        <p:nvSpPr>
          <p:cNvPr id="1601" name="Google Shape;1601;p162"/>
          <p:cNvSpPr txBox="1"/>
          <p:nvPr/>
        </p:nvSpPr>
        <p:spPr>
          <a:xfrm>
            <a:off x="381000" y="1143000"/>
            <a:ext cx="11277600" cy="4991213"/>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Cờ ngắt phát TI (Transfer interrupt) được bật lên khi bit cuối cùng của khung dữ liêu-bit Stop được phát đi báo rằng thanh ghi SBUF sẵn sàng phát byte kế tiếp. </a:t>
            </a:r>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Cờ ngắt thu RI (Receive Interupt) được bật lên 1 khi toàn bộ khung dữ liệu kể cả bit Stop đã được nhận. Nói cách khác, thanh ghi SBUF đang lưu một byte, thì cờ RI bật lên báo rằng byte dữ liệu thu được cất đi trước khi bị mất (bị ghi đè) bởi dữ liệu tiếp theo sẽ được nhận. </a:t>
            </a:r>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8051 chỉ có một ngắt dành riêng cho truyền thông nối tiếp. Ngắt này được dùng cho cả phát và thu dữ liệu. Nếu bit ngắt trong thanh ghi IE (IE.4) được phép khi RI và TI bật lên, thì 8051 nhận được ngắt và nhảy đến địa chỉ trình phục vụ ngắt dành cho truyền thông nối tiếp có vector ngắt 0023h trong bảng vector ngắt. Lúc đó, cần kiểm tra cờ TI và RI để xem cờ nào gây ngắt để có đáp ứng phù hợp.</a:t>
            </a:r>
            <a:endParaRPr/>
          </a:p>
          <a:p>
            <a:pPr indent="-190500" lvl="0" marL="342900" marR="0" rtl="0" algn="just">
              <a:spcBef>
                <a:spcPts val="120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just">
              <a:spcBef>
                <a:spcPts val="120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just">
              <a:spcBef>
                <a:spcPts val="120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1602" name="Google Shape;1602;p16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xEl>
                                              <p:pRg end="0" st="0"/>
                                            </p:txEl>
                                          </p:spTgt>
                                        </p:tgtEl>
                                        <p:attrNameLst>
                                          <p:attrName>style.visibility</p:attrName>
                                        </p:attrNameLst>
                                      </p:cBhvr>
                                      <p:to>
                                        <p:strVal val="visible"/>
                                      </p:to>
                                    </p:set>
                                    <p:animEffect filter="fade" transition="in">
                                      <p:cBhvr>
                                        <p:cTn dur="1000"/>
                                        <p:tgtEl>
                                          <p:spTgt spid="16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xEl>
                                              <p:pRg end="1" st="1"/>
                                            </p:txEl>
                                          </p:spTgt>
                                        </p:tgtEl>
                                        <p:attrNameLst>
                                          <p:attrName>style.visibility</p:attrName>
                                        </p:attrNameLst>
                                      </p:cBhvr>
                                      <p:to>
                                        <p:strVal val="visible"/>
                                      </p:to>
                                    </p:set>
                                    <p:animEffect filter="fade" transition="in">
                                      <p:cBhvr>
                                        <p:cTn dur="1000"/>
                                        <p:tgtEl>
                                          <p:spTgt spid="16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xEl>
                                              <p:pRg end="2" st="2"/>
                                            </p:txEl>
                                          </p:spTgt>
                                        </p:tgtEl>
                                        <p:attrNameLst>
                                          <p:attrName>style.visibility</p:attrName>
                                        </p:attrNameLst>
                                      </p:cBhvr>
                                      <p:to>
                                        <p:strVal val="visible"/>
                                      </p:to>
                                    </p:set>
                                    <p:animEffect filter="fade" transition="in">
                                      <p:cBhvr>
                                        <p:cTn dur="1000"/>
                                        <p:tgtEl>
                                          <p:spTgt spid="16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xEl>
                                              <p:pRg end="3" st="3"/>
                                            </p:txEl>
                                          </p:spTgt>
                                        </p:tgtEl>
                                        <p:attrNameLst>
                                          <p:attrName>style.visibility</p:attrName>
                                        </p:attrNameLst>
                                      </p:cBhvr>
                                      <p:to>
                                        <p:strVal val="visible"/>
                                      </p:to>
                                    </p:set>
                                    <p:animEffect filter="fade" transition="in">
                                      <p:cBhvr>
                                        <p:cTn dur="1000"/>
                                        <p:tgtEl>
                                          <p:spTgt spid="16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xEl>
                                              <p:pRg end="4" st="4"/>
                                            </p:txEl>
                                          </p:spTgt>
                                        </p:tgtEl>
                                        <p:attrNameLst>
                                          <p:attrName>style.visibility</p:attrName>
                                        </p:attrNameLst>
                                      </p:cBhvr>
                                      <p:to>
                                        <p:strVal val="visible"/>
                                      </p:to>
                                    </p:set>
                                    <p:animEffect filter="fade" transition="in">
                                      <p:cBhvr>
                                        <p:cTn dur="1000"/>
                                        <p:tgtEl>
                                          <p:spTgt spid="16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xEl>
                                              <p:pRg end="5" st="5"/>
                                            </p:txEl>
                                          </p:spTgt>
                                        </p:tgtEl>
                                        <p:attrNameLst>
                                          <p:attrName>style.visibility</p:attrName>
                                        </p:attrNameLst>
                                      </p:cBhvr>
                                      <p:to>
                                        <p:strVal val="visible"/>
                                      </p:to>
                                    </p:set>
                                    <p:animEffect filter="fade" transition="in">
                                      <p:cBhvr>
                                        <p:cTn dur="1000"/>
                                        <p:tgtEl>
                                          <p:spTgt spid="160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163"/>
          <p:cNvSpPr txBox="1"/>
          <p:nvPr/>
        </p:nvSpPr>
        <p:spPr>
          <a:xfrm>
            <a:off x="495300" y="2362200"/>
            <a:ext cx="11049000" cy="4114799"/>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200"/>
              <a:buFont typeface="Arial"/>
              <a:buNone/>
            </a:pPr>
            <a:r>
              <a:rPr b="1" lang="en-US" sz="2200">
                <a:solidFill>
                  <a:schemeClr val="dk1"/>
                </a:solidFill>
                <a:latin typeface="Times New Roman"/>
                <a:ea typeface="Times New Roman"/>
                <a:cs typeface="Times New Roman"/>
                <a:sym typeface="Times New Roman"/>
              </a:rPr>
              <a:t>Giải </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Times New Roman"/>
                <a:ea typeface="Times New Roman"/>
                <a:cs typeface="Times New Roman"/>
                <a:sym typeface="Times New Roman"/>
              </a:rPr>
              <a:t>	</a:t>
            </a:r>
            <a:r>
              <a:rPr lang="en-US" sz="1800">
                <a:solidFill>
                  <a:schemeClr val="dk1"/>
                </a:solidFill>
                <a:latin typeface="Calibri"/>
                <a:ea typeface="Calibri"/>
                <a:cs typeface="Calibri"/>
                <a:sym typeface="Calibri"/>
              </a:rPr>
              <a:t>ORG 	0000h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LJMP	MAIN</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vector ngat truyen thong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ORG	0023h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LJMP	SERIAL		; nhay den ISR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ORG	0030h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MAIN:	MOV	P1, #0FFh		; dat P1 làm cong vao</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TMOD, #20h	; Timer 1, che do 2 tu nap lai</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TH1, #0FDh	; chon toc do baud = 9600</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SCON, #50h	; khung 8 bit, 1 stop, cho phep (REN)</a:t>
            </a:r>
            <a:endParaRPr sz="2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IE, #10010000h	; cho phép ngat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SETB	TR1		; khoi dong Timer 1</a:t>
            </a:r>
            <a:endParaRPr/>
          </a:p>
          <a:p>
            <a:pPr indent="0" lvl="0" marL="0" marR="0" rtl="0" algn="just">
              <a:spcBef>
                <a:spcPts val="44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0" lvl="0" marL="0" marR="0" rtl="0" algn="just">
              <a:spcBef>
                <a:spcPts val="44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p:txBody>
      </p:sp>
      <p:sp>
        <p:nvSpPr>
          <p:cNvPr id="1609" name="Google Shape;1609;p163"/>
          <p:cNvSpPr txBox="1"/>
          <p:nvPr>
            <p:ph type="title"/>
          </p:nvPr>
        </p:nvSpPr>
        <p:spPr>
          <a:xfrm>
            <a:off x="152400" y="198439"/>
            <a:ext cx="113919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4.5. Lập trình ngắt truyền thông nối tiếp </a:t>
            </a:r>
            <a:r>
              <a:rPr b="1" lang="en-US" sz="3600">
                <a:solidFill>
                  <a:srgbClr val="C00000"/>
                </a:solidFill>
                <a:latin typeface="Times New Roman"/>
                <a:ea typeface="Times New Roman"/>
                <a:cs typeface="Times New Roman"/>
                <a:sym typeface="Times New Roman"/>
              </a:rPr>
              <a:t>– Một số ví dụ (1)</a:t>
            </a:r>
            <a:endParaRPr/>
          </a:p>
        </p:txBody>
      </p:sp>
      <p:sp>
        <p:nvSpPr>
          <p:cNvPr id="1610" name="Google Shape;1610;p163"/>
          <p:cNvSpPr/>
          <p:nvPr/>
        </p:nvSpPr>
        <p:spPr>
          <a:xfrm>
            <a:off x="304800" y="838200"/>
            <a:ext cx="11430000" cy="12618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rgbClr val="C00000"/>
                </a:solidFill>
                <a:latin typeface="Times New Roman"/>
                <a:ea typeface="Times New Roman"/>
                <a:cs typeface="Times New Roman"/>
                <a:sym typeface="Times New Roman"/>
              </a:rPr>
              <a:t>Ví dụ 4.7. </a:t>
            </a:r>
            <a:r>
              <a:rPr lang="en-US" sz="2400">
                <a:solidFill>
                  <a:schemeClr val="dk1"/>
                </a:solidFill>
                <a:latin typeface="Times New Roman"/>
                <a:ea typeface="Times New Roman"/>
                <a:cs typeface="Times New Roman"/>
                <a:sym typeface="Times New Roman"/>
              </a:rPr>
              <a:t>Viết chương trình, trong đó 8051 đọc dữ liệu từ cổng P1 và gửi liên tục tới cổng P2 đồng thời đưa một bản sao dữ liệu tới cổng COM nối tiếp để thực hiện truyền nối tiếp. Giả thiết tần số XTAL là 11.0592MHz và tốc độ truyền 9600 baud.</a:t>
            </a:r>
            <a:endParaRPr/>
          </a:p>
        </p:txBody>
      </p:sp>
      <p:sp>
        <p:nvSpPr>
          <p:cNvPr id="1611" name="Google Shape;1611;p16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0"/>
                                        </p:tgtEl>
                                        <p:attrNameLst>
                                          <p:attrName>style.visibility</p:attrName>
                                        </p:attrNameLst>
                                      </p:cBhvr>
                                      <p:to>
                                        <p:strVal val="visible"/>
                                      </p:to>
                                    </p:set>
                                    <p:animEffect filter="fade" transition="in">
                                      <p:cBhvr>
                                        <p:cTn dur="1000"/>
                                        <p:tgtEl>
                                          <p:spTgt spid="1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gtEl>
                                        <p:attrNameLst>
                                          <p:attrName>style.visibility</p:attrName>
                                        </p:attrNameLst>
                                      </p:cBhvr>
                                      <p:to>
                                        <p:strVal val="visible"/>
                                      </p:to>
                                    </p:set>
                                    <p:animEffect filter="fade" transition="in">
                                      <p:cBhvr>
                                        <p:cTn dur="1000"/>
                                        <p:tgtEl>
                                          <p:spTgt spid="16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164"/>
          <p:cNvSpPr txBox="1"/>
          <p:nvPr/>
        </p:nvSpPr>
        <p:spPr>
          <a:xfrm>
            <a:off x="609600" y="609600"/>
            <a:ext cx="10972800" cy="4191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Ví dụ 4.7. (tiếp)</a:t>
            </a:r>
            <a:r>
              <a:rPr b="1" lang="en-US" sz="2800">
                <a:solidFill>
                  <a:schemeClr val="dk1"/>
                </a:solidFill>
                <a:latin typeface="Times New Roman"/>
                <a:ea typeface="Times New Roman"/>
                <a:cs typeface="Times New Roman"/>
                <a:sym typeface="Times New Roman"/>
              </a:rPr>
              <a:t> </a:t>
            </a:r>
            <a:endParaRPr/>
          </a:p>
          <a:p>
            <a:pPr indent="0" lvl="0" marL="0" marR="0" rtl="0" algn="l">
              <a:spcBef>
                <a:spcPts val="600"/>
              </a:spcBef>
              <a:spcAft>
                <a:spcPts val="0"/>
              </a:spcAft>
              <a:buClr>
                <a:schemeClr val="dk1"/>
              </a:buClr>
              <a:buSzPts val="1800"/>
              <a:buFont typeface="Arial"/>
              <a:buNone/>
            </a:pPr>
            <a:r>
              <a:rPr lang="en-US" sz="1800">
                <a:solidFill>
                  <a:schemeClr val="dk1"/>
                </a:solidFill>
                <a:latin typeface="Calibri"/>
                <a:ea typeface="Calibri"/>
                <a:cs typeface="Calibri"/>
                <a:sym typeface="Calibri"/>
              </a:rPr>
              <a:t>BACK:	MOV	A, P1		; nhan du liuu tu cong P1</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SBUF, A		; gui sao toi SBUF</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P2, A		; gui ra cong P2</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SJMP	BACK		; lap lai vong lap</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----trinh phuc vu ngat truyen thong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ORG	100h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SERIAL:	JB	TI, TRANS		; nhay neu co TI cao</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A, SBUF		; neu khong thi nhan du lieu</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CLR	RI		; xoa có RI</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RETI			; tro ve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TRANS:	CLR	TI		; xoa co TI</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RETI			; tro ve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END</a:t>
            </a:r>
            <a:endParaRPr/>
          </a:p>
        </p:txBody>
      </p:sp>
      <p:sp>
        <p:nvSpPr>
          <p:cNvPr id="1618" name="Google Shape;1618;p164"/>
          <p:cNvSpPr txBox="1"/>
          <p:nvPr/>
        </p:nvSpPr>
        <p:spPr>
          <a:xfrm>
            <a:off x="304800" y="4800600"/>
            <a:ext cx="11582400" cy="1938992"/>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400"/>
              <a:buFont typeface="Noto Sans Symbols"/>
              <a:buChar char="⮚"/>
            </a:pPr>
            <a:r>
              <a:rPr i="1" lang="en-US" sz="2400">
                <a:solidFill>
                  <a:schemeClr val="dk1"/>
                </a:solidFill>
                <a:latin typeface="Times New Roman"/>
                <a:ea typeface="Times New Roman"/>
                <a:cs typeface="Times New Roman"/>
                <a:sym typeface="Times New Roman"/>
              </a:rPr>
              <a:t>Trong chương trình này, cần lưu lý đến cờ TI và RI. Tại thời điểm một byte được ghi vào SBUF thì byte này được định khung và truyền nối tiếp. Khi bit cuối cùng (stop) được truyền đi cờ TI được bật cao và gây ra ngắt nối tiếp. Trong trình phục vụ ngắt nối tiếp, cần kiểm tra cả cờ TI và RI vì cả hai để có thể gọi ngắt chỉ có một ngắt chung cho cả phát và thu dữ liệu.</a:t>
            </a:r>
            <a:endParaRPr/>
          </a:p>
        </p:txBody>
      </p:sp>
      <p:sp>
        <p:nvSpPr>
          <p:cNvPr id="1619" name="Google Shape;1619;p164"/>
          <p:cNvSpPr txBox="1"/>
          <p:nvPr>
            <p:ph type="title"/>
          </p:nvPr>
        </p:nvSpPr>
        <p:spPr>
          <a:xfrm>
            <a:off x="0" y="108857"/>
            <a:ext cx="110490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4.5. Lập trình ngắt truyền thông nối tiếp </a:t>
            </a:r>
            <a:r>
              <a:rPr b="1" lang="en-US" sz="3600">
                <a:solidFill>
                  <a:srgbClr val="C00000"/>
                </a:solidFill>
                <a:latin typeface="Times New Roman"/>
                <a:ea typeface="Times New Roman"/>
                <a:cs typeface="Times New Roman"/>
                <a:sym typeface="Times New Roman"/>
              </a:rPr>
              <a:t>– Một số ví dụ (2)</a:t>
            </a:r>
            <a:endParaRPr/>
          </a:p>
        </p:txBody>
      </p:sp>
      <p:sp>
        <p:nvSpPr>
          <p:cNvPr id="1620" name="Google Shape;1620;p16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1000"/>
                                        <p:tgtEl>
                                          <p:spTgt spid="1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1000"/>
                                        <p:tgtEl>
                                          <p:spTgt spid="16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165"/>
          <p:cNvSpPr txBox="1"/>
          <p:nvPr/>
        </p:nvSpPr>
        <p:spPr>
          <a:xfrm>
            <a:off x="1676400" y="2415859"/>
            <a:ext cx="8915400" cy="41910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dk1"/>
              </a:buClr>
              <a:buSzPts val="2200"/>
              <a:buFont typeface="Arial"/>
              <a:buNone/>
            </a:pPr>
            <a:r>
              <a:rPr b="1" lang="en-US" sz="2200">
                <a:solidFill>
                  <a:schemeClr val="dk1"/>
                </a:solidFill>
                <a:latin typeface="Times New Roman"/>
                <a:ea typeface="Times New Roman"/>
                <a:cs typeface="Times New Roman"/>
                <a:sym typeface="Times New Roman"/>
              </a:rPr>
              <a:t>Giải </a:t>
            </a:r>
            <a:endParaRPr/>
          </a:p>
          <a:p>
            <a:pPr indent="0" lvl="0" marL="0" marR="0" rtl="0" algn="l">
              <a:spcBef>
                <a:spcPts val="0"/>
              </a:spcBef>
              <a:spcAft>
                <a:spcPts val="0"/>
              </a:spcAft>
              <a:buClr>
                <a:schemeClr val="dk1"/>
              </a:buClr>
              <a:buSzPts val="2200"/>
              <a:buFont typeface="Arial"/>
              <a:buNone/>
            </a:pPr>
            <a:r>
              <a:rPr lang="en-US" sz="2200">
                <a:solidFill>
                  <a:schemeClr val="dk1"/>
                </a:solidFill>
                <a:latin typeface="Times New Roman"/>
                <a:ea typeface="Times New Roman"/>
                <a:cs typeface="Times New Roman"/>
                <a:sym typeface="Times New Roman"/>
              </a:rPr>
              <a:t>	</a:t>
            </a:r>
            <a:r>
              <a:rPr lang="en-US" sz="1800">
                <a:solidFill>
                  <a:schemeClr val="dk1"/>
                </a:solidFill>
                <a:latin typeface="Calibri"/>
                <a:ea typeface="Calibri"/>
                <a:cs typeface="Calibri"/>
                <a:sym typeface="Calibri"/>
              </a:rPr>
              <a:t>ORG 	0000h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LJMP	MAIN</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vector ngat truyen thong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ORG	0023h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LJMP	SERIAL		; nhay den ISR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chuong trinh chinh</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ORG	0030h</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MAIN:	MOV	P1, #0FFh		; dat P1 làm cong vao</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TMOD, #20h	; Timer 1, che do 2 tu nap lai</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TH1, #0FDh	; chon toc do baud = 9600</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SCON, #50h	; khung 8 bit, 1 stop, cho phep (REN)</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IE, #10010000h	; cho phép ngat noi tiep</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	SETB	TR1		; khoi dong Timer 1</a:t>
            </a:r>
            <a:endParaRPr/>
          </a:p>
          <a:p>
            <a:pPr indent="0" lvl="0" marL="0" marR="0" rtl="0" algn="just">
              <a:spcBef>
                <a:spcPts val="44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p:txBody>
      </p:sp>
      <p:sp>
        <p:nvSpPr>
          <p:cNvPr id="1627" name="Google Shape;1627;p165"/>
          <p:cNvSpPr txBox="1"/>
          <p:nvPr>
            <p:ph type="title"/>
          </p:nvPr>
        </p:nvSpPr>
        <p:spPr>
          <a:xfrm>
            <a:off x="152400" y="30480"/>
            <a:ext cx="108966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4.5. Lập trình ngắt truyền thông nối tiếp </a:t>
            </a:r>
            <a:r>
              <a:rPr b="1" lang="en-US" sz="3600">
                <a:solidFill>
                  <a:srgbClr val="C00000"/>
                </a:solidFill>
                <a:latin typeface="Times New Roman"/>
                <a:ea typeface="Times New Roman"/>
                <a:cs typeface="Times New Roman"/>
                <a:sym typeface="Times New Roman"/>
              </a:rPr>
              <a:t>– Một số ví dụ (3)</a:t>
            </a:r>
            <a:endParaRPr/>
          </a:p>
        </p:txBody>
      </p:sp>
      <p:sp>
        <p:nvSpPr>
          <p:cNvPr id="1628" name="Google Shape;1628;p165"/>
          <p:cNvSpPr/>
          <p:nvPr/>
        </p:nvSpPr>
        <p:spPr>
          <a:xfrm>
            <a:off x="182880" y="866686"/>
            <a:ext cx="11628120" cy="12618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rgbClr val="C00000"/>
                </a:solidFill>
                <a:latin typeface="Times New Roman"/>
                <a:ea typeface="Times New Roman"/>
                <a:cs typeface="Times New Roman"/>
                <a:sym typeface="Times New Roman"/>
              </a:rPr>
              <a:t>Ví dụ 4.8. </a:t>
            </a:r>
            <a:r>
              <a:rPr lang="en-US" sz="2400">
                <a:solidFill>
                  <a:schemeClr val="dk1"/>
                </a:solidFill>
                <a:latin typeface="Times New Roman"/>
                <a:ea typeface="Times New Roman"/>
                <a:cs typeface="Times New Roman"/>
                <a:sym typeface="Times New Roman"/>
              </a:rPr>
              <a:t>Viết chương trình cho VĐK 8051 thực hiện nhận dữ liệu từ cổng P1 và gửi liên tục tới cổng P2, trong khi đó dữ liệu nhận được từ cổng nối tiếp gửi ra cổng P0. Giả thiết tần số XTAL là 11.0592MHz và tốc độ truyền 9600 baud.</a:t>
            </a:r>
            <a:endParaRPr/>
          </a:p>
        </p:txBody>
      </p:sp>
      <p:sp>
        <p:nvSpPr>
          <p:cNvPr id="1629" name="Google Shape;1629;p16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8"/>
                                        </p:tgtEl>
                                        <p:attrNameLst>
                                          <p:attrName>style.visibility</p:attrName>
                                        </p:attrNameLst>
                                      </p:cBhvr>
                                      <p:to>
                                        <p:strVal val="visible"/>
                                      </p:to>
                                    </p:set>
                                    <p:animEffect filter="fade" transition="in">
                                      <p:cBhvr>
                                        <p:cTn dur="1000"/>
                                        <p:tgtEl>
                                          <p:spTgt spid="1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1000"/>
                                        <p:tgtEl>
                                          <p:spTgt spid="1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166"/>
          <p:cNvSpPr txBox="1"/>
          <p:nvPr/>
        </p:nvSpPr>
        <p:spPr>
          <a:xfrm>
            <a:off x="1767114" y="990600"/>
            <a:ext cx="8915400" cy="52578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C00000"/>
              </a:buClr>
              <a:buSzPts val="2800"/>
              <a:buFont typeface="Arial"/>
              <a:buNone/>
            </a:pPr>
            <a:r>
              <a:rPr b="1" lang="en-US" sz="2800">
                <a:solidFill>
                  <a:srgbClr val="C00000"/>
                </a:solidFill>
                <a:latin typeface="Times New Roman"/>
                <a:ea typeface="Times New Roman"/>
                <a:cs typeface="Times New Roman"/>
                <a:sym typeface="Times New Roman"/>
              </a:rPr>
              <a:t>Ví dụ 4.8. (tiếp)</a:t>
            </a:r>
            <a:r>
              <a:rPr b="1" lang="en-US" sz="2800">
                <a:solidFill>
                  <a:schemeClr val="dk1"/>
                </a:solidFill>
                <a:latin typeface="Times New Roman"/>
                <a:ea typeface="Times New Roman"/>
                <a:cs typeface="Times New Roman"/>
                <a:sym typeface="Times New Roman"/>
              </a:rPr>
              <a:t> </a:t>
            </a:r>
            <a:endParaRPr/>
          </a:p>
          <a:p>
            <a:pPr indent="0" lvl="0" marL="0" marR="0" rtl="0" algn="just">
              <a:spcBef>
                <a:spcPts val="440"/>
              </a:spcBef>
              <a:spcAft>
                <a:spcPts val="0"/>
              </a:spcAft>
              <a:buClr>
                <a:schemeClr val="dk1"/>
              </a:buClr>
              <a:buSzPts val="2200"/>
              <a:buFont typeface="Arial"/>
              <a:buNone/>
            </a:pPr>
            <a:r>
              <a:t/>
            </a:r>
            <a:endParaRPr b="1" sz="2200">
              <a:solidFill>
                <a:schemeClr val="dk1"/>
              </a:solidFill>
              <a:latin typeface="Times New Roman"/>
              <a:ea typeface="Times New Roman"/>
              <a:cs typeface="Times New Roman"/>
              <a:sym typeface="Times New Roman"/>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BACK:	MOV	A, P1		; nhan du liuu tu cong P1</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P2, A		; gui ra cong P2</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SJMP	BACK		; lap lai vong lap</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----trinh phuc vu ngat truyen thong noi tiep</a:t>
            </a:r>
            <a:endParaRPr sz="1800">
              <a:solidFill>
                <a:schemeClr val="dk1"/>
              </a:solidFill>
              <a:latin typeface="Calibri"/>
              <a:ea typeface="Calibri"/>
              <a:cs typeface="Calibri"/>
              <a:sym typeface="Calibri"/>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ORG	100h</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SERIAL:	JB	TI, TRANS		; nhay neu co TI cao</a:t>
            </a:r>
            <a:endParaRPr sz="1800">
              <a:solidFill>
                <a:schemeClr val="dk1"/>
              </a:solidFill>
              <a:latin typeface="Calibri"/>
              <a:ea typeface="Calibri"/>
              <a:cs typeface="Calibri"/>
              <a:sym typeface="Calibri"/>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A, SBUF		; neu khong thi nhan du lieu</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MOV	P0, A		; gui du lieu nhan duoc ra cong P0</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CLR	RI		; xoa có RI</a:t>
            </a:r>
            <a:endParaRPr/>
          </a:p>
          <a:p>
            <a:pPr indent="0" lvl="0" marL="0" marR="0" rtl="0" algn="just">
              <a:spcBef>
                <a:spcPts val="440"/>
              </a:spcBef>
              <a:spcAft>
                <a:spcPts val="0"/>
              </a:spcAft>
              <a:buClr>
                <a:schemeClr val="dk1"/>
              </a:buClr>
              <a:buSzPts val="1800"/>
              <a:buFont typeface="Arial"/>
              <a:buNone/>
            </a:pPr>
            <a:r>
              <a:rPr lang="en-US" sz="1800">
                <a:solidFill>
                  <a:schemeClr val="dk1"/>
                </a:solidFill>
                <a:latin typeface="Calibri"/>
                <a:ea typeface="Calibri"/>
                <a:cs typeface="Calibri"/>
                <a:sym typeface="Calibri"/>
              </a:rPr>
              <a:t>	RETI</a:t>
            </a:r>
            <a:r>
              <a:rPr b="1" lang="en-US" sz="2200">
                <a:solidFill>
                  <a:schemeClr val="dk1"/>
                </a:solidFill>
                <a:latin typeface="Times New Roman"/>
                <a:ea typeface="Times New Roman"/>
                <a:cs typeface="Times New Roman"/>
                <a:sym typeface="Times New Roman"/>
              </a:rPr>
              <a:t>			</a:t>
            </a:r>
            <a:r>
              <a:rPr lang="en-US" sz="1800">
                <a:solidFill>
                  <a:schemeClr val="dk1"/>
                </a:solidFill>
                <a:latin typeface="Calibri"/>
                <a:ea typeface="Calibri"/>
                <a:cs typeface="Calibri"/>
                <a:sym typeface="Calibri"/>
              </a:rPr>
              <a:t>; tro ve chuong trinh chinh</a:t>
            </a:r>
            <a:endParaRPr sz="1800">
              <a:solidFill>
                <a:schemeClr val="dk1"/>
              </a:solidFill>
              <a:latin typeface="Calibri"/>
              <a:ea typeface="Calibri"/>
              <a:cs typeface="Calibri"/>
              <a:sym typeface="Calibri"/>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TRANS:	CLR	TI		; xoa co TI</a:t>
            </a:r>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RETI			; tro ve chuong trinh chinh</a:t>
            </a:r>
            <a:endParaRPr sz="1800">
              <a:solidFill>
                <a:schemeClr val="dk1"/>
              </a:solidFill>
              <a:latin typeface="Calibri"/>
              <a:ea typeface="Calibri"/>
              <a:cs typeface="Calibri"/>
              <a:sym typeface="Calibri"/>
            </a:endParaRPr>
          </a:p>
          <a:p>
            <a:pPr indent="0" lvl="0" marL="0" marR="0" rtl="0" algn="just">
              <a:spcBef>
                <a:spcPts val="360"/>
              </a:spcBef>
              <a:spcAft>
                <a:spcPts val="0"/>
              </a:spcAft>
              <a:buClr>
                <a:schemeClr val="dk1"/>
              </a:buClr>
              <a:buSzPts val="1800"/>
              <a:buFont typeface="Arial"/>
              <a:buNone/>
            </a:pPr>
            <a:r>
              <a:rPr lang="en-US" sz="1800">
                <a:solidFill>
                  <a:schemeClr val="dk1"/>
                </a:solidFill>
                <a:latin typeface="Calibri"/>
                <a:ea typeface="Calibri"/>
                <a:cs typeface="Calibri"/>
                <a:sym typeface="Calibri"/>
              </a:rPr>
              <a:t>	END</a:t>
            </a:r>
            <a:endParaRPr/>
          </a:p>
        </p:txBody>
      </p:sp>
      <p:sp>
        <p:nvSpPr>
          <p:cNvPr id="1636" name="Google Shape;1636;p166"/>
          <p:cNvSpPr txBox="1"/>
          <p:nvPr>
            <p:ph type="title"/>
          </p:nvPr>
        </p:nvSpPr>
        <p:spPr>
          <a:xfrm>
            <a:off x="152400" y="152400"/>
            <a:ext cx="11277600" cy="487362"/>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2060"/>
              </a:buClr>
              <a:buSzPct val="100000"/>
              <a:buFont typeface="Times New Roman"/>
              <a:buNone/>
            </a:pPr>
            <a:r>
              <a:rPr b="1" lang="en-US" sz="3600">
                <a:solidFill>
                  <a:srgbClr val="002060"/>
                </a:solidFill>
                <a:latin typeface="Times New Roman"/>
                <a:ea typeface="Times New Roman"/>
                <a:cs typeface="Times New Roman"/>
                <a:sym typeface="Times New Roman"/>
              </a:rPr>
              <a:t>4.5. Lập trình ngắt truyền thông nối tiếp </a:t>
            </a:r>
            <a:r>
              <a:rPr b="1" lang="en-US" sz="3600">
                <a:solidFill>
                  <a:srgbClr val="C00000"/>
                </a:solidFill>
                <a:latin typeface="Times New Roman"/>
                <a:ea typeface="Times New Roman"/>
                <a:cs typeface="Times New Roman"/>
                <a:sym typeface="Times New Roman"/>
              </a:rPr>
              <a:t>– Một số ví dụ (4)</a:t>
            </a:r>
            <a:endParaRPr/>
          </a:p>
        </p:txBody>
      </p:sp>
      <p:sp>
        <p:nvSpPr>
          <p:cNvPr id="1637" name="Google Shape;1637;p16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5"/>
                                        </p:tgtEl>
                                        <p:attrNameLst>
                                          <p:attrName>style.visibility</p:attrName>
                                        </p:attrNameLst>
                                      </p:cBhvr>
                                      <p:to>
                                        <p:strVal val="visible"/>
                                      </p:to>
                                    </p:set>
                                    <p:animEffect filter="fade" transition="in">
                                      <p:cBhvr>
                                        <p:cTn dur="1000"/>
                                        <p:tgtEl>
                                          <p:spTgt spid="16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167"/>
          <p:cNvSpPr txBox="1"/>
          <p:nvPr/>
        </p:nvSpPr>
        <p:spPr>
          <a:xfrm>
            <a:off x="685800" y="2438400"/>
            <a:ext cx="6858000" cy="144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Chương 5.</a:t>
            </a:r>
            <a:endParaRPr/>
          </a:p>
          <a:p>
            <a:pPr indent="0" lvl="0" marL="0" marR="0" rtl="0" algn="ctr">
              <a:spcBef>
                <a:spcPts val="1200"/>
              </a:spcBef>
              <a:spcAft>
                <a:spcPts val="0"/>
              </a:spcAft>
              <a:buClr>
                <a:schemeClr val="dk2"/>
              </a:buClr>
              <a:buSzPts val="3200"/>
              <a:buFont typeface="Times New Roman"/>
              <a:buNone/>
            </a:pPr>
            <a:r>
              <a:rPr b="1" lang="en-US" sz="3200">
                <a:solidFill>
                  <a:schemeClr val="dk2"/>
                </a:solidFill>
                <a:latin typeface="Times New Roman"/>
                <a:ea typeface="Times New Roman"/>
                <a:cs typeface="Times New Roman"/>
                <a:sym typeface="Times New Roman"/>
              </a:rPr>
              <a:t>VI VI XỬ LÝ ARM</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graphicFrame>
        <p:nvGraphicFramePr>
          <p:cNvPr id="1650" name="Google Shape;1650;p168"/>
          <p:cNvGraphicFramePr/>
          <p:nvPr/>
        </p:nvGraphicFramePr>
        <p:xfrm>
          <a:off x="260445" y="1219200"/>
          <a:ext cx="3000000" cy="3000000"/>
        </p:xfrm>
        <a:graphic>
          <a:graphicData uri="http://schemas.openxmlformats.org/drawingml/2006/table">
            <a:tbl>
              <a:tblPr>
                <a:noFill/>
                <a:tableStyleId>{A4A541D9-23D5-4180-BFA4-B58C0BD4C685}</a:tableStyleId>
              </a:tblPr>
              <a:tblGrid>
                <a:gridCol w="11201400"/>
              </a:tblGrid>
              <a:tr h="534200">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kiến trúc tổng quan vi xử lý ARM</a:t>
                      </a:r>
                      <a:endParaRPr/>
                    </a:p>
                  </a:txBody>
                  <a:tcPr marT="0" marB="0" marR="114300" marL="114300"/>
                </a:tc>
              </a:tr>
              <a:tr h="304000">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
        <p:nvSpPr>
          <p:cNvPr id="1651" name="Google Shape;1651;p168"/>
          <p:cNvSpPr txBox="1"/>
          <p:nvPr>
            <p:ph type="title"/>
          </p:nvPr>
        </p:nvSpPr>
        <p:spPr>
          <a:xfrm>
            <a:off x="304800" y="228600"/>
            <a:ext cx="8458200" cy="4873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MỤC TIÊU</a:t>
            </a:r>
            <a:endParaRPr/>
          </a:p>
        </p:txBody>
      </p:sp>
      <p:sp>
        <p:nvSpPr>
          <p:cNvPr id="1652" name="Google Shape;1652;p16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653" name="Google Shape;1653;p168"/>
          <p:cNvGraphicFramePr/>
          <p:nvPr/>
        </p:nvGraphicFramePr>
        <p:xfrm>
          <a:off x="304800" y="3352801"/>
          <a:ext cx="3000000" cy="3000000"/>
        </p:xfrm>
        <a:graphic>
          <a:graphicData uri="http://schemas.openxmlformats.org/drawingml/2006/table">
            <a:tbl>
              <a:tblPr>
                <a:noFill/>
                <a:tableStyleId>{A4A541D9-23D5-4180-BFA4-B58C0BD4C685}</a:tableStyleId>
              </a:tblPr>
              <a:tblGrid>
                <a:gridCol w="11201400"/>
              </a:tblGrid>
              <a:tr h="749125">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Đặc điểm các dòng ARM</a:t>
                      </a:r>
                      <a:endParaRPr/>
                    </a:p>
                  </a:txBody>
                  <a:tcPr marT="0" marB="0" marR="114300" marL="114300"/>
                </a:tc>
              </a:tr>
              <a:tr h="226225">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graphicFrame>
        <p:nvGraphicFramePr>
          <p:cNvPr id="1654" name="Google Shape;1654;p168"/>
          <p:cNvGraphicFramePr/>
          <p:nvPr/>
        </p:nvGraphicFramePr>
        <p:xfrm>
          <a:off x="381000" y="2133601"/>
          <a:ext cx="3000000" cy="3000000"/>
        </p:xfrm>
        <a:graphic>
          <a:graphicData uri="http://schemas.openxmlformats.org/drawingml/2006/table">
            <a:tbl>
              <a:tblPr>
                <a:noFill/>
                <a:tableStyleId>{A4A541D9-23D5-4180-BFA4-B58C0BD4C685}</a:tableStyleId>
              </a:tblPr>
              <a:tblGrid>
                <a:gridCol w="11201400"/>
              </a:tblGrid>
              <a:tr h="819375">
                <a:tc>
                  <a:txBody>
                    <a:bodyPr/>
                    <a:lstStyle/>
                    <a:p>
                      <a:pPr indent="-457200" lvl="1" marL="914400" marR="0" rtl="0" algn="just">
                        <a:lnSpc>
                          <a:spcPct val="100000"/>
                        </a:lnSpc>
                        <a:spcBef>
                          <a:spcPts val="0"/>
                        </a:spcBef>
                        <a:spcAft>
                          <a:spcPts val="0"/>
                        </a:spcAft>
                        <a:buClr>
                          <a:srgbClr val="366092"/>
                        </a:buClr>
                        <a:buSzPts val="2800"/>
                        <a:buFont typeface="Noto Sans Symbols"/>
                        <a:buChar char="⮚"/>
                      </a:pPr>
                      <a:r>
                        <a:rPr b="1" lang="en-US" sz="2800" u="none" cap="none" strike="noStrike">
                          <a:solidFill>
                            <a:srgbClr val="366092"/>
                          </a:solidFill>
                          <a:latin typeface="Times New Roman"/>
                          <a:ea typeface="Times New Roman"/>
                          <a:cs typeface="Times New Roman"/>
                          <a:sym typeface="Times New Roman"/>
                        </a:rPr>
                        <a:t>Hiểu được cấu trúc chung của tập lệnh ARM,  mô hình giao tiếp của ARM</a:t>
                      </a:r>
                      <a:endParaRPr/>
                    </a:p>
                  </a:txBody>
                  <a:tcPr marT="0" marB="0" marR="114300" marL="114300"/>
                </a:tc>
              </a:tr>
              <a:tr h="247425">
                <a:tc>
                  <a:txBody>
                    <a:bodyPr/>
                    <a:lstStyle/>
                    <a:p>
                      <a:pPr indent="0" lvl="1" marL="457200" marR="0" rtl="0" algn="just">
                        <a:lnSpc>
                          <a:spcPct val="100000"/>
                        </a:lnSpc>
                        <a:spcBef>
                          <a:spcPts val="0"/>
                        </a:spcBef>
                        <a:spcAft>
                          <a:spcPts val="0"/>
                        </a:spcAft>
                        <a:buClr>
                          <a:schemeClr val="dk1"/>
                        </a:buClr>
                        <a:buSzPts val="2800"/>
                        <a:buFont typeface="Calibri"/>
                        <a:buNone/>
                      </a:pPr>
                      <a:r>
                        <a:t/>
                      </a:r>
                      <a:endParaRPr b="1" sz="2800" u="none" cap="none" strike="noStrike">
                        <a:solidFill>
                          <a:srgbClr val="366092"/>
                        </a:solidFill>
                        <a:latin typeface="Times New Roman"/>
                        <a:ea typeface="Times New Roman"/>
                        <a:cs typeface="Times New Roman"/>
                        <a:sym typeface="Times New Roman"/>
                      </a:endParaRPr>
                    </a:p>
                  </a:txBody>
                  <a:tcPr marT="0" marB="0" marR="114300" marL="1143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0"/>
                                        </p:tgtEl>
                                        <p:attrNameLst>
                                          <p:attrName>style.visibility</p:attrName>
                                        </p:attrNameLst>
                                      </p:cBhvr>
                                      <p:to>
                                        <p:strVal val="visible"/>
                                      </p:to>
                                    </p:set>
                                    <p:animEffect filter="fade" transition="in">
                                      <p:cBhvr>
                                        <p:cTn dur="1000"/>
                                        <p:tgtEl>
                                          <p:spTgt spid="1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4"/>
                                        </p:tgtEl>
                                        <p:attrNameLst>
                                          <p:attrName>style.visibility</p:attrName>
                                        </p:attrNameLst>
                                      </p:cBhvr>
                                      <p:to>
                                        <p:strVal val="visible"/>
                                      </p:to>
                                    </p:set>
                                    <p:animEffect filter="fade" transition="in">
                                      <p:cBhvr>
                                        <p:cTn dur="1000"/>
                                        <p:tgtEl>
                                          <p:spTgt spid="1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3"/>
                                        </p:tgtEl>
                                        <p:attrNameLst>
                                          <p:attrName>style.visibility</p:attrName>
                                        </p:attrNameLst>
                                      </p:cBhvr>
                                      <p:to>
                                        <p:strVal val="visible"/>
                                      </p:to>
                                    </p:set>
                                    <p:animEffect filter="fade" transition="in">
                                      <p:cBhvr>
                                        <p:cTn dur="1000"/>
                                        <p:tgtEl>
                                          <p:spTgt spid="1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169"/>
          <p:cNvSpPr txBox="1"/>
          <p:nvPr>
            <p:ph idx="1" type="body"/>
          </p:nvPr>
        </p:nvSpPr>
        <p:spPr>
          <a:xfrm>
            <a:off x="1981200" y="2209800"/>
            <a:ext cx="8229600" cy="3733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5.1. Tổng quan về vi xử lý ARM</a:t>
            </a:r>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5.2. Kiến trúc cơ bản của vi xử lý ARM</a:t>
            </a:r>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5.3. Cấu trúc load – store</a:t>
            </a:r>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5.4. Cấu trúc tập lệnh</a:t>
            </a:r>
            <a:endParaRPr b="1" sz="2800">
              <a:solidFill>
                <a:srgbClr val="002060"/>
              </a:solidFill>
              <a:latin typeface="Times New Roman"/>
              <a:ea typeface="Times New Roman"/>
              <a:cs typeface="Times New Roman"/>
              <a:sym typeface="Times New Roman"/>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5.5. Mô hình giao tiếp trong vi xử lý ARM</a:t>
            </a:r>
            <a:endParaRPr/>
          </a:p>
          <a:p>
            <a:pPr indent="0" lvl="0" marL="0" rtl="0" algn="l">
              <a:spcBef>
                <a:spcPts val="1200"/>
              </a:spcBef>
              <a:spcAft>
                <a:spcPts val="0"/>
              </a:spcAft>
              <a:buClr>
                <a:srgbClr val="002060"/>
              </a:buClr>
              <a:buSzPts val="2800"/>
              <a:buNone/>
            </a:pPr>
            <a:r>
              <a:rPr b="1" lang="en-US" sz="2800">
                <a:solidFill>
                  <a:srgbClr val="002060"/>
                </a:solidFill>
                <a:latin typeface="Times New Roman"/>
                <a:ea typeface="Times New Roman"/>
                <a:cs typeface="Times New Roman"/>
                <a:sym typeface="Times New Roman"/>
              </a:rPr>
              <a:t>5.6. Đặc điểm của các dòng vi xử lý ARM</a:t>
            </a:r>
            <a:endParaRPr/>
          </a:p>
          <a:p>
            <a:pPr indent="0" lvl="0" marL="0" rtl="0" algn="l">
              <a:spcBef>
                <a:spcPts val="1160"/>
              </a:spcBef>
              <a:spcAft>
                <a:spcPts val="0"/>
              </a:spcAft>
              <a:buClr>
                <a:schemeClr val="dk1"/>
              </a:buClr>
              <a:buSzPts val="2800"/>
              <a:buNone/>
            </a:pPr>
            <a:r>
              <a:t/>
            </a:r>
            <a:endParaRPr sz="2800">
              <a:solidFill>
                <a:srgbClr val="002060"/>
              </a:solidFill>
              <a:latin typeface="Times New Roman"/>
              <a:ea typeface="Times New Roman"/>
              <a:cs typeface="Times New Roman"/>
              <a:sym typeface="Times New Roman"/>
            </a:endParaRPr>
          </a:p>
          <a:p>
            <a:pPr indent="-165100" lvl="0" marL="342900" rtl="0" algn="l">
              <a:spcBef>
                <a:spcPts val="560"/>
              </a:spcBef>
              <a:spcAft>
                <a:spcPts val="0"/>
              </a:spcAft>
              <a:buClr>
                <a:schemeClr val="dk1"/>
              </a:buClr>
              <a:buSzPts val="2800"/>
              <a:buNone/>
            </a:pPr>
            <a:r>
              <a:t/>
            </a:r>
            <a:endParaRPr sz="2800">
              <a:solidFill>
                <a:srgbClr val="002060"/>
              </a:solidFill>
              <a:latin typeface="Times New Roman"/>
              <a:ea typeface="Times New Roman"/>
              <a:cs typeface="Times New Roman"/>
              <a:sym typeface="Times New Roman"/>
            </a:endParaRPr>
          </a:p>
        </p:txBody>
      </p:sp>
      <p:sp>
        <p:nvSpPr>
          <p:cNvPr id="1660" name="Google Shape;1660;p169"/>
          <p:cNvSpPr txBox="1"/>
          <p:nvPr>
            <p:ph type="title"/>
          </p:nvPr>
        </p:nvSpPr>
        <p:spPr>
          <a:xfrm>
            <a:off x="152400" y="228600"/>
            <a:ext cx="8686800" cy="6096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NỘI DUNG</a:t>
            </a:r>
            <a:endParaRPr b="1" sz="3200">
              <a:solidFill>
                <a:srgbClr val="C00000"/>
              </a:solidFill>
            </a:endParaRPr>
          </a:p>
        </p:txBody>
      </p:sp>
      <p:sp>
        <p:nvSpPr>
          <p:cNvPr id="1661" name="Google Shape;1661;p16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0" st="0"/>
                                            </p:txEl>
                                          </p:spTgt>
                                        </p:tgtEl>
                                        <p:attrNameLst>
                                          <p:attrName>style.visibility</p:attrName>
                                        </p:attrNameLst>
                                      </p:cBhvr>
                                      <p:to>
                                        <p:strVal val="visible"/>
                                      </p:to>
                                    </p:set>
                                    <p:animEffect filter="fade" transition="in">
                                      <p:cBhvr>
                                        <p:cTn dur="1000"/>
                                        <p:tgtEl>
                                          <p:spTgt spid="16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1" st="1"/>
                                            </p:txEl>
                                          </p:spTgt>
                                        </p:tgtEl>
                                        <p:attrNameLst>
                                          <p:attrName>style.visibility</p:attrName>
                                        </p:attrNameLst>
                                      </p:cBhvr>
                                      <p:to>
                                        <p:strVal val="visible"/>
                                      </p:to>
                                    </p:set>
                                    <p:animEffect filter="fade" transition="in">
                                      <p:cBhvr>
                                        <p:cTn dur="1000"/>
                                        <p:tgtEl>
                                          <p:spTgt spid="16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2" st="2"/>
                                            </p:txEl>
                                          </p:spTgt>
                                        </p:tgtEl>
                                        <p:attrNameLst>
                                          <p:attrName>style.visibility</p:attrName>
                                        </p:attrNameLst>
                                      </p:cBhvr>
                                      <p:to>
                                        <p:strVal val="visible"/>
                                      </p:to>
                                    </p:set>
                                    <p:animEffect filter="fade" transition="in">
                                      <p:cBhvr>
                                        <p:cTn dur="1000"/>
                                        <p:tgtEl>
                                          <p:spTgt spid="16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3" st="3"/>
                                            </p:txEl>
                                          </p:spTgt>
                                        </p:tgtEl>
                                        <p:attrNameLst>
                                          <p:attrName>style.visibility</p:attrName>
                                        </p:attrNameLst>
                                      </p:cBhvr>
                                      <p:to>
                                        <p:strVal val="visible"/>
                                      </p:to>
                                    </p:set>
                                    <p:animEffect filter="fade" transition="in">
                                      <p:cBhvr>
                                        <p:cTn dur="1000"/>
                                        <p:tgtEl>
                                          <p:spTgt spid="16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4" st="4"/>
                                            </p:txEl>
                                          </p:spTgt>
                                        </p:tgtEl>
                                        <p:attrNameLst>
                                          <p:attrName>style.visibility</p:attrName>
                                        </p:attrNameLst>
                                      </p:cBhvr>
                                      <p:to>
                                        <p:strVal val="visible"/>
                                      </p:to>
                                    </p:set>
                                    <p:animEffect filter="fade" transition="in">
                                      <p:cBhvr>
                                        <p:cTn dur="1000"/>
                                        <p:tgtEl>
                                          <p:spTgt spid="16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5" st="5"/>
                                            </p:txEl>
                                          </p:spTgt>
                                        </p:tgtEl>
                                        <p:attrNameLst>
                                          <p:attrName>style.visibility</p:attrName>
                                        </p:attrNameLst>
                                      </p:cBhvr>
                                      <p:to>
                                        <p:strVal val="visible"/>
                                      </p:to>
                                    </p:set>
                                    <p:animEffect filter="fade" transition="in">
                                      <p:cBhvr>
                                        <p:cTn dur="1000"/>
                                        <p:tgtEl>
                                          <p:spTgt spid="16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6" st="6"/>
                                            </p:txEl>
                                          </p:spTgt>
                                        </p:tgtEl>
                                        <p:attrNameLst>
                                          <p:attrName>style.visibility</p:attrName>
                                        </p:attrNameLst>
                                      </p:cBhvr>
                                      <p:to>
                                        <p:strVal val="visible"/>
                                      </p:to>
                                    </p:set>
                                    <p:animEffect filter="fade" transition="in">
                                      <p:cBhvr>
                                        <p:cTn dur="1000"/>
                                        <p:tgtEl>
                                          <p:spTgt spid="16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9">
                                            <p:txEl>
                                              <p:pRg end="7" st="7"/>
                                            </p:txEl>
                                          </p:spTgt>
                                        </p:tgtEl>
                                        <p:attrNameLst>
                                          <p:attrName>style.visibility</p:attrName>
                                        </p:attrNameLst>
                                      </p:cBhvr>
                                      <p:to>
                                        <p:strVal val="visible"/>
                                      </p:to>
                                    </p:set>
                                    <p:animEffect filter="fade" transition="in">
                                      <p:cBhvr>
                                        <p:cTn dur="1000"/>
                                        <p:tgtEl>
                                          <p:spTgt spid="165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170"/>
          <p:cNvSpPr txBox="1"/>
          <p:nvPr>
            <p:ph type="title"/>
          </p:nvPr>
        </p:nvSpPr>
        <p:spPr>
          <a:xfrm>
            <a:off x="32084" y="15240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5.1. Tổng quan về vi xử lý ARM</a:t>
            </a:r>
            <a:endParaRPr sz="3200"/>
          </a:p>
        </p:txBody>
      </p:sp>
      <p:sp>
        <p:nvSpPr>
          <p:cNvPr id="1667" name="Google Shape;1667;p170"/>
          <p:cNvSpPr/>
          <p:nvPr/>
        </p:nvSpPr>
        <p:spPr>
          <a:xfrm>
            <a:off x="304800" y="1066800"/>
            <a:ext cx="11506200" cy="830997"/>
          </a:xfrm>
          <a:prstGeom prst="rect">
            <a:avLst/>
          </a:prstGeom>
          <a:noFill/>
          <a:ln>
            <a:noFill/>
          </a:ln>
        </p:spPr>
        <p:txBody>
          <a:bodyPr anchorCtr="0" anchor="t" bIns="45700" lIns="91425" spcFirstLastPara="1" rIns="91425" wrap="square" tIns="45700">
            <a:spAutoFit/>
          </a:bodyPr>
          <a:lstStyle/>
          <a:p>
            <a:pPr indent="457200" lvl="0" marL="0" marR="0" rtl="0" algn="just">
              <a:spcBef>
                <a:spcPts val="0"/>
              </a:spcBef>
              <a:spcAft>
                <a:spcPts val="0"/>
              </a:spcAft>
              <a:buNone/>
            </a:pPr>
            <a:r>
              <a:rPr lang="en-US" sz="2400">
                <a:solidFill>
                  <a:schemeClr val="dk1"/>
                </a:solidFill>
                <a:latin typeface="Calibri"/>
                <a:ea typeface="Calibri"/>
                <a:cs typeface="Calibri"/>
                <a:sym typeface="Calibri"/>
              </a:rPr>
              <a:t>ARM là một trong những họ CPU dựa trên kiến ​​trúc RISC (máy tính tập lệnh giản thiểu) được phát triển bởi Advanced RISC Machines (ARM).</a:t>
            </a:r>
            <a:endParaRPr sz="2400">
              <a:solidFill>
                <a:schemeClr val="dk1"/>
              </a:solidFill>
              <a:latin typeface="Calibri"/>
              <a:ea typeface="Calibri"/>
              <a:cs typeface="Calibri"/>
              <a:sym typeface="Calibri"/>
            </a:endParaRPr>
          </a:p>
        </p:txBody>
      </p:sp>
      <p:sp>
        <p:nvSpPr>
          <p:cNvPr id="1668" name="Google Shape;1668;p170"/>
          <p:cNvSpPr/>
          <p:nvPr/>
        </p:nvSpPr>
        <p:spPr>
          <a:xfrm>
            <a:off x="304800" y="2337358"/>
            <a:ext cx="11353800" cy="1569660"/>
          </a:xfrm>
          <a:prstGeom prst="rect">
            <a:avLst/>
          </a:prstGeom>
          <a:noFill/>
          <a:ln>
            <a:noFill/>
          </a:ln>
        </p:spPr>
        <p:txBody>
          <a:bodyPr anchorCtr="0" anchor="t" bIns="45700" lIns="91425" spcFirstLastPara="1" rIns="91425" wrap="square" tIns="45700">
            <a:spAutoFit/>
          </a:bodyPr>
          <a:lstStyle/>
          <a:p>
            <a:pPr indent="45720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ARM là một loại cấu trúc vi xử lý RISC 32 bit và 64 bit. RISC được thiết kế để thực hiện một số lượng nhỏ hơn các loại hướng dẫn máy tính để chúng có thể hoạt động ở tốc độ cao hơn, thực hiện thêm hàng triệu phép tính mỗi giây (MIPS). Bằng cách loại bỏ các phép tính không cần thiết và tối ưu hóa các lộ trình.</a:t>
            </a:r>
            <a:endParaRPr/>
          </a:p>
        </p:txBody>
      </p:sp>
      <p:sp>
        <p:nvSpPr>
          <p:cNvPr id="1669" name="Google Shape;1669;p170"/>
          <p:cNvSpPr/>
          <p:nvPr/>
        </p:nvSpPr>
        <p:spPr>
          <a:xfrm>
            <a:off x="304800" y="4346580"/>
            <a:ext cx="11353800" cy="1200329"/>
          </a:xfrm>
          <a:prstGeom prst="rect">
            <a:avLst/>
          </a:prstGeom>
          <a:noFill/>
          <a:ln>
            <a:noFill/>
          </a:ln>
        </p:spPr>
        <p:txBody>
          <a:bodyPr anchorCtr="0" anchor="t" bIns="45700" lIns="91425" spcFirstLastPara="1" rIns="91425" wrap="square" tIns="45700">
            <a:spAutoFit/>
          </a:bodyPr>
          <a:lstStyle/>
          <a:p>
            <a:pPr indent="396875"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Kiến trúc ARM được được thiết kế chuyên dụng cho các ứng dụng nhúng. Do đó, hiện thực hóa chip ARM được thiết kế để cho các ứng dụng nhỏ, nhưng có hiệu năng cao, tiêu thụ ít năng lượng</a:t>
            </a:r>
            <a:endParaRPr sz="2400">
              <a:solidFill>
                <a:schemeClr val="dk1"/>
              </a:solidFill>
              <a:latin typeface="Times New Roman"/>
              <a:ea typeface="Times New Roman"/>
              <a:cs typeface="Times New Roman"/>
              <a:sym typeface="Times New Roman"/>
            </a:endParaRPr>
          </a:p>
        </p:txBody>
      </p:sp>
      <p:sp>
        <p:nvSpPr>
          <p:cNvPr id="1670" name="Google Shape;1670;p17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7"/>
                                        </p:tgtEl>
                                        <p:attrNameLst>
                                          <p:attrName>style.visibility</p:attrName>
                                        </p:attrNameLst>
                                      </p:cBhvr>
                                      <p:to>
                                        <p:strVal val="visible"/>
                                      </p:to>
                                    </p:set>
                                    <p:animEffect filter="fade" transition="in">
                                      <p:cBhvr>
                                        <p:cTn dur="1000"/>
                                        <p:tgtEl>
                                          <p:spTgt spid="1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gtEl>
                                        <p:attrNameLst>
                                          <p:attrName>style.visibility</p:attrName>
                                        </p:attrNameLst>
                                      </p:cBhvr>
                                      <p:to>
                                        <p:strVal val="visible"/>
                                      </p:to>
                                    </p:set>
                                    <p:animEffect filter="fade" transition="in">
                                      <p:cBhvr>
                                        <p:cTn dur="1000"/>
                                        <p:tgtEl>
                                          <p:spTgt spid="1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9"/>
                                        </p:tgtEl>
                                        <p:attrNameLst>
                                          <p:attrName>style.visibility</p:attrName>
                                        </p:attrNameLst>
                                      </p:cBhvr>
                                      <p:to>
                                        <p:strVal val="visible"/>
                                      </p:to>
                                    </p:set>
                                    <p:animEffect filter="fade" transition="in">
                                      <p:cBhvr>
                                        <p:cTn dur="1000"/>
                                        <p:tgtEl>
                                          <p:spTgt spid="16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171"/>
          <p:cNvSpPr/>
          <p:nvPr/>
        </p:nvSpPr>
        <p:spPr>
          <a:xfrm>
            <a:off x="457200" y="838200"/>
            <a:ext cx="8915400"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Kiến trúc cơ bản của vi xử lý ARM, Hình 5.1</a:t>
            </a:r>
            <a:endParaRPr/>
          </a:p>
        </p:txBody>
      </p:sp>
      <p:sp>
        <p:nvSpPr>
          <p:cNvPr id="1677" name="Google Shape;1677;p171"/>
          <p:cNvSpPr txBox="1"/>
          <p:nvPr>
            <p:ph type="title"/>
          </p:nvPr>
        </p:nvSpPr>
        <p:spPr>
          <a:xfrm>
            <a:off x="76200" y="15240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5.2. Kiến trúc cơ bản của vi xử lý ARM (1)</a:t>
            </a:r>
            <a:endParaRPr sz="3200"/>
          </a:p>
        </p:txBody>
      </p:sp>
      <p:pic>
        <p:nvPicPr>
          <p:cNvPr id="1678" name="Google Shape;1678;p171"/>
          <p:cNvPicPr preferRelativeResize="0"/>
          <p:nvPr/>
        </p:nvPicPr>
        <p:blipFill rotWithShape="1">
          <a:blip r:embed="rId3">
            <a:alphaModFix/>
          </a:blip>
          <a:srcRect b="0" l="0" r="0" t="0"/>
          <a:stretch/>
        </p:blipFill>
        <p:spPr>
          <a:xfrm>
            <a:off x="3657600" y="1524000"/>
            <a:ext cx="4191000" cy="4536142"/>
          </a:xfrm>
          <a:prstGeom prst="rect">
            <a:avLst/>
          </a:prstGeom>
          <a:noFill/>
          <a:ln>
            <a:noFill/>
          </a:ln>
        </p:spPr>
      </p:pic>
      <p:sp>
        <p:nvSpPr>
          <p:cNvPr id="1679" name="Google Shape;1679;p171"/>
          <p:cNvSpPr/>
          <p:nvPr/>
        </p:nvSpPr>
        <p:spPr>
          <a:xfrm>
            <a:off x="2743200" y="6253797"/>
            <a:ext cx="63246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Hình 5.1. Kiến trúc ARM </a:t>
            </a:r>
            <a:endParaRPr/>
          </a:p>
        </p:txBody>
      </p:sp>
      <p:sp>
        <p:nvSpPr>
          <p:cNvPr id="1680" name="Google Shape;1680;p17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172"/>
          <p:cNvSpPr txBox="1"/>
          <p:nvPr>
            <p:ph type="title"/>
          </p:nvPr>
        </p:nvSpPr>
        <p:spPr>
          <a:xfrm>
            <a:off x="32084" y="15240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5.2. Kiến trúc cơ bản của vi xử lý ARM (2)</a:t>
            </a:r>
            <a:endParaRPr sz="3200"/>
          </a:p>
        </p:txBody>
      </p:sp>
      <p:sp>
        <p:nvSpPr>
          <p:cNvPr id="1686" name="Google Shape;1686;p172"/>
          <p:cNvSpPr txBox="1"/>
          <p:nvPr/>
        </p:nvSpPr>
        <p:spPr>
          <a:xfrm>
            <a:off x="533400" y="1524000"/>
            <a:ext cx="11125200" cy="4308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ARM được thiết kế theo kiến trúc RISC, do vậy nó chứa các kiến trúc RISC chung:</a:t>
            </a:r>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Các thanh ghi đồng dạng</a:t>
            </a:r>
            <a:endParaRPr sz="2400">
              <a:solidFill>
                <a:schemeClr val="dk1"/>
              </a:solidFill>
              <a:latin typeface="Times New Roman"/>
              <a:ea typeface="Times New Roman"/>
              <a:cs typeface="Times New Roman"/>
              <a:sym typeface="Times New Roman"/>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Kiến trúc dạng Load-Store. Các địa chỉ Load/Store chỉ được xác định từ nội dung thanh ghi và các chỉ lệnh</a:t>
            </a:r>
            <a:endParaRPr sz="2400">
              <a:solidFill>
                <a:schemeClr val="dk1"/>
              </a:solidFill>
              <a:latin typeface="Times New Roman"/>
              <a:ea typeface="Times New Roman"/>
              <a:cs typeface="Times New Roman"/>
              <a:sym typeface="Times New Roman"/>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Các kiểu đánh địa chỉ đơn giản</a:t>
            </a:r>
            <a:endParaRPr sz="2400">
              <a:solidFill>
                <a:schemeClr val="dk1"/>
              </a:solidFill>
              <a:latin typeface="Times New Roman"/>
              <a:ea typeface="Times New Roman"/>
              <a:cs typeface="Times New Roman"/>
              <a:sym typeface="Times New Roman"/>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Các chỉ lệnh có độ dài cố định và đồng dạng, do đó đơn giản hóa việc giải mã các câu lệnh</a:t>
            </a:r>
            <a:endParaRPr sz="2400">
              <a:solidFill>
                <a:schemeClr val="dk1"/>
              </a:solidFill>
              <a:latin typeface="Times New Roman"/>
              <a:ea typeface="Times New Roman"/>
              <a:cs typeface="Times New Roman"/>
              <a:sym typeface="Times New Roman"/>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Thiết kế tối giản số chu kỳ xung nhịp cho một chỉ lệnh </a:t>
            </a:r>
            <a:endParaRPr/>
          </a:p>
        </p:txBody>
      </p:sp>
      <p:sp>
        <p:nvSpPr>
          <p:cNvPr id="1687" name="Google Shape;1687;p17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173"/>
          <p:cNvSpPr txBox="1"/>
          <p:nvPr>
            <p:ph type="title"/>
          </p:nvPr>
        </p:nvSpPr>
        <p:spPr>
          <a:xfrm>
            <a:off x="32084" y="15240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5.2. Kiến trúc cơ bản của vi xử lý ARM (3)</a:t>
            </a:r>
            <a:endParaRPr sz="3200"/>
          </a:p>
        </p:txBody>
      </p:sp>
      <p:sp>
        <p:nvSpPr>
          <p:cNvPr id="1693" name="Google Shape;1693;p173"/>
          <p:cNvSpPr txBox="1"/>
          <p:nvPr/>
        </p:nvSpPr>
        <p:spPr>
          <a:xfrm>
            <a:off x="762000" y="1524000"/>
            <a:ext cx="10744200" cy="33547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Ngoài ra, kiến trúc ARM có thể cung cấp:</a:t>
            </a:r>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 Điểu khiển cả khối ALU và bộ dịch chuyển (shifter) trong các lệnh xử lý dữ liệu để tối ưu hóa việc sử dụng ALU và bộ dịch chuyển.</a:t>
            </a:r>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Các chế độ địa chỉ tự tăng hoặc tự giảm để tối ưu hóa các lệnh vòng lặp.</a:t>
            </a:r>
            <a:endParaRPr/>
          </a:p>
          <a:p>
            <a:pPr indent="-342900" lvl="0" marL="342900" marR="0" rtl="0" algn="l">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Các lệnh Load/Strore để tối đa dữ liệu truyền qua.</a:t>
            </a:r>
            <a:endParaRPr/>
          </a:p>
          <a:p>
            <a:pPr indent="457200" lvl="0" marL="0" marR="0" rtl="0" algn="l">
              <a:spcBef>
                <a:spcPts val="1200"/>
              </a:spcBef>
              <a:spcAft>
                <a:spcPts val="0"/>
              </a:spcAft>
              <a:buNone/>
            </a:pPr>
            <a:r>
              <a:rPr lang="en-US" sz="2400">
                <a:solidFill>
                  <a:schemeClr val="dk1"/>
                </a:solidFill>
                <a:latin typeface="Times New Roman"/>
                <a:ea typeface="Times New Roman"/>
                <a:cs typeface="Times New Roman"/>
                <a:sym typeface="Times New Roman"/>
              </a:rPr>
              <a:t>Nhờ các tối ưu trên nền kiến trúc RISC căn bản, ARM có thể đạt được một sự cân bằng giữa hiệu năng cao, kích thước mã nguồn ít, công suất tiêu thụ thấp.</a:t>
            </a:r>
            <a:endParaRPr/>
          </a:p>
        </p:txBody>
      </p:sp>
      <p:sp>
        <p:nvSpPr>
          <p:cNvPr id="1694" name="Google Shape;1694;p17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9" name="Shape 1699"/>
        <p:cNvGrpSpPr/>
        <p:nvPr/>
      </p:nvGrpSpPr>
      <p:grpSpPr>
        <a:xfrm>
          <a:off x="0" y="0"/>
          <a:ext cx="0" cy="0"/>
          <a:chOff x="0" y="0"/>
          <a:chExt cx="0" cy="0"/>
        </a:xfrm>
      </p:grpSpPr>
      <p:sp>
        <p:nvSpPr>
          <p:cNvPr id="1700" name="Google Shape;1700;p174"/>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5.2. Kiến trúc cơ bản của vi xử lý ARM (4)</a:t>
            </a:r>
            <a:endParaRPr sz="3200"/>
          </a:p>
        </p:txBody>
      </p:sp>
      <p:sp>
        <p:nvSpPr>
          <p:cNvPr id="1701" name="Google Shape;1701;p174"/>
          <p:cNvSpPr txBox="1"/>
          <p:nvPr/>
        </p:nvSpPr>
        <p:spPr>
          <a:xfrm>
            <a:off x="304800" y="990600"/>
            <a:ext cx="3505200"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Times New Roman"/>
                <a:ea typeface="Times New Roman"/>
                <a:cs typeface="Times New Roman"/>
                <a:sym typeface="Times New Roman"/>
              </a:rPr>
              <a:t>Các thanh ghi </a:t>
            </a:r>
            <a:endParaRPr/>
          </a:p>
        </p:txBody>
      </p:sp>
      <p:sp>
        <p:nvSpPr>
          <p:cNvPr id="1702" name="Google Shape;1702;p174"/>
          <p:cNvSpPr txBox="1"/>
          <p:nvPr/>
        </p:nvSpPr>
        <p:spPr>
          <a:xfrm>
            <a:off x="304800" y="2057400"/>
            <a:ext cx="3505200" cy="1200329"/>
          </a:xfrm>
          <a:prstGeom prst="rect">
            <a:avLst/>
          </a:prstGeom>
          <a:noFill/>
          <a:ln>
            <a:noFill/>
          </a:ln>
        </p:spPr>
        <p:txBody>
          <a:bodyPr anchorCtr="0" anchor="t" bIns="45700" lIns="91425" spcFirstLastPara="1" rIns="91425" wrap="square" tIns="45700">
            <a:spAutoFit/>
          </a:bodyPr>
          <a:lstStyle/>
          <a:p>
            <a:pPr indent="396875"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Tổ chức các thanh ghi của ARM được thực hiện trên hình 5.2 </a:t>
            </a:r>
            <a:endParaRPr/>
          </a:p>
        </p:txBody>
      </p:sp>
      <p:sp>
        <p:nvSpPr>
          <p:cNvPr id="1703" name="Google Shape;1703;p174"/>
          <p:cNvSpPr txBox="1"/>
          <p:nvPr/>
        </p:nvSpPr>
        <p:spPr>
          <a:xfrm>
            <a:off x="4343400" y="6229290"/>
            <a:ext cx="6477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Hình 5.2. Tổ chức thanh ghi của ARM</a:t>
            </a:r>
            <a:endParaRPr/>
          </a:p>
        </p:txBody>
      </p:sp>
      <p:pic>
        <p:nvPicPr>
          <p:cNvPr id="1704" name="Google Shape;1704;p174"/>
          <p:cNvPicPr preferRelativeResize="0"/>
          <p:nvPr/>
        </p:nvPicPr>
        <p:blipFill rotWithShape="1">
          <a:blip r:embed="rId3">
            <a:alphaModFix/>
          </a:blip>
          <a:srcRect b="0" l="0" r="0" t="0"/>
          <a:stretch/>
        </p:blipFill>
        <p:spPr>
          <a:xfrm>
            <a:off x="3794760" y="866745"/>
            <a:ext cx="7893465" cy="5181600"/>
          </a:xfrm>
          <a:prstGeom prst="rect">
            <a:avLst/>
          </a:prstGeom>
          <a:noFill/>
          <a:ln>
            <a:noFill/>
          </a:ln>
        </p:spPr>
      </p:pic>
      <p:sp>
        <p:nvSpPr>
          <p:cNvPr id="1705" name="Google Shape;1705;p17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175"/>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5.2. Kiến trúc cơ bản của vi xử lý ARM (5)</a:t>
            </a:r>
            <a:endParaRPr sz="3200"/>
          </a:p>
        </p:txBody>
      </p:sp>
      <p:sp>
        <p:nvSpPr>
          <p:cNvPr id="1711" name="Google Shape;1711;p175"/>
          <p:cNvSpPr txBox="1"/>
          <p:nvPr/>
        </p:nvSpPr>
        <p:spPr>
          <a:xfrm>
            <a:off x="304800" y="609600"/>
            <a:ext cx="11506200" cy="624786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Times New Roman"/>
                <a:ea typeface="Times New Roman"/>
                <a:cs typeface="Times New Roman"/>
                <a:sym typeface="Times New Roman"/>
              </a:rPr>
              <a:t>Các thanh ghi </a:t>
            </a:r>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ARM có 37 thanh ghi, trong đó 31 thanh ghi đa dụng. Tuy nhiên tại một thời điểm chỉ có 16 thanh ghi đa dụng và 2 thanh ghi trạng thái hiển thị. Các thanh ghi khác ở dạng ẩn, chỉ hiện thị ở một số chế độ hoạt động riêng.</a:t>
            </a:r>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Các thanh ghi đa dụng có thể dùng để lưu dữ liệu hoặc địa chỉ. Các thanh ghi này được đánh dấu bằng ký hiểu r. Tất cả các thanh ghi đề 32 bit.  Trong các thanh ghi đa dụng có 3 thanh ghi được dùng cho các chức năng hoặc nhiệm vụ đặt biệt : r13, r14, r15</a:t>
            </a:r>
            <a:endParaRPr/>
          </a:p>
          <a:p>
            <a:pPr indent="-342900" lvl="1" marL="800100" marR="0" rtl="0" algn="just">
              <a:spcBef>
                <a:spcPts val="120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R13 được dùng làm stack pointer (SP)</a:t>
            </a:r>
            <a:endParaRPr/>
          </a:p>
          <a:p>
            <a:pPr indent="-342900" lvl="1" marL="800100" marR="0" rtl="0" algn="just">
              <a:spcBef>
                <a:spcPts val="120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R14 là thanh ghi kết nối (LR) chứa địa chỉ quay lại của chương trình khi  chương trình chạy một hàm con</a:t>
            </a:r>
            <a:endParaRPr/>
          </a:p>
          <a:p>
            <a:pPr indent="-342900" lvl="1" marL="800100" marR="0" rtl="0" algn="just">
              <a:spcBef>
                <a:spcPts val="120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R15 là bộ đếm chương trình (PC) và chứa địa chỉ của lệnh tiếp theo</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Hai thanh ghi trạng thái: thanh ghi TT chương trình hiện tại (CPSR) để giám sát các trạng thái hoạt động hiện tại; thanh ghi TT chương trình lưu (SPSR) để lưu trữ giá trị của CPSR khi có một ngoại lệ xẩy ra.</a:t>
            </a:r>
            <a:endParaRPr sz="2400">
              <a:solidFill>
                <a:schemeClr val="dk1"/>
              </a:solidFill>
              <a:latin typeface="Times New Roman"/>
              <a:ea typeface="Times New Roman"/>
              <a:cs typeface="Times New Roman"/>
              <a:sym typeface="Times New Roman"/>
            </a:endParaRPr>
          </a:p>
        </p:txBody>
      </p:sp>
      <p:sp>
        <p:nvSpPr>
          <p:cNvPr id="1712" name="Google Shape;1712;p17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p176"/>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5.3. Cấu trúc Load - Store</a:t>
            </a:r>
            <a:endParaRPr sz="3200"/>
          </a:p>
        </p:txBody>
      </p:sp>
      <p:pic>
        <p:nvPicPr>
          <p:cNvPr id="1718" name="Google Shape;1718;p176"/>
          <p:cNvPicPr preferRelativeResize="0"/>
          <p:nvPr/>
        </p:nvPicPr>
        <p:blipFill rotWithShape="1">
          <a:blip r:embed="rId3">
            <a:alphaModFix/>
          </a:blip>
          <a:srcRect b="0" l="0" r="0" t="0"/>
          <a:stretch/>
        </p:blipFill>
        <p:spPr>
          <a:xfrm>
            <a:off x="2003268" y="914400"/>
            <a:ext cx="8341165" cy="2362200"/>
          </a:xfrm>
          <a:prstGeom prst="rect">
            <a:avLst/>
          </a:prstGeom>
          <a:noFill/>
          <a:ln>
            <a:noFill/>
          </a:ln>
        </p:spPr>
      </p:pic>
      <p:sp>
        <p:nvSpPr>
          <p:cNvPr id="1719" name="Google Shape;1719;p176"/>
          <p:cNvSpPr txBox="1"/>
          <p:nvPr/>
        </p:nvSpPr>
        <p:spPr>
          <a:xfrm>
            <a:off x="533400" y="4495800"/>
            <a:ext cx="11125200" cy="1569660"/>
          </a:xfrm>
          <a:prstGeom prst="rect">
            <a:avLst/>
          </a:prstGeom>
          <a:noFill/>
          <a:ln>
            <a:noFill/>
          </a:ln>
        </p:spPr>
        <p:txBody>
          <a:bodyPr anchorCtr="0" anchor="t" bIns="45700" lIns="91425" spcFirstLastPara="1" rIns="91425" wrap="square" tIns="45700">
            <a:spAutoFit/>
          </a:bodyPr>
          <a:lstStyle/>
          <a:p>
            <a:pPr indent="517525"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ARM là bộ vi xử lý dựa trên kiến trúc RISC, do đó hỗ trợ kiến trúc nạp và lưu trữ (Load – Stror Architecture). Để thực hiện lệnh xử lý dữ liệu, các toán hạng phải được nạp vào một tập thanh ghi trung tâm, các phép toán dữ liệu phải được thực hiện trên các thanh ghi này và kết quả sau đó được lưu lại trong bộ nhớ. </a:t>
            </a:r>
            <a:endParaRPr/>
          </a:p>
        </p:txBody>
      </p:sp>
      <p:sp>
        <p:nvSpPr>
          <p:cNvPr id="1720" name="Google Shape;1720;p176"/>
          <p:cNvSpPr txBox="1"/>
          <p:nvPr/>
        </p:nvSpPr>
        <p:spPr>
          <a:xfrm>
            <a:off x="3505200" y="3535680"/>
            <a:ext cx="4572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Hình 5.3. Cấu trúc Load - Store</a:t>
            </a:r>
            <a:endParaRPr/>
          </a:p>
        </p:txBody>
      </p:sp>
      <p:sp>
        <p:nvSpPr>
          <p:cNvPr id="1721" name="Google Shape;1721;p17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8"/>
                                        </p:tgtEl>
                                        <p:attrNameLst>
                                          <p:attrName>style.visibility</p:attrName>
                                        </p:attrNameLst>
                                      </p:cBhvr>
                                      <p:to>
                                        <p:strVal val="visible"/>
                                      </p:to>
                                    </p:set>
                                    <p:animEffect filter="fade" transition="in">
                                      <p:cBhvr>
                                        <p:cTn dur="1000"/>
                                        <p:tgtEl>
                                          <p:spTgt spid="1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0"/>
                                        </p:tgtEl>
                                        <p:attrNameLst>
                                          <p:attrName>style.visibility</p:attrName>
                                        </p:attrNameLst>
                                      </p:cBhvr>
                                      <p:to>
                                        <p:strVal val="visible"/>
                                      </p:to>
                                    </p:set>
                                    <p:animEffect filter="fade" transition="in">
                                      <p:cBhvr>
                                        <p:cTn dur="1000"/>
                                        <p:tgtEl>
                                          <p:spTgt spid="1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1000"/>
                                        <p:tgtEl>
                                          <p:spTgt spid="17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177"/>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5.4. Cấu trúc tập lệnh ARM (1)</a:t>
            </a:r>
            <a:endParaRPr sz="3200"/>
          </a:p>
        </p:txBody>
      </p:sp>
      <p:sp>
        <p:nvSpPr>
          <p:cNvPr id="1727" name="Google Shape;1727;p177"/>
          <p:cNvSpPr/>
          <p:nvPr/>
        </p:nvSpPr>
        <p:spPr>
          <a:xfrm>
            <a:off x="811740" y="1309925"/>
            <a:ext cx="10287000" cy="1723549"/>
          </a:xfrm>
          <a:prstGeom prst="rect">
            <a:avLst/>
          </a:prstGeom>
          <a:noFill/>
          <a:ln>
            <a:noFill/>
          </a:ln>
        </p:spPr>
        <p:txBody>
          <a:bodyPr anchorCtr="0" anchor="t" bIns="45700" lIns="91425" spcFirstLastPara="1" rIns="91425" wrap="square" tIns="45700">
            <a:spAutoFit/>
          </a:bodyPr>
          <a:lstStyle/>
          <a:p>
            <a:pPr indent="396875" lvl="0" marL="0" marR="0" rtl="0" algn="just">
              <a:spcBef>
                <a:spcPts val="0"/>
              </a:spcBef>
              <a:spcAft>
                <a:spcPts val="0"/>
              </a:spcAft>
              <a:buNone/>
            </a:pPr>
            <a:r>
              <a:rPr lang="en-US" sz="2400">
                <a:solidFill>
                  <a:srgbClr val="000000"/>
                </a:solidFill>
                <a:latin typeface="Times New Roman"/>
                <a:ea typeface="Times New Roman"/>
                <a:cs typeface="Times New Roman"/>
                <a:sym typeface="Times New Roman"/>
              </a:rPr>
              <a:t>ARM cung cấp khả năng thực hiện một cách có điều kiện hầu hết các lệnh dựa trên tổ hợp trạng thái của các cờ điều kiện trong thanh ghi CPSR.</a:t>
            </a:r>
            <a:endParaRPr sz="2400">
              <a:solidFill>
                <a:srgbClr val="000000"/>
              </a:solidFill>
              <a:latin typeface="Times New Roman"/>
              <a:ea typeface="Times New Roman"/>
              <a:cs typeface="Times New Roman"/>
              <a:sym typeface="Times New Roman"/>
            </a:endParaRPr>
          </a:p>
          <a:p>
            <a:pPr indent="457200" lvl="0" marL="0" marR="0" rtl="0" algn="just">
              <a:spcBef>
                <a:spcPts val="1200"/>
              </a:spcBef>
              <a:spcAft>
                <a:spcPts val="0"/>
              </a:spcAft>
              <a:buNone/>
            </a:pPr>
            <a:r>
              <a:rPr lang="en-US" sz="2400">
                <a:solidFill>
                  <a:srgbClr val="000000"/>
                </a:solidFill>
                <a:latin typeface="Times New Roman"/>
                <a:ea typeface="Times New Roman"/>
                <a:cs typeface="Times New Roman"/>
                <a:sym typeface="Times New Roman"/>
              </a:rPr>
              <a:t>Thanh ghi CPSR cho biết trạng thái của chương trình hiện tại và được mô tả trong Hình 5.4</a:t>
            </a:r>
            <a:endParaRPr sz="2400">
              <a:solidFill>
                <a:schemeClr val="dk1"/>
              </a:solidFill>
              <a:latin typeface="Times New Roman"/>
              <a:ea typeface="Times New Roman"/>
              <a:cs typeface="Times New Roman"/>
              <a:sym typeface="Times New Roman"/>
            </a:endParaRPr>
          </a:p>
        </p:txBody>
      </p:sp>
      <p:pic>
        <p:nvPicPr>
          <p:cNvPr id="1728" name="Google Shape;1728;p177"/>
          <p:cNvPicPr preferRelativeResize="0"/>
          <p:nvPr/>
        </p:nvPicPr>
        <p:blipFill rotWithShape="1">
          <a:blip r:embed="rId3">
            <a:alphaModFix/>
          </a:blip>
          <a:srcRect b="0" l="0" r="0" t="0"/>
          <a:stretch/>
        </p:blipFill>
        <p:spPr>
          <a:xfrm>
            <a:off x="1905000" y="3657600"/>
            <a:ext cx="8100481" cy="909680"/>
          </a:xfrm>
          <a:prstGeom prst="rect">
            <a:avLst/>
          </a:prstGeom>
          <a:noFill/>
          <a:ln>
            <a:noFill/>
          </a:ln>
        </p:spPr>
      </p:pic>
      <p:sp>
        <p:nvSpPr>
          <p:cNvPr id="1729" name="Google Shape;1729;p177"/>
          <p:cNvSpPr txBox="1"/>
          <p:nvPr/>
        </p:nvSpPr>
        <p:spPr>
          <a:xfrm>
            <a:off x="2667000" y="4800600"/>
            <a:ext cx="62484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Hình 5.4. Vị trí các bit trên thanh ghi CPSR</a:t>
            </a:r>
            <a:endParaRPr/>
          </a:p>
        </p:txBody>
      </p:sp>
      <p:sp>
        <p:nvSpPr>
          <p:cNvPr id="1730" name="Google Shape;1730;p17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7"/>
                                        </p:tgtEl>
                                        <p:attrNameLst>
                                          <p:attrName>style.visibility</p:attrName>
                                        </p:attrNameLst>
                                      </p:cBhvr>
                                      <p:to>
                                        <p:strVal val="visible"/>
                                      </p:to>
                                    </p:set>
                                    <p:animEffect filter="fade" transition="in">
                                      <p:cBhvr>
                                        <p:cTn dur="1000"/>
                                        <p:tgtEl>
                                          <p:spTgt spid="1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8"/>
                                        </p:tgtEl>
                                        <p:attrNameLst>
                                          <p:attrName>style.visibility</p:attrName>
                                        </p:attrNameLst>
                                      </p:cBhvr>
                                      <p:to>
                                        <p:strVal val="visible"/>
                                      </p:to>
                                    </p:set>
                                    <p:animEffect filter="fade" transition="in">
                                      <p:cBhvr>
                                        <p:cTn dur="1000"/>
                                        <p:tgtEl>
                                          <p:spTgt spid="1728"/>
                                        </p:tgtEl>
                                      </p:cBhvr>
                                    </p:animEffect>
                                  </p:childTnLst>
                                </p:cTn>
                              </p:par>
                              <p:par>
                                <p:cTn fill="hold" nodeType="withEffect" presetClass="entr" presetID="10" presetSubtype="0">
                                  <p:stCondLst>
                                    <p:cond delay="0"/>
                                  </p:stCondLst>
                                  <p:childTnLst>
                                    <p:set>
                                      <p:cBhvr>
                                        <p:cTn dur="1" fill="hold">
                                          <p:stCondLst>
                                            <p:cond delay="0"/>
                                          </p:stCondLst>
                                        </p:cTn>
                                        <p:tgtEl>
                                          <p:spTgt spid="1729"/>
                                        </p:tgtEl>
                                        <p:attrNameLst>
                                          <p:attrName>style.visibility</p:attrName>
                                        </p:attrNameLst>
                                      </p:cBhvr>
                                      <p:to>
                                        <p:strVal val="visible"/>
                                      </p:to>
                                    </p:set>
                                    <p:animEffect filter="fade" transition="in">
                                      <p:cBhvr>
                                        <p:cTn dur="1000"/>
                                        <p:tgtEl>
                                          <p:spTgt spid="17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178"/>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5.4. Cấu trúc tập lệnh ARM (2)</a:t>
            </a:r>
            <a:endParaRPr sz="3200"/>
          </a:p>
        </p:txBody>
      </p:sp>
      <p:sp>
        <p:nvSpPr>
          <p:cNvPr id="1736" name="Google Shape;1736;p178"/>
          <p:cNvSpPr/>
          <p:nvPr/>
        </p:nvSpPr>
        <p:spPr>
          <a:xfrm>
            <a:off x="457200" y="1219200"/>
            <a:ext cx="10820400" cy="47089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Tất cả lệnh của ARM đều là 32 bit:</a:t>
            </a:r>
            <a:endParaRPr/>
          </a:p>
          <a:p>
            <a:pPr indent="-342900" lvl="0" marL="342900" marR="0" rtl="0" algn="just">
              <a:spcBef>
                <a:spcPts val="120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Có cấu trúc dạng load-store.</a:t>
            </a:r>
            <a:endParaRPr/>
          </a:p>
          <a:p>
            <a:pPr indent="-342900" lvl="0" marL="342900" marR="0" rtl="0" algn="just">
              <a:spcBef>
                <a:spcPts val="120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Cấu trúc lệnh định dạng ba địa chỉ (nghĩa là địa chỉ của hai toán hạng nguồn và toán hạng đích đều là các địa chỉ riêng biệt).</a:t>
            </a:r>
            <a:endParaRPr/>
          </a:p>
          <a:p>
            <a:pPr indent="-342900" lvl="0" marL="342900" marR="0" rtl="0" algn="just">
              <a:spcBef>
                <a:spcPts val="120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Mỗi một lệnh thực thi một điều kiện.</a:t>
            </a:r>
            <a:endParaRPr/>
          </a:p>
          <a:p>
            <a:pPr indent="-342900" lvl="0" marL="342900" marR="0" rtl="0" algn="just">
              <a:spcBef>
                <a:spcPts val="120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Có cả lệnh load-store nhiều thanh ghi đồng thời.</a:t>
            </a:r>
            <a:endParaRPr/>
          </a:p>
          <a:p>
            <a:pPr indent="-342900" lvl="0" marL="342900" marR="0" rtl="0" algn="just">
              <a:spcBef>
                <a:spcPts val="120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Có khả năng dịch bit kết hợp với thực thi lệnh ALU trong chỉ một chu kỳ máy.</a:t>
            </a:r>
            <a:endParaRPr/>
          </a:p>
          <a:p>
            <a:pPr indent="-342900" lvl="0" marL="342900" marR="0" rtl="0" algn="just">
              <a:spcBef>
                <a:spcPts val="120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Chế độ Thumb code: là một chế độ đặc biệt của ARM dùng để tăng mật độ mã bằng cách nén lệnh 32 bit thành 16 bit. Một phần cứng đặc biệt sẽ giải nén lệnh Thumb 16 bit thành lệnh 32 bit</a:t>
            </a:r>
            <a:r>
              <a:rPr lang="en-US" sz="2400">
                <a:solidFill>
                  <a:schemeClr val="dk1"/>
                </a:solidFill>
                <a:latin typeface="Times New Roman"/>
                <a:ea typeface="Times New Roman"/>
                <a:cs typeface="Times New Roman"/>
                <a:sym typeface="Times New Roman"/>
              </a:rPr>
              <a:t> </a:t>
            </a:r>
            <a:endParaRPr/>
          </a:p>
        </p:txBody>
      </p:sp>
      <p:sp>
        <p:nvSpPr>
          <p:cNvPr id="1737" name="Google Shape;1737;p17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179"/>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5.5. Mô hình giao tiếp trong ARM</a:t>
            </a:r>
            <a:endParaRPr sz="3200"/>
          </a:p>
        </p:txBody>
      </p:sp>
      <p:pic>
        <p:nvPicPr>
          <p:cNvPr id="1744" name="Google Shape;1744;p179"/>
          <p:cNvPicPr preferRelativeResize="0"/>
          <p:nvPr/>
        </p:nvPicPr>
        <p:blipFill rotWithShape="1">
          <a:blip r:embed="rId3">
            <a:alphaModFix/>
          </a:blip>
          <a:srcRect b="0" l="0" r="0" t="0"/>
          <a:stretch/>
        </p:blipFill>
        <p:spPr>
          <a:xfrm>
            <a:off x="5257800" y="908564"/>
            <a:ext cx="6673066" cy="4857992"/>
          </a:xfrm>
          <a:prstGeom prst="rect">
            <a:avLst/>
          </a:prstGeom>
          <a:noFill/>
          <a:ln>
            <a:noFill/>
          </a:ln>
        </p:spPr>
      </p:pic>
      <p:sp>
        <p:nvSpPr>
          <p:cNvPr id="1745" name="Google Shape;1745;p179"/>
          <p:cNvSpPr txBox="1"/>
          <p:nvPr/>
        </p:nvSpPr>
        <p:spPr>
          <a:xfrm>
            <a:off x="5029200" y="6019800"/>
            <a:ext cx="597568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Hình 5.5. Mô hình giao tiếp trong ARM</a:t>
            </a:r>
            <a:endParaRPr/>
          </a:p>
        </p:txBody>
      </p:sp>
      <p:sp>
        <p:nvSpPr>
          <p:cNvPr id="1746" name="Google Shape;1746;p179"/>
          <p:cNvSpPr/>
          <p:nvPr/>
        </p:nvSpPr>
        <p:spPr>
          <a:xfrm>
            <a:off x="228600" y="1490454"/>
            <a:ext cx="4648200" cy="3785652"/>
          </a:xfrm>
          <a:prstGeom prst="rect">
            <a:avLst/>
          </a:prstGeom>
          <a:noFill/>
          <a:ln>
            <a:noFill/>
          </a:ln>
        </p:spPr>
        <p:txBody>
          <a:bodyPr anchorCtr="0" anchor="t" bIns="45700" lIns="91425" spcFirstLastPara="1" rIns="91425" wrap="square" tIns="45700">
            <a:spAutoFit/>
          </a:bodyPr>
          <a:lstStyle/>
          <a:p>
            <a:pPr indent="396875" lvl="0" marL="0" marR="0" rtl="0" algn="just">
              <a:spcBef>
                <a:spcPts val="0"/>
              </a:spcBef>
              <a:spcAft>
                <a:spcPts val="0"/>
              </a:spcAft>
              <a:buNone/>
            </a:pPr>
            <a:r>
              <a:rPr lang="en-US" sz="2400">
                <a:solidFill>
                  <a:srgbClr val="000000"/>
                </a:solidFill>
                <a:latin typeface="Times New Roman"/>
                <a:ea typeface="Times New Roman"/>
                <a:cs typeface="Times New Roman"/>
                <a:sym typeface="Times New Roman"/>
              </a:rPr>
              <a:t>Vi điều khiển ARM được thực thi trên hệ thống kiến trúc các bus truyền dữ liệu đa chức năng của vi điều khiển. Bao gồm bộ vi xử lý ARM kết nối qua hệ thống bus truyền dữ liệu hiệu suất cao để đồng bộ nhanh với SRAM, các bus giao tiếp ngoài, và cầu nối tới các bus truyền ngoại vi công suất thấp, được mô tả trong Hình 5.5.  </a:t>
            </a:r>
            <a:endParaRPr/>
          </a:p>
        </p:txBody>
      </p:sp>
      <p:sp>
        <p:nvSpPr>
          <p:cNvPr id="1747" name="Google Shape;1747;p17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180"/>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5.5. Mô hình giao tiếp trong ARM</a:t>
            </a:r>
            <a:endParaRPr sz="3200"/>
          </a:p>
        </p:txBody>
      </p:sp>
      <p:sp>
        <p:nvSpPr>
          <p:cNvPr id="1753" name="Google Shape;1753;p180"/>
          <p:cNvSpPr/>
          <p:nvPr/>
        </p:nvSpPr>
        <p:spPr>
          <a:xfrm>
            <a:off x="457200" y="990600"/>
            <a:ext cx="11049000" cy="526297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rgbClr val="000000"/>
                </a:solidFill>
                <a:latin typeface="Times New Roman"/>
                <a:ea typeface="Times New Roman"/>
                <a:cs typeface="Times New Roman"/>
                <a:sym typeface="Times New Roman"/>
              </a:rPr>
              <a:t>Các khối chức năng trong vi điều khiển ARM bao gồm:</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Bộ xử lý ARM; </a:t>
            </a:r>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Bộ điều khiển ngắt; </a:t>
            </a:r>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Bộ phân xử bus truyền hiệu suất cao (AHB-Advanced High-performance Bus);</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Bộ điều khiển bộ nhớ;</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SRAM;</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EPROM hoặc Flash;</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DRAM;</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Cầu nối AHB – APB (Advanced Peripheral Bus: Bus truyền ngoại vi tối ưu) - Cầu nối ngoài AHB;</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 Bộ đếm/định thời;</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Khối SPI (Serial Peripheral Interface): Khối giao tiếp các thiết bị ngoại vi nối tiếp;</a:t>
            </a:r>
            <a:endParaRPr sz="2400">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2400"/>
              <a:buFont typeface="Arial"/>
              <a:buChar char="•"/>
            </a:pPr>
            <a:r>
              <a:rPr lang="en-US" sz="2400">
                <a:solidFill>
                  <a:srgbClr val="000000"/>
                </a:solidFill>
                <a:latin typeface="Times New Roman"/>
                <a:ea typeface="Times New Roman"/>
                <a:cs typeface="Times New Roman"/>
                <a:sym typeface="Times New Roman"/>
              </a:rPr>
              <a:t>Khối Serial UART (Serial Universal Asynchronous Receiver/Transmitter): Khối giao tiếp nối tiếp truyền/thu không đồng bộ đa năng.</a:t>
            </a:r>
            <a:endParaRPr sz="2400">
              <a:solidFill>
                <a:srgbClr val="000000"/>
              </a:solidFill>
              <a:latin typeface="Times New Roman"/>
              <a:ea typeface="Times New Roman"/>
              <a:cs typeface="Times New Roman"/>
              <a:sym typeface="Times New Roman"/>
            </a:endParaRPr>
          </a:p>
        </p:txBody>
      </p:sp>
      <p:sp>
        <p:nvSpPr>
          <p:cNvPr id="1754" name="Google Shape;1754;p18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181"/>
          <p:cNvSpPr txBox="1"/>
          <p:nvPr>
            <p:ph type="title"/>
          </p:nvPr>
        </p:nvSpPr>
        <p:spPr>
          <a:xfrm>
            <a:off x="32084" y="0"/>
            <a:ext cx="109728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2060"/>
              </a:buClr>
              <a:buSzPts val="3200"/>
              <a:buFont typeface="Times New Roman"/>
              <a:buNone/>
            </a:pPr>
            <a:r>
              <a:rPr b="1" lang="en-US" sz="3200">
                <a:solidFill>
                  <a:srgbClr val="002060"/>
                </a:solidFill>
                <a:latin typeface="Times New Roman"/>
                <a:ea typeface="Times New Roman"/>
                <a:cs typeface="Times New Roman"/>
                <a:sym typeface="Times New Roman"/>
              </a:rPr>
              <a:t>5.6. Đặc điểm các dòng vi xử lý ARM</a:t>
            </a:r>
            <a:endParaRPr sz="3200"/>
          </a:p>
        </p:txBody>
      </p:sp>
      <p:sp>
        <p:nvSpPr>
          <p:cNvPr id="1760" name="Google Shape;1760;p181"/>
          <p:cNvSpPr/>
          <p:nvPr/>
        </p:nvSpPr>
        <p:spPr>
          <a:xfrm>
            <a:off x="381000" y="838200"/>
            <a:ext cx="11353800" cy="5632311"/>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Cortex-A</a:t>
            </a:r>
            <a:r>
              <a:rPr lang="en-US" sz="2000">
                <a:solidFill>
                  <a:schemeClr val="dk1"/>
                </a:solidFill>
                <a:latin typeface="Calibri"/>
                <a:ea typeface="Calibri"/>
                <a:cs typeface="Calibri"/>
                <a:sym typeface="Calibri"/>
              </a:rPr>
              <a:t>: Là nhân chip được sử dụng nhiều nhất trên các dòng chip Android, Cortex-A sở hữu công cụ chính là SMID (tập lệnh đa dữ liệu) có khả năng thực hiện các tác vụ như truy cập bộ nhớ và xử lý dữ liệu song song trên một tập hợp vector.</a:t>
            </a:r>
            <a:endParaRPr/>
          </a:p>
          <a:p>
            <a:pPr indent="-342900" lvl="0" marL="342900" marR="0" rtl="0" algn="just">
              <a:spcBef>
                <a:spcPts val="12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Cortex-R</a:t>
            </a:r>
            <a:r>
              <a:rPr lang="en-US" sz="2000">
                <a:solidFill>
                  <a:schemeClr val="dk1"/>
                </a:solidFill>
                <a:latin typeface="Calibri"/>
                <a:ea typeface="Calibri"/>
                <a:cs typeface="Calibri"/>
                <a:sym typeface="Calibri"/>
              </a:rPr>
              <a:t>: Đem đến nhiều giải pháp tính toán hiệu suất cải tiến dành cho những hệ thống nhúng đòi hỏi độ bảo mật cao và đảm bảo tính sẵn sàng cùng khả năng đáp ứng thời gian thực.</a:t>
            </a:r>
            <a:endParaRPr/>
          </a:p>
          <a:p>
            <a:pPr indent="-342900" lvl="0" marL="342900" marR="0" rtl="0" algn="just">
              <a:spcBef>
                <a:spcPts val="12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Cortex-M</a:t>
            </a:r>
            <a:r>
              <a:rPr lang="en-US" sz="2000">
                <a:solidFill>
                  <a:schemeClr val="dk1"/>
                </a:solidFill>
                <a:latin typeface="Calibri"/>
                <a:ea typeface="Calibri"/>
                <a:cs typeface="Calibri"/>
                <a:sym typeface="Calibri"/>
              </a:rPr>
              <a:t>: Là nhân chip thường được ứng dụng trong ngành công nghiệp xe hơi, với đặc trưng là kích cỡ nhỏ và không chiếm nhiều không gian trong cấu trúc hệ thống linh kiện ô tô.</a:t>
            </a:r>
            <a:endParaRPr/>
          </a:p>
          <a:p>
            <a:pPr indent="-342900" lvl="0" marL="342900" marR="0" rtl="0" algn="just">
              <a:spcBef>
                <a:spcPts val="12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Ethos-N</a:t>
            </a:r>
            <a:r>
              <a:rPr lang="en-US" sz="2000">
                <a:solidFill>
                  <a:schemeClr val="dk1"/>
                </a:solidFill>
                <a:latin typeface="Calibri"/>
                <a:ea typeface="Calibri"/>
                <a:cs typeface="Calibri"/>
                <a:sym typeface="Calibri"/>
              </a:rPr>
              <a:t>: Nổi danh trong ngành công nghiệp AI và được ứng dụng rất nhiều do khả năng tương thích với các tác vụ máy học.</a:t>
            </a:r>
            <a:endParaRPr/>
          </a:p>
          <a:p>
            <a:pPr indent="-342900" lvl="0" marL="342900" marR="0" rtl="0" algn="just">
              <a:spcBef>
                <a:spcPts val="12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Ethos-U</a:t>
            </a:r>
            <a:r>
              <a:rPr lang="en-US" sz="2000">
                <a:solidFill>
                  <a:schemeClr val="dk1"/>
                </a:solidFill>
                <a:latin typeface="Calibri"/>
                <a:ea typeface="Calibri"/>
                <a:cs typeface="Calibri"/>
                <a:sym typeface="Calibri"/>
              </a:rPr>
              <a:t>: Được xem là “bản mini” rút gọn từ nhân Ethos-N, Ethos-U sẽ vận hành tương tự như một bộ đồng xử lý Co-processor.</a:t>
            </a:r>
            <a:endParaRPr/>
          </a:p>
          <a:p>
            <a:pPr indent="-342900" lvl="0" marL="342900" marR="0" rtl="0" algn="just">
              <a:spcBef>
                <a:spcPts val="12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Neoverse</a:t>
            </a:r>
            <a:r>
              <a:rPr lang="en-US" sz="2000">
                <a:solidFill>
                  <a:schemeClr val="dk1"/>
                </a:solidFill>
                <a:latin typeface="Calibri"/>
                <a:ea typeface="Calibri"/>
                <a:cs typeface="Calibri"/>
                <a:sym typeface="Calibri"/>
              </a:rPr>
              <a:t>: Có tuổi đời còn khá ngắn, ra đời từ tháng 10/2018, Neoverse được biết đến như nhân xử lý chuyên phục vụ các hệ thống máy chủ và trung tâm dữ liệu.</a:t>
            </a:r>
            <a:endParaRPr/>
          </a:p>
          <a:p>
            <a:pPr indent="-342900" lvl="0" marL="342900" marR="0" rtl="0" algn="just">
              <a:spcBef>
                <a:spcPts val="120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SecurCore</a:t>
            </a:r>
            <a:r>
              <a:rPr lang="en-US" sz="2000">
                <a:solidFill>
                  <a:schemeClr val="dk1"/>
                </a:solidFill>
                <a:latin typeface="Calibri"/>
                <a:ea typeface="Calibri"/>
                <a:cs typeface="Calibri"/>
                <a:sym typeface="Calibri"/>
              </a:rPr>
              <a:t>: Đúng như tên gọi, SecurCore đặt yếu tố bảo mật lên hàng đầu và là lõi chip được ARM Holdings, Ltd thiết kế dành cho các thẻ thông minh, rất phổ biến trong ngành ngân hàng, thanh toán.</a:t>
            </a:r>
            <a:endParaRPr b="0" i="0" sz="2000">
              <a:solidFill>
                <a:schemeClr val="dk1"/>
              </a:solidFill>
              <a:latin typeface="Calibri"/>
              <a:ea typeface="Calibri"/>
              <a:cs typeface="Calibri"/>
              <a:sym typeface="Calibri"/>
            </a:endParaRPr>
          </a:p>
        </p:txBody>
      </p:sp>
      <p:sp>
        <p:nvSpPr>
          <p:cNvPr id="1761" name="Google Shape;1761;p18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8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18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72" name="Google Shape;1772;p183"/>
          <p:cNvPicPr preferRelativeResize="0"/>
          <p:nvPr/>
        </p:nvPicPr>
        <p:blipFill rotWithShape="1">
          <a:blip r:embed="rId3">
            <a:alphaModFix/>
          </a:blip>
          <a:srcRect b="0" l="0" r="0" t="0"/>
          <a:stretch/>
        </p:blipFill>
        <p:spPr>
          <a:xfrm>
            <a:off x="1905000" y="1066800"/>
            <a:ext cx="8382000" cy="3857833"/>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184"/>
          <p:cNvSpPr txBox="1"/>
          <p:nvPr>
            <p:ph idx="1" type="body"/>
          </p:nvPr>
        </p:nvSpPr>
        <p:spPr>
          <a:xfrm>
            <a:off x="3505200" y="2971800"/>
            <a:ext cx="4267200" cy="761999"/>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C00000"/>
              </a:buClr>
              <a:buSzPts val="4000"/>
              <a:buNone/>
            </a:pPr>
            <a:r>
              <a:rPr b="1" lang="en-US" sz="4000">
                <a:solidFill>
                  <a:srgbClr val="C00000"/>
                </a:solidFill>
                <a:latin typeface="Times New Roman"/>
                <a:ea typeface="Times New Roman"/>
                <a:cs typeface="Times New Roman"/>
                <a:sym typeface="Times New Roman"/>
              </a:rPr>
              <a:t>The End</a:t>
            </a:r>
            <a:endParaRPr/>
          </a:p>
        </p:txBody>
      </p:sp>
      <p:sp>
        <p:nvSpPr>
          <p:cNvPr id="1778" name="Google Shape;1778;p18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2016-01-03T07:44:52Z</dcterms:created>
  <dc:creator>Admin</dc:creator>
</cp:coreProperties>
</file>